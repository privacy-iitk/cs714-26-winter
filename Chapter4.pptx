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 autoCompressPictures="0">
  <p:sldMasterIdLst>
    <p:sldMasterId id="2147483648" r:id="rId1"/>
  </p:sldMasterIdLst>
  <p:notesMasterIdLst>
    <p:notesMasterId r:id="rId72"/>
  </p:notesMasterIdLst>
  <p:sldIdLst>
    <p:sldId id="256" r:id="rId2"/>
    <p:sldId id="277" r:id="rId3"/>
    <p:sldId id="306" r:id="rId4"/>
    <p:sldId id="313" r:id="rId5"/>
    <p:sldId id="304" r:id="rId6"/>
    <p:sldId id="307" r:id="rId7"/>
    <p:sldId id="309" r:id="rId8"/>
    <p:sldId id="314" r:id="rId9"/>
    <p:sldId id="310" r:id="rId10"/>
    <p:sldId id="311" r:id="rId11"/>
    <p:sldId id="312" r:id="rId12"/>
    <p:sldId id="305" r:id="rId13"/>
    <p:sldId id="315" r:id="rId14"/>
    <p:sldId id="317" r:id="rId15"/>
    <p:sldId id="316" r:id="rId16"/>
    <p:sldId id="318" r:id="rId17"/>
    <p:sldId id="319" r:id="rId18"/>
    <p:sldId id="282" r:id="rId19"/>
    <p:sldId id="320" r:id="rId20"/>
    <p:sldId id="280" r:id="rId21"/>
    <p:sldId id="281" r:id="rId22"/>
    <p:sldId id="279" r:id="rId23"/>
    <p:sldId id="273" r:id="rId24"/>
    <p:sldId id="258" r:id="rId25"/>
    <p:sldId id="268" r:id="rId26"/>
    <p:sldId id="263" r:id="rId27"/>
    <p:sldId id="260" r:id="rId28"/>
    <p:sldId id="274" r:id="rId29"/>
    <p:sldId id="264" r:id="rId30"/>
    <p:sldId id="265" r:id="rId31"/>
    <p:sldId id="269" r:id="rId32"/>
    <p:sldId id="275" r:id="rId33"/>
    <p:sldId id="276" r:id="rId34"/>
    <p:sldId id="270" r:id="rId35"/>
    <p:sldId id="271" r:id="rId36"/>
    <p:sldId id="272" r:id="rId37"/>
    <p:sldId id="278" r:id="rId38"/>
    <p:sldId id="303" r:id="rId39"/>
    <p:sldId id="261" r:id="rId40"/>
    <p:sldId id="288" r:id="rId41"/>
    <p:sldId id="289" r:id="rId42"/>
    <p:sldId id="283" r:id="rId43"/>
    <p:sldId id="284" r:id="rId44"/>
    <p:sldId id="290" r:id="rId45"/>
    <p:sldId id="291" r:id="rId46"/>
    <p:sldId id="292" r:id="rId47"/>
    <p:sldId id="293" r:id="rId48"/>
    <p:sldId id="299" r:id="rId49"/>
    <p:sldId id="300" r:id="rId50"/>
    <p:sldId id="301" r:id="rId51"/>
    <p:sldId id="302" r:id="rId52"/>
    <p:sldId id="294" r:id="rId53"/>
    <p:sldId id="295" r:id="rId54"/>
    <p:sldId id="296" r:id="rId55"/>
    <p:sldId id="297" r:id="rId56"/>
    <p:sldId id="285" r:id="rId57"/>
    <p:sldId id="286" r:id="rId58"/>
    <p:sldId id="298" r:id="rId59"/>
    <p:sldId id="287" r:id="rId60"/>
    <p:sldId id="321" r:id="rId61"/>
    <p:sldId id="322" r:id="rId62"/>
    <p:sldId id="323" r:id="rId63"/>
    <p:sldId id="324" r:id="rId64"/>
    <p:sldId id="325" r:id="rId65"/>
    <p:sldId id="326" r:id="rId66"/>
    <p:sldId id="327" r:id="rId67"/>
    <p:sldId id="328" r:id="rId68"/>
    <p:sldId id="329" r:id="rId69"/>
    <p:sldId id="331" r:id="rId70"/>
    <p:sldId id="330" r:id="rId71"/>
  </p:sldIdLst>
  <p:sldSz cx="12192000" cy="6858000"/>
  <p:notesSz cx="6858000" cy="9144000"/>
  <p:embeddedFontLst>
    <p:embeddedFont>
      <p:font typeface="Cambria Math" panose="02040503050406030204" pitchFamily="18" charset="0"/>
      <p:regular r:id="rId73"/>
    </p:embeddedFont>
    <p:embeddedFont>
      <p:font typeface="Chalk Board" panose="02000500000000000000" pitchFamily="2" charset="0"/>
      <p:regular r:id="rId74"/>
    </p:embeddedFont>
    <p:embeddedFont>
      <p:font typeface="Christmas Chalk" panose="02000500000000000000" pitchFamily="2" charset="0"/>
      <p:regular r:id="rId75"/>
    </p:embeddedFont>
    <p:embeddedFont>
      <p:font typeface="KG Ten Thousand Reasons" panose="02000000000000000000" pitchFamily="2" charset="77"/>
      <p:regular r:id="rId76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5244"/>
    <p:restoredTop sz="94389"/>
  </p:normalViewPr>
  <p:slideViewPr>
    <p:cSldViewPr snapToGrid="0">
      <p:cViewPr varScale="1">
        <p:scale>
          <a:sx n="123" d="100"/>
          <a:sy n="123" d="100"/>
        </p:scale>
        <p:origin x="216" y="79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63" Type="http://schemas.openxmlformats.org/officeDocument/2006/relationships/slide" Target="slides/slide62.xml"/><Relationship Id="rId68" Type="http://schemas.openxmlformats.org/officeDocument/2006/relationships/slide" Target="slides/slide67.xml"/><Relationship Id="rId16" Type="http://schemas.openxmlformats.org/officeDocument/2006/relationships/slide" Target="slides/slide1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66" Type="http://schemas.openxmlformats.org/officeDocument/2006/relationships/slide" Target="slides/slide65.xml"/><Relationship Id="rId74" Type="http://schemas.openxmlformats.org/officeDocument/2006/relationships/font" Target="fonts/font2.fntdata"/><Relationship Id="rId79" Type="http://schemas.openxmlformats.org/officeDocument/2006/relationships/theme" Target="theme/theme1.xml"/><Relationship Id="rId5" Type="http://schemas.openxmlformats.org/officeDocument/2006/relationships/slide" Target="slides/slide4.xml"/><Relationship Id="rId61" Type="http://schemas.openxmlformats.org/officeDocument/2006/relationships/slide" Target="slides/slide60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slide" Target="slides/slide55.xml"/><Relationship Id="rId64" Type="http://schemas.openxmlformats.org/officeDocument/2006/relationships/slide" Target="slides/slide63.xml"/><Relationship Id="rId69" Type="http://schemas.openxmlformats.org/officeDocument/2006/relationships/slide" Target="slides/slide68.xml"/><Relationship Id="rId77" Type="http://schemas.openxmlformats.org/officeDocument/2006/relationships/presProps" Target="presProps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72" Type="http://schemas.openxmlformats.org/officeDocument/2006/relationships/notesMaster" Target="notesMasters/notesMaster1.xml"/><Relationship Id="rId80" Type="http://schemas.openxmlformats.org/officeDocument/2006/relationships/tableStyles" Target="tableStyles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slide" Target="slides/slide58.xml"/><Relationship Id="rId67" Type="http://schemas.openxmlformats.org/officeDocument/2006/relationships/slide" Target="slides/slide66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slide" Target="slides/slide61.xml"/><Relationship Id="rId70" Type="http://schemas.openxmlformats.org/officeDocument/2006/relationships/slide" Target="slides/slide69.xml"/><Relationship Id="rId75" Type="http://schemas.openxmlformats.org/officeDocument/2006/relationships/font" Target="fonts/font3.fntdata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slide" Target="slides/slide64.xml"/><Relationship Id="rId73" Type="http://schemas.openxmlformats.org/officeDocument/2006/relationships/font" Target="fonts/font1.fntdata"/><Relationship Id="rId78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6" Type="http://schemas.openxmlformats.org/officeDocument/2006/relationships/font" Target="fonts/font4.fntdata"/><Relationship Id="rId7" Type="http://schemas.openxmlformats.org/officeDocument/2006/relationships/slide" Target="slides/slide6.xml"/><Relationship Id="rId71" Type="http://schemas.openxmlformats.org/officeDocument/2006/relationships/slide" Target="slides/slide70.xml"/><Relationship Id="rId2" Type="http://schemas.openxmlformats.org/officeDocument/2006/relationships/slide" Target="slides/slide1.xml"/><Relationship Id="rId29" Type="http://schemas.openxmlformats.org/officeDocument/2006/relationships/slide" Target="slides/slide28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83080117-73AA-C649-9707-5BC092B3DA95}" type="datetimeFigureOut">
              <a:rPr lang="en-US" smtClean="0"/>
              <a:t>3/28/26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C026BC0-B56C-0C4B-B20E-DF3CF841C27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8724861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8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C026BC0-B56C-0C4B-B20E-DF3CF841C276}" type="slidenum">
              <a:rPr lang="en-US" smtClean="0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11849750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C026BC0-B56C-0C4B-B20E-DF3CF841C276}" type="slidenum">
              <a:rPr lang="en-US" smtClean="0"/>
              <a:t>68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08661650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A95F91E-7985-77F5-1995-F9B26E1EC9D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24F2510-A62E-036C-1039-7951DA40B38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C8A0EB6-4AC3-F03C-8526-97AC2D1CF40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1729CAE-6659-1DD9-37CB-0504FB96C19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C026BC0-B56C-0C4B-B20E-DF3CF841C276}" type="slidenum">
              <a:rPr lang="en-US" smtClean="0"/>
              <a:t>69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176815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BC5ACC9-280D-9783-C3F0-BCAF6E0E641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9C470F77-2E05-2B7A-C4C2-AD237E33235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B1D4BBD-834B-84F0-1AA8-9C3CE1E9F03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74D6B3D-DE2B-8044-B1FE-F67BFF0B7ECE}" type="datetimeFigureOut">
              <a:rPr lang="en-US" smtClean="0"/>
              <a:t>3/27/26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07C99D1-F832-41E8-99D9-B7A9815D203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4C6B146-9E47-A82F-5724-3F6CFE558CA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22B987-4D72-8E4D-8467-C28C5DE897C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632958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08D8A2F-BC4C-4D58-172A-AA62135779E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D660534-968B-1010-B9EA-64E39CC9F77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55906FD-5349-7360-CC2C-906C7FF008A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74D6B3D-DE2B-8044-B1FE-F67BFF0B7ECE}" type="datetimeFigureOut">
              <a:rPr lang="en-US" smtClean="0"/>
              <a:t>3/27/26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F071502-FB03-7517-2705-D0F98ECAC1E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79B0476-67CE-C4B7-4AB3-105364B5832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22B987-4D72-8E4D-8467-C28C5DE897C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3149799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D7E924F-06B6-D1C6-C49E-BFA89A5526B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4ED8BD9-13DD-0341-7AD4-3995F8F7871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274E8D7-91F9-9119-0647-480408709EE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74D6B3D-DE2B-8044-B1FE-F67BFF0B7ECE}" type="datetimeFigureOut">
              <a:rPr lang="en-US" smtClean="0"/>
              <a:t>3/27/26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DB20FC6-A56E-D7E0-5618-5C0CC58F51C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FC849F7-5FCB-2990-BD20-3016783C0CF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22B987-4D72-8E4D-8467-C28C5DE897C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5606933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D6CD351-18D9-0AF8-3856-0C3BFBD0F06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72A2302-8B27-E7E0-E258-E7B66F3DCA0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5794A13-D29D-0787-5F61-F21A2883163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C218545-4035-A16A-4A2D-1D34436E242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74D6B3D-DE2B-8044-B1FE-F67BFF0B7ECE}" type="datetimeFigureOut">
              <a:rPr lang="en-US" smtClean="0"/>
              <a:t>3/27/26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D68971A-0D0C-DED7-005E-552C81E49BB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6ABF784-01A2-7179-5159-598DC80E97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22B987-4D72-8E4D-8467-C28C5DE897C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2270156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4E86ECD-C1C5-34F7-38F9-25C451A1ECE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7C4B318-D9BE-FD32-131B-4A97733B495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2BC2240-B277-0035-F07B-18F42EE8770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2C5C6074-8CEB-3F05-E186-C5D4D93756E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72CE0258-D6D2-FF03-E547-14A841A1C719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8AD74B53-8D93-88AD-E492-097AABB3750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74D6B3D-DE2B-8044-B1FE-F67BFF0B7ECE}" type="datetimeFigureOut">
              <a:rPr lang="en-US" smtClean="0"/>
              <a:t>3/27/26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26D0A3DB-63EC-C075-32EC-B2FEB80BD84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CCD7837A-C0E8-4058-0FEE-2BAB9F59BA5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22B987-4D72-8E4D-8467-C28C5DE897C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7052030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A55F24A-1857-A4B7-E81A-E6D90FB9F9C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C8432A7-8531-2F49-1E29-9E3A56E2CFE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74D6B3D-DE2B-8044-B1FE-F67BFF0B7ECE}" type="datetimeFigureOut">
              <a:rPr lang="en-US" smtClean="0"/>
              <a:t>3/27/26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ED493F7-A662-68C3-8767-7F4F17D33B3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0CE5F83-AD63-6F68-28A2-0860FC073BC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22B987-4D72-8E4D-8467-C28C5DE897C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8445928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23D13F1B-282B-3A92-BDF4-8086591E583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74D6B3D-DE2B-8044-B1FE-F67BFF0B7ECE}" type="datetimeFigureOut">
              <a:rPr lang="en-US" smtClean="0"/>
              <a:t>3/27/26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7892184A-2EE3-9BD4-60A4-48806AE3523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FA92362-F824-DCF4-79F2-34C02A5E8BD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22B987-4D72-8E4D-8467-C28C5DE897C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787288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EEBEE60-196F-B496-3A54-10A44B11428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27BC640-3A00-8197-0BA0-02C78709D51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271760B-12F9-75C1-01B0-4D8CE5DCDD2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C4E6844-8EEF-B162-254E-0926B79180E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74D6B3D-DE2B-8044-B1FE-F67BFF0B7ECE}" type="datetimeFigureOut">
              <a:rPr lang="en-US" smtClean="0"/>
              <a:t>3/27/26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E757593-9E78-1E0B-FCB9-5759F83C307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2ED6EEE-7815-45B1-5BBD-E748AD0F25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22B987-4D72-8E4D-8467-C28C5DE897C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8284874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95785C2-6381-BDE8-1C02-DED99E1E367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0E08B6F1-E5D8-E17E-36E3-3035C71A5B40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42BE799-D099-06E8-D22E-6DFA98277E3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626C680-D314-B1A8-9458-41A061451C3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74D6B3D-DE2B-8044-B1FE-F67BFF0B7ECE}" type="datetimeFigureOut">
              <a:rPr lang="en-US" smtClean="0"/>
              <a:t>3/27/26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F5A9D89-0F6D-D2CE-6618-2905D4BEA24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0CBDEBC-0145-E792-794A-9BE6A292427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22B987-4D72-8E4D-8467-C28C5DE897C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1718227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465244D-954D-6F01-7ECF-AB8A070C20B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6588C044-6E03-3BAF-1022-06A27BA9DC0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D9BFB49-A9F0-1A3E-9DDC-6F77715015E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74D6B3D-DE2B-8044-B1FE-F67BFF0B7ECE}" type="datetimeFigureOut">
              <a:rPr lang="en-US" smtClean="0"/>
              <a:t>3/27/26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2F35301-13FB-9E69-8D8F-5BA3EB3D15F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D925711-32FA-3C46-3E17-33CA08B8264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22B987-4D72-8E4D-8467-C28C5DE897C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5700471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655CDFD0-B8E8-DD17-02F6-79801AEF87E4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0A2977A5-B686-511C-D967-87416D524D9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10EC8B0-16EB-3471-878B-8054A8DB8C1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74D6B3D-DE2B-8044-B1FE-F67BFF0B7ECE}" type="datetimeFigureOut">
              <a:rPr lang="en-US" smtClean="0"/>
              <a:t>3/27/26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503D5F5-6C5E-E792-EB12-27DCF9167EA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94841AB-E4D2-5780-F928-E9D354662E2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22B987-4D72-8E4D-8467-C28C5DE897C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1732763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58F0794F-BE6F-A9A5-1EDF-45953A62802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DA61AB5-8DFF-64B4-819E-DD670D16566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24100F8-544F-86F4-25F0-26DD91CCC6B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174D6B3D-DE2B-8044-B1FE-F67BFF0B7ECE}" type="datetimeFigureOut">
              <a:rPr lang="en-US" smtClean="0"/>
              <a:t>3/27/26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3B0CA23-9D78-37C0-C934-5A88CC05FD8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49DE827-19B1-2523-F97C-6A1458763A7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A22B987-4D72-8E4D-8467-C28C5DE897C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2929489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12.png"/><Relationship Id="rId13" Type="http://schemas.openxmlformats.org/officeDocument/2006/relationships/image" Target="../media/image17.png"/><Relationship Id="rId3" Type="http://schemas.openxmlformats.org/officeDocument/2006/relationships/image" Target="../media/image7.png"/><Relationship Id="rId7" Type="http://schemas.openxmlformats.org/officeDocument/2006/relationships/image" Target="../media/image11.png"/><Relationship Id="rId12" Type="http://schemas.openxmlformats.org/officeDocument/2006/relationships/image" Target="../media/image16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0.png"/><Relationship Id="rId11" Type="http://schemas.openxmlformats.org/officeDocument/2006/relationships/image" Target="../media/image15.png"/><Relationship Id="rId5" Type="http://schemas.openxmlformats.org/officeDocument/2006/relationships/image" Target="../media/image9.png"/><Relationship Id="rId10" Type="http://schemas.openxmlformats.org/officeDocument/2006/relationships/image" Target="../media/image14.png"/><Relationship Id="rId4" Type="http://schemas.openxmlformats.org/officeDocument/2006/relationships/image" Target="../media/image8.png"/><Relationship Id="rId9" Type="http://schemas.openxmlformats.org/officeDocument/2006/relationships/image" Target="../media/image13.png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22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26.png"/><Relationship Id="rId4" Type="http://schemas.openxmlformats.org/officeDocument/2006/relationships/image" Target="../media/image25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31.png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0.png"/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0.png"/><Relationship Id="rId2" Type="http://schemas.openxmlformats.org/officeDocument/2006/relationships/image" Target="../media/image210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510.png"/><Relationship Id="rId4" Type="http://schemas.openxmlformats.org/officeDocument/2006/relationships/image" Target="../media/image410.png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610.png"/><Relationship Id="rId1" Type="http://schemas.openxmlformats.org/officeDocument/2006/relationships/slideLayout" Target="../slideLayouts/slideLayout7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810.png"/><Relationship Id="rId2" Type="http://schemas.openxmlformats.org/officeDocument/2006/relationships/image" Target="../media/image710.png"/><Relationship Id="rId1" Type="http://schemas.openxmlformats.org/officeDocument/2006/relationships/slideLayout" Target="../slideLayouts/slideLayout7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99.png"/><Relationship Id="rId1" Type="http://schemas.openxmlformats.org/officeDocument/2006/relationships/slideLayout" Target="../slideLayouts/slideLayout7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1.png"/><Relationship Id="rId2" Type="http://schemas.openxmlformats.org/officeDocument/2006/relationships/image" Target="../media/image100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20.png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0.png"/><Relationship Id="rId2" Type="http://schemas.openxmlformats.org/officeDocument/2006/relationships/image" Target="../media/image130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50.png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0.png"/><Relationship Id="rId1" Type="http://schemas.openxmlformats.org/officeDocument/2006/relationships/slideLayout" Target="../slideLayouts/slideLayout7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0.png"/><Relationship Id="rId1" Type="http://schemas.openxmlformats.org/officeDocument/2006/relationships/slideLayout" Target="../slideLayouts/slideLayout7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0.png"/><Relationship Id="rId1" Type="http://schemas.openxmlformats.org/officeDocument/2006/relationships/slideLayout" Target="../slideLayouts/slideLayout7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0.png"/><Relationship Id="rId1" Type="http://schemas.openxmlformats.org/officeDocument/2006/relationships/slideLayout" Target="../slideLayouts/slideLayout7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1.png"/><Relationship Id="rId2" Type="http://schemas.openxmlformats.org/officeDocument/2006/relationships/image" Target="../media/image200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230.png"/><Relationship Id="rId4" Type="http://schemas.openxmlformats.org/officeDocument/2006/relationships/image" Target="../media/image220.png"/></Relationships>
</file>

<file path=ppt/slides/_rels/slide35.xml.rels><?xml version="1.0" encoding="UTF-8" standalone="yes"?>
<Relationships xmlns="http://schemas.openxmlformats.org/package/2006/relationships"><Relationship Id="rId8" Type="http://schemas.openxmlformats.org/officeDocument/2006/relationships/image" Target="../media/image300.png"/><Relationship Id="rId3" Type="http://schemas.openxmlformats.org/officeDocument/2006/relationships/image" Target="../media/image250.png"/><Relationship Id="rId7" Type="http://schemas.openxmlformats.org/officeDocument/2006/relationships/image" Target="../media/image290.png"/><Relationship Id="rId2" Type="http://schemas.openxmlformats.org/officeDocument/2006/relationships/image" Target="../media/image240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280.png"/><Relationship Id="rId5" Type="http://schemas.openxmlformats.org/officeDocument/2006/relationships/image" Target="../media/image270.png"/><Relationship Id="rId4" Type="http://schemas.openxmlformats.org/officeDocument/2006/relationships/image" Target="../media/image260.png"/></Relationships>
</file>

<file path=ppt/slides/_rels/slide36.xml.rels><?xml version="1.0" encoding="UTF-8" standalone="yes"?>
<Relationships xmlns="http://schemas.openxmlformats.org/package/2006/relationships"><Relationship Id="rId8" Type="http://schemas.openxmlformats.org/officeDocument/2006/relationships/image" Target="../media/image37.png"/><Relationship Id="rId3" Type="http://schemas.openxmlformats.org/officeDocument/2006/relationships/image" Target="../media/image320.png"/><Relationship Id="rId7" Type="http://schemas.openxmlformats.org/officeDocument/2006/relationships/image" Target="../media/image36.png"/><Relationship Id="rId2" Type="http://schemas.openxmlformats.org/officeDocument/2006/relationships/image" Target="../media/image311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35.png"/><Relationship Id="rId11" Type="http://schemas.openxmlformats.org/officeDocument/2006/relationships/image" Target="../media/image40.png"/><Relationship Id="rId5" Type="http://schemas.openxmlformats.org/officeDocument/2006/relationships/image" Target="../media/image34.png"/><Relationship Id="rId10" Type="http://schemas.openxmlformats.org/officeDocument/2006/relationships/image" Target="../media/image39.png"/><Relationship Id="rId4" Type="http://schemas.openxmlformats.org/officeDocument/2006/relationships/image" Target="../media/image330.png"/><Relationship Id="rId9" Type="http://schemas.openxmlformats.org/officeDocument/2006/relationships/image" Target="../media/image38.png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image" Target="../media/image41.png"/><Relationship Id="rId1" Type="http://schemas.openxmlformats.org/officeDocument/2006/relationships/slideLayout" Target="../slideLayouts/slideLayout7.xml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2.png"/><Relationship Id="rId1" Type="http://schemas.openxmlformats.org/officeDocument/2006/relationships/slideLayout" Target="../slideLayouts/slideLayout7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4.png"/><Relationship Id="rId2" Type="http://schemas.openxmlformats.org/officeDocument/2006/relationships/image" Target="../media/image43.png"/><Relationship Id="rId1" Type="http://schemas.openxmlformats.org/officeDocument/2006/relationships/slideLayout" Target="../slideLayouts/slideLayout7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5.png"/><Relationship Id="rId1" Type="http://schemas.openxmlformats.org/officeDocument/2006/relationships/slideLayout" Target="../slideLayouts/slideLayout7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7.png"/><Relationship Id="rId2" Type="http://schemas.openxmlformats.org/officeDocument/2006/relationships/image" Target="../media/image46.png"/><Relationship Id="rId1" Type="http://schemas.openxmlformats.org/officeDocument/2006/relationships/slideLayout" Target="../slideLayouts/slideLayout7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9.png"/><Relationship Id="rId2" Type="http://schemas.openxmlformats.org/officeDocument/2006/relationships/image" Target="../media/image48.png"/><Relationship Id="rId1" Type="http://schemas.openxmlformats.org/officeDocument/2006/relationships/slideLayout" Target="../slideLayouts/slideLayout7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1.png"/><Relationship Id="rId2" Type="http://schemas.openxmlformats.org/officeDocument/2006/relationships/image" Target="../media/image50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52.png"/></Relationships>
</file>

<file path=ppt/slides/_rels/slide63.xml.rels><?xml version="1.0" encoding="UTF-8" standalone="yes"?>
<Relationships xmlns="http://schemas.openxmlformats.org/package/2006/relationships"><Relationship Id="rId8" Type="http://schemas.openxmlformats.org/officeDocument/2006/relationships/image" Target="../media/image59.png"/><Relationship Id="rId3" Type="http://schemas.openxmlformats.org/officeDocument/2006/relationships/image" Target="../media/image54.png"/><Relationship Id="rId7" Type="http://schemas.openxmlformats.org/officeDocument/2006/relationships/image" Target="../media/image58.png"/><Relationship Id="rId2" Type="http://schemas.openxmlformats.org/officeDocument/2006/relationships/image" Target="../media/image53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57.png"/><Relationship Id="rId11" Type="http://schemas.openxmlformats.org/officeDocument/2006/relationships/image" Target="../media/image62.png"/><Relationship Id="rId5" Type="http://schemas.openxmlformats.org/officeDocument/2006/relationships/image" Target="../media/image56.png"/><Relationship Id="rId10" Type="http://schemas.openxmlformats.org/officeDocument/2006/relationships/image" Target="../media/image61.png"/><Relationship Id="rId4" Type="http://schemas.openxmlformats.org/officeDocument/2006/relationships/image" Target="../media/image55.png"/><Relationship Id="rId9" Type="http://schemas.openxmlformats.org/officeDocument/2006/relationships/image" Target="../media/image60.png"/></Relationships>
</file>

<file path=ppt/slides/_rels/slide64.xml.rels><?xml version="1.0" encoding="UTF-8" standalone="yes"?>
<Relationships xmlns="http://schemas.openxmlformats.org/package/2006/relationships"><Relationship Id="rId2" Type="http://schemas.openxmlformats.org/officeDocument/2006/relationships/image" Target="../media/image63.png"/><Relationship Id="rId1" Type="http://schemas.openxmlformats.org/officeDocument/2006/relationships/slideLayout" Target="../slideLayouts/slideLayout7.xml"/></Relationships>
</file>

<file path=ppt/slides/_rels/slide65.xml.rels><?xml version="1.0" encoding="UTF-8" standalone="yes"?>
<Relationships xmlns="http://schemas.openxmlformats.org/package/2006/relationships"><Relationship Id="rId8" Type="http://schemas.openxmlformats.org/officeDocument/2006/relationships/image" Target="../media/image70.png"/><Relationship Id="rId3" Type="http://schemas.openxmlformats.org/officeDocument/2006/relationships/image" Target="../media/image65.png"/><Relationship Id="rId7" Type="http://schemas.openxmlformats.org/officeDocument/2006/relationships/image" Target="../media/image69.png"/><Relationship Id="rId2" Type="http://schemas.openxmlformats.org/officeDocument/2006/relationships/image" Target="../media/image64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68.png"/><Relationship Id="rId5" Type="http://schemas.openxmlformats.org/officeDocument/2006/relationships/image" Target="../media/image67.png"/><Relationship Id="rId4" Type="http://schemas.openxmlformats.org/officeDocument/2006/relationships/image" Target="../media/image66.png"/><Relationship Id="rId9" Type="http://schemas.openxmlformats.org/officeDocument/2006/relationships/image" Target="../media/image71.png"/></Relationships>
</file>

<file path=ppt/slides/_rels/slide66.xml.rels><?xml version="1.0" encoding="UTF-8" standalone="yes"?>
<Relationships xmlns="http://schemas.openxmlformats.org/package/2006/relationships"><Relationship Id="rId8" Type="http://schemas.openxmlformats.org/officeDocument/2006/relationships/image" Target="../media/image78.png"/><Relationship Id="rId3" Type="http://schemas.openxmlformats.org/officeDocument/2006/relationships/image" Target="../media/image73.png"/><Relationship Id="rId7" Type="http://schemas.openxmlformats.org/officeDocument/2006/relationships/image" Target="../media/image77.png"/><Relationship Id="rId2" Type="http://schemas.openxmlformats.org/officeDocument/2006/relationships/image" Target="../media/image72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76.png"/><Relationship Id="rId5" Type="http://schemas.openxmlformats.org/officeDocument/2006/relationships/image" Target="../media/image75.png"/><Relationship Id="rId4" Type="http://schemas.openxmlformats.org/officeDocument/2006/relationships/image" Target="../media/image74.png"/></Relationships>
</file>

<file path=ppt/slides/_rels/slide67.xml.rels><?xml version="1.0" encoding="UTF-8" standalone="yes"?>
<Relationships xmlns="http://schemas.openxmlformats.org/package/2006/relationships"><Relationship Id="rId8" Type="http://schemas.openxmlformats.org/officeDocument/2006/relationships/image" Target="../media/image85.png"/><Relationship Id="rId3" Type="http://schemas.openxmlformats.org/officeDocument/2006/relationships/image" Target="../media/image80.png"/><Relationship Id="rId7" Type="http://schemas.openxmlformats.org/officeDocument/2006/relationships/image" Target="../media/image84.png"/><Relationship Id="rId2" Type="http://schemas.openxmlformats.org/officeDocument/2006/relationships/image" Target="../media/image79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83.png"/><Relationship Id="rId5" Type="http://schemas.openxmlformats.org/officeDocument/2006/relationships/image" Target="../media/image82.png"/><Relationship Id="rId4" Type="http://schemas.openxmlformats.org/officeDocument/2006/relationships/image" Target="../media/image81.png"/></Relationships>
</file>

<file path=ppt/slides/_rels/slide68.xml.rels><?xml version="1.0" encoding="UTF-8" standalone="yes"?>
<Relationships xmlns="http://schemas.openxmlformats.org/package/2006/relationships"><Relationship Id="rId8" Type="http://schemas.openxmlformats.org/officeDocument/2006/relationships/image" Target="../media/image91.png"/><Relationship Id="rId3" Type="http://schemas.openxmlformats.org/officeDocument/2006/relationships/image" Target="../media/image86.png"/><Relationship Id="rId7" Type="http://schemas.openxmlformats.org/officeDocument/2006/relationships/image" Target="../media/image90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89.png"/><Relationship Id="rId11" Type="http://schemas.openxmlformats.org/officeDocument/2006/relationships/image" Target="../media/image94.png"/><Relationship Id="rId5" Type="http://schemas.openxmlformats.org/officeDocument/2006/relationships/image" Target="../media/image88.png"/><Relationship Id="rId10" Type="http://schemas.openxmlformats.org/officeDocument/2006/relationships/image" Target="../media/image93.png"/><Relationship Id="rId4" Type="http://schemas.openxmlformats.org/officeDocument/2006/relationships/image" Target="../media/image87.png"/><Relationship Id="rId9" Type="http://schemas.openxmlformats.org/officeDocument/2006/relationships/image" Target="../media/image92.png"/></Relationships>
</file>

<file path=ppt/slides/_rels/slide69.xml.rels><?xml version="1.0" encoding="UTF-8" standalone="yes"?>
<Relationships xmlns="http://schemas.openxmlformats.org/package/2006/relationships"><Relationship Id="rId3" Type="http://schemas.openxmlformats.org/officeDocument/2006/relationships/image" Target="../media/image95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96.png"/></Relationships>
</file>

<file path=ppt/slides/_rels/slide70.xml.rels><?xml version="1.0" encoding="UTF-8" standalone="yes"?>
<Relationships xmlns="http://schemas.openxmlformats.org/package/2006/relationships"><Relationship Id="rId3" Type="http://schemas.openxmlformats.org/officeDocument/2006/relationships/image" Target="../media/image98.png"/><Relationship Id="rId2" Type="http://schemas.openxmlformats.org/officeDocument/2006/relationships/image" Target="../media/image97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1D93E5D-BC62-05E2-2C7A-5FC94D618ED9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UC Security Model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A825DC4F-054D-CDBF-5B6A-0035C6B2E0CC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CS714: Secure Computation</a:t>
            </a:r>
          </a:p>
        </p:txBody>
      </p:sp>
    </p:spTree>
    <p:extLst>
      <p:ext uri="{BB962C8B-B14F-4D97-AF65-F5344CB8AC3E}">
        <p14:creationId xmlns:p14="http://schemas.microsoft.com/office/powerpoint/2010/main" val="265172945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1043197-2CB4-A377-FE78-0A62444B2A1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Logistics		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A1DA899-1665-F396-E94B-E1685371C2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 dirty="0"/>
          </a:p>
          <a:p>
            <a:r>
              <a:rPr lang="en-US" dirty="0"/>
              <a:t>Thanks for your feedback! </a:t>
            </a:r>
          </a:p>
          <a:p>
            <a:endParaRPr lang="en-US" dirty="0"/>
          </a:p>
          <a:p>
            <a:r>
              <a:rPr lang="en-US" dirty="0"/>
              <a:t>Optional Recap Class on Saturday</a:t>
            </a:r>
          </a:p>
          <a:p>
            <a:pPr lvl="1"/>
            <a:r>
              <a:rPr lang="en-US" dirty="0"/>
              <a:t>No new material will be covered (this is purely optional)</a:t>
            </a:r>
          </a:p>
        </p:txBody>
      </p:sp>
    </p:spTree>
    <p:extLst>
      <p:ext uri="{BB962C8B-B14F-4D97-AF65-F5344CB8AC3E}">
        <p14:creationId xmlns:p14="http://schemas.microsoft.com/office/powerpoint/2010/main" val="173346686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6FAFA6A5-212B-6CBB-9B53-75C2489C1CA4}"/>
              </a:ext>
            </a:extLst>
          </p:cNvPr>
          <p:cNvSpPr txBox="1"/>
          <p:nvPr/>
        </p:nvSpPr>
        <p:spPr>
          <a:xfrm>
            <a:off x="637954" y="435935"/>
            <a:ext cx="3711272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000" dirty="0"/>
              <a:t>Defining Privacy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DF9C696-4A3F-E555-ED8E-5C8D7FE221CB}"/>
              </a:ext>
            </a:extLst>
          </p:cNvPr>
          <p:cNvSpPr txBox="1"/>
          <p:nvPr/>
        </p:nvSpPr>
        <p:spPr>
          <a:xfrm>
            <a:off x="565249" y="2170318"/>
            <a:ext cx="268285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For each corrupted party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5D50ED68-D5B3-4414-0FDA-088087AAE0F8}"/>
                  </a:ext>
                </a:extLst>
              </p:cNvPr>
              <p:cNvSpPr txBox="1"/>
              <p:nvPr/>
            </p:nvSpPr>
            <p:spPr>
              <a:xfrm>
                <a:off x="3248099" y="2055703"/>
                <a:ext cx="414668" cy="598562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36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36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US" sz="3600" b="0" i="1" smtClean="0">
                              <a:latin typeface="Cambria Math" panose="02040503050406030204" pitchFamily="18" charset="0"/>
                            </a:rPr>
                            <m:t>𝑗</m:t>
                          </m:r>
                        </m:sub>
                      </m:sSub>
                    </m:oMath>
                  </m:oMathPara>
                </a14:m>
                <a:endParaRPr lang="en-US" sz="3600" dirty="0"/>
              </a:p>
            </p:txBody>
          </p:sp>
        </mc:Choice>
        <mc:Fallback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5D50ED68-D5B3-4414-0FDA-088087AAE0F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248099" y="2055703"/>
                <a:ext cx="414668" cy="598562"/>
              </a:xfrm>
              <a:prstGeom prst="rect">
                <a:avLst/>
              </a:prstGeom>
              <a:blipFill>
                <a:blip r:embed="rId2"/>
                <a:stretch>
                  <a:fillRect l="-32353" r="-23529" b="-2291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TextBox 4">
            <a:extLst>
              <a:ext uri="{FF2B5EF4-FFF2-40B4-BE49-F238E27FC236}">
                <a16:creationId xmlns:a16="http://schemas.microsoft.com/office/drawing/2014/main" id="{723E7B96-D74D-01BA-CF1D-7878021D6697}"/>
              </a:ext>
            </a:extLst>
          </p:cNvPr>
          <p:cNvSpPr txBox="1"/>
          <p:nvPr/>
        </p:nvSpPr>
        <p:spPr>
          <a:xfrm>
            <a:off x="3662767" y="2170318"/>
            <a:ext cx="80823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define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8620BA77-E663-B03E-DC64-11D97D749557}"/>
                  </a:ext>
                </a:extLst>
              </p:cNvPr>
              <p:cNvSpPr txBox="1"/>
              <p:nvPr/>
            </p:nvSpPr>
            <p:spPr>
              <a:xfrm>
                <a:off x="8234475" y="2068763"/>
                <a:ext cx="414668" cy="598562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36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36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US" sz="3600" b="0" i="1" smtClean="0">
                              <a:latin typeface="Cambria Math" panose="02040503050406030204" pitchFamily="18" charset="0"/>
                            </a:rPr>
                            <m:t>𝑗</m:t>
                          </m:r>
                        </m:sub>
                      </m:sSub>
                    </m:oMath>
                  </m:oMathPara>
                </a14:m>
                <a:endParaRPr lang="en-US" sz="3600" dirty="0"/>
              </a:p>
            </p:txBody>
          </p:sp>
        </mc:Choice>
        <mc:Fallback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8620BA77-E663-B03E-DC64-11D97D74955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234475" y="2068763"/>
                <a:ext cx="414668" cy="598562"/>
              </a:xfrm>
              <a:prstGeom prst="rect">
                <a:avLst/>
              </a:prstGeom>
              <a:blipFill>
                <a:blip r:embed="rId3"/>
                <a:stretch>
                  <a:fillRect l="-32353" r="-23529" b="-2040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DFD3D9AD-4FE6-F06E-AF8D-49ADB656892C}"/>
                  </a:ext>
                </a:extLst>
              </p:cNvPr>
              <p:cNvSpPr txBox="1"/>
              <p:nvPr/>
            </p:nvSpPr>
            <p:spPr>
              <a:xfrm>
                <a:off x="4480734" y="2068763"/>
                <a:ext cx="924150" cy="694293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36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nor/>
                            </m:rPr>
                            <a:rPr lang="en-US" sz="3600" b="0" i="0" smtClean="0">
                              <a:latin typeface="Chalk Board" panose="02000500000000000000" pitchFamily="2" charset="0"/>
                            </a:rPr>
                            <m:t>view</m:t>
                          </m:r>
                        </m:e>
                        <m:sub>
                          <m:r>
                            <m:rPr>
                              <m:nor/>
                            </m:rPr>
                            <a:rPr lang="en-US" sz="3600" b="0" i="0" smtClean="0">
                              <a:latin typeface="Chalk Board" panose="02000500000000000000" pitchFamily="2" charset="0"/>
                            </a:rPr>
                            <m:t>j</m:t>
                          </m:r>
                        </m:sub>
                      </m:sSub>
                    </m:oMath>
                  </m:oMathPara>
                </a14:m>
                <a:endParaRPr lang="en-US" sz="3600" dirty="0">
                  <a:latin typeface="Chalk Board" panose="02000500000000000000" pitchFamily="2" charset="0"/>
                </a:endParaRPr>
              </a:p>
            </p:txBody>
          </p:sp>
        </mc:Choice>
        <mc:Fallback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DFD3D9AD-4FE6-F06E-AF8D-49ADB656892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480734" y="2068763"/>
                <a:ext cx="924150" cy="694293"/>
              </a:xfrm>
              <a:prstGeom prst="rect">
                <a:avLst/>
              </a:prstGeom>
              <a:blipFill>
                <a:blip r:embed="rId4"/>
                <a:stretch>
                  <a:fillRect l="-1351" r="-6757" b="-2857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D5389B41-AFB8-7317-B230-BD6A3D718E97}"/>
                  </a:ext>
                </a:extLst>
              </p:cNvPr>
              <p:cNvSpPr txBox="1"/>
              <p:nvPr/>
            </p:nvSpPr>
            <p:spPr>
              <a:xfrm>
                <a:off x="565249" y="5396023"/>
                <a:ext cx="2069862" cy="99565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lit/>
                          <m:nor/>
                        </m:rPr>
                        <a:rPr lang="en-US" sz="4000" b="0" i="0" smtClean="0">
                          <a:latin typeface="Chalk Board" panose="02000500000000000000" pitchFamily="2" charset="0"/>
                        </a:rPr>
                        <m:t>{</m:t>
                      </m:r>
                      <m:r>
                        <m:rPr>
                          <m:nor/>
                        </m:rPr>
                        <a:rPr lang="en-US" sz="4000" b="0" i="0" smtClean="0">
                          <a:latin typeface="Chalk Board" panose="02000500000000000000" pitchFamily="2" charset="0"/>
                        </a:rPr>
                        <m:t>vie</m:t>
                      </m:r>
                      <m:sSub>
                        <m:sSubPr>
                          <m:ctrlPr>
                            <a:rPr lang="en-US" sz="40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nor/>
                            </m:rPr>
                            <a:rPr lang="en-US" sz="4000" b="0" i="0" smtClean="0">
                              <a:latin typeface="Chalk Board" panose="02000500000000000000" pitchFamily="2" charset="0"/>
                            </a:rPr>
                            <m:t>w</m:t>
                          </m:r>
                        </m:e>
                        <m:sub>
                          <m:r>
                            <m:rPr>
                              <m:nor/>
                            </m:rPr>
                            <a:rPr lang="en-US" sz="4000" b="0" i="0" smtClean="0">
                              <a:latin typeface="Chalk Board" panose="02000500000000000000" pitchFamily="2" charset="0"/>
                            </a:rPr>
                            <m:t>j</m:t>
                          </m:r>
                        </m:sub>
                      </m:sSub>
                      <m:sSub>
                        <m:sSubPr>
                          <m:ctrlPr>
                            <a:rPr lang="en-US" sz="40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lit/>
                              <m:nor/>
                            </m:rPr>
                            <a:rPr lang="en-US" sz="4000" b="0" i="0" smtClean="0">
                              <a:latin typeface="Chalk Board" panose="02000500000000000000" pitchFamily="2" charset="0"/>
                            </a:rPr>
                            <m:t>}</m:t>
                          </m:r>
                        </m:e>
                        <m:sub>
                          <m:sSub>
                            <m:sSubPr>
                              <m:ctrlPr>
                                <a:rPr lang="en-US" sz="40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nor/>
                                </m:rPr>
                                <a:rPr lang="en-US" sz="4000" b="0" i="0" smtClean="0">
                                  <a:latin typeface="Chalk Board" panose="02000500000000000000" pitchFamily="2" charset="0"/>
                                </a:rPr>
                                <m:t>P</m:t>
                              </m:r>
                            </m:e>
                            <m:sub>
                              <m:r>
                                <m:rPr>
                                  <m:nor/>
                                </m:rPr>
                                <a:rPr lang="en-US" sz="4000" b="0" i="0" smtClean="0">
                                  <a:latin typeface="Chalk Board" panose="02000500000000000000" pitchFamily="2" charset="0"/>
                                </a:rPr>
                                <m:t>j</m:t>
                              </m:r>
                            </m:sub>
                          </m:sSub>
                          <m:r>
                            <m:rPr>
                              <m:nor/>
                            </m:rPr>
                            <a:rPr lang="en-US" sz="4000" b="0" i="0" smtClean="0">
                              <a:latin typeface="Chalk Board" panose="02000500000000000000" pitchFamily="2" charset="0"/>
                            </a:rPr>
                            <m:t>∈</m:t>
                          </m:r>
                          <m:r>
                            <m:rPr>
                              <m:nor/>
                            </m:rPr>
                            <a:rPr lang="en-US" sz="4000" b="0" i="0" smtClean="0">
                              <a:latin typeface="Chalk Board" panose="02000500000000000000" pitchFamily="2" charset="0"/>
                            </a:rPr>
                            <m:t>C</m:t>
                          </m:r>
                        </m:sub>
                      </m:sSub>
                    </m:oMath>
                  </m:oMathPara>
                </a14:m>
                <a:endParaRPr lang="en-US" sz="4000" dirty="0">
                  <a:latin typeface="Chalk Board" panose="02000500000000000000" pitchFamily="2" charset="0"/>
                </a:endParaRPr>
              </a:p>
            </p:txBody>
          </p:sp>
        </mc:Choice>
        <mc:Fallback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D5389B41-AFB8-7317-B230-BD6A3D718E9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65249" y="5396023"/>
                <a:ext cx="2069862" cy="995657"/>
              </a:xfrm>
              <a:prstGeom prst="rect">
                <a:avLst/>
              </a:prstGeom>
              <a:blipFill>
                <a:blip r:embed="rId5"/>
                <a:stretch>
                  <a:fillRect l="-6707" r="-4268" b="-2125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0" name="Oval 9">
            <a:extLst>
              <a:ext uri="{FF2B5EF4-FFF2-40B4-BE49-F238E27FC236}">
                <a16:creationId xmlns:a16="http://schemas.microsoft.com/office/drawing/2014/main" id="{2E4D7276-8671-B1AB-DBBD-30B5BA40EB63}"/>
              </a:ext>
            </a:extLst>
          </p:cNvPr>
          <p:cNvSpPr/>
          <p:nvPr/>
        </p:nvSpPr>
        <p:spPr>
          <a:xfrm>
            <a:off x="282678" y="4998989"/>
            <a:ext cx="2635003" cy="1679944"/>
          </a:xfrm>
          <a:prstGeom prst="ellipse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5EA315F0-01A4-3C2B-E2CA-DE481FCCE3B3}"/>
              </a:ext>
            </a:extLst>
          </p:cNvPr>
          <p:cNvCxnSpPr>
            <a:cxnSpLocks/>
          </p:cNvCxnSpPr>
          <p:nvPr/>
        </p:nvCxnSpPr>
        <p:spPr>
          <a:xfrm flipV="1">
            <a:off x="2917681" y="5688418"/>
            <a:ext cx="2487203" cy="150543"/>
          </a:xfrm>
          <a:prstGeom prst="straightConnector1">
            <a:avLst/>
          </a:prstGeom>
          <a:ln>
            <a:tailEnd type="arrow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4" name="TextBox 13">
            <a:extLst>
              <a:ext uri="{FF2B5EF4-FFF2-40B4-BE49-F238E27FC236}">
                <a16:creationId xmlns:a16="http://schemas.microsoft.com/office/drawing/2014/main" id="{3920AAB0-94F1-BB79-0668-E5E101EF7BCE}"/>
              </a:ext>
            </a:extLst>
          </p:cNvPr>
          <p:cNvSpPr txBox="1"/>
          <p:nvPr/>
        </p:nvSpPr>
        <p:spPr>
          <a:xfrm rot="336351">
            <a:off x="5070385" y="5463293"/>
            <a:ext cx="281038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Chalk Board" panose="02000500000000000000" pitchFamily="2" charset="0"/>
              </a:rPr>
              <a:t>Information leaked to corrupted parties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57E6243A-DEB6-313D-A196-4A49A6CF431E}"/>
                  </a:ext>
                </a:extLst>
              </p:cNvPr>
              <p:cNvSpPr txBox="1"/>
              <p:nvPr/>
            </p:nvSpPr>
            <p:spPr>
              <a:xfrm>
                <a:off x="1398803" y="3764992"/>
                <a:ext cx="2189574" cy="592855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nor/>
                        </m:rPr>
                        <a:rPr lang="en-US" sz="3600" b="0" i="0" smtClean="0">
                          <a:latin typeface="Chalk Board" panose="02000500000000000000" pitchFamily="2" charset="0"/>
                        </a:rPr>
                        <m:t>C</m:t>
                      </m:r>
                      <m:r>
                        <m:rPr>
                          <m:nor/>
                        </m:rPr>
                        <a:rPr lang="en-US" sz="3600" b="0" i="0" smtClean="0">
                          <a:latin typeface="Chalk Board" panose="02000500000000000000" pitchFamily="2" charset="0"/>
                        </a:rPr>
                        <m:t> ⊆</m:t>
                      </m:r>
                      <m:r>
                        <m:rPr>
                          <m:lit/>
                          <m:nor/>
                        </m:rPr>
                        <a:rPr lang="en-US" sz="3600" b="0" i="0" smtClean="0">
                          <a:latin typeface="Chalk Board" panose="02000500000000000000" pitchFamily="2" charset="0"/>
                        </a:rPr>
                        <m:t> {</m:t>
                      </m:r>
                      <m:sSub>
                        <m:sSubPr>
                          <m:ctrlPr>
                            <a:rPr lang="en-US" sz="36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nor/>
                            </m:rPr>
                            <a:rPr lang="en-US" sz="3600" b="0" i="0" smtClean="0">
                              <a:latin typeface="Chalk Board" panose="02000500000000000000" pitchFamily="2" charset="0"/>
                            </a:rPr>
                            <m:t>P</m:t>
                          </m:r>
                        </m:e>
                        <m:sub>
                          <m:r>
                            <m:rPr>
                              <m:nor/>
                            </m:rPr>
                            <a:rPr lang="en-US" sz="3600" b="0" i="0" smtClean="0">
                              <a:latin typeface="Chalk Board" panose="02000500000000000000" pitchFamily="2" charset="0"/>
                            </a:rPr>
                            <m:t>1</m:t>
                          </m:r>
                        </m:sub>
                      </m:sSub>
                      <m:r>
                        <m:rPr>
                          <m:nor/>
                        </m:rPr>
                        <a:rPr lang="en-US" sz="3600" b="0" i="0" smtClean="0">
                          <a:latin typeface="Chalk Board" panose="02000500000000000000" pitchFamily="2" charset="0"/>
                        </a:rPr>
                        <m:t>, …,</m:t>
                      </m:r>
                      <m:sSub>
                        <m:sSubPr>
                          <m:ctrlPr>
                            <a:rPr lang="en-US" sz="36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nor/>
                            </m:rPr>
                            <a:rPr lang="en-US" sz="3600" b="0" i="0" smtClean="0">
                              <a:latin typeface="Chalk Board" panose="02000500000000000000" pitchFamily="2" charset="0"/>
                            </a:rPr>
                            <m:t>P</m:t>
                          </m:r>
                        </m:e>
                        <m:sub>
                          <m:r>
                            <m:rPr>
                              <m:nor/>
                            </m:rPr>
                            <a:rPr lang="en-US" sz="3600" b="0" i="0" smtClean="0">
                              <a:latin typeface="Chalk Board" panose="02000500000000000000" pitchFamily="2" charset="0"/>
                            </a:rPr>
                            <m:t>n</m:t>
                          </m:r>
                        </m:sub>
                      </m:sSub>
                      <m:r>
                        <m:rPr>
                          <m:lit/>
                          <m:nor/>
                        </m:rPr>
                        <a:rPr lang="en-US" sz="3600" b="0" i="0" smtClean="0">
                          <a:latin typeface="Chalk Board" panose="02000500000000000000" pitchFamily="2" charset="0"/>
                        </a:rPr>
                        <m:t>}</m:t>
                      </m:r>
                    </m:oMath>
                  </m:oMathPara>
                </a14:m>
                <a:endParaRPr lang="en-US" sz="3600" dirty="0">
                  <a:latin typeface="Chalk Board" panose="02000500000000000000" pitchFamily="2" charset="0"/>
                </a:endParaRPr>
              </a:p>
            </p:txBody>
          </p:sp>
        </mc:Choice>
        <mc:Fallback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57E6243A-DEB6-313D-A196-4A49A6CF431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398803" y="3764992"/>
                <a:ext cx="2189574" cy="592855"/>
              </a:xfrm>
              <a:prstGeom prst="rect">
                <a:avLst/>
              </a:prstGeom>
              <a:blipFill>
                <a:blip r:embed="rId6"/>
                <a:stretch>
                  <a:fillRect l="-4023" t="-20833" r="-5747" b="-4375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6" name="TextBox 15">
            <a:extLst>
              <a:ext uri="{FF2B5EF4-FFF2-40B4-BE49-F238E27FC236}">
                <a16:creationId xmlns:a16="http://schemas.microsoft.com/office/drawing/2014/main" id="{F57F58D4-FF95-28D7-BC6D-2E052B9A6A72}"/>
              </a:ext>
            </a:extLst>
          </p:cNvPr>
          <p:cNvSpPr txBox="1"/>
          <p:nvPr/>
        </p:nvSpPr>
        <p:spPr>
          <a:xfrm>
            <a:off x="3588377" y="3808642"/>
            <a:ext cx="309296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is the set of corrupted parties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DA2EE32A-E3E3-CCDB-BFBF-013987535AC1}"/>
              </a:ext>
            </a:extLst>
          </p:cNvPr>
          <p:cNvSpPr txBox="1"/>
          <p:nvPr/>
        </p:nvSpPr>
        <p:spPr>
          <a:xfrm>
            <a:off x="5339761" y="2170318"/>
            <a:ext cx="289471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the entire view of the party</a:t>
            </a:r>
          </a:p>
        </p:txBody>
      </p:sp>
    </p:spTree>
    <p:extLst>
      <p:ext uri="{BB962C8B-B14F-4D97-AF65-F5344CB8AC3E}">
        <p14:creationId xmlns:p14="http://schemas.microsoft.com/office/powerpoint/2010/main" val="97777897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17E617E2-54C7-9193-8C67-F21AB5F4FC7C}"/>
                  </a:ext>
                </a:extLst>
              </p:cNvPr>
              <p:cNvSpPr txBox="1"/>
              <p:nvPr/>
            </p:nvSpPr>
            <p:spPr>
              <a:xfrm>
                <a:off x="613247" y="779909"/>
                <a:ext cx="8655831" cy="1159741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nor/>
                        </m:rPr>
                        <a:rPr lang="en-US" sz="6600" b="0" i="0" smtClean="0">
                          <a:latin typeface="Chalk Board" panose="02000500000000000000" pitchFamily="2" charset="0"/>
                        </a:rPr>
                        <m:t>f</m:t>
                      </m:r>
                      <m:d>
                        <m:dPr>
                          <m:ctrlPr>
                            <a:rPr lang="en-US" sz="66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66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nor/>
                                </m:rPr>
                                <a:rPr lang="en-US" sz="6600" b="0" i="0" smtClean="0">
                                  <a:latin typeface="Chalk Board" panose="02000500000000000000" pitchFamily="2" charset="0"/>
                                </a:rPr>
                                <m:t>x</m:t>
                              </m:r>
                            </m:e>
                            <m:sub>
                              <m:r>
                                <m:rPr>
                                  <m:nor/>
                                </m:rPr>
                                <a:rPr lang="en-US" sz="6600" b="0" i="0" smtClean="0">
                                  <a:latin typeface="Chalk Board" panose="02000500000000000000" pitchFamily="2" charset="0"/>
                                </a:rPr>
                                <m:t>1</m:t>
                              </m:r>
                            </m:sub>
                          </m:sSub>
                          <m:r>
                            <m:rPr>
                              <m:nor/>
                            </m:rPr>
                            <a:rPr lang="en-US" sz="6600" b="0" i="0" smtClean="0">
                              <a:latin typeface="Chalk Board" panose="02000500000000000000" pitchFamily="2" charset="0"/>
                            </a:rPr>
                            <m:t>, </m:t>
                          </m:r>
                          <m:sSub>
                            <m:sSubPr>
                              <m:ctrlPr>
                                <a:rPr lang="en-US" sz="66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nor/>
                                </m:rPr>
                                <a:rPr lang="en-US" sz="6600" b="0" i="0" smtClean="0">
                                  <a:latin typeface="Chalk Board" panose="02000500000000000000" pitchFamily="2" charset="0"/>
                                </a:rPr>
                                <m:t>x</m:t>
                              </m:r>
                            </m:e>
                            <m:sub>
                              <m:r>
                                <m:rPr>
                                  <m:nor/>
                                </m:rPr>
                                <a:rPr lang="en-US" sz="6600" b="0" i="0" smtClean="0">
                                  <a:latin typeface="Chalk Board" panose="02000500000000000000" pitchFamily="2" charset="0"/>
                                </a:rPr>
                                <m:t>2</m:t>
                              </m:r>
                            </m:sub>
                          </m:sSub>
                          <m:r>
                            <m:rPr>
                              <m:nor/>
                            </m:rPr>
                            <a:rPr lang="en-US" sz="6600" b="0" i="0" smtClean="0">
                              <a:latin typeface="Chalk Board" panose="02000500000000000000" pitchFamily="2" charset="0"/>
                            </a:rPr>
                            <m:t>, </m:t>
                          </m:r>
                          <m:sSub>
                            <m:sSubPr>
                              <m:ctrlPr>
                                <a:rPr lang="en-US" sz="66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nor/>
                                </m:rPr>
                                <a:rPr lang="en-US" sz="6600" b="0" i="0" smtClean="0">
                                  <a:latin typeface="Chalk Board" panose="02000500000000000000" pitchFamily="2" charset="0"/>
                                </a:rPr>
                                <m:t>x</m:t>
                              </m:r>
                            </m:e>
                            <m:sub>
                              <m:r>
                                <m:rPr>
                                  <m:nor/>
                                </m:rPr>
                                <a:rPr lang="en-US" sz="6600" b="0" i="0" smtClean="0">
                                  <a:latin typeface="Chalk Board" panose="02000500000000000000" pitchFamily="2" charset="0"/>
                                </a:rPr>
                                <m:t>3</m:t>
                              </m:r>
                            </m:sub>
                          </m:sSub>
                        </m:e>
                      </m:d>
                      <m:r>
                        <m:rPr>
                          <m:nor/>
                        </m:rPr>
                        <a:rPr lang="en-US" sz="6600" b="0" i="0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m:rPr>
                          <m:nor/>
                        </m:rPr>
                        <a:rPr lang="en-US" sz="6600" b="0" i="0" smtClean="0">
                          <a:latin typeface="Chalk Board" panose="02000500000000000000" pitchFamily="2" charset="0"/>
                        </a:rPr>
                        <m:t>= (</m:t>
                      </m:r>
                      <m:sSub>
                        <m:sSubPr>
                          <m:ctrlPr>
                            <a:rPr lang="en-US" sz="66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nor/>
                            </m:rPr>
                            <a:rPr lang="en-US" sz="6600" b="0" i="0" smtClean="0">
                              <a:latin typeface="Chalk Board" panose="02000500000000000000" pitchFamily="2" charset="0"/>
                            </a:rPr>
                            <m:t>x</m:t>
                          </m:r>
                        </m:e>
                        <m:sub>
                          <m:r>
                            <m:rPr>
                              <m:nor/>
                            </m:rPr>
                            <a:rPr lang="en-US" sz="6600" b="0" i="0" smtClean="0">
                              <a:latin typeface="Chalk Board" panose="02000500000000000000" pitchFamily="2" charset="0"/>
                            </a:rPr>
                            <m:t>1</m:t>
                          </m:r>
                        </m:sub>
                      </m:sSub>
                      <m:sSub>
                        <m:sSubPr>
                          <m:ctrlPr>
                            <a:rPr lang="en-US" sz="66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nor/>
                            </m:rPr>
                            <a:rPr lang="en-US" sz="6600" b="0" i="0" smtClean="0">
                              <a:latin typeface="Chalk Board" panose="02000500000000000000" pitchFamily="2" charset="0"/>
                            </a:rPr>
                            <m:t>x</m:t>
                          </m:r>
                        </m:e>
                        <m:sub>
                          <m:r>
                            <m:rPr>
                              <m:nor/>
                            </m:rPr>
                            <a:rPr lang="en-US" sz="6600" b="0" i="0" smtClean="0">
                              <a:latin typeface="Chalk Board" panose="02000500000000000000" pitchFamily="2" charset="0"/>
                            </a:rPr>
                            <m:t>2</m:t>
                          </m:r>
                        </m:sub>
                      </m:sSub>
                      <m:sSub>
                        <m:sSubPr>
                          <m:ctrlPr>
                            <a:rPr lang="en-US" sz="66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nor/>
                            </m:rPr>
                            <a:rPr lang="en-US" sz="6600" b="0" i="0" smtClean="0">
                              <a:latin typeface="Chalk Board" panose="02000500000000000000" pitchFamily="2" charset="0"/>
                            </a:rPr>
                            <m:t>x</m:t>
                          </m:r>
                        </m:e>
                        <m:sub>
                          <m:r>
                            <m:rPr>
                              <m:nor/>
                            </m:rPr>
                            <a:rPr lang="en-US" sz="6600" b="0" i="0" smtClean="0">
                              <a:latin typeface="Chalk Board" panose="02000500000000000000" pitchFamily="2" charset="0"/>
                            </a:rPr>
                            <m:t>3</m:t>
                          </m:r>
                        </m:sub>
                      </m:sSub>
                      <m:r>
                        <m:rPr>
                          <m:nor/>
                        </m:rPr>
                        <a:rPr lang="en-US" sz="6600" b="0" i="0" smtClean="0">
                          <a:latin typeface="Chalk Board" panose="02000500000000000000" pitchFamily="2" charset="0"/>
                        </a:rPr>
                        <m:t>, </m:t>
                      </m:r>
                      <m:sSub>
                        <m:sSubPr>
                          <m:ctrlPr>
                            <a:rPr lang="en-US" sz="66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nor/>
                            </m:rPr>
                            <a:rPr lang="en-US" sz="6600" b="0" i="0" smtClean="0">
                              <a:latin typeface="Chalk Board" panose="02000500000000000000" pitchFamily="2" charset="0"/>
                            </a:rPr>
                            <m:t> </m:t>
                          </m:r>
                          <m:r>
                            <m:rPr>
                              <m:nor/>
                            </m:rPr>
                            <a:rPr lang="en-US" sz="6600" b="0" i="0" smtClean="0">
                              <a:latin typeface="Chalk Board" panose="02000500000000000000" pitchFamily="2" charset="0"/>
                            </a:rPr>
                            <m:t>x</m:t>
                          </m:r>
                        </m:e>
                        <m:sub>
                          <m:r>
                            <m:rPr>
                              <m:nor/>
                            </m:rPr>
                            <a:rPr lang="en-US" sz="6600" b="0" i="0" smtClean="0">
                              <a:latin typeface="Chalk Board" panose="02000500000000000000" pitchFamily="2" charset="0"/>
                            </a:rPr>
                            <m:t>2</m:t>
                          </m:r>
                        </m:sub>
                      </m:sSub>
                      <m:r>
                        <m:rPr>
                          <m:nor/>
                        </m:rPr>
                        <a:rPr lang="en-US" sz="6600" b="0" i="0" smtClean="0">
                          <a:latin typeface="Chalk Board" panose="02000500000000000000" pitchFamily="2" charset="0"/>
                        </a:rPr>
                        <m:t>,</m:t>
                      </m:r>
                      <m:sSub>
                        <m:sSubPr>
                          <m:ctrlPr>
                            <a:rPr lang="en-US" sz="66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nor/>
                            </m:rPr>
                            <a:rPr lang="en-US" sz="6600" b="0" i="0" smtClean="0">
                              <a:latin typeface="Chalk Board" panose="02000500000000000000" pitchFamily="2" charset="0"/>
                            </a:rPr>
                            <m:t> </m:t>
                          </m:r>
                          <m:r>
                            <m:rPr>
                              <m:nor/>
                            </m:rPr>
                            <a:rPr lang="en-US" sz="6600" b="0" i="0" smtClean="0">
                              <a:latin typeface="Chalk Board" panose="02000500000000000000" pitchFamily="2" charset="0"/>
                            </a:rPr>
                            <m:t>x</m:t>
                          </m:r>
                        </m:e>
                        <m:sub>
                          <m:r>
                            <m:rPr>
                              <m:nor/>
                            </m:rPr>
                            <a:rPr lang="en-US" sz="6600" b="0" i="0" smtClean="0">
                              <a:latin typeface="Chalk Board" panose="02000500000000000000" pitchFamily="2" charset="0"/>
                            </a:rPr>
                            <m:t>3</m:t>
                          </m:r>
                        </m:sub>
                      </m:sSub>
                      <m:r>
                        <m:rPr>
                          <m:nor/>
                        </m:rPr>
                        <a:rPr lang="en-US" sz="6600" b="0" i="0" smtClean="0">
                          <a:latin typeface="Chalk Board" panose="02000500000000000000" pitchFamily="2" charset="0"/>
                        </a:rPr>
                        <m:t>)</m:t>
                      </m:r>
                    </m:oMath>
                  </m:oMathPara>
                </a14:m>
                <a:endParaRPr lang="en-US" sz="6600" dirty="0">
                  <a:latin typeface="Chalk Board" panose="02000500000000000000" pitchFamily="2" charset="0"/>
                </a:endParaRPr>
              </a:p>
            </p:txBody>
          </p:sp>
        </mc:Choice>
        <mc:Fallback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17E617E2-54C7-9193-8C67-F21AB5F4FC7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13247" y="779909"/>
                <a:ext cx="8655831" cy="1159741"/>
              </a:xfrm>
              <a:prstGeom prst="rect">
                <a:avLst/>
              </a:prstGeom>
              <a:blipFill>
                <a:blip r:embed="rId2"/>
                <a:stretch>
                  <a:fillRect l="-2196" t="-14130" r="-2343" b="-4239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78A3AEDF-F89F-8A0A-A278-DE9A80E181A3}"/>
                  </a:ext>
                </a:extLst>
              </p:cNvPr>
              <p:cNvSpPr txBox="1"/>
              <p:nvPr/>
            </p:nvSpPr>
            <p:spPr>
              <a:xfrm>
                <a:off x="4389660" y="3488032"/>
                <a:ext cx="707065" cy="276999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78A3AEDF-F89F-8A0A-A278-DE9A80E181A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389660" y="3488032"/>
                <a:ext cx="707065" cy="276999"/>
              </a:xfrm>
              <a:prstGeom prst="rect">
                <a:avLst/>
              </a:prstGeom>
              <a:blipFill>
                <a:blip r:embed="rId3"/>
                <a:stretch>
                  <a:fillRect b="-1304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662DFA8A-5DC7-F9A9-C27C-49FE82F04FE4}"/>
                  </a:ext>
                </a:extLst>
              </p:cNvPr>
              <p:cNvSpPr txBox="1"/>
              <p:nvPr/>
            </p:nvSpPr>
            <p:spPr>
              <a:xfrm>
                <a:off x="6480688" y="3567499"/>
                <a:ext cx="707065" cy="276999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662DFA8A-5DC7-F9A9-C27C-49FE82F04FE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480688" y="3567499"/>
                <a:ext cx="707065" cy="276999"/>
              </a:xfrm>
              <a:prstGeom prst="rect">
                <a:avLst/>
              </a:prstGeom>
              <a:blipFill>
                <a:blip r:embed="rId4"/>
                <a:stretch>
                  <a:fillRect b="-1304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F3261FFF-84AB-EFBD-5EDA-89D56D278AE1}"/>
                  </a:ext>
                </a:extLst>
              </p:cNvPr>
              <p:cNvSpPr txBox="1"/>
              <p:nvPr/>
            </p:nvSpPr>
            <p:spPr>
              <a:xfrm>
                <a:off x="8511736" y="3290500"/>
                <a:ext cx="707065" cy="276999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F3261FFF-84AB-EFBD-5EDA-89D56D278AE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511736" y="3290500"/>
                <a:ext cx="707065" cy="276999"/>
              </a:xfrm>
              <a:prstGeom prst="rect">
                <a:avLst/>
              </a:prstGeom>
              <a:blipFill>
                <a:blip r:embed="rId5"/>
                <a:stretch>
                  <a:fillRect b="-1818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6189E551-98B6-9CA2-520F-E27B478C41D5}"/>
              </a:ext>
            </a:extLst>
          </p:cNvPr>
          <p:cNvCxnSpPr>
            <a:cxnSpLocks/>
          </p:cNvCxnSpPr>
          <p:nvPr/>
        </p:nvCxnSpPr>
        <p:spPr>
          <a:xfrm flipH="1">
            <a:off x="4835669" y="2024227"/>
            <a:ext cx="613518" cy="1430079"/>
          </a:xfrm>
          <a:prstGeom prst="straightConnector1">
            <a:avLst/>
          </a:prstGeom>
          <a:ln>
            <a:solidFill>
              <a:schemeClr val="bg1">
                <a:lumMod val="65000"/>
              </a:schemeClr>
            </a:solidFill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0490D302-CF05-8E24-5D97-946F3BAABCFE}"/>
              </a:ext>
            </a:extLst>
          </p:cNvPr>
          <p:cNvCxnSpPr>
            <a:cxnSpLocks/>
          </p:cNvCxnSpPr>
          <p:nvPr/>
        </p:nvCxnSpPr>
        <p:spPr>
          <a:xfrm flipH="1">
            <a:off x="6834221" y="1821382"/>
            <a:ext cx="466063" cy="1683429"/>
          </a:xfrm>
          <a:prstGeom prst="straightConnector1">
            <a:avLst/>
          </a:prstGeom>
          <a:ln>
            <a:solidFill>
              <a:schemeClr val="bg1">
                <a:lumMod val="65000"/>
              </a:schemeClr>
            </a:solidFill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E57AF12F-941B-566C-C9E2-10EC23C026F3}"/>
              </a:ext>
            </a:extLst>
          </p:cNvPr>
          <p:cNvCxnSpPr>
            <a:cxnSpLocks/>
            <a:endCxn id="5" idx="0"/>
          </p:cNvCxnSpPr>
          <p:nvPr/>
        </p:nvCxnSpPr>
        <p:spPr>
          <a:xfrm>
            <a:off x="8624267" y="1939650"/>
            <a:ext cx="241002" cy="1350850"/>
          </a:xfrm>
          <a:prstGeom prst="straightConnector1">
            <a:avLst/>
          </a:prstGeom>
          <a:ln>
            <a:solidFill>
              <a:schemeClr val="bg1">
                <a:lumMod val="65000"/>
              </a:schemeClr>
            </a:solidFill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049EA66B-4951-2013-8FE0-5A0976E146E8}"/>
                  </a:ext>
                </a:extLst>
              </p:cNvPr>
              <p:cNvSpPr txBox="1"/>
              <p:nvPr/>
            </p:nvSpPr>
            <p:spPr>
              <a:xfrm>
                <a:off x="501687" y="3626530"/>
                <a:ext cx="707065" cy="276999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049EA66B-4951-2013-8FE0-5A0976E146E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01687" y="3626530"/>
                <a:ext cx="707065" cy="276999"/>
              </a:xfrm>
              <a:prstGeom prst="rect">
                <a:avLst/>
              </a:prstGeom>
              <a:blipFill>
                <a:blip r:embed="rId6"/>
                <a:stretch>
                  <a:fillRect b="-1304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13A654A8-0840-2D04-AEFF-7514E179B5A8}"/>
                  </a:ext>
                </a:extLst>
              </p:cNvPr>
              <p:cNvSpPr txBox="1"/>
              <p:nvPr/>
            </p:nvSpPr>
            <p:spPr>
              <a:xfrm>
                <a:off x="1855660" y="3765029"/>
                <a:ext cx="707065" cy="276999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13A654A8-0840-2D04-AEFF-7514E179B5A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855660" y="3765029"/>
                <a:ext cx="707065" cy="276999"/>
              </a:xfrm>
              <a:prstGeom prst="rect">
                <a:avLst/>
              </a:prstGeom>
              <a:blipFill>
                <a:blip r:embed="rId7"/>
                <a:stretch>
                  <a:fillRect b="-1304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4983AC03-EBC0-551A-7BFB-E39175FEC103}"/>
                  </a:ext>
                </a:extLst>
              </p:cNvPr>
              <p:cNvSpPr txBox="1"/>
              <p:nvPr/>
            </p:nvSpPr>
            <p:spPr>
              <a:xfrm>
                <a:off x="2998121" y="3765028"/>
                <a:ext cx="707065" cy="276999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4983AC03-EBC0-551A-7BFB-E39175FEC10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998121" y="3765028"/>
                <a:ext cx="707065" cy="276999"/>
              </a:xfrm>
              <a:prstGeom prst="rect">
                <a:avLst/>
              </a:prstGeom>
              <a:blipFill>
                <a:blip r:embed="rId8"/>
                <a:stretch>
                  <a:fillRect b="-1304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FDC0A147-608C-4ED0-18BA-C7DD54204D7D}"/>
              </a:ext>
            </a:extLst>
          </p:cNvPr>
          <p:cNvCxnSpPr>
            <a:cxnSpLocks/>
            <a:endCxn id="13" idx="0"/>
          </p:cNvCxnSpPr>
          <p:nvPr/>
        </p:nvCxnSpPr>
        <p:spPr>
          <a:xfrm flipH="1">
            <a:off x="855220" y="1860421"/>
            <a:ext cx="660291" cy="1766109"/>
          </a:xfrm>
          <a:prstGeom prst="straightConnector1">
            <a:avLst/>
          </a:prstGeom>
          <a:ln>
            <a:solidFill>
              <a:schemeClr val="bg1">
                <a:lumMod val="65000"/>
              </a:schemeClr>
            </a:solidFill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934C2F29-9D3F-6EB8-4F3C-A386DABA1D07}"/>
              </a:ext>
            </a:extLst>
          </p:cNvPr>
          <p:cNvCxnSpPr>
            <a:cxnSpLocks/>
            <a:endCxn id="14" idx="0"/>
          </p:cNvCxnSpPr>
          <p:nvPr/>
        </p:nvCxnSpPr>
        <p:spPr>
          <a:xfrm flipH="1">
            <a:off x="2209193" y="1820016"/>
            <a:ext cx="104454" cy="1945013"/>
          </a:xfrm>
          <a:prstGeom prst="straightConnector1">
            <a:avLst/>
          </a:prstGeom>
          <a:ln>
            <a:solidFill>
              <a:schemeClr val="bg1">
                <a:lumMod val="65000"/>
              </a:schemeClr>
            </a:solidFill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05CA5F7E-C44B-AF22-1C65-B51DA0D41E33}"/>
              </a:ext>
            </a:extLst>
          </p:cNvPr>
          <p:cNvCxnSpPr>
            <a:cxnSpLocks/>
            <a:endCxn id="15" idx="0"/>
          </p:cNvCxnSpPr>
          <p:nvPr/>
        </p:nvCxnSpPr>
        <p:spPr>
          <a:xfrm>
            <a:off x="3178208" y="1742018"/>
            <a:ext cx="173446" cy="2023010"/>
          </a:xfrm>
          <a:prstGeom prst="straightConnector1">
            <a:avLst/>
          </a:prstGeom>
          <a:ln>
            <a:solidFill>
              <a:schemeClr val="bg1">
                <a:lumMod val="65000"/>
              </a:schemeClr>
            </a:solidFill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>
            <a:extLst>
              <a:ext uri="{FF2B5EF4-FFF2-40B4-BE49-F238E27FC236}">
                <a16:creationId xmlns:a16="http://schemas.microsoft.com/office/drawing/2014/main" id="{17ED7387-3C09-FA95-665C-9379EF93FB4C}"/>
              </a:ext>
            </a:extLst>
          </p:cNvPr>
          <p:cNvSpPr txBox="1"/>
          <p:nvPr/>
        </p:nvSpPr>
        <p:spPr>
          <a:xfrm>
            <a:off x="347852" y="4707042"/>
            <a:ext cx="215873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Instead of real input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8AB05503-B1D9-9338-5151-101695D934EF}"/>
                  </a:ext>
                </a:extLst>
              </p:cNvPr>
              <p:cNvSpPr txBox="1"/>
              <p:nvPr/>
            </p:nvSpPr>
            <p:spPr>
              <a:xfrm>
                <a:off x="2506585" y="4753208"/>
                <a:ext cx="248552" cy="276999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8AB05503-B1D9-9338-5151-101695D934E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506585" y="4753208"/>
                <a:ext cx="248552" cy="276999"/>
              </a:xfrm>
              <a:prstGeom prst="rect">
                <a:avLst/>
              </a:prstGeom>
              <a:blipFill>
                <a:blip r:embed="rId9"/>
                <a:stretch>
                  <a:fillRect l="-20000" r="-15000" b="-1818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4" name="TextBox 23">
            <a:extLst>
              <a:ext uri="{FF2B5EF4-FFF2-40B4-BE49-F238E27FC236}">
                <a16:creationId xmlns:a16="http://schemas.microsoft.com/office/drawing/2014/main" id="{7657C1FB-F0B0-6333-A204-991B4A52173E}"/>
              </a:ext>
            </a:extLst>
          </p:cNvPr>
          <p:cNvSpPr txBox="1"/>
          <p:nvPr/>
        </p:nvSpPr>
        <p:spPr>
          <a:xfrm>
            <a:off x="2755136" y="4707042"/>
            <a:ext cx="106471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the party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80904CD0-1070-93D4-E38F-D0A74E71EBF3}"/>
                  </a:ext>
                </a:extLst>
              </p:cNvPr>
              <p:cNvSpPr txBox="1"/>
              <p:nvPr/>
            </p:nvSpPr>
            <p:spPr>
              <a:xfrm>
                <a:off x="3618435" y="4753208"/>
                <a:ext cx="707065" cy="276999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80904CD0-1070-93D4-E38F-D0A74E71EBF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618435" y="4753208"/>
                <a:ext cx="707065" cy="276999"/>
              </a:xfrm>
              <a:prstGeom prst="rect">
                <a:avLst/>
              </a:prstGeom>
              <a:blipFill>
                <a:blip r:embed="rId10"/>
                <a:stretch>
                  <a:fillRect b="-1818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6" name="TextBox 25">
            <a:extLst>
              <a:ext uri="{FF2B5EF4-FFF2-40B4-BE49-F238E27FC236}">
                <a16:creationId xmlns:a16="http://schemas.microsoft.com/office/drawing/2014/main" id="{C8E7CEC6-4D51-F1B7-391D-E0807B9DB81A}"/>
              </a:ext>
            </a:extLst>
          </p:cNvPr>
          <p:cNvSpPr txBox="1"/>
          <p:nvPr/>
        </p:nvSpPr>
        <p:spPr>
          <a:xfrm>
            <a:off x="4068403" y="4697775"/>
            <a:ext cx="101046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can use 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27" name="TextBox 26">
                <a:extLst>
                  <a:ext uri="{FF2B5EF4-FFF2-40B4-BE49-F238E27FC236}">
                    <a16:creationId xmlns:a16="http://schemas.microsoft.com/office/drawing/2014/main" id="{2F3F39B5-35B4-2309-A3F5-0E0EF4320CC1}"/>
                  </a:ext>
                </a:extLst>
              </p:cNvPr>
              <p:cNvSpPr txBox="1"/>
              <p:nvPr/>
            </p:nvSpPr>
            <p:spPr>
              <a:xfrm>
                <a:off x="4985792" y="4746211"/>
                <a:ext cx="838198" cy="276999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  <m:sup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′</m:t>
                          </m:r>
                        </m:sup>
                      </m:sSubSup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=1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27" name="TextBox 26">
                <a:extLst>
                  <a:ext uri="{FF2B5EF4-FFF2-40B4-BE49-F238E27FC236}">
                    <a16:creationId xmlns:a16="http://schemas.microsoft.com/office/drawing/2014/main" id="{2F3F39B5-35B4-2309-A3F5-0E0EF4320CC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985792" y="4746211"/>
                <a:ext cx="838198" cy="276999"/>
              </a:xfrm>
              <a:prstGeom prst="rect">
                <a:avLst/>
              </a:prstGeom>
              <a:blipFill>
                <a:blip r:embed="rId11"/>
                <a:stretch>
                  <a:fillRect b="-1304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8" name="TextBox 27">
                <a:extLst>
                  <a:ext uri="{FF2B5EF4-FFF2-40B4-BE49-F238E27FC236}">
                    <a16:creationId xmlns:a16="http://schemas.microsoft.com/office/drawing/2014/main" id="{1CC3ED4F-54F2-C9F9-B999-63D0A48975AC}"/>
                  </a:ext>
                </a:extLst>
              </p:cNvPr>
              <p:cNvSpPr txBox="1"/>
              <p:nvPr/>
            </p:nvSpPr>
            <p:spPr>
              <a:xfrm>
                <a:off x="217882" y="5274318"/>
                <a:ext cx="707065" cy="276999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28" name="TextBox 27">
                <a:extLst>
                  <a:ext uri="{FF2B5EF4-FFF2-40B4-BE49-F238E27FC236}">
                    <a16:creationId xmlns:a16="http://schemas.microsoft.com/office/drawing/2014/main" id="{1CC3ED4F-54F2-C9F9-B999-63D0A48975A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17882" y="5274318"/>
                <a:ext cx="707065" cy="276999"/>
              </a:xfrm>
              <a:prstGeom prst="rect">
                <a:avLst/>
              </a:prstGeom>
              <a:blipFill>
                <a:blip r:embed="rId12"/>
                <a:stretch>
                  <a:fillRect b="-1304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9" name="TextBox 28">
            <a:extLst>
              <a:ext uri="{FF2B5EF4-FFF2-40B4-BE49-F238E27FC236}">
                <a16:creationId xmlns:a16="http://schemas.microsoft.com/office/drawing/2014/main" id="{216904BF-4E51-E3F3-652E-1FED4999FF68}"/>
              </a:ext>
            </a:extLst>
          </p:cNvPr>
          <p:cNvSpPr txBox="1"/>
          <p:nvPr/>
        </p:nvSpPr>
        <p:spPr>
          <a:xfrm>
            <a:off x="723341" y="5236826"/>
            <a:ext cx="165327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can then learn 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0" name="TextBox 29">
                <a:extLst>
                  <a:ext uri="{FF2B5EF4-FFF2-40B4-BE49-F238E27FC236}">
                    <a16:creationId xmlns:a16="http://schemas.microsoft.com/office/drawing/2014/main" id="{C4F36304-DDBE-405A-20DB-FB918BF468DB}"/>
                  </a:ext>
                </a:extLst>
              </p:cNvPr>
              <p:cNvSpPr txBox="1"/>
              <p:nvPr/>
            </p:nvSpPr>
            <p:spPr>
              <a:xfrm>
                <a:off x="2376614" y="5262555"/>
                <a:ext cx="1064714" cy="276999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⋅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⋅</m:t>
                      </m:r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30" name="TextBox 29">
                <a:extLst>
                  <a:ext uri="{FF2B5EF4-FFF2-40B4-BE49-F238E27FC236}">
                    <a16:creationId xmlns:a16="http://schemas.microsoft.com/office/drawing/2014/main" id="{C4F36304-DDBE-405A-20DB-FB918BF468D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376614" y="5262555"/>
                <a:ext cx="1064714" cy="276999"/>
              </a:xfrm>
              <a:prstGeom prst="rect">
                <a:avLst/>
              </a:prstGeom>
              <a:blipFill>
                <a:blip r:embed="rId13"/>
                <a:stretch>
                  <a:fillRect l="-1176" b="-1304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1" name="TextBox 30">
            <a:extLst>
              <a:ext uri="{FF2B5EF4-FFF2-40B4-BE49-F238E27FC236}">
                <a16:creationId xmlns:a16="http://schemas.microsoft.com/office/drawing/2014/main" id="{C71B9991-0528-042E-19CB-8BFB3728C6C0}"/>
              </a:ext>
            </a:extLst>
          </p:cNvPr>
          <p:cNvSpPr txBox="1"/>
          <p:nvPr/>
        </p:nvSpPr>
        <p:spPr>
          <a:xfrm>
            <a:off x="384829" y="5724478"/>
            <a:ext cx="409450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The adversary can influence the output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6FC54CF7-DB9A-2EEE-0A65-B75CCBEEF84A}"/>
              </a:ext>
            </a:extLst>
          </p:cNvPr>
          <p:cNvSpPr txBox="1"/>
          <p:nvPr/>
        </p:nvSpPr>
        <p:spPr>
          <a:xfrm>
            <a:off x="384829" y="6289715"/>
            <a:ext cx="959914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This does not necessarily violate security (parties are allowed to choose arbitrary inputs)</a:t>
            </a:r>
          </a:p>
        </p:txBody>
      </p:sp>
    </p:spTree>
    <p:extLst>
      <p:ext uri="{BB962C8B-B14F-4D97-AF65-F5344CB8AC3E}">
        <p14:creationId xmlns:p14="http://schemas.microsoft.com/office/powerpoint/2010/main" val="195079501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ounded Rectangle 3">
            <a:extLst>
              <a:ext uri="{FF2B5EF4-FFF2-40B4-BE49-F238E27FC236}">
                <a16:creationId xmlns:a16="http://schemas.microsoft.com/office/drawing/2014/main" id="{FA4F2CD0-F36D-DF75-057C-1DF256A4D574}"/>
              </a:ext>
            </a:extLst>
          </p:cNvPr>
          <p:cNvSpPr/>
          <p:nvPr/>
        </p:nvSpPr>
        <p:spPr>
          <a:xfrm>
            <a:off x="192066" y="1455810"/>
            <a:ext cx="11703485" cy="1754326"/>
          </a:xfrm>
          <a:prstGeom prst="roundRect">
            <a:avLst/>
          </a:prstGeom>
          <a:solidFill>
            <a:schemeClr val="accent2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BE702D1D-7300-EC14-D633-9B66D4B20EBA}"/>
              </a:ext>
            </a:extLst>
          </p:cNvPr>
          <p:cNvSpPr txBox="1"/>
          <p:nvPr/>
        </p:nvSpPr>
        <p:spPr>
          <a:xfrm>
            <a:off x="296449" y="1674674"/>
            <a:ext cx="11599102" cy="175432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3600" dirty="0"/>
              <a:t>A protocol proven secure in the UC model remains secure regardless of the context in which it is used.</a:t>
            </a:r>
          </a:p>
          <a:p>
            <a:endParaRPr lang="en-US" sz="3600" dirty="0">
              <a:solidFill>
                <a:srgbClr val="000000"/>
              </a:solidFill>
              <a:effectLst/>
              <a:latin typeface="Helvetica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68414040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1B3305C4-71B3-6F4B-42A2-B9D653C2E218}"/>
              </a:ext>
            </a:extLst>
          </p:cNvPr>
          <p:cNvSpPr txBox="1"/>
          <p:nvPr/>
        </p:nvSpPr>
        <p:spPr>
          <a:xfrm>
            <a:off x="457200" y="701749"/>
            <a:ext cx="6251070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 dirty="0"/>
              <a:t>Allowed vs Leaked Information</a:t>
            </a:r>
          </a:p>
        </p:txBody>
      </p:sp>
      <p:sp>
        <p:nvSpPr>
          <p:cNvPr id="3" name="Rounded Rectangle 2">
            <a:extLst>
              <a:ext uri="{FF2B5EF4-FFF2-40B4-BE49-F238E27FC236}">
                <a16:creationId xmlns:a16="http://schemas.microsoft.com/office/drawing/2014/main" id="{B433A823-0784-72C1-74DB-60FE7B0CD723}"/>
              </a:ext>
            </a:extLst>
          </p:cNvPr>
          <p:cNvSpPr/>
          <p:nvPr/>
        </p:nvSpPr>
        <p:spPr>
          <a:xfrm>
            <a:off x="127591" y="1945804"/>
            <a:ext cx="11703485" cy="1754326"/>
          </a:xfrm>
          <a:prstGeom prst="roundRect">
            <a:avLst/>
          </a:prstGeom>
          <a:solidFill>
            <a:schemeClr val="accent2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C89811F-5128-B263-507F-C48C345EBFA2}"/>
              </a:ext>
            </a:extLst>
          </p:cNvPr>
          <p:cNvSpPr txBox="1"/>
          <p:nvPr/>
        </p:nvSpPr>
        <p:spPr>
          <a:xfrm>
            <a:off x="231974" y="2164668"/>
            <a:ext cx="11599102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3600" dirty="0"/>
              <a:t>A protocol is private if the leaked values contain no more information than the allowed values.</a:t>
            </a:r>
            <a:endParaRPr lang="en-US" sz="3600" dirty="0">
              <a:solidFill>
                <a:srgbClr val="000000"/>
              </a:solidFill>
              <a:effectLst/>
              <a:latin typeface="Helvetica" pitchFamily="2" charset="0"/>
            </a:endParaRPr>
          </a:p>
        </p:txBody>
      </p:sp>
      <p:sp>
        <p:nvSpPr>
          <p:cNvPr id="5" name="Rounded Rectangle 4">
            <a:extLst>
              <a:ext uri="{FF2B5EF4-FFF2-40B4-BE49-F238E27FC236}">
                <a16:creationId xmlns:a16="http://schemas.microsoft.com/office/drawing/2014/main" id="{911722A5-02DA-6C58-877A-F812916E0450}"/>
              </a:ext>
            </a:extLst>
          </p:cNvPr>
          <p:cNvSpPr/>
          <p:nvPr/>
        </p:nvSpPr>
        <p:spPr>
          <a:xfrm>
            <a:off x="179782" y="4943931"/>
            <a:ext cx="11703485" cy="1754326"/>
          </a:xfrm>
          <a:prstGeom prst="roundRect">
            <a:avLst/>
          </a:prstGeom>
          <a:solidFill>
            <a:schemeClr val="accent2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7B29215F-EF56-A646-0EBC-60C6FB241F80}"/>
              </a:ext>
            </a:extLst>
          </p:cNvPr>
          <p:cNvSpPr txBox="1"/>
          <p:nvPr/>
        </p:nvSpPr>
        <p:spPr>
          <a:xfrm>
            <a:off x="284165" y="5162795"/>
            <a:ext cx="11599102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3600" dirty="0"/>
              <a:t>A protocol is private if the leaked values can be computed efficiently from the allowed values.</a:t>
            </a:r>
            <a:endParaRPr lang="en-US" sz="3600" dirty="0">
              <a:solidFill>
                <a:srgbClr val="000000"/>
              </a:solidFill>
              <a:effectLst/>
              <a:latin typeface="Helvetica" pitchFamily="2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5A04C65D-C37E-17B5-E850-46F34DC28548}"/>
              </a:ext>
            </a:extLst>
          </p:cNvPr>
          <p:cNvSpPr txBox="1"/>
          <p:nvPr/>
        </p:nvSpPr>
        <p:spPr>
          <a:xfrm rot="21039977">
            <a:off x="4944529" y="4471326"/>
            <a:ext cx="4462312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dirty="0">
                <a:solidFill>
                  <a:srgbClr val="C00000"/>
                </a:solidFill>
                <a:latin typeface="KG Ten Thousand Reasons" panose="02000000000000000000" pitchFamily="2" charset="77"/>
              </a:rPr>
              <a:t>Computational View</a:t>
            </a:r>
            <a:endParaRPr lang="en-US" sz="1400" dirty="0">
              <a:solidFill>
                <a:srgbClr val="C00000"/>
              </a:solidFill>
              <a:latin typeface="KG Ten Thousand Reasons" panose="02000000000000000000" pitchFamily="2" charset="77"/>
            </a:endParaRPr>
          </a:p>
        </p:txBody>
      </p:sp>
    </p:spTree>
    <p:extLst>
      <p:ext uri="{BB962C8B-B14F-4D97-AF65-F5344CB8AC3E}">
        <p14:creationId xmlns:p14="http://schemas.microsoft.com/office/powerpoint/2010/main" val="359185869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5D001F7-4EBE-E0A1-775C-5EF4943D7B9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8C86ED7A-2BEF-FDB8-61CE-130EECA518BF}"/>
              </a:ext>
            </a:extLst>
          </p:cNvPr>
          <p:cNvSpPr txBox="1"/>
          <p:nvPr/>
        </p:nvSpPr>
        <p:spPr>
          <a:xfrm>
            <a:off x="404038" y="512454"/>
            <a:ext cx="4730910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 dirty="0"/>
              <a:t>The Idea of a Simulator</a:t>
            </a:r>
          </a:p>
        </p:txBody>
      </p:sp>
      <p:sp>
        <p:nvSpPr>
          <p:cNvPr id="3" name="Rounded Rectangle 2">
            <a:extLst>
              <a:ext uri="{FF2B5EF4-FFF2-40B4-BE49-F238E27FC236}">
                <a16:creationId xmlns:a16="http://schemas.microsoft.com/office/drawing/2014/main" id="{16CBA7CC-76F5-D7B1-4CF2-7CE4949AA618}"/>
              </a:ext>
            </a:extLst>
          </p:cNvPr>
          <p:cNvSpPr/>
          <p:nvPr/>
        </p:nvSpPr>
        <p:spPr>
          <a:xfrm>
            <a:off x="127591" y="1807581"/>
            <a:ext cx="11703485" cy="1754326"/>
          </a:xfrm>
          <a:prstGeom prst="roundRect">
            <a:avLst/>
          </a:prstGeom>
          <a:solidFill>
            <a:schemeClr val="accent2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EF2F699-2527-1860-ED6D-6CD76C5CB3D1}"/>
              </a:ext>
            </a:extLst>
          </p:cNvPr>
          <p:cNvSpPr txBox="1"/>
          <p:nvPr/>
        </p:nvSpPr>
        <p:spPr>
          <a:xfrm>
            <a:off x="231974" y="2026445"/>
            <a:ext cx="11599102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3600" dirty="0"/>
              <a:t>An efficient algorithm that generates the leaked values from the allowed values</a:t>
            </a:r>
            <a:endParaRPr lang="en-US" sz="3600" dirty="0">
              <a:solidFill>
                <a:srgbClr val="000000"/>
              </a:solidFill>
              <a:effectLst/>
              <a:latin typeface="Helvetica" pitchFamily="2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6E0573D9-3F5E-BA2B-4987-189FA721ADB5}"/>
              </a:ext>
            </a:extLst>
          </p:cNvPr>
          <p:cNvSpPr txBox="1"/>
          <p:nvPr/>
        </p:nvSpPr>
        <p:spPr>
          <a:xfrm>
            <a:off x="231974" y="4390417"/>
            <a:ext cx="9333784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3600" dirty="0"/>
              <a:t>There exists an efficient simulator </a:t>
            </a:r>
            <a:r>
              <a:rPr lang="en-US" sz="3600" dirty="0">
                <a:latin typeface="Chalk Board" panose="02000500000000000000" pitchFamily="2" charset="0"/>
              </a:rPr>
              <a:t>S</a:t>
            </a:r>
            <a:r>
              <a:rPr lang="en-US" sz="3600" dirty="0"/>
              <a:t> such that:</a:t>
            </a:r>
            <a:endParaRPr lang="en-US" sz="3600" dirty="0">
              <a:solidFill>
                <a:srgbClr val="000000"/>
              </a:solidFill>
              <a:effectLst/>
              <a:latin typeface="Helvetica" pitchFamily="2" charset="0"/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4E0C82D7-CC29-5207-F94E-6913E5B49E6B}"/>
                  </a:ext>
                </a:extLst>
              </p:cNvPr>
              <p:cNvSpPr txBox="1"/>
              <p:nvPr/>
            </p:nvSpPr>
            <p:spPr>
              <a:xfrm>
                <a:off x="659219" y="5376049"/>
                <a:ext cx="2435795" cy="99565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nor/>
                        </m:rPr>
                        <a:rPr lang="en-US" sz="4000" b="0" i="0" smtClean="0">
                          <a:latin typeface="Chalk Board" panose="02000500000000000000" pitchFamily="2" charset="0"/>
                        </a:rPr>
                        <m:t>S</m:t>
                      </m:r>
                      <m:r>
                        <m:rPr>
                          <m:nor/>
                        </m:rPr>
                        <a:rPr lang="en-US" sz="4000" b="0" i="0" smtClean="0">
                          <a:latin typeface="Chalk Board" panose="02000500000000000000" pitchFamily="2" charset="0"/>
                        </a:rPr>
                        <m:t>(</m:t>
                      </m:r>
                      <m:sSub>
                        <m:sSubPr>
                          <m:ctrlPr>
                            <a:rPr lang="en-US" sz="40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lit/>
                              <m:nor/>
                            </m:rPr>
                            <a:rPr lang="en-US" sz="4000" b="0" i="0" smtClean="0">
                              <a:latin typeface="Chalk Board" panose="02000500000000000000" pitchFamily="2" charset="0"/>
                            </a:rPr>
                            <m:t>{</m:t>
                          </m:r>
                          <m:r>
                            <m:rPr>
                              <m:nor/>
                            </m:rPr>
                            <a:rPr lang="en-US" sz="4000" b="0" i="0" smtClean="0">
                              <a:latin typeface="Chalk Board" panose="02000500000000000000" pitchFamily="2" charset="0"/>
                            </a:rPr>
                            <m:t>x</m:t>
                          </m:r>
                        </m:e>
                        <m:sub>
                          <m:r>
                            <m:rPr>
                              <m:nor/>
                            </m:rPr>
                            <a:rPr lang="en-US" sz="4000" b="0" i="0" smtClean="0">
                              <a:latin typeface="Chalk Board" panose="02000500000000000000" pitchFamily="2" charset="0"/>
                            </a:rPr>
                            <m:t>j</m:t>
                          </m:r>
                        </m:sub>
                      </m:sSub>
                      <m:r>
                        <m:rPr>
                          <m:nor/>
                        </m:rPr>
                        <a:rPr lang="en-US" sz="4000" b="0" i="0" smtClean="0">
                          <a:latin typeface="Chalk Board" panose="02000500000000000000" pitchFamily="2" charset="0"/>
                        </a:rPr>
                        <m:t>, </m:t>
                      </m:r>
                      <m:sSub>
                        <m:sSubPr>
                          <m:ctrlPr>
                            <a:rPr lang="en-US" sz="40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nor/>
                            </m:rPr>
                            <a:rPr lang="en-US" sz="4000" b="0" i="0" smtClean="0">
                              <a:latin typeface="Chalk Board" panose="02000500000000000000" pitchFamily="2" charset="0"/>
                            </a:rPr>
                            <m:t>y</m:t>
                          </m:r>
                        </m:e>
                        <m:sub>
                          <m:r>
                            <m:rPr>
                              <m:nor/>
                            </m:rPr>
                            <a:rPr lang="en-US" sz="4000" b="0" i="0" smtClean="0">
                              <a:latin typeface="Chalk Board" panose="02000500000000000000" pitchFamily="2" charset="0"/>
                            </a:rPr>
                            <m:t>j</m:t>
                          </m:r>
                        </m:sub>
                      </m:sSub>
                      <m:sSub>
                        <m:sSubPr>
                          <m:ctrlPr>
                            <a:rPr lang="en-US" sz="40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lit/>
                              <m:nor/>
                            </m:rPr>
                            <a:rPr lang="en-US" sz="4000" b="0" i="0" smtClean="0">
                              <a:latin typeface="Chalk Board" panose="02000500000000000000" pitchFamily="2" charset="0"/>
                            </a:rPr>
                            <m:t>}</m:t>
                          </m:r>
                        </m:e>
                        <m:sub>
                          <m:sSub>
                            <m:sSubPr>
                              <m:ctrlPr>
                                <a:rPr lang="en-US" sz="40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nor/>
                                </m:rPr>
                                <a:rPr lang="en-US" sz="4000" b="0" i="0" smtClean="0">
                                  <a:latin typeface="Chalk Board" panose="02000500000000000000" pitchFamily="2" charset="0"/>
                                </a:rPr>
                                <m:t>P</m:t>
                              </m:r>
                            </m:e>
                            <m:sub>
                              <m:r>
                                <m:rPr>
                                  <m:nor/>
                                </m:rPr>
                                <a:rPr lang="en-US" sz="4000" b="0" i="0" smtClean="0">
                                  <a:latin typeface="Chalk Board" panose="02000500000000000000" pitchFamily="2" charset="0"/>
                                </a:rPr>
                                <m:t>j</m:t>
                              </m:r>
                            </m:sub>
                          </m:sSub>
                          <m:r>
                            <m:rPr>
                              <m:nor/>
                            </m:rPr>
                            <a:rPr lang="en-US" sz="4000" b="0" i="0" smtClean="0">
                              <a:latin typeface="Chalk Board" panose="02000500000000000000" pitchFamily="2" charset="0"/>
                            </a:rPr>
                            <m:t>∈</m:t>
                          </m:r>
                          <m:r>
                            <m:rPr>
                              <m:nor/>
                            </m:rPr>
                            <a:rPr lang="en-US" sz="4000" b="0" i="0" smtClean="0">
                              <a:latin typeface="Chalk Board" panose="02000500000000000000" pitchFamily="2" charset="0"/>
                            </a:rPr>
                            <m:t>C</m:t>
                          </m:r>
                        </m:sub>
                      </m:sSub>
                      <m:r>
                        <m:rPr>
                          <m:nor/>
                        </m:rPr>
                        <a:rPr lang="en-US" sz="4000" b="0" i="0" smtClean="0">
                          <a:latin typeface="Chalk Board" panose="02000500000000000000" pitchFamily="2" charset="0"/>
                        </a:rPr>
                        <m:t>)</m:t>
                      </m:r>
                    </m:oMath>
                  </m:oMathPara>
                </a14:m>
                <a:endParaRPr lang="en-US" dirty="0">
                  <a:latin typeface="Chalk Board" panose="02000500000000000000" pitchFamily="2" charset="0"/>
                </a:endParaRPr>
              </a:p>
            </p:txBody>
          </p:sp>
        </mc:Choice>
        <mc:Fallback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4E0C82D7-CC29-5207-F94E-6913E5B49E6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59219" y="5376049"/>
                <a:ext cx="2435795" cy="995657"/>
              </a:xfrm>
              <a:prstGeom prst="rect">
                <a:avLst/>
              </a:prstGeom>
              <a:blipFill>
                <a:blip r:embed="rId2"/>
                <a:stretch>
                  <a:fillRect l="-6218" t="-10127" r="-6218" b="-2278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435536A8-E20F-88FA-2FEE-6B25D3AA97B6}"/>
                  </a:ext>
                </a:extLst>
              </p:cNvPr>
              <p:cNvSpPr txBox="1"/>
              <p:nvPr/>
            </p:nvSpPr>
            <p:spPr>
              <a:xfrm>
                <a:off x="4440259" y="5330715"/>
                <a:ext cx="2069862" cy="1040991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lit/>
                          <m:nor/>
                        </m:rPr>
                        <a:rPr lang="en-US" sz="4000" b="0" i="0" smtClean="0">
                          <a:latin typeface="Chalk Board" panose="02000500000000000000" pitchFamily="2" charset="0"/>
                        </a:rPr>
                        <m:t>{</m:t>
                      </m:r>
                      <m:r>
                        <m:rPr>
                          <m:nor/>
                        </m:rPr>
                        <a:rPr lang="en-US" sz="4000" b="0" i="0" smtClean="0">
                          <a:latin typeface="Chalk Board" panose="02000500000000000000" pitchFamily="2" charset="0"/>
                        </a:rPr>
                        <m:t>vie</m:t>
                      </m:r>
                      <m:sSub>
                        <m:sSubPr>
                          <m:ctrlPr>
                            <a:rPr lang="en-US" sz="40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nor/>
                            </m:rPr>
                            <a:rPr lang="en-US" sz="4000" b="0" i="0" smtClean="0">
                              <a:latin typeface="Chalk Board" panose="02000500000000000000" pitchFamily="2" charset="0"/>
                            </a:rPr>
                            <m:t>w</m:t>
                          </m:r>
                        </m:e>
                        <m:sub>
                          <m:r>
                            <m:rPr>
                              <m:nor/>
                            </m:rPr>
                            <a:rPr lang="en-US" sz="4000" b="0" i="0" smtClean="0">
                              <a:latin typeface="Chalk Board" panose="02000500000000000000" pitchFamily="2" charset="0"/>
                            </a:rPr>
                            <m:t>j</m:t>
                          </m:r>
                        </m:sub>
                      </m:sSub>
                      <m:sSub>
                        <m:sSubPr>
                          <m:ctrlPr>
                            <a:rPr lang="en-US" sz="40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lit/>
                              <m:nor/>
                            </m:rPr>
                            <a:rPr lang="en-US" sz="4000" b="0" i="0" smtClean="0">
                              <a:latin typeface="Chalk Board" panose="02000500000000000000" pitchFamily="2" charset="0"/>
                            </a:rPr>
                            <m:t>}</m:t>
                          </m:r>
                        </m:e>
                        <m:sub>
                          <m:sSub>
                            <m:sSubPr>
                              <m:ctrlPr>
                                <a:rPr lang="en-US" sz="40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nor/>
                                </m:rPr>
                                <a:rPr lang="en-US" sz="4000" b="0" i="0" smtClean="0">
                                  <a:latin typeface="Chalk Board" panose="02000500000000000000" pitchFamily="2" charset="0"/>
                                </a:rPr>
                                <m:t>P</m:t>
                              </m:r>
                            </m:e>
                            <m:sub>
                              <m:r>
                                <m:rPr>
                                  <m:nor/>
                                </m:rPr>
                                <a:rPr lang="en-US" sz="4000" b="0" i="0" smtClean="0">
                                  <a:latin typeface="Chalk Board" panose="02000500000000000000" pitchFamily="2" charset="0"/>
                                </a:rPr>
                                <m:t>j</m:t>
                              </m:r>
                              <m:r>
                                <m:rPr>
                                  <m:nor/>
                                </m:rPr>
                                <a:rPr lang="en-US" sz="4000" b="0" i="0" smtClean="0">
                                  <a:latin typeface="Chalk Board" panose="02000500000000000000" pitchFamily="2" charset="0"/>
                                </a:rPr>
                                <m:t>∈</m:t>
                              </m:r>
                              <m:r>
                                <m:rPr>
                                  <m:nor/>
                                </m:rPr>
                                <a:rPr lang="en-US" sz="4000" b="0" i="0" smtClean="0">
                                  <a:latin typeface="Chalk Board" panose="02000500000000000000" pitchFamily="2" charset="0"/>
                                </a:rPr>
                                <m:t>C</m:t>
                              </m:r>
                            </m:sub>
                          </m:sSub>
                        </m:sub>
                      </m:sSub>
                    </m:oMath>
                  </m:oMathPara>
                </a14:m>
                <a:endParaRPr lang="en-US" sz="4000" dirty="0">
                  <a:latin typeface="Chalk Board" panose="02000500000000000000" pitchFamily="2" charset="0"/>
                </a:endParaRPr>
              </a:p>
            </p:txBody>
          </p:sp>
        </mc:Choice>
        <mc:Fallback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435536A8-E20F-88FA-2FEE-6B25D3AA97B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440259" y="5330715"/>
                <a:ext cx="2069862" cy="1040991"/>
              </a:xfrm>
              <a:prstGeom prst="rect">
                <a:avLst/>
              </a:prstGeom>
              <a:blipFill>
                <a:blip r:embed="rId3"/>
                <a:stretch>
                  <a:fillRect l="-7317" r="-3659" b="-2168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0" name="TextBox 9">
            <a:extLst>
              <a:ext uri="{FF2B5EF4-FFF2-40B4-BE49-F238E27FC236}">
                <a16:creationId xmlns:a16="http://schemas.microsoft.com/office/drawing/2014/main" id="{400108E9-2755-C010-A5B2-82F0713C496A}"/>
              </a:ext>
            </a:extLst>
          </p:cNvPr>
          <p:cNvSpPr txBox="1"/>
          <p:nvPr/>
        </p:nvSpPr>
        <p:spPr>
          <a:xfrm>
            <a:off x="3484931" y="5376049"/>
            <a:ext cx="955328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3600" dirty="0"/>
              <a:t>&amp;</a:t>
            </a:r>
            <a:endParaRPr lang="en-US" sz="3600" dirty="0">
              <a:solidFill>
                <a:srgbClr val="000000"/>
              </a:solidFill>
              <a:effectLst/>
              <a:latin typeface="Helvetica" pitchFamily="2" charset="0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2E19AA5D-ED46-A33D-08CD-7639C461861F}"/>
              </a:ext>
            </a:extLst>
          </p:cNvPr>
          <p:cNvSpPr txBox="1"/>
          <p:nvPr/>
        </p:nvSpPr>
        <p:spPr>
          <a:xfrm>
            <a:off x="6752671" y="5376049"/>
            <a:ext cx="4450502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800" dirty="0">
                <a:solidFill>
                  <a:srgbClr val="000000"/>
                </a:solidFill>
                <a:latin typeface="Helvetica" pitchFamily="2" charset="0"/>
              </a:rPr>
              <a:t>h</a:t>
            </a:r>
            <a:r>
              <a:rPr lang="en-US" sz="2800" dirty="0">
                <a:solidFill>
                  <a:srgbClr val="000000"/>
                </a:solidFill>
                <a:effectLst/>
                <a:latin typeface="Helvetica" pitchFamily="2" charset="0"/>
              </a:rPr>
              <a:t>ave the same distribution</a:t>
            </a:r>
          </a:p>
        </p:txBody>
      </p:sp>
    </p:spTree>
    <p:extLst>
      <p:ext uri="{BB962C8B-B14F-4D97-AF65-F5344CB8AC3E}">
        <p14:creationId xmlns:p14="http://schemas.microsoft.com/office/powerpoint/2010/main" val="427529754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C854A15-432E-67EF-955E-ED8FF13AEC4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37185B38-045B-C348-A22B-729CC8296027}"/>
              </a:ext>
            </a:extLst>
          </p:cNvPr>
          <p:cNvSpPr txBox="1"/>
          <p:nvPr/>
        </p:nvSpPr>
        <p:spPr>
          <a:xfrm>
            <a:off x="925033" y="701749"/>
            <a:ext cx="4730910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 dirty="0"/>
              <a:t>The Idea of a Simulator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8B2EA94-0A16-DD63-1ABC-BFB5BBA2D99E}"/>
              </a:ext>
            </a:extLst>
          </p:cNvPr>
          <p:cNvSpPr txBox="1"/>
          <p:nvPr/>
        </p:nvSpPr>
        <p:spPr>
          <a:xfrm>
            <a:off x="997243" y="1881963"/>
            <a:ext cx="8961107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800" dirty="0">
                <a:latin typeface="Chalk Board" panose="02000500000000000000" pitchFamily="2" charset="0"/>
              </a:rPr>
              <a:t>The adversary’s view can be simulated using only: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00AB5F01-6B94-01C5-8BE7-7B4243FE903E}"/>
              </a:ext>
            </a:extLst>
          </p:cNvPr>
          <p:cNvSpPr txBox="1"/>
          <p:nvPr/>
        </p:nvSpPr>
        <p:spPr>
          <a:xfrm>
            <a:off x="6678574" y="2800436"/>
            <a:ext cx="4419800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800" dirty="0">
                <a:solidFill>
                  <a:schemeClr val="accent2">
                    <a:lumMod val="75000"/>
                  </a:schemeClr>
                </a:solidFill>
                <a:latin typeface="Chalk Board" panose="02000500000000000000" pitchFamily="2" charset="0"/>
              </a:rPr>
              <a:t>corrupted parties inputs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1A481F0-7F4B-2B88-96B3-3A6DF5F98A2A}"/>
              </a:ext>
            </a:extLst>
          </p:cNvPr>
          <p:cNvSpPr txBox="1"/>
          <p:nvPr/>
        </p:nvSpPr>
        <p:spPr>
          <a:xfrm>
            <a:off x="6678574" y="3729541"/>
            <a:ext cx="4681090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800" dirty="0">
                <a:solidFill>
                  <a:schemeClr val="accent2">
                    <a:lumMod val="75000"/>
                  </a:schemeClr>
                </a:solidFill>
                <a:latin typeface="Chalk Board" panose="02000500000000000000" pitchFamily="2" charset="0"/>
              </a:rPr>
              <a:t>corrupted parties outputs</a:t>
            </a:r>
          </a:p>
        </p:txBody>
      </p:sp>
    </p:spTree>
    <p:extLst>
      <p:ext uri="{BB962C8B-B14F-4D97-AF65-F5344CB8AC3E}">
        <p14:creationId xmlns:p14="http://schemas.microsoft.com/office/powerpoint/2010/main" val="336893561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44F9D1F2-9C6B-6C6F-68D9-BB8808069132}"/>
              </a:ext>
            </a:extLst>
          </p:cNvPr>
          <p:cNvSpPr txBox="1"/>
          <p:nvPr/>
        </p:nvSpPr>
        <p:spPr>
          <a:xfrm>
            <a:off x="435935" y="552893"/>
            <a:ext cx="5333640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000" dirty="0"/>
              <a:t>Behavioral Equivalence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77458593-8353-B1B5-965B-8EFF9914639D}"/>
              </a:ext>
            </a:extLst>
          </p:cNvPr>
          <p:cNvSpPr txBox="1"/>
          <p:nvPr/>
        </p:nvSpPr>
        <p:spPr>
          <a:xfrm>
            <a:off x="255181" y="4711627"/>
            <a:ext cx="11248592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000" dirty="0">
                <a:solidFill>
                  <a:schemeClr val="accent6">
                    <a:lumMod val="75000"/>
                  </a:schemeClr>
                </a:solidFill>
                <a:latin typeface="Chalk Board" panose="02000500000000000000" pitchFamily="2" charset="0"/>
              </a:rPr>
              <a:t>We are not interested in the </a:t>
            </a:r>
            <a:r>
              <a:rPr lang="en-US" sz="4000" i="1" dirty="0">
                <a:solidFill>
                  <a:schemeClr val="accent6">
                    <a:lumMod val="75000"/>
                  </a:schemeClr>
                </a:solidFill>
                <a:latin typeface="Chalk Board" panose="02000500000000000000" pitchFamily="2" charset="0"/>
              </a:rPr>
              <a:t>internal</a:t>
            </a:r>
            <a:r>
              <a:rPr lang="en-US" sz="4000" dirty="0">
                <a:solidFill>
                  <a:schemeClr val="accent6">
                    <a:lumMod val="75000"/>
                  </a:schemeClr>
                </a:solidFill>
                <a:latin typeface="Chalk Board" panose="02000500000000000000" pitchFamily="2" charset="0"/>
              </a:rPr>
              <a:t> structure of the Interactive Systems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EFE22CE-3859-A24D-B820-9F687ECE3E7C}"/>
              </a:ext>
            </a:extLst>
          </p:cNvPr>
          <p:cNvSpPr txBox="1"/>
          <p:nvPr/>
        </p:nvSpPr>
        <p:spPr>
          <a:xfrm>
            <a:off x="255181" y="1760114"/>
            <a:ext cx="11396068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000" dirty="0">
                <a:solidFill>
                  <a:srgbClr val="FF0000"/>
                </a:solidFill>
                <a:latin typeface="Chalk Board" panose="02000500000000000000" pitchFamily="2" charset="0"/>
              </a:rPr>
              <a:t>When do we say that two interactive systems are behaviorally equivalent?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65A0116-6DD7-880D-B651-CC68FC873A31}"/>
              </a:ext>
            </a:extLst>
          </p:cNvPr>
          <p:cNvSpPr txBox="1"/>
          <p:nvPr/>
        </p:nvSpPr>
        <p:spPr>
          <a:xfrm>
            <a:off x="255181" y="2890391"/>
            <a:ext cx="9845749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dirty="0">
                <a:solidFill>
                  <a:schemeClr val="accent6">
                    <a:lumMod val="75000"/>
                  </a:schemeClr>
                </a:solidFill>
                <a:latin typeface="Chalk Board" panose="02000500000000000000" pitchFamily="2" charset="0"/>
              </a:rPr>
              <a:t>When the two systems get the same output on the same output ports, and get the same inputs on the same input ports</a:t>
            </a:r>
          </a:p>
        </p:txBody>
      </p:sp>
    </p:spTree>
    <p:extLst>
      <p:ext uri="{BB962C8B-B14F-4D97-AF65-F5344CB8AC3E}">
        <p14:creationId xmlns:p14="http://schemas.microsoft.com/office/powerpoint/2010/main" val="156769498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75F83BF-2848-49A3-4D15-BF7B2B6062A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F959784-2257-FF72-3900-5C13F8B024FE}"/>
              </a:ext>
            </a:extLst>
          </p:cNvPr>
          <p:cNvSpPr txBox="1"/>
          <p:nvPr/>
        </p:nvSpPr>
        <p:spPr>
          <a:xfrm>
            <a:off x="435935" y="552893"/>
            <a:ext cx="7976992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000" dirty="0"/>
              <a:t>Security via Behavioral Equivalence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65AD2D6A-162F-50A2-874B-297CB5BEFFEC}"/>
              </a:ext>
            </a:extLst>
          </p:cNvPr>
          <p:cNvSpPr txBox="1"/>
          <p:nvPr/>
        </p:nvSpPr>
        <p:spPr>
          <a:xfrm>
            <a:off x="574158" y="1988288"/>
            <a:ext cx="3517310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000" dirty="0">
                <a:latin typeface="Chalk Board" panose="02000500000000000000" pitchFamily="2" charset="0"/>
              </a:rPr>
              <a:t>UC security compares: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21FE3F3-75CC-D5D9-BE32-36E8990195C0}"/>
              </a:ext>
            </a:extLst>
          </p:cNvPr>
          <p:cNvSpPr txBox="1"/>
          <p:nvPr/>
        </p:nvSpPr>
        <p:spPr>
          <a:xfrm>
            <a:off x="2172586" y="2684244"/>
            <a:ext cx="2127505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000" dirty="0">
                <a:solidFill>
                  <a:schemeClr val="accent2">
                    <a:lumMod val="75000"/>
                  </a:schemeClr>
                </a:solidFill>
                <a:latin typeface="Chalk Board" panose="02000500000000000000" pitchFamily="2" charset="0"/>
              </a:rPr>
              <a:t>Real Protocol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7D7BE72-59F8-AA04-F4C8-6A37FA01DFED}"/>
              </a:ext>
            </a:extLst>
          </p:cNvPr>
          <p:cNvSpPr txBox="1"/>
          <p:nvPr/>
        </p:nvSpPr>
        <p:spPr>
          <a:xfrm>
            <a:off x="2172586" y="3453941"/>
            <a:ext cx="2869696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000" dirty="0">
                <a:solidFill>
                  <a:schemeClr val="accent6">
                    <a:lumMod val="75000"/>
                  </a:schemeClr>
                </a:solidFill>
                <a:latin typeface="Chalk Board" panose="02000500000000000000" pitchFamily="2" charset="0"/>
              </a:rPr>
              <a:t>Ideal Functionality 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92945FCC-BC5E-771F-CAFE-1B1F4F11BEF1}"/>
              </a:ext>
            </a:extLst>
          </p:cNvPr>
          <p:cNvSpPr txBox="1"/>
          <p:nvPr/>
        </p:nvSpPr>
        <p:spPr>
          <a:xfrm>
            <a:off x="574158" y="4958316"/>
            <a:ext cx="11062644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000" dirty="0">
                <a:latin typeface="Chalk Board" panose="02000500000000000000" pitchFamily="2" charset="0"/>
              </a:rPr>
              <a:t>The real protocol must be behaviorally equivalent to the ideal functionality</a:t>
            </a:r>
          </a:p>
        </p:txBody>
      </p:sp>
    </p:spTree>
    <p:extLst>
      <p:ext uri="{BB962C8B-B14F-4D97-AF65-F5344CB8AC3E}">
        <p14:creationId xmlns:p14="http://schemas.microsoft.com/office/powerpoint/2010/main" val="395436842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2A9D690-231D-AAD0-29D8-E73EF816259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0F154C0C-8D2A-ED85-3683-34F1FD58D31B}"/>
              </a:ext>
            </a:extLst>
          </p:cNvPr>
          <p:cNvSpPr txBox="1"/>
          <p:nvPr/>
        </p:nvSpPr>
        <p:spPr>
          <a:xfrm>
            <a:off x="435935" y="552893"/>
            <a:ext cx="4268220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000" dirty="0"/>
              <a:t>Ideal Functionality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D125B961-6A22-E2DD-EBB7-1A8380CD24B5}"/>
              </a:ext>
            </a:extLst>
          </p:cNvPr>
          <p:cNvSpPr txBox="1"/>
          <p:nvPr/>
        </p:nvSpPr>
        <p:spPr>
          <a:xfrm>
            <a:off x="574158" y="1988288"/>
            <a:ext cx="10466327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400" dirty="0">
                <a:latin typeface="Chalk Board" panose="02000500000000000000" pitchFamily="2" charset="0"/>
              </a:rPr>
              <a:t>An ideal functionality F specifies how the protocol must behave.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BDE6A8F4-4AB5-9B33-D2E1-0DABC704F4E4}"/>
              </a:ext>
            </a:extLst>
          </p:cNvPr>
          <p:cNvSpPr txBox="1"/>
          <p:nvPr/>
        </p:nvSpPr>
        <p:spPr>
          <a:xfrm>
            <a:off x="574158" y="3100517"/>
            <a:ext cx="7914346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400" dirty="0">
                <a:latin typeface="Chalk Board" panose="02000500000000000000" pitchFamily="2" charset="0"/>
              </a:rPr>
              <a:t>The protocol may leak only </a:t>
            </a:r>
            <a:r>
              <a:rPr lang="en-US" sz="4400" i="1" dirty="0">
                <a:latin typeface="Chalk Board" panose="02000500000000000000" pitchFamily="2" charset="0"/>
              </a:rPr>
              <a:t>allowed information.</a:t>
            </a:r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A066BEC4-BBA2-2E32-692C-D5F8A324C414}"/>
              </a:ext>
            </a:extLst>
          </p:cNvPr>
          <p:cNvSpPr/>
          <p:nvPr/>
        </p:nvSpPr>
        <p:spPr>
          <a:xfrm>
            <a:off x="5039833" y="2711983"/>
            <a:ext cx="3817087" cy="1546509"/>
          </a:xfrm>
          <a:prstGeom prst="ellipse">
            <a:avLst/>
          </a:prstGeom>
          <a:solidFill>
            <a:schemeClr val="accent2">
              <a:lumMod val="60000"/>
              <a:lumOff val="40000"/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837D9339-C70C-A874-C151-C2BEABF3C453}"/>
              </a:ext>
            </a:extLst>
          </p:cNvPr>
          <p:cNvCxnSpPr>
            <a:cxnSpLocks/>
          </p:cNvCxnSpPr>
          <p:nvPr/>
        </p:nvCxnSpPr>
        <p:spPr>
          <a:xfrm>
            <a:off x="6948376" y="4258492"/>
            <a:ext cx="962247" cy="723695"/>
          </a:xfrm>
          <a:prstGeom prst="straightConnector1">
            <a:avLst/>
          </a:prstGeom>
          <a:ln w="25400">
            <a:solidFill>
              <a:schemeClr val="tx2"/>
            </a:solidFill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DEE766AE-A577-62FE-4958-22ABE45480D9}"/>
              </a:ext>
            </a:extLst>
          </p:cNvPr>
          <p:cNvSpPr txBox="1"/>
          <p:nvPr/>
        </p:nvSpPr>
        <p:spPr>
          <a:xfrm>
            <a:off x="7107864" y="4982187"/>
            <a:ext cx="3498111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Any information that can be computed from the inputs and outputs of the corrupt parties </a:t>
            </a:r>
          </a:p>
        </p:txBody>
      </p:sp>
    </p:spTree>
    <p:extLst>
      <p:ext uri="{BB962C8B-B14F-4D97-AF65-F5344CB8AC3E}">
        <p14:creationId xmlns:p14="http://schemas.microsoft.com/office/powerpoint/2010/main" val="304475539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556B8BCD-A026-B2A0-7E44-CFCEA1305279}"/>
              </a:ext>
            </a:extLst>
          </p:cNvPr>
          <p:cNvSpPr/>
          <p:nvPr/>
        </p:nvSpPr>
        <p:spPr>
          <a:xfrm>
            <a:off x="1567238" y="3070927"/>
            <a:ext cx="2488019" cy="2041452"/>
          </a:xfrm>
          <a:prstGeom prst="rect">
            <a:avLst/>
          </a:prstGeom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ST</a:t>
            </a:r>
          </a:p>
        </p:txBody>
      </p:sp>
      <p:cxnSp>
        <p:nvCxnSpPr>
          <p:cNvPr id="4" name="Straight Arrow Connector 3">
            <a:extLst>
              <a:ext uri="{FF2B5EF4-FFF2-40B4-BE49-F238E27FC236}">
                <a16:creationId xmlns:a16="http://schemas.microsoft.com/office/drawing/2014/main" id="{99A77A13-3659-5FF0-38BF-2C8AF0C6E1BE}"/>
              </a:ext>
            </a:extLst>
          </p:cNvPr>
          <p:cNvCxnSpPr>
            <a:cxnSpLocks/>
          </p:cNvCxnSpPr>
          <p:nvPr/>
        </p:nvCxnSpPr>
        <p:spPr>
          <a:xfrm>
            <a:off x="535880" y="3474964"/>
            <a:ext cx="1169581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Straight Arrow Connector 4">
            <a:extLst>
              <a:ext uri="{FF2B5EF4-FFF2-40B4-BE49-F238E27FC236}">
                <a16:creationId xmlns:a16="http://schemas.microsoft.com/office/drawing/2014/main" id="{8871009A-DE40-F212-BDE3-905B4C9CFBB4}"/>
              </a:ext>
            </a:extLst>
          </p:cNvPr>
          <p:cNvCxnSpPr>
            <a:cxnSpLocks/>
          </p:cNvCxnSpPr>
          <p:nvPr/>
        </p:nvCxnSpPr>
        <p:spPr>
          <a:xfrm>
            <a:off x="3835517" y="3485597"/>
            <a:ext cx="1169581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1FC58F88-8E53-B4D4-8AD7-5687D9FD7875}"/>
              </a:ext>
            </a:extLst>
          </p:cNvPr>
          <p:cNvCxnSpPr>
            <a:cxnSpLocks/>
          </p:cNvCxnSpPr>
          <p:nvPr/>
        </p:nvCxnSpPr>
        <p:spPr>
          <a:xfrm flipH="1">
            <a:off x="535880" y="4339745"/>
            <a:ext cx="1169581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22F25DF0-FC3A-3866-ACFF-3AE9762AF18C}"/>
              </a:ext>
            </a:extLst>
          </p:cNvPr>
          <p:cNvCxnSpPr>
            <a:cxnSpLocks/>
          </p:cNvCxnSpPr>
          <p:nvPr/>
        </p:nvCxnSpPr>
        <p:spPr>
          <a:xfrm flipH="1">
            <a:off x="3835517" y="4339745"/>
            <a:ext cx="1169581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7BD2066C-E0FF-0D85-4FD2-29233BF7FAE3}"/>
              </a:ext>
            </a:extLst>
          </p:cNvPr>
          <p:cNvCxnSpPr>
            <a:cxnSpLocks/>
          </p:cNvCxnSpPr>
          <p:nvPr/>
        </p:nvCxnSpPr>
        <p:spPr>
          <a:xfrm flipV="1">
            <a:off x="2304429" y="2209689"/>
            <a:ext cx="0" cy="1003006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5798FD56-261F-5A05-43CB-291E82612B93}"/>
              </a:ext>
            </a:extLst>
          </p:cNvPr>
          <p:cNvCxnSpPr>
            <a:cxnSpLocks/>
          </p:cNvCxnSpPr>
          <p:nvPr/>
        </p:nvCxnSpPr>
        <p:spPr>
          <a:xfrm>
            <a:off x="3073518" y="2209689"/>
            <a:ext cx="0" cy="1041991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>
            <a:extLst>
              <a:ext uri="{FF2B5EF4-FFF2-40B4-BE49-F238E27FC236}">
                <a16:creationId xmlns:a16="http://schemas.microsoft.com/office/drawing/2014/main" id="{0A0C9679-578E-AFEC-348D-39433D541613}"/>
              </a:ext>
            </a:extLst>
          </p:cNvPr>
          <p:cNvSpPr txBox="1"/>
          <p:nvPr/>
        </p:nvSpPr>
        <p:spPr>
          <a:xfrm>
            <a:off x="808074" y="457200"/>
            <a:ext cx="7177862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 dirty="0"/>
              <a:t>Ideal Functionality: Secure Transfer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2EF88E4A-48D8-409A-0BB8-186C2E50FB95}"/>
              </a:ext>
            </a:extLst>
          </p:cNvPr>
          <p:cNvSpPr txBox="1"/>
          <p:nvPr/>
        </p:nvSpPr>
        <p:spPr>
          <a:xfrm>
            <a:off x="348727" y="3105632"/>
            <a:ext cx="806759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>
                <a:latin typeface="American Typewriter" panose="02090604020004020304" pitchFamily="18" charset="77"/>
              </a:rPr>
              <a:t>ST.in1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E068F4B0-4344-D5DB-A619-86D5292B0B73}"/>
              </a:ext>
            </a:extLst>
          </p:cNvPr>
          <p:cNvSpPr txBox="1"/>
          <p:nvPr/>
        </p:nvSpPr>
        <p:spPr>
          <a:xfrm>
            <a:off x="313911" y="3922376"/>
            <a:ext cx="931794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>
                <a:latin typeface="American Typewriter" panose="02090604020004020304" pitchFamily="18" charset="77"/>
              </a:rPr>
              <a:t>ST.out1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9E1D2BDD-B37A-77F1-92E6-A64BD15F4CF4}"/>
              </a:ext>
            </a:extLst>
          </p:cNvPr>
          <p:cNvSpPr txBox="1"/>
          <p:nvPr/>
        </p:nvSpPr>
        <p:spPr>
          <a:xfrm>
            <a:off x="4420307" y="3985241"/>
            <a:ext cx="806759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>
                <a:latin typeface="American Typewriter" panose="02090604020004020304" pitchFamily="18" charset="77"/>
              </a:rPr>
              <a:t>ST.in2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6F94DE56-948F-93F7-0FEA-1EDA9DF6A205}"/>
              </a:ext>
            </a:extLst>
          </p:cNvPr>
          <p:cNvSpPr txBox="1"/>
          <p:nvPr/>
        </p:nvSpPr>
        <p:spPr>
          <a:xfrm>
            <a:off x="4420307" y="3103713"/>
            <a:ext cx="931794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>
                <a:latin typeface="American Typewriter" panose="02090604020004020304" pitchFamily="18" charset="77"/>
              </a:rPr>
              <a:t>ST.out2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CCD7FB14-2EAF-5EEF-B279-DFB5F8008DFA}"/>
              </a:ext>
            </a:extLst>
          </p:cNvPr>
          <p:cNvSpPr txBox="1"/>
          <p:nvPr/>
        </p:nvSpPr>
        <p:spPr>
          <a:xfrm>
            <a:off x="3073518" y="2301754"/>
            <a:ext cx="823687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 err="1">
                <a:latin typeface="American Typewriter" panose="02090604020004020304" pitchFamily="18" charset="77"/>
              </a:rPr>
              <a:t>ST.infl</a:t>
            </a:r>
            <a:endParaRPr lang="en-US" sz="1600" dirty="0">
              <a:latin typeface="American Typewriter" panose="02090604020004020304" pitchFamily="18" charset="77"/>
            </a:endParaRP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4E628223-316D-0EFC-1998-5B0B3951E3B6}"/>
              </a:ext>
            </a:extLst>
          </p:cNvPr>
          <p:cNvSpPr txBox="1"/>
          <p:nvPr/>
        </p:nvSpPr>
        <p:spPr>
          <a:xfrm>
            <a:off x="1450954" y="2366657"/>
            <a:ext cx="894925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 err="1">
                <a:latin typeface="American Typewriter" panose="02090604020004020304" pitchFamily="18" charset="77"/>
              </a:rPr>
              <a:t>ST.leak</a:t>
            </a:r>
            <a:endParaRPr lang="en-US" sz="1600" dirty="0">
              <a:latin typeface="American Typewriter" panose="02090604020004020304" pitchFamily="18" charset="77"/>
            </a:endParaRP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019BC93A-1085-AD59-A8EC-97D02B8EA5F7}"/>
              </a:ext>
            </a:extLst>
          </p:cNvPr>
          <p:cNvSpPr txBox="1"/>
          <p:nvPr/>
        </p:nvSpPr>
        <p:spPr>
          <a:xfrm>
            <a:off x="6505970" y="1994336"/>
            <a:ext cx="242566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On input (mid, j, m) on 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1" name="TextBox 30">
                <a:extLst>
                  <a:ext uri="{FF2B5EF4-FFF2-40B4-BE49-F238E27FC236}">
                    <a16:creationId xmlns:a16="http://schemas.microsoft.com/office/drawing/2014/main" id="{9BE64D54-05D0-ACBE-67CC-421FFBFAF18F}"/>
                  </a:ext>
                </a:extLst>
              </p:cNvPr>
              <p:cNvSpPr txBox="1"/>
              <p:nvPr/>
            </p:nvSpPr>
            <p:spPr>
              <a:xfrm>
                <a:off x="8931634" y="2050569"/>
                <a:ext cx="711670" cy="287643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nor/>
                        </m:rPr>
                        <a:rPr lang="en-US" b="0" i="0" smtClean="0">
                          <a:latin typeface="American Typewriter" panose="02090604020004020304" pitchFamily="18" charset="77"/>
                        </a:rPr>
                        <m:t>ST</m:t>
                      </m:r>
                      <m:r>
                        <m:rPr>
                          <m:nor/>
                        </m:rPr>
                        <a:rPr lang="en-US" b="0" i="0" smtClean="0">
                          <a:latin typeface="American Typewriter" panose="02090604020004020304" pitchFamily="18" charset="77"/>
                        </a:rPr>
                        <m:t>.</m:t>
                      </m:r>
                      <m:r>
                        <m:rPr>
                          <m:nor/>
                        </m:rPr>
                        <a:rPr lang="en-US" b="0" i="0" smtClean="0">
                          <a:latin typeface="American Typewriter" panose="02090604020004020304" pitchFamily="18" charset="77"/>
                        </a:rPr>
                        <m:t>i</m:t>
                      </m:r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nor/>
                            </m:rPr>
                            <a:rPr lang="en-US" b="0" i="0" smtClean="0">
                              <a:latin typeface="American Typewriter" panose="02090604020004020304" pitchFamily="18" charset="77"/>
                            </a:rPr>
                            <m:t>n</m:t>
                          </m:r>
                        </m:e>
                        <m:sub>
                          <m:r>
                            <m:rPr>
                              <m:nor/>
                            </m:rPr>
                            <a:rPr lang="en-US" b="0" i="0" smtClean="0">
                              <a:latin typeface="American Typewriter" panose="02090604020004020304" pitchFamily="18" charset="77"/>
                            </a:rPr>
                            <m:t>i</m:t>
                          </m:r>
                        </m:sub>
                      </m:sSub>
                    </m:oMath>
                  </m:oMathPara>
                </a14:m>
                <a:endParaRPr lang="en-US" dirty="0">
                  <a:latin typeface="American Typewriter" panose="02090604020004020304" pitchFamily="18" charset="77"/>
                </a:endParaRPr>
              </a:p>
            </p:txBody>
          </p:sp>
        </mc:Choice>
        <mc:Fallback>
          <p:sp>
            <p:nvSpPr>
              <p:cNvPr id="31" name="TextBox 30">
                <a:extLst>
                  <a:ext uri="{FF2B5EF4-FFF2-40B4-BE49-F238E27FC236}">
                    <a16:creationId xmlns:a16="http://schemas.microsoft.com/office/drawing/2014/main" id="{9BE64D54-05D0-ACBE-67CC-421FFBFAF18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931634" y="2050569"/>
                <a:ext cx="711670" cy="287643"/>
              </a:xfrm>
              <a:prstGeom prst="rect">
                <a:avLst/>
              </a:prstGeom>
              <a:blipFill>
                <a:blip r:embed="rId2"/>
                <a:stretch>
                  <a:fillRect l="-7018" r="-5263" b="-25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2" name="TextBox 31">
            <a:extLst>
              <a:ext uri="{FF2B5EF4-FFF2-40B4-BE49-F238E27FC236}">
                <a16:creationId xmlns:a16="http://schemas.microsoft.com/office/drawing/2014/main" id="{21B40107-EEE0-9BB2-8B6E-50FB7342F884}"/>
              </a:ext>
            </a:extLst>
          </p:cNvPr>
          <p:cNvSpPr txBox="1"/>
          <p:nvPr/>
        </p:nvSpPr>
        <p:spPr>
          <a:xfrm>
            <a:off x="8612277" y="2340288"/>
            <a:ext cx="33639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 output (mid, </a:t>
            </a:r>
            <a:r>
              <a:rPr lang="en-US" dirty="0" err="1"/>
              <a:t>i</a:t>
            </a:r>
            <a:r>
              <a:rPr lang="en-US" dirty="0"/>
              <a:t>,  j, |m|) on </a:t>
            </a:r>
            <a:r>
              <a:rPr lang="en-US" dirty="0" err="1"/>
              <a:t>ST.leak</a:t>
            </a:r>
            <a:r>
              <a:rPr lang="en-US" dirty="0"/>
              <a:t> 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B7901F47-FFB6-E9CD-F896-8F5C6DB24223}"/>
              </a:ext>
            </a:extLst>
          </p:cNvPr>
          <p:cNvSpPr txBox="1"/>
          <p:nvPr/>
        </p:nvSpPr>
        <p:spPr>
          <a:xfrm>
            <a:off x="8648095" y="2709620"/>
            <a:ext cx="199041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 store (mid, </a:t>
            </a:r>
            <a:r>
              <a:rPr lang="en-US" dirty="0" err="1"/>
              <a:t>i</a:t>
            </a:r>
            <a:r>
              <a:rPr lang="en-US" dirty="0"/>
              <a:t>,  j, m)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CBBC7A3D-EADE-CD53-DB7C-CBB71B68FB97}"/>
              </a:ext>
            </a:extLst>
          </p:cNvPr>
          <p:cNvSpPr txBox="1"/>
          <p:nvPr/>
        </p:nvSpPr>
        <p:spPr>
          <a:xfrm>
            <a:off x="6505970" y="4825019"/>
            <a:ext cx="368152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On input (deliver, mid, </a:t>
            </a:r>
            <a:r>
              <a:rPr lang="en-US" dirty="0" err="1"/>
              <a:t>i</a:t>
            </a:r>
            <a:r>
              <a:rPr lang="en-US" dirty="0"/>
              <a:t>, j) on </a:t>
            </a:r>
            <a:r>
              <a:rPr lang="en-US" dirty="0" err="1"/>
              <a:t>ST.infl</a:t>
            </a:r>
            <a:r>
              <a:rPr lang="en-US" dirty="0"/>
              <a:t> 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6A7154D9-FE21-2246-E0FC-8A16D4EDCCA0}"/>
              </a:ext>
            </a:extLst>
          </p:cNvPr>
          <p:cNvSpPr txBox="1"/>
          <p:nvPr/>
        </p:nvSpPr>
        <p:spPr>
          <a:xfrm>
            <a:off x="6505970" y="5310188"/>
            <a:ext cx="2575129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delete: (mid, </a:t>
            </a:r>
            <a:r>
              <a:rPr lang="en-US" dirty="0" err="1"/>
              <a:t>i</a:t>
            </a:r>
            <a:r>
              <a:rPr lang="en-US" dirty="0"/>
              <a:t>,  j, m)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8878941C-1A47-E57B-86B0-BF15BD610F4B}"/>
              </a:ext>
            </a:extLst>
          </p:cNvPr>
          <p:cNvSpPr txBox="1"/>
          <p:nvPr/>
        </p:nvSpPr>
        <p:spPr>
          <a:xfrm>
            <a:off x="6505970" y="5764581"/>
            <a:ext cx="2488019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output: (mid, </a:t>
            </a:r>
            <a:r>
              <a:rPr lang="en-US" dirty="0" err="1"/>
              <a:t>i</a:t>
            </a:r>
            <a:r>
              <a:rPr lang="en-US" dirty="0"/>
              <a:t>,  j, m) 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8" name="TextBox 37">
                <a:extLst>
                  <a:ext uri="{FF2B5EF4-FFF2-40B4-BE49-F238E27FC236}">
                    <a16:creationId xmlns:a16="http://schemas.microsoft.com/office/drawing/2014/main" id="{0D969832-2038-929E-F011-963A6C4EC8A3}"/>
                  </a:ext>
                </a:extLst>
              </p:cNvPr>
              <p:cNvSpPr txBox="1"/>
              <p:nvPr/>
            </p:nvSpPr>
            <p:spPr>
              <a:xfrm>
                <a:off x="8993989" y="5795358"/>
                <a:ext cx="818493" cy="335541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nor/>
                        </m:rPr>
                        <a:rPr lang="en-US" b="0" i="0" smtClean="0">
                          <a:latin typeface="American Typewriter" panose="02090604020004020304" pitchFamily="18" charset="77"/>
                        </a:rPr>
                        <m:t>ST</m:t>
                      </m:r>
                      <m:r>
                        <m:rPr>
                          <m:nor/>
                        </m:rPr>
                        <a:rPr lang="en-US" b="0" i="0" smtClean="0">
                          <a:latin typeface="American Typewriter" panose="02090604020004020304" pitchFamily="18" charset="77"/>
                        </a:rPr>
                        <m:t>.</m:t>
                      </m:r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nor/>
                            </m:rPr>
                            <a:rPr lang="en-US" b="0" i="0" smtClean="0">
                              <a:latin typeface="Cambria Math" panose="02040503050406030204" pitchFamily="18" charset="0"/>
                            </a:rPr>
                            <m:t>out</m:t>
                          </m:r>
                        </m:e>
                        <m:sub>
                          <m:r>
                            <m:rPr>
                              <m:nor/>
                            </m:rPr>
                            <a:rPr lang="en-US" b="0" i="0" smtClean="0">
                              <a:latin typeface="Cambria Math" panose="02040503050406030204" pitchFamily="18" charset="0"/>
                            </a:rPr>
                            <m:t>j</m:t>
                          </m:r>
                        </m:sub>
                      </m:sSub>
                    </m:oMath>
                  </m:oMathPara>
                </a14:m>
                <a:endParaRPr lang="en-US" dirty="0">
                  <a:latin typeface="American Typewriter" panose="02090604020004020304" pitchFamily="18" charset="77"/>
                </a:endParaRPr>
              </a:p>
            </p:txBody>
          </p:sp>
        </mc:Choice>
        <mc:Fallback>
          <p:sp>
            <p:nvSpPr>
              <p:cNvPr id="38" name="TextBox 37">
                <a:extLst>
                  <a:ext uri="{FF2B5EF4-FFF2-40B4-BE49-F238E27FC236}">
                    <a16:creationId xmlns:a16="http://schemas.microsoft.com/office/drawing/2014/main" id="{0D969832-2038-929E-F011-963A6C4EC8A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993989" y="5795358"/>
                <a:ext cx="818493" cy="335541"/>
              </a:xfrm>
              <a:prstGeom prst="rect">
                <a:avLst/>
              </a:prstGeom>
              <a:blipFill>
                <a:blip r:embed="rId3"/>
                <a:stretch>
                  <a:fillRect l="-6154" r="-7692" b="-2963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9" name="TextBox 38">
            <a:extLst>
              <a:ext uri="{FF2B5EF4-FFF2-40B4-BE49-F238E27FC236}">
                <a16:creationId xmlns:a16="http://schemas.microsoft.com/office/drawing/2014/main" id="{029654CB-CC1C-E6D2-5F9F-6FBC485F094E}"/>
              </a:ext>
            </a:extLst>
          </p:cNvPr>
          <p:cNvSpPr txBox="1"/>
          <p:nvPr/>
        </p:nvSpPr>
        <p:spPr>
          <a:xfrm>
            <a:off x="6505970" y="3282476"/>
            <a:ext cx="477643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Ignore any later input of the form (mid, j, m) on 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40" name="TextBox 39">
                <a:extLst>
                  <a:ext uri="{FF2B5EF4-FFF2-40B4-BE49-F238E27FC236}">
                    <a16:creationId xmlns:a16="http://schemas.microsoft.com/office/drawing/2014/main" id="{496C31AE-A757-F4C2-6F68-71AE1D65870D}"/>
                  </a:ext>
                </a:extLst>
              </p:cNvPr>
              <p:cNvSpPr txBox="1"/>
              <p:nvPr/>
            </p:nvSpPr>
            <p:spPr>
              <a:xfrm>
                <a:off x="11264605" y="3339915"/>
                <a:ext cx="711670" cy="287643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nor/>
                        </m:rPr>
                        <a:rPr lang="en-US" b="0" i="0" smtClean="0">
                          <a:latin typeface="American Typewriter" panose="02090604020004020304" pitchFamily="18" charset="77"/>
                        </a:rPr>
                        <m:t>ST</m:t>
                      </m:r>
                      <m:r>
                        <m:rPr>
                          <m:nor/>
                        </m:rPr>
                        <a:rPr lang="en-US" b="0" i="0" smtClean="0">
                          <a:latin typeface="American Typewriter" panose="02090604020004020304" pitchFamily="18" charset="77"/>
                        </a:rPr>
                        <m:t>.</m:t>
                      </m:r>
                      <m:r>
                        <m:rPr>
                          <m:nor/>
                        </m:rPr>
                        <a:rPr lang="en-US" b="0" i="0" smtClean="0">
                          <a:latin typeface="American Typewriter" panose="02090604020004020304" pitchFamily="18" charset="77"/>
                        </a:rPr>
                        <m:t>i</m:t>
                      </m:r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nor/>
                            </m:rPr>
                            <a:rPr lang="en-US" b="0" i="0" smtClean="0">
                              <a:latin typeface="American Typewriter" panose="02090604020004020304" pitchFamily="18" charset="77"/>
                            </a:rPr>
                            <m:t>n</m:t>
                          </m:r>
                        </m:e>
                        <m:sub>
                          <m:r>
                            <m:rPr>
                              <m:nor/>
                            </m:rPr>
                            <a:rPr lang="en-US" b="0" i="0" smtClean="0">
                              <a:latin typeface="American Typewriter" panose="02090604020004020304" pitchFamily="18" charset="77"/>
                            </a:rPr>
                            <m:t>i</m:t>
                          </m:r>
                        </m:sub>
                      </m:sSub>
                    </m:oMath>
                  </m:oMathPara>
                </a14:m>
                <a:endParaRPr lang="en-US" dirty="0">
                  <a:latin typeface="American Typewriter" panose="02090604020004020304" pitchFamily="18" charset="77"/>
                </a:endParaRPr>
              </a:p>
            </p:txBody>
          </p:sp>
        </mc:Choice>
        <mc:Fallback>
          <p:sp>
            <p:nvSpPr>
              <p:cNvPr id="40" name="TextBox 39">
                <a:extLst>
                  <a:ext uri="{FF2B5EF4-FFF2-40B4-BE49-F238E27FC236}">
                    <a16:creationId xmlns:a16="http://schemas.microsoft.com/office/drawing/2014/main" id="{496C31AE-A757-F4C2-6F68-71AE1D65870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264605" y="3339915"/>
                <a:ext cx="711670" cy="287643"/>
              </a:xfrm>
              <a:prstGeom prst="rect">
                <a:avLst/>
              </a:prstGeom>
              <a:blipFill>
                <a:blip r:embed="rId4"/>
                <a:stretch>
                  <a:fillRect l="-7018" r="-5263" b="-2608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876807299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268BC664-AB6A-4679-F744-AE5ABC119CB7}"/>
              </a:ext>
            </a:extLst>
          </p:cNvPr>
          <p:cNvSpPr txBox="1"/>
          <p:nvPr/>
        </p:nvSpPr>
        <p:spPr>
          <a:xfrm>
            <a:off x="542261" y="574158"/>
            <a:ext cx="382348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dirty="0"/>
              <a:t>Modeling Corruption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1A99EC8E-64CC-CBC9-565B-BE1135568AF8}"/>
              </a:ext>
            </a:extLst>
          </p:cNvPr>
          <p:cNvSpPr txBox="1"/>
          <p:nvPr/>
        </p:nvSpPr>
        <p:spPr>
          <a:xfrm>
            <a:off x="1201480" y="1891356"/>
            <a:ext cx="3982757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dirty="0">
                <a:latin typeface="American Typewriter" panose="02090604020004020304" pitchFamily="18" charset="77"/>
              </a:rPr>
              <a:t>(passive corrupt, </a:t>
            </a:r>
            <a:r>
              <a:rPr lang="en-US" sz="3200" dirty="0" err="1">
                <a:latin typeface="American Typewriter" panose="02090604020004020304" pitchFamily="18" charset="77"/>
              </a:rPr>
              <a:t>i</a:t>
            </a:r>
            <a:r>
              <a:rPr lang="en-US" sz="3200" dirty="0">
                <a:latin typeface="American Typewriter" panose="02090604020004020304" pitchFamily="18" charset="77"/>
              </a:rPr>
              <a:t>)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E632796-45D3-25C8-11D8-927FAAB83ECF}"/>
              </a:ext>
            </a:extLst>
          </p:cNvPr>
          <p:cNvSpPr txBox="1"/>
          <p:nvPr/>
        </p:nvSpPr>
        <p:spPr>
          <a:xfrm>
            <a:off x="1171731" y="4381871"/>
            <a:ext cx="370543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dirty="0">
                <a:latin typeface="American Typewriter" panose="02090604020004020304" pitchFamily="18" charset="77"/>
              </a:rPr>
              <a:t>(active corrupt, </a:t>
            </a:r>
            <a:r>
              <a:rPr lang="en-US" sz="3200" dirty="0" err="1">
                <a:latin typeface="American Typewriter" panose="02090604020004020304" pitchFamily="18" charset="77"/>
              </a:rPr>
              <a:t>i</a:t>
            </a:r>
            <a:r>
              <a:rPr lang="en-US" sz="3200" dirty="0">
                <a:latin typeface="American Typewriter" panose="02090604020004020304" pitchFamily="18" charset="77"/>
              </a:rPr>
              <a:t>)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8885DDC-230E-D115-B5EE-B5004693BCE8}"/>
              </a:ext>
            </a:extLst>
          </p:cNvPr>
          <p:cNvSpPr txBox="1"/>
          <p:nvPr/>
        </p:nvSpPr>
        <p:spPr>
          <a:xfrm>
            <a:off x="5088544" y="1891355"/>
            <a:ext cx="63671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dirty="0"/>
              <a:t>on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626C947-9349-3E72-47F4-A1DFC9469D73}"/>
              </a:ext>
            </a:extLst>
          </p:cNvPr>
          <p:cNvSpPr txBox="1"/>
          <p:nvPr/>
        </p:nvSpPr>
        <p:spPr>
          <a:xfrm>
            <a:off x="4877169" y="4381871"/>
            <a:ext cx="63671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dirty="0"/>
              <a:t>on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0331B00-57C5-C9AD-E4EF-376F4A1291EC}"/>
              </a:ext>
            </a:extLst>
          </p:cNvPr>
          <p:cNvSpPr txBox="1"/>
          <p:nvPr/>
        </p:nvSpPr>
        <p:spPr>
          <a:xfrm>
            <a:off x="5737763" y="1891355"/>
            <a:ext cx="145796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dirty="0" err="1">
                <a:latin typeface="American Typewriter" panose="02090604020004020304" pitchFamily="18" charset="77"/>
              </a:rPr>
              <a:t>ST.infl</a:t>
            </a:r>
            <a:endParaRPr lang="en-US" sz="3200" dirty="0">
              <a:latin typeface="American Typewriter" panose="02090604020004020304" pitchFamily="18" charset="77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FAFF0138-E2B6-DA4E-CFED-FD50B150D3DF}"/>
              </a:ext>
            </a:extLst>
          </p:cNvPr>
          <p:cNvSpPr txBox="1"/>
          <p:nvPr/>
        </p:nvSpPr>
        <p:spPr>
          <a:xfrm>
            <a:off x="5513882" y="4381870"/>
            <a:ext cx="145796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dirty="0" err="1">
                <a:latin typeface="American Typewriter" panose="02090604020004020304" pitchFamily="18" charset="77"/>
              </a:rPr>
              <a:t>ST.infl</a:t>
            </a:r>
            <a:endParaRPr lang="en-US" sz="3200" dirty="0">
              <a:latin typeface="American Typewriter" panose="02090604020004020304" pitchFamily="18" charset="77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B99D171A-7B14-A21A-C28C-867FBFD1F310}"/>
              </a:ext>
            </a:extLst>
          </p:cNvPr>
          <p:cNvSpPr txBox="1"/>
          <p:nvPr/>
        </p:nvSpPr>
        <p:spPr>
          <a:xfrm>
            <a:off x="2139293" y="5103627"/>
            <a:ext cx="53274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The ideal functionality records that </a:t>
            </a:r>
            <a:r>
              <a:rPr lang="en-US" i="1" dirty="0"/>
              <a:t>party </a:t>
            </a:r>
            <a:r>
              <a:rPr lang="en-US" b="1" i="1" dirty="0" err="1"/>
              <a:t>i</a:t>
            </a:r>
            <a:r>
              <a:rPr lang="en-US" b="1" dirty="0"/>
              <a:t>  </a:t>
            </a:r>
            <a:r>
              <a:rPr lang="en-US" dirty="0"/>
              <a:t>is corrupt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F777D289-736E-968D-B980-C38D623B0F6A}"/>
              </a:ext>
            </a:extLst>
          </p:cNvPr>
          <p:cNvSpPr txBox="1"/>
          <p:nvPr/>
        </p:nvSpPr>
        <p:spPr>
          <a:xfrm>
            <a:off x="2139293" y="5472959"/>
            <a:ext cx="193591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Ignores inputs 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6AE9EF96-A4D3-3C55-1F1A-A97F8D840224}"/>
                  </a:ext>
                </a:extLst>
              </p:cNvPr>
              <p:cNvSpPr txBox="1"/>
              <p:nvPr/>
            </p:nvSpPr>
            <p:spPr>
              <a:xfrm>
                <a:off x="3980160" y="5513803"/>
                <a:ext cx="711670" cy="287643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nor/>
                        </m:rPr>
                        <a:rPr lang="en-US" b="0" i="0" smtClean="0">
                          <a:latin typeface="American Typewriter" panose="02090604020004020304" pitchFamily="18" charset="77"/>
                        </a:rPr>
                        <m:t>ST</m:t>
                      </m:r>
                      <m:r>
                        <m:rPr>
                          <m:nor/>
                        </m:rPr>
                        <a:rPr lang="en-US" b="0" i="0" smtClean="0">
                          <a:latin typeface="American Typewriter" panose="02090604020004020304" pitchFamily="18" charset="77"/>
                        </a:rPr>
                        <m:t>.</m:t>
                      </m:r>
                      <m:r>
                        <m:rPr>
                          <m:nor/>
                        </m:rPr>
                        <a:rPr lang="en-US" b="0" i="0" smtClean="0">
                          <a:latin typeface="American Typewriter" panose="02090604020004020304" pitchFamily="18" charset="77"/>
                        </a:rPr>
                        <m:t>i</m:t>
                      </m:r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nor/>
                            </m:rPr>
                            <a:rPr lang="en-US" b="0" i="0" smtClean="0">
                              <a:latin typeface="American Typewriter" panose="02090604020004020304" pitchFamily="18" charset="77"/>
                            </a:rPr>
                            <m:t>n</m:t>
                          </m:r>
                        </m:e>
                        <m:sub>
                          <m:r>
                            <m:rPr>
                              <m:nor/>
                            </m:rPr>
                            <a:rPr lang="en-US" b="0" i="0" smtClean="0">
                              <a:latin typeface="American Typewriter" panose="02090604020004020304" pitchFamily="18" charset="77"/>
                            </a:rPr>
                            <m:t>i</m:t>
                          </m:r>
                        </m:sub>
                      </m:sSub>
                    </m:oMath>
                  </m:oMathPara>
                </a14:m>
                <a:endParaRPr lang="en-US" dirty="0">
                  <a:latin typeface="American Typewriter" panose="02090604020004020304" pitchFamily="18" charset="77"/>
                </a:endParaRPr>
              </a:p>
            </p:txBody>
          </p:sp>
        </mc:Choice>
        <mc:Fallback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6AE9EF96-A4D3-3C55-1F1A-A97F8D84022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980160" y="5513803"/>
                <a:ext cx="711670" cy="287643"/>
              </a:xfrm>
              <a:prstGeom prst="rect">
                <a:avLst/>
              </a:prstGeom>
              <a:blipFill>
                <a:blip r:embed="rId2"/>
                <a:stretch>
                  <a:fillRect l="-7018" r="-5263" b="-25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2" name="TextBox 11">
            <a:extLst>
              <a:ext uri="{FF2B5EF4-FFF2-40B4-BE49-F238E27FC236}">
                <a16:creationId xmlns:a16="http://schemas.microsoft.com/office/drawing/2014/main" id="{6869F19B-3802-9F17-07A5-7C7EB10C5C76}"/>
              </a:ext>
            </a:extLst>
          </p:cNvPr>
          <p:cNvSpPr txBox="1"/>
          <p:nvPr/>
        </p:nvSpPr>
        <p:spPr>
          <a:xfrm>
            <a:off x="4691830" y="5472957"/>
            <a:ext cx="253607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stops giving outputs on: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C42654C3-C096-5B7D-7179-DC9737DCB2C6}"/>
                  </a:ext>
                </a:extLst>
              </p:cNvPr>
              <p:cNvSpPr txBox="1"/>
              <p:nvPr/>
            </p:nvSpPr>
            <p:spPr>
              <a:xfrm>
                <a:off x="7165977" y="5513802"/>
                <a:ext cx="854336" cy="287643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nor/>
                        </m:rPr>
                        <a:rPr lang="en-US" b="0" i="0" smtClean="0">
                          <a:latin typeface="American Typewriter" panose="02090604020004020304" pitchFamily="18" charset="77"/>
                        </a:rPr>
                        <m:t>ST</m:t>
                      </m:r>
                      <m:r>
                        <m:rPr>
                          <m:nor/>
                        </m:rPr>
                        <a:rPr lang="en-US" b="0" i="0" smtClean="0">
                          <a:latin typeface="American Typewriter" panose="02090604020004020304" pitchFamily="18" charset="77"/>
                        </a:rPr>
                        <m:t>.</m:t>
                      </m:r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nor/>
                            </m:rPr>
                            <a:rPr lang="en-US" b="0" i="0" smtClean="0">
                              <a:latin typeface="American Typewriter" panose="02090604020004020304" pitchFamily="18" charset="77"/>
                            </a:rPr>
                            <m:t>out</m:t>
                          </m:r>
                        </m:e>
                        <m:sub>
                          <m:r>
                            <m:rPr>
                              <m:nor/>
                            </m:rPr>
                            <a:rPr lang="en-US" b="0" i="0" smtClean="0">
                              <a:latin typeface="American Typewriter" panose="02090604020004020304" pitchFamily="18" charset="77"/>
                            </a:rPr>
                            <m:t>i</m:t>
                          </m:r>
                        </m:sub>
                      </m:sSub>
                    </m:oMath>
                  </m:oMathPara>
                </a14:m>
                <a:endParaRPr lang="en-US" dirty="0">
                  <a:latin typeface="American Typewriter" panose="02090604020004020304" pitchFamily="18" charset="77"/>
                </a:endParaRPr>
              </a:p>
            </p:txBody>
          </p:sp>
        </mc:Choice>
        <mc:Fallback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C42654C3-C096-5B7D-7179-DC9737DCB2C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165977" y="5513802"/>
                <a:ext cx="854336" cy="287643"/>
              </a:xfrm>
              <a:prstGeom prst="rect">
                <a:avLst/>
              </a:prstGeom>
              <a:blipFill>
                <a:blip r:embed="rId3"/>
                <a:stretch>
                  <a:fillRect l="-5882" r="-4412" b="-25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4" name="TextBox 13">
            <a:extLst>
              <a:ext uri="{FF2B5EF4-FFF2-40B4-BE49-F238E27FC236}">
                <a16:creationId xmlns:a16="http://schemas.microsoft.com/office/drawing/2014/main" id="{F3FBF4B8-F51A-5359-2787-3768917924BE}"/>
              </a:ext>
            </a:extLst>
          </p:cNvPr>
          <p:cNvSpPr txBox="1"/>
          <p:nvPr/>
        </p:nvSpPr>
        <p:spPr>
          <a:xfrm>
            <a:off x="2139292" y="5842289"/>
            <a:ext cx="844058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Instead, whenever it gets (input, </a:t>
            </a:r>
            <a:r>
              <a:rPr lang="en-US" dirty="0" err="1"/>
              <a:t>i</a:t>
            </a:r>
            <a:r>
              <a:rPr lang="en-US" dirty="0"/>
              <a:t>, x) on </a:t>
            </a:r>
            <a:r>
              <a:rPr lang="en-US" dirty="0" err="1"/>
              <a:t>ST.infl</a:t>
            </a:r>
            <a:r>
              <a:rPr lang="en-US" dirty="0"/>
              <a:t> it behaves exactly as input came from: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9D8D243D-5548-A9C7-640B-A107C3365B23}"/>
                  </a:ext>
                </a:extLst>
              </p:cNvPr>
              <p:cNvSpPr txBox="1"/>
              <p:nvPr/>
            </p:nvSpPr>
            <p:spPr>
              <a:xfrm>
                <a:off x="10579872" y="5883133"/>
                <a:ext cx="711670" cy="287643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nor/>
                        </m:rPr>
                        <a:rPr lang="en-US" b="0" i="0" smtClean="0">
                          <a:latin typeface="American Typewriter" panose="02090604020004020304" pitchFamily="18" charset="77"/>
                        </a:rPr>
                        <m:t>ST</m:t>
                      </m:r>
                      <m:r>
                        <m:rPr>
                          <m:nor/>
                        </m:rPr>
                        <a:rPr lang="en-US" b="0" i="0" smtClean="0">
                          <a:latin typeface="American Typewriter" panose="02090604020004020304" pitchFamily="18" charset="77"/>
                        </a:rPr>
                        <m:t>.</m:t>
                      </m:r>
                      <m:r>
                        <m:rPr>
                          <m:nor/>
                        </m:rPr>
                        <a:rPr lang="en-US" b="0" i="0" smtClean="0">
                          <a:latin typeface="American Typewriter" panose="02090604020004020304" pitchFamily="18" charset="77"/>
                        </a:rPr>
                        <m:t>i</m:t>
                      </m:r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nor/>
                            </m:rPr>
                            <a:rPr lang="en-US" b="0" i="0" smtClean="0">
                              <a:latin typeface="American Typewriter" panose="02090604020004020304" pitchFamily="18" charset="77"/>
                            </a:rPr>
                            <m:t>n</m:t>
                          </m:r>
                        </m:e>
                        <m:sub>
                          <m:r>
                            <m:rPr>
                              <m:nor/>
                            </m:rPr>
                            <a:rPr lang="en-US" b="0" i="0" smtClean="0">
                              <a:latin typeface="American Typewriter" panose="02090604020004020304" pitchFamily="18" charset="77"/>
                            </a:rPr>
                            <m:t>i</m:t>
                          </m:r>
                        </m:sub>
                      </m:sSub>
                    </m:oMath>
                  </m:oMathPara>
                </a14:m>
                <a:endParaRPr lang="en-US" dirty="0">
                  <a:latin typeface="American Typewriter" panose="02090604020004020304" pitchFamily="18" charset="77"/>
                </a:endParaRPr>
              </a:p>
            </p:txBody>
          </p:sp>
        </mc:Choice>
        <mc:Fallback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9D8D243D-5548-A9C7-640B-A107C3365B2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579872" y="5883133"/>
                <a:ext cx="711670" cy="287643"/>
              </a:xfrm>
              <a:prstGeom prst="rect">
                <a:avLst/>
              </a:prstGeom>
              <a:blipFill>
                <a:blip r:embed="rId4"/>
                <a:stretch>
                  <a:fillRect l="-7143" r="-5357" b="-2608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6" name="TextBox 15">
            <a:extLst>
              <a:ext uri="{FF2B5EF4-FFF2-40B4-BE49-F238E27FC236}">
                <a16:creationId xmlns:a16="http://schemas.microsoft.com/office/drawing/2014/main" id="{A553491A-D5A0-5B3D-B2CE-6280A697F5E0}"/>
              </a:ext>
            </a:extLst>
          </p:cNvPr>
          <p:cNvSpPr txBox="1"/>
          <p:nvPr/>
        </p:nvSpPr>
        <p:spPr>
          <a:xfrm>
            <a:off x="2139293" y="6211619"/>
            <a:ext cx="449757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Whenever ST is about to output a value y 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4F13F25C-2DAC-C361-4C72-BD22542B6622}"/>
                  </a:ext>
                </a:extLst>
              </p:cNvPr>
              <p:cNvSpPr txBox="1"/>
              <p:nvPr/>
            </p:nvSpPr>
            <p:spPr>
              <a:xfrm>
                <a:off x="6565468" y="6263614"/>
                <a:ext cx="854336" cy="287643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nor/>
                        </m:rPr>
                        <a:rPr lang="en-US" b="0" i="0" smtClean="0">
                          <a:latin typeface="American Typewriter" panose="02090604020004020304" pitchFamily="18" charset="77"/>
                        </a:rPr>
                        <m:t>ST</m:t>
                      </m:r>
                      <m:r>
                        <m:rPr>
                          <m:nor/>
                        </m:rPr>
                        <a:rPr lang="en-US" b="0" i="0" smtClean="0">
                          <a:latin typeface="American Typewriter" panose="02090604020004020304" pitchFamily="18" charset="77"/>
                        </a:rPr>
                        <m:t>.</m:t>
                      </m:r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nor/>
                            </m:rPr>
                            <a:rPr lang="en-US" b="0" i="0" smtClean="0">
                              <a:latin typeface="American Typewriter" panose="02090604020004020304" pitchFamily="18" charset="77"/>
                            </a:rPr>
                            <m:t>out</m:t>
                          </m:r>
                        </m:e>
                        <m:sub>
                          <m:r>
                            <m:rPr>
                              <m:nor/>
                            </m:rPr>
                            <a:rPr lang="en-US" b="0" i="0" smtClean="0">
                              <a:latin typeface="American Typewriter" panose="02090604020004020304" pitchFamily="18" charset="77"/>
                            </a:rPr>
                            <m:t>i</m:t>
                          </m:r>
                        </m:sub>
                      </m:sSub>
                    </m:oMath>
                  </m:oMathPara>
                </a14:m>
                <a:endParaRPr lang="en-US" dirty="0">
                  <a:latin typeface="American Typewriter" panose="02090604020004020304" pitchFamily="18" charset="77"/>
                </a:endParaRPr>
              </a:p>
            </p:txBody>
          </p:sp>
        </mc:Choice>
        <mc:Fallback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4F13F25C-2DAC-C361-4C72-BD22542B662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565468" y="6263614"/>
                <a:ext cx="854336" cy="287643"/>
              </a:xfrm>
              <a:prstGeom prst="rect">
                <a:avLst/>
              </a:prstGeom>
              <a:blipFill>
                <a:blip r:embed="rId5"/>
                <a:stretch>
                  <a:fillRect l="-4348" r="-4348" b="-25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9" name="TextBox 18">
            <a:extLst>
              <a:ext uri="{FF2B5EF4-FFF2-40B4-BE49-F238E27FC236}">
                <a16:creationId xmlns:a16="http://schemas.microsoft.com/office/drawing/2014/main" id="{DDF2D7CA-EE65-8785-0431-9CBDDA66E726}"/>
              </a:ext>
            </a:extLst>
          </p:cNvPr>
          <p:cNvSpPr txBox="1"/>
          <p:nvPr/>
        </p:nvSpPr>
        <p:spPr>
          <a:xfrm>
            <a:off x="7525531" y="6211619"/>
            <a:ext cx="449757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It instead outputs (output, </a:t>
            </a:r>
            <a:r>
              <a:rPr lang="en-US" dirty="0" err="1"/>
              <a:t>i</a:t>
            </a:r>
            <a:r>
              <a:rPr lang="en-US" dirty="0"/>
              <a:t>, y) on </a:t>
            </a:r>
            <a:r>
              <a:rPr lang="en-US" dirty="0" err="1"/>
              <a:t>ST.leak</a:t>
            </a:r>
            <a:endParaRPr lang="en-US" dirty="0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29DBECBD-2B90-3BCE-7023-F7412175D7D0}"/>
              </a:ext>
            </a:extLst>
          </p:cNvPr>
          <p:cNvSpPr txBox="1"/>
          <p:nvPr/>
        </p:nvSpPr>
        <p:spPr>
          <a:xfrm>
            <a:off x="1724369" y="2585735"/>
            <a:ext cx="344722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The ideal internal state of </a:t>
            </a:r>
            <a:r>
              <a:rPr lang="en-US" i="1" dirty="0"/>
              <a:t>party </a:t>
            </a:r>
            <a:r>
              <a:rPr lang="en-US" i="1" dirty="0" err="1"/>
              <a:t>i</a:t>
            </a:r>
            <a:r>
              <a:rPr lang="en-US" i="1" dirty="0"/>
              <a:t>. 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77F4357D-911B-8904-273E-0D5B42C21684}"/>
              </a:ext>
            </a:extLst>
          </p:cNvPr>
          <p:cNvSpPr txBox="1"/>
          <p:nvPr/>
        </p:nvSpPr>
        <p:spPr>
          <a:xfrm>
            <a:off x="1724369" y="2950318"/>
            <a:ext cx="609777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This is defined as the previous messages of </a:t>
            </a:r>
            <a:r>
              <a:rPr lang="en-US" i="1" dirty="0"/>
              <a:t>party </a:t>
            </a:r>
            <a:r>
              <a:rPr lang="en-US" i="1" dirty="0" err="1"/>
              <a:t>i</a:t>
            </a:r>
            <a:endParaRPr lang="en-US" i="1" dirty="0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CA6BDDA7-B651-1187-3997-3535EC6A1AB9}"/>
              </a:ext>
            </a:extLst>
          </p:cNvPr>
          <p:cNvSpPr txBox="1"/>
          <p:nvPr/>
        </p:nvSpPr>
        <p:spPr>
          <a:xfrm>
            <a:off x="1724369" y="3319648"/>
            <a:ext cx="609777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And all the messages that are in the queue.</a:t>
            </a:r>
          </a:p>
        </p:txBody>
      </p:sp>
    </p:spTree>
    <p:extLst>
      <p:ext uri="{BB962C8B-B14F-4D97-AF65-F5344CB8AC3E}">
        <p14:creationId xmlns:p14="http://schemas.microsoft.com/office/powerpoint/2010/main" val="2321004258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27993F05-516E-7F77-8D56-9CC3C0C61045}"/>
              </a:ext>
            </a:extLst>
          </p:cNvPr>
          <p:cNvSpPr txBox="1"/>
          <p:nvPr/>
        </p:nvSpPr>
        <p:spPr>
          <a:xfrm>
            <a:off x="531628" y="723014"/>
            <a:ext cx="2092048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 dirty="0"/>
              <a:t>Protocols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35592179-1FAF-B699-5078-B0EF05A46390}"/>
                  </a:ext>
                </a:extLst>
              </p:cNvPr>
              <p:cNvSpPr txBox="1"/>
              <p:nvPr/>
            </p:nvSpPr>
            <p:spPr>
              <a:xfrm>
                <a:off x="435935" y="2076524"/>
                <a:ext cx="2764465" cy="430887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sz="2800" b="0" i="0" smtClean="0">
                          <a:latin typeface="Cambria Math" panose="02040503050406030204" pitchFamily="18" charset="0"/>
                        </a:rPr>
                        <m:t>Π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m:rPr>
                          <m:lit/>
                        </m:rPr>
                        <a:rPr lang="en-US" sz="2800" b="0" i="1" smtClean="0">
                          <a:latin typeface="Cambria Math" panose="02040503050406030204" pitchFamily="18" charset="0"/>
                        </a:rPr>
                        <m:t>{</m:t>
                      </m:r>
                      <m:sSub>
                        <m:sSubPr>
                          <m:ctrlPr>
                            <a:rPr lang="en-US" sz="28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,…,</m:t>
                      </m:r>
                      <m:sSub>
                        <m:sSubPr>
                          <m:ctrlPr>
                            <a:rPr lang="en-US" sz="28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</m:sSub>
                      <m:r>
                        <m:rPr>
                          <m:lit/>
                        </m:rPr>
                        <a:rPr lang="en-US" sz="2800" b="0" i="1" smtClean="0">
                          <a:latin typeface="Cambria Math" panose="02040503050406030204" pitchFamily="18" charset="0"/>
                        </a:rPr>
                        <m:t>}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 </m:t>
                      </m:r>
                    </m:oMath>
                  </m:oMathPara>
                </a14:m>
                <a:endParaRPr lang="en-US" sz="2800" dirty="0"/>
              </a:p>
            </p:txBody>
          </p:sp>
        </mc:Choice>
        <mc:Fallback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35592179-1FAF-B699-5078-B0EF05A4639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35935" y="2076524"/>
                <a:ext cx="2764465" cy="430887"/>
              </a:xfrm>
              <a:prstGeom prst="rect">
                <a:avLst/>
              </a:prstGeom>
              <a:blipFill>
                <a:blip r:embed="rId2"/>
                <a:stretch>
                  <a:fillRect t="-8571" b="-3428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TextBox 3">
            <a:extLst>
              <a:ext uri="{FF2B5EF4-FFF2-40B4-BE49-F238E27FC236}">
                <a16:creationId xmlns:a16="http://schemas.microsoft.com/office/drawing/2014/main" id="{0611E9C7-41C9-291D-9B7E-62854934D7D5}"/>
              </a:ext>
            </a:extLst>
          </p:cNvPr>
          <p:cNvSpPr txBox="1"/>
          <p:nvPr/>
        </p:nvSpPr>
        <p:spPr>
          <a:xfrm>
            <a:off x="2923640" y="2086686"/>
            <a:ext cx="461216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dirty="0">
                <a:latin typeface="Chalk Board" panose="02000500000000000000" pitchFamily="2" charset="0"/>
              </a:rPr>
              <a:t>be a protocol with resource name R 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62DE337-5EFA-68B8-EFCF-48084018D088}"/>
              </a:ext>
            </a:extLst>
          </p:cNvPr>
          <p:cNvSpPr txBox="1"/>
          <p:nvPr/>
        </p:nvSpPr>
        <p:spPr>
          <a:xfrm>
            <a:off x="611400" y="2814157"/>
            <a:ext cx="5707012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>
                <a:latin typeface="Chalk Board" panose="02000500000000000000" pitchFamily="2" charset="0"/>
              </a:rPr>
              <a:t>Let</a:t>
            </a:r>
            <a:r>
              <a:rPr lang="en-US" sz="2800" dirty="0"/>
              <a:t> </a:t>
            </a:r>
            <a:r>
              <a:rPr lang="en-US" sz="2800" dirty="0">
                <a:latin typeface="Apple Chancery" panose="03020702040506060504" pitchFamily="66" charset="-79"/>
                <a:cs typeface="Apple Chancery" panose="03020702040506060504" pitchFamily="66" charset="-79"/>
              </a:rPr>
              <a:t>R </a:t>
            </a:r>
            <a:r>
              <a:rPr lang="en-US" sz="2800" dirty="0">
                <a:latin typeface="Chalk Board" panose="02000500000000000000" pitchFamily="2" charset="0"/>
              </a:rPr>
              <a:t>be the ideal functionality for the resource R</a:t>
            </a:r>
            <a:r>
              <a:rPr lang="en-US" sz="2800" dirty="0">
                <a:latin typeface="Chalk Board" panose="02000500000000000000" pitchFamily="2" charset="0"/>
                <a:cs typeface="Apple Chancery" panose="03020702040506060504" pitchFamily="66" charset="-79"/>
              </a:rPr>
              <a:t>  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499C4A87-5EE9-A6A0-37E6-A23DCEA75E4F}"/>
                  </a:ext>
                </a:extLst>
              </p:cNvPr>
              <p:cNvSpPr txBox="1"/>
              <p:nvPr/>
            </p:nvSpPr>
            <p:spPr>
              <a:xfrm>
                <a:off x="639266" y="3536411"/>
                <a:ext cx="795282" cy="615553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sz="4000" b="0" i="0" smtClean="0">
                          <a:latin typeface="Cambria Math" panose="02040503050406030204" pitchFamily="18" charset="0"/>
                        </a:rPr>
                        <m:t>Π</m:t>
                      </m:r>
                      <m:r>
                        <a:rPr lang="en-US" sz="4000" b="0" i="1" smtClean="0">
                          <a:latin typeface="Cambria Math" panose="02040503050406030204" pitchFamily="18" charset="0"/>
                        </a:rPr>
                        <m:t>⋄</m:t>
                      </m:r>
                    </m:oMath>
                  </m:oMathPara>
                </a14:m>
                <a:endParaRPr lang="en-US" sz="4000" dirty="0"/>
              </a:p>
            </p:txBody>
          </p:sp>
        </mc:Choice>
        <mc:Fallback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499C4A87-5EE9-A6A0-37E6-A23DCEA75E4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39266" y="3536411"/>
                <a:ext cx="795282" cy="615553"/>
              </a:xfrm>
              <a:prstGeom prst="rect">
                <a:avLst/>
              </a:prstGeom>
              <a:blipFill>
                <a:blip r:embed="rId3"/>
                <a:stretch>
                  <a:fillRect l="-15873" r="-9524" b="-612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9" name="TextBox 8">
            <a:extLst>
              <a:ext uri="{FF2B5EF4-FFF2-40B4-BE49-F238E27FC236}">
                <a16:creationId xmlns:a16="http://schemas.microsoft.com/office/drawing/2014/main" id="{3878131F-EA59-9D96-D5CF-39F5FE3419A5}"/>
              </a:ext>
            </a:extLst>
          </p:cNvPr>
          <p:cNvSpPr txBox="1"/>
          <p:nvPr/>
        </p:nvSpPr>
        <p:spPr>
          <a:xfrm>
            <a:off x="1349488" y="3459466"/>
            <a:ext cx="612655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4400" dirty="0">
                <a:latin typeface="Apple Chancery" panose="03020702040506060504" pitchFamily="66" charset="-79"/>
                <a:cs typeface="Apple Chancery" panose="03020702040506060504" pitchFamily="66" charset="-79"/>
              </a:rPr>
              <a:t>R</a:t>
            </a:r>
            <a:endParaRPr lang="en-US" sz="4400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3F94AA8D-3A00-AC2A-08B2-4068AE97DEE3}"/>
              </a:ext>
            </a:extLst>
          </p:cNvPr>
          <p:cNvSpPr txBox="1"/>
          <p:nvPr/>
        </p:nvSpPr>
        <p:spPr>
          <a:xfrm>
            <a:off x="2020187" y="3601569"/>
            <a:ext cx="3209533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>
                <a:latin typeface="Chalk Board" panose="02000500000000000000" pitchFamily="2" charset="0"/>
              </a:rPr>
              <a:t>a protocol using resource </a:t>
            </a:r>
            <a:r>
              <a:rPr lang="en-US" sz="2800" dirty="0">
                <a:latin typeface="Apple Chancery" panose="03020702040506060504" pitchFamily="66" charset="-79"/>
                <a:cs typeface="Apple Chancery" panose="03020702040506060504" pitchFamily="66" charset="-79"/>
              </a:rPr>
              <a:t>R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87CAC7E4-BB6B-16D8-59AB-F136144FB62D}"/>
              </a:ext>
            </a:extLst>
          </p:cNvPr>
          <p:cNvSpPr txBox="1"/>
          <p:nvPr/>
        </p:nvSpPr>
        <p:spPr>
          <a:xfrm>
            <a:off x="615433" y="4629465"/>
            <a:ext cx="5290231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 dirty="0">
                <a:latin typeface="Chalk Board" panose="02000500000000000000" pitchFamily="2" charset="0"/>
              </a:rPr>
              <a:t>Ideal functionalities can play two roles:</a:t>
            </a:r>
            <a:endParaRPr lang="en-US" sz="3600" dirty="0">
              <a:latin typeface="Chalk Board" panose="02000500000000000000" pitchFamily="2" charset="0"/>
              <a:cs typeface="Apple Chancery" panose="03020702040506060504" pitchFamily="66" charset="-79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BB4A076-FA05-A1DB-72B0-E11C42082E1E}"/>
              </a:ext>
            </a:extLst>
          </p:cNvPr>
          <p:cNvSpPr txBox="1"/>
          <p:nvPr/>
        </p:nvSpPr>
        <p:spPr>
          <a:xfrm>
            <a:off x="2242326" y="5307022"/>
            <a:ext cx="3725700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>
                <a:latin typeface="Chalk Board" panose="02000500000000000000" pitchFamily="2" charset="0"/>
              </a:rPr>
              <a:t>Specifications of intended behavior</a:t>
            </a:r>
            <a:endParaRPr lang="en-US" sz="2800" dirty="0">
              <a:latin typeface="Chalk Board" panose="02000500000000000000" pitchFamily="2" charset="0"/>
              <a:cs typeface="Apple Chancery" panose="03020702040506060504" pitchFamily="66" charset="-79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E99DBA36-771F-8AE2-C0D5-01EE9DB7DF2F}"/>
              </a:ext>
            </a:extLst>
          </p:cNvPr>
          <p:cNvSpPr txBox="1"/>
          <p:nvPr/>
        </p:nvSpPr>
        <p:spPr>
          <a:xfrm>
            <a:off x="2266662" y="5861468"/>
            <a:ext cx="8103500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>
                <a:latin typeface="Chalk Board" panose="02000500000000000000" pitchFamily="2" charset="0"/>
              </a:rPr>
              <a:t>It can also serve as a network resource (a way for them to communicate)!</a:t>
            </a:r>
            <a:endParaRPr lang="en-US" sz="2800" dirty="0">
              <a:latin typeface="Chalk Board" panose="02000500000000000000" pitchFamily="2" charset="0"/>
              <a:cs typeface="Apple Chancery" panose="03020702040506060504" pitchFamily="66" charset="-79"/>
            </a:endParaRPr>
          </a:p>
        </p:txBody>
      </p:sp>
    </p:spTree>
    <p:extLst>
      <p:ext uri="{BB962C8B-B14F-4D97-AF65-F5344CB8AC3E}">
        <p14:creationId xmlns:p14="http://schemas.microsoft.com/office/powerpoint/2010/main" val="3439763333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1278823A-1BDF-15FD-0E50-78528EE12BBF}"/>
              </a:ext>
            </a:extLst>
          </p:cNvPr>
          <p:cNvSpPr txBox="1"/>
          <p:nvPr/>
        </p:nvSpPr>
        <p:spPr>
          <a:xfrm>
            <a:off x="765544" y="669851"/>
            <a:ext cx="2092048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 dirty="0"/>
              <a:t>Protocols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682D75E1-8B7D-D7D7-C7BA-D4F10E376EDE}"/>
              </a:ext>
            </a:extLst>
          </p:cNvPr>
          <p:cNvSpPr/>
          <p:nvPr/>
        </p:nvSpPr>
        <p:spPr>
          <a:xfrm>
            <a:off x="1567238" y="3070927"/>
            <a:ext cx="2488019" cy="2041452"/>
          </a:xfrm>
          <a:prstGeom prst="rect">
            <a:avLst/>
          </a:prstGeom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AT</a:t>
            </a:r>
          </a:p>
        </p:txBody>
      </p:sp>
      <p:cxnSp>
        <p:nvCxnSpPr>
          <p:cNvPr id="4" name="Straight Arrow Connector 3">
            <a:extLst>
              <a:ext uri="{FF2B5EF4-FFF2-40B4-BE49-F238E27FC236}">
                <a16:creationId xmlns:a16="http://schemas.microsoft.com/office/drawing/2014/main" id="{4E8C8908-D7A5-A279-74DA-5CFA9F5E52FE}"/>
              </a:ext>
            </a:extLst>
          </p:cNvPr>
          <p:cNvCxnSpPr>
            <a:cxnSpLocks/>
          </p:cNvCxnSpPr>
          <p:nvPr/>
        </p:nvCxnSpPr>
        <p:spPr>
          <a:xfrm>
            <a:off x="535880" y="3474964"/>
            <a:ext cx="1169581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Straight Arrow Connector 4">
            <a:extLst>
              <a:ext uri="{FF2B5EF4-FFF2-40B4-BE49-F238E27FC236}">
                <a16:creationId xmlns:a16="http://schemas.microsoft.com/office/drawing/2014/main" id="{F7D627E5-1006-A1EE-9DCA-153467D17CF4}"/>
              </a:ext>
            </a:extLst>
          </p:cNvPr>
          <p:cNvCxnSpPr>
            <a:cxnSpLocks/>
          </p:cNvCxnSpPr>
          <p:nvPr/>
        </p:nvCxnSpPr>
        <p:spPr>
          <a:xfrm>
            <a:off x="3835517" y="3485597"/>
            <a:ext cx="1169581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E3364E60-FAE7-0569-AA11-4D4885D09A46}"/>
              </a:ext>
            </a:extLst>
          </p:cNvPr>
          <p:cNvCxnSpPr>
            <a:cxnSpLocks/>
          </p:cNvCxnSpPr>
          <p:nvPr/>
        </p:nvCxnSpPr>
        <p:spPr>
          <a:xfrm flipH="1">
            <a:off x="535880" y="4339745"/>
            <a:ext cx="1169581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F85DCF98-5AF1-6426-10F6-457C961FE336}"/>
              </a:ext>
            </a:extLst>
          </p:cNvPr>
          <p:cNvCxnSpPr>
            <a:cxnSpLocks/>
          </p:cNvCxnSpPr>
          <p:nvPr/>
        </p:nvCxnSpPr>
        <p:spPr>
          <a:xfrm flipH="1">
            <a:off x="3835517" y="4339745"/>
            <a:ext cx="1169581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5B9E1B59-FCB8-6FCB-9E34-4B323958F9F1}"/>
              </a:ext>
            </a:extLst>
          </p:cNvPr>
          <p:cNvCxnSpPr>
            <a:cxnSpLocks/>
          </p:cNvCxnSpPr>
          <p:nvPr/>
        </p:nvCxnSpPr>
        <p:spPr>
          <a:xfrm flipV="1">
            <a:off x="2304429" y="2209689"/>
            <a:ext cx="0" cy="1003006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83352A88-2EBF-F712-044F-33D593FF662B}"/>
              </a:ext>
            </a:extLst>
          </p:cNvPr>
          <p:cNvCxnSpPr>
            <a:cxnSpLocks/>
          </p:cNvCxnSpPr>
          <p:nvPr/>
        </p:nvCxnSpPr>
        <p:spPr>
          <a:xfrm>
            <a:off x="3073518" y="2209689"/>
            <a:ext cx="0" cy="1041991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>
            <a:extLst>
              <a:ext uri="{FF2B5EF4-FFF2-40B4-BE49-F238E27FC236}">
                <a16:creationId xmlns:a16="http://schemas.microsoft.com/office/drawing/2014/main" id="{A6982A60-5F0E-079D-8DD5-6055AF3AEFD8}"/>
              </a:ext>
            </a:extLst>
          </p:cNvPr>
          <p:cNvSpPr txBox="1"/>
          <p:nvPr/>
        </p:nvSpPr>
        <p:spPr>
          <a:xfrm>
            <a:off x="348727" y="3105632"/>
            <a:ext cx="830164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>
                <a:latin typeface="American Typewriter" panose="02090604020004020304" pitchFamily="18" charset="77"/>
              </a:rPr>
              <a:t>AT.in1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390D728D-BF13-836E-8A88-F2BBC3F5A2A3}"/>
              </a:ext>
            </a:extLst>
          </p:cNvPr>
          <p:cNvSpPr txBox="1"/>
          <p:nvPr/>
        </p:nvSpPr>
        <p:spPr>
          <a:xfrm>
            <a:off x="313911" y="3922376"/>
            <a:ext cx="95519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>
                <a:latin typeface="American Typewriter" panose="02090604020004020304" pitchFamily="18" charset="77"/>
              </a:rPr>
              <a:t>AT.out1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B44C1336-7E24-6628-BC38-01E84317DD01}"/>
              </a:ext>
            </a:extLst>
          </p:cNvPr>
          <p:cNvSpPr txBox="1"/>
          <p:nvPr/>
        </p:nvSpPr>
        <p:spPr>
          <a:xfrm>
            <a:off x="4420307" y="3985241"/>
            <a:ext cx="830164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>
                <a:latin typeface="American Typewriter" panose="02090604020004020304" pitchFamily="18" charset="77"/>
              </a:rPr>
              <a:t>AT.in2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3FE31F28-9F4C-3CBC-8A1E-1E33905B891F}"/>
              </a:ext>
            </a:extLst>
          </p:cNvPr>
          <p:cNvSpPr txBox="1"/>
          <p:nvPr/>
        </p:nvSpPr>
        <p:spPr>
          <a:xfrm>
            <a:off x="4357790" y="3082403"/>
            <a:ext cx="95519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>
                <a:latin typeface="American Typewriter" panose="02090604020004020304" pitchFamily="18" charset="77"/>
              </a:rPr>
              <a:t>AT.out2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F5C42366-E979-5620-7C8A-CDC69EEA4C51}"/>
              </a:ext>
            </a:extLst>
          </p:cNvPr>
          <p:cNvSpPr txBox="1"/>
          <p:nvPr/>
        </p:nvSpPr>
        <p:spPr>
          <a:xfrm>
            <a:off x="3073518" y="2301754"/>
            <a:ext cx="847091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 err="1">
                <a:latin typeface="American Typewriter" panose="02090604020004020304" pitchFamily="18" charset="77"/>
              </a:rPr>
              <a:t>AT.infl</a:t>
            </a:r>
            <a:endParaRPr lang="en-US" sz="1600" dirty="0">
              <a:latin typeface="American Typewriter" panose="02090604020004020304" pitchFamily="18" charset="77"/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37AFB4CC-F44B-E6C1-5053-9A038EA35D06}"/>
              </a:ext>
            </a:extLst>
          </p:cNvPr>
          <p:cNvSpPr txBox="1"/>
          <p:nvPr/>
        </p:nvSpPr>
        <p:spPr>
          <a:xfrm>
            <a:off x="1450954" y="2366657"/>
            <a:ext cx="91832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 err="1">
                <a:latin typeface="American Typewriter" panose="02090604020004020304" pitchFamily="18" charset="77"/>
              </a:rPr>
              <a:t>AT.leak</a:t>
            </a:r>
            <a:endParaRPr lang="en-US" sz="1600" dirty="0">
              <a:latin typeface="American Typewriter" panose="02090604020004020304" pitchFamily="18" charset="77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BC792F4B-01DD-8AD2-05DE-6C0D9AE61C2B}"/>
              </a:ext>
            </a:extLst>
          </p:cNvPr>
          <p:cNvSpPr txBox="1"/>
          <p:nvPr/>
        </p:nvSpPr>
        <p:spPr>
          <a:xfrm>
            <a:off x="6160921" y="1969049"/>
            <a:ext cx="255209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On input </a:t>
            </a:r>
            <a:r>
              <a:rPr lang="en-US" dirty="0">
                <a:latin typeface="American Typewriter" panose="02090604020004020304" pitchFamily="18" charset="77"/>
              </a:rPr>
              <a:t>(mid, j, m)</a:t>
            </a:r>
            <a:r>
              <a:rPr lang="en-US" dirty="0"/>
              <a:t> on 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578D8B2C-4E89-00E6-86B6-43D5F9ED1A23}"/>
                  </a:ext>
                </a:extLst>
              </p:cNvPr>
              <p:cNvSpPr txBox="1"/>
              <p:nvPr/>
            </p:nvSpPr>
            <p:spPr>
              <a:xfrm>
                <a:off x="8713016" y="2050568"/>
                <a:ext cx="740524" cy="287643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nor/>
                        </m:rPr>
                        <a:rPr lang="en-US">
                          <a:latin typeface="American Typewriter" panose="02090604020004020304" pitchFamily="18" charset="77"/>
                        </a:rPr>
                        <m:t>A</m:t>
                      </m:r>
                      <m:r>
                        <m:rPr>
                          <m:nor/>
                        </m:rPr>
                        <a:rPr lang="en-US" b="0" i="0" smtClean="0">
                          <a:latin typeface="American Typewriter" panose="02090604020004020304" pitchFamily="18" charset="77"/>
                        </a:rPr>
                        <m:t>T</m:t>
                      </m:r>
                      <m:r>
                        <m:rPr>
                          <m:nor/>
                        </m:rPr>
                        <a:rPr lang="en-US" b="0" i="0" smtClean="0">
                          <a:latin typeface="American Typewriter" panose="02090604020004020304" pitchFamily="18" charset="77"/>
                        </a:rPr>
                        <m:t>.</m:t>
                      </m:r>
                      <m:r>
                        <m:rPr>
                          <m:nor/>
                        </m:rPr>
                        <a:rPr lang="en-US" b="0" i="0" smtClean="0">
                          <a:latin typeface="American Typewriter" panose="02090604020004020304" pitchFamily="18" charset="77"/>
                        </a:rPr>
                        <m:t>i</m:t>
                      </m:r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nor/>
                            </m:rPr>
                            <a:rPr lang="en-US" b="0" i="0" smtClean="0">
                              <a:latin typeface="American Typewriter" panose="02090604020004020304" pitchFamily="18" charset="77"/>
                            </a:rPr>
                            <m:t>n</m:t>
                          </m:r>
                        </m:e>
                        <m:sub>
                          <m:r>
                            <m:rPr>
                              <m:nor/>
                            </m:rPr>
                            <a:rPr lang="en-US" b="0" i="0" smtClean="0">
                              <a:latin typeface="American Typewriter" panose="02090604020004020304" pitchFamily="18" charset="77"/>
                            </a:rPr>
                            <m:t>i</m:t>
                          </m:r>
                        </m:sub>
                      </m:sSub>
                    </m:oMath>
                  </m:oMathPara>
                </a14:m>
                <a:endParaRPr lang="en-US" dirty="0">
                  <a:latin typeface="American Typewriter" panose="02090604020004020304" pitchFamily="18" charset="77"/>
                </a:endParaRPr>
              </a:p>
            </p:txBody>
          </p:sp>
        </mc:Choice>
        <mc:Fallback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578D8B2C-4E89-00E6-86B6-43D5F9ED1A2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713016" y="2050568"/>
                <a:ext cx="740524" cy="287643"/>
              </a:xfrm>
              <a:prstGeom prst="rect">
                <a:avLst/>
              </a:prstGeom>
              <a:blipFill>
                <a:blip r:embed="rId2"/>
                <a:stretch>
                  <a:fillRect l="-5000" r="-5000" b="-25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8" name="TextBox 17">
            <a:extLst>
              <a:ext uri="{FF2B5EF4-FFF2-40B4-BE49-F238E27FC236}">
                <a16:creationId xmlns:a16="http://schemas.microsoft.com/office/drawing/2014/main" id="{587AF182-4788-DB63-78ED-85C5F39F188D}"/>
              </a:ext>
            </a:extLst>
          </p:cNvPr>
          <p:cNvSpPr txBox="1"/>
          <p:nvPr/>
        </p:nvSpPr>
        <p:spPr>
          <a:xfrm>
            <a:off x="8612277" y="2340288"/>
            <a:ext cx="357668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 output </a:t>
            </a:r>
            <a:r>
              <a:rPr lang="en-US" dirty="0">
                <a:latin typeface="American Typewriter" panose="02090604020004020304" pitchFamily="18" charset="77"/>
              </a:rPr>
              <a:t>(mid, </a:t>
            </a:r>
            <a:r>
              <a:rPr lang="en-US" dirty="0" err="1">
                <a:latin typeface="American Typewriter" panose="02090604020004020304" pitchFamily="18" charset="77"/>
              </a:rPr>
              <a:t>i</a:t>
            </a:r>
            <a:r>
              <a:rPr lang="en-US" dirty="0">
                <a:latin typeface="American Typewriter" panose="02090604020004020304" pitchFamily="18" charset="77"/>
              </a:rPr>
              <a:t>,  j, m)</a:t>
            </a:r>
            <a:r>
              <a:rPr lang="en-US" dirty="0"/>
              <a:t> on </a:t>
            </a:r>
            <a:r>
              <a:rPr lang="en-US" dirty="0" err="1">
                <a:latin typeface="American Typewriter" panose="02090604020004020304" pitchFamily="18" charset="77"/>
              </a:rPr>
              <a:t>AT.leak</a:t>
            </a:r>
            <a:r>
              <a:rPr lang="en-US" dirty="0">
                <a:latin typeface="American Typewriter" panose="02090604020004020304" pitchFamily="18" charset="77"/>
              </a:rPr>
              <a:t> 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8FFD15B0-4F1B-85BB-4525-EC15605585EA}"/>
              </a:ext>
            </a:extLst>
          </p:cNvPr>
          <p:cNvSpPr txBox="1"/>
          <p:nvPr/>
        </p:nvSpPr>
        <p:spPr>
          <a:xfrm>
            <a:off x="8648095" y="2709620"/>
            <a:ext cx="219399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 store </a:t>
            </a:r>
            <a:r>
              <a:rPr lang="en-US" dirty="0">
                <a:latin typeface="American Typewriter" panose="02090604020004020304" pitchFamily="18" charset="77"/>
              </a:rPr>
              <a:t>(mid, </a:t>
            </a:r>
            <a:r>
              <a:rPr lang="en-US" dirty="0" err="1">
                <a:latin typeface="American Typewriter" panose="02090604020004020304" pitchFamily="18" charset="77"/>
              </a:rPr>
              <a:t>i</a:t>
            </a:r>
            <a:r>
              <a:rPr lang="en-US" dirty="0">
                <a:latin typeface="American Typewriter" panose="02090604020004020304" pitchFamily="18" charset="77"/>
              </a:rPr>
              <a:t>,  j, m)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489D6EEB-392A-D193-8E14-66078ACDAD24}"/>
              </a:ext>
            </a:extLst>
          </p:cNvPr>
          <p:cNvSpPr txBox="1"/>
          <p:nvPr/>
        </p:nvSpPr>
        <p:spPr>
          <a:xfrm>
            <a:off x="6505970" y="4825019"/>
            <a:ext cx="413703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On input </a:t>
            </a:r>
            <a:r>
              <a:rPr lang="en-US" dirty="0">
                <a:latin typeface="American Typewriter" panose="02090604020004020304" pitchFamily="18" charset="77"/>
              </a:rPr>
              <a:t>(deliver, mid, </a:t>
            </a:r>
            <a:r>
              <a:rPr lang="en-US" dirty="0" err="1">
                <a:latin typeface="American Typewriter" panose="02090604020004020304" pitchFamily="18" charset="77"/>
              </a:rPr>
              <a:t>i</a:t>
            </a:r>
            <a:r>
              <a:rPr lang="en-US" dirty="0">
                <a:latin typeface="American Typewriter" panose="02090604020004020304" pitchFamily="18" charset="77"/>
              </a:rPr>
              <a:t>, j) </a:t>
            </a:r>
            <a:r>
              <a:rPr lang="en-US" dirty="0"/>
              <a:t>on </a:t>
            </a:r>
            <a:r>
              <a:rPr lang="en-US" dirty="0" err="1">
                <a:latin typeface="American Typewriter" panose="02090604020004020304" pitchFamily="18" charset="77"/>
              </a:rPr>
              <a:t>AT.infl</a:t>
            </a:r>
            <a:r>
              <a:rPr lang="en-US" dirty="0">
                <a:latin typeface="American Typewriter" panose="02090604020004020304" pitchFamily="18" charset="77"/>
              </a:rPr>
              <a:t> 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5E68996A-4334-0D4F-779E-E83FF882178F}"/>
              </a:ext>
            </a:extLst>
          </p:cNvPr>
          <p:cNvSpPr txBox="1"/>
          <p:nvPr/>
        </p:nvSpPr>
        <p:spPr>
          <a:xfrm>
            <a:off x="6505970" y="5310188"/>
            <a:ext cx="2575129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delete: </a:t>
            </a:r>
            <a:r>
              <a:rPr lang="en-US" dirty="0">
                <a:latin typeface="American Typewriter" panose="02090604020004020304" pitchFamily="18" charset="77"/>
              </a:rPr>
              <a:t>(mid, </a:t>
            </a:r>
            <a:r>
              <a:rPr lang="en-US" dirty="0" err="1">
                <a:latin typeface="American Typewriter" panose="02090604020004020304" pitchFamily="18" charset="77"/>
              </a:rPr>
              <a:t>i</a:t>
            </a:r>
            <a:r>
              <a:rPr lang="en-US" dirty="0">
                <a:latin typeface="American Typewriter" panose="02090604020004020304" pitchFamily="18" charset="77"/>
              </a:rPr>
              <a:t>,  j, m)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37524E4E-43EC-9BCB-EEF4-2929D2DC0AD1}"/>
              </a:ext>
            </a:extLst>
          </p:cNvPr>
          <p:cNvSpPr txBox="1"/>
          <p:nvPr/>
        </p:nvSpPr>
        <p:spPr>
          <a:xfrm>
            <a:off x="6505970" y="5764581"/>
            <a:ext cx="2488019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output: (mid, </a:t>
            </a:r>
            <a:r>
              <a:rPr lang="en-US" dirty="0" err="1"/>
              <a:t>i</a:t>
            </a:r>
            <a:r>
              <a:rPr lang="en-US" dirty="0"/>
              <a:t>,  j, m) 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B7B24312-B9F4-1CAB-A5A0-8C1E481FE47F}"/>
                  </a:ext>
                </a:extLst>
              </p:cNvPr>
              <p:cNvSpPr txBox="1"/>
              <p:nvPr/>
            </p:nvSpPr>
            <p:spPr>
              <a:xfrm>
                <a:off x="8993989" y="5795358"/>
                <a:ext cx="820096" cy="335541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nor/>
                        </m:rPr>
                        <a:rPr lang="en-US">
                          <a:latin typeface="Cambria Math" panose="02040503050406030204" pitchFamily="18" charset="0"/>
                        </a:rPr>
                        <m:t>A</m:t>
                      </m:r>
                      <m:r>
                        <m:rPr>
                          <m:nor/>
                        </m:rPr>
                        <a:rPr lang="en-US" b="0" i="0" smtClean="0">
                          <a:latin typeface="American Typewriter" panose="02090604020004020304" pitchFamily="18" charset="77"/>
                        </a:rPr>
                        <m:t>T</m:t>
                      </m:r>
                      <m:r>
                        <m:rPr>
                          <m:nor/>
                        </m:rPr>
                        <a:rPr lang="en-US" b="0" i="0" smtClean="0">
                          <a:latin typeface="American Typewriter" panose="02090604020004020304" pitchFamily="18" charset="77"/>
                        </a:rPr>
                        <m:t>.</m:t>
                      </m:r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nor/>
                            </m:rPr>
                            <a:rPr lang="en-US" b="0" i="0" smtClean="0">
                              <a:latin typeface="Cambria Math" panose="02040503050406030204" pitchFamily="18" charset="0"/>
                            </a:rPr>
                            <m:t>out</m:t>
                          </m:r>
                        </m:e>
                        <m:sub>
                          <m:r>
                            <m:rPr>
                              <m:nor/>
                            </m:rPr>
                            <a:rPr lang="en-US" b="0" i="0" smtClean="0">
                              <a:latin typeface="Cambria Math" panose="02040503050406030204" pitchFamily="18" charset="0"/>
                            </a:rPr>
                            <m:t>j</m:t>
                          </m:r>
                        </m:sub>
                      </m:sSub>
                    </m:oMath>
                  </m:oMathPara>
                </a14:m>
                <a:endParaRPr lang="en-US" dirty="0">
                  <a:latin typeface="American Typewriter" panose="02090604020004020304" pitchFamily="18" charset="77"/>
                </a:endParaRPr>
              </a:p>
            </p:txBody>
          </p:sp>
        </mc:Choice>
        <mc:Fallback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B7B24312-B9F4-1CAB-A5A0-8C1E481FE47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993989" y="5795358"/>
                <a:ext cx="820096" cy="335541"/>
              </a:xfrm>
              <a:prstGeom prst="rect">
                <a:avLst/>
              </a:prstGeom>
              <a:blipFill>
                <a:blip r:embed="rId3"/>
                <a:stretch>
                  <a:fillRect l="-6154" r="-7692" b="-2963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4" name="TextBox 23">
            <a:extLst>
              <a:ext uri="{FF2B5EF4-FFF2-40B4-BE49-F238E27FC236}">
                <a16:creationId xmlns:a16="http://schemas.microsoft.com/office/drawing/2014/main" id="{08645918-1C74-ED13-5400-5C12E338DEA0}"/>
              </a:ext>
            </a:extLst>
          </p:cNvPr>
          <p:cNvSpPr txBox="1"/>
          <p:nvPr/>
        </p:nvSpPr>
        <p:spPr>
          <a:xfrm>
            <a:off x="6323536" y="3251680"/>
            <a:ext cx="495437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Ignore any later input of the form </a:t>
            </a:r>
            <a:r>
              <a:rPr lang="en-US" dirty="0">
                <a:latin typeface="American Typewriter" panose="02090604020004020304" pitchFamily="18" charset="77"/>
              </a:rPr>
              <a:t>(mid, j, m) </a:t>
            </a:r>
            <a:r>
              <a:rPr lang="en-US" dirty="0"/>
              <a:t>on 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CF0DFBED-B86A-281D-FD61-21FD128CD729}"/>
                  </a:ext>
                </a:extLst>
              </p:cNvPr>
              <p:cNvSpPr txBox="1"/>
              <p:nvPr/>
            </p:nvSpPr>
            <p:spPr>
              <a:xfrm>
                <a:off x="11130001" y="3300364"/>
                <a:ext cx="713272" cy="287643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nor/>
                        </m:rPr>
                        <a:rPr lang="en-US">
                          <a:latin typeface="Cambria Math" panose="02040503050406030204" pitchFamily="18" charset="0"/>
                        </a:rPr>
                        <m:t>A</m:t>
                      </m:r>
                      <m:r>
                        <m:rPr>
                          <m:nor/>
                        </m:rPr>
                        <a:rPr lang="en-US" b="0" i="0" smtClean="0">
                          <a:latin typeface="American Typewriter" panose="02090604020004020304" pitchFamily="18" charset="77"/>
                        </a:rPr>
                        <m:t>T</m:t>
                      </m:r>
                      <m:r>
                        <m:rPr>
                          <m:nor/>
                        </m:rPr>
                        <a:rPr lang="en-US" b="0" i="0" smtClean="0">
                          <a:latin typeface="American Typewriter" panose="02090604020004020304" pitchFamily="18" charset="77"/>
                        </a:rPr>
                        <m:t>.</m:t>
                      </m:r>
                      <m:r>
                        <m:rPr>
                          <m:nor/>
                        </m:rPr>
                        <a:rPr lang="en-US" b="0" i="0" smtClean="0">
                          <a:latin typeface="American Typewriter" panose="02090604020004020304" pitchFamily="18" charset="77"/>
                        </a:rPr>
                        <m:t>i</m:t>
                      </m:r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nor/>
                            </m:rPr>
                            <a:rPr lang="en-US" b="0" i="0" smtClean="0">
                              <a:latin typeface="American Typewriter" panose="02090604020004020304" pitchFamily="18" charset="77"/>
                            </a:rPr>
                            <m:t>n</m:t>
                          </m:r>
                        </m:e>
                        <m:sub>
                          <m:r>
                            <m:rPr>
                              <m:nor/>
                            </m:rPr>
                            <a:rPr lang="en-US" b="0" i="0" smtClean="0">
                              <a:latin typeface="American Typewriter" panose="02090604020004020304" pitchFamily="18" charset="77"/>
                            </a:rPr>
                            <m:t>i</m:t>
                          </m:r>
                        </m:sub>
                      </m:sSub>
                    </m:oMath>
                  </m:oMathPara>
                </a14:m>
                <a:endParaRPr lang="en-US" dirty="0">
                  <a:latin typeface="American Typewriter" panose="02090604020004020304" pitchFamily="18" charset="77"/>
                </a:endParaRPr>
              </a:p>
            </p:txBody>
          </p:sp>
        </mc:Choice>
        <mc:Fallback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CF0DFBED-B86A-281D-FD61-21FD128CD72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130001" y="3300364"/>
                <a:ext cx="713272" cy="287643"/>
              </a:xfrm>
              <a:prstGeom prst="rect">
                <a:avLst/>
              </a:prstGeom>
              <a:blipFill>
                <a:blip r:embed="rId4"/>
                <a:stretch>
                  <a:fillRect l="-7018" r="-5263" b="-25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679348231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Oval 4">
            <a:extLst>
              <a:ext uri="{FF2B5EF4-FFF2-40B4-BE49-F238E27FC236}">
                <a16:creationId xmlns:a16="http://schemas.microsoft.com/office/drawing/2014/main" id="{B3F4EE8E-F99A-D64B-92D0-E884C47C8A20}"/>
              </a:ext>
            </a:extLst>
          </p:cNvPr>
          <p:cNvSpPr/>
          <p:nvPr/>
        </p:nvSpPr>
        <p:spPr>
          <a:xfrm>
            <a:off x="8433390" y="2193580"/>
            <a:ext cx="2703921" cy="1342585"/>
          </a:xfrm>
          <a:prstGeom prst="ellipse">
            <a:avLst/>
          </a:prstGeom>
          <a:ln>
            <a:solidFill>
              <a:schemeClr val="tx2">
                <a:lumMod val="75000"/>
                <a:lumOff val="25000"/>
              </a:schemeClr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F869DC4D-7C3D-F210-EA91-3B8E6219CEFE}"/>
              </a:ext>
            </a:extLst>
          </p:cNvPr>
          <p:cNvSpPr txBox="1"/>
          <p:nvPr/>
        </p:nvSpPr>
        <p:spPr>
          <a:xfrm>
            <a:off x="372139" y="382772"/>
            <a:ext cx="3044038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5400" dirty="0"/>
              <a:t>Protocols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9657F653-8A18-1619-3E40-AF9A8FA72A2D}"/>
                  </a:ext>
                </a:extLst>
              </p:cNvPr>
              <p:cNvSpPr txBox="1"/>
              <p:nvPr/>
            </p:nvSpPr>
            <p:spPr>
              <a:xfrm>
                <a:off x="558208" y="1769067"/>
                <a:ext cx="3494675" cy="57862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nor/>
                        </m:rPr>
                        <a:rPr lang="en-US" sz="3600" b="0" i="0" smtClean="0">
                          <a:latin typeface="Cambria Math" panose="02040503050406030204" pitchFamily="18" charset="0"/>
                        </a:rPr>
                        <m:t>Π</m:t>
                      </m:r>
                      <m:r>
                        <m:rPr>
                          <m:nor/>
                        </m:rPr>
                        <a:rPr lang="en-US" sz="3600" b="0" i="0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m:rPr>
                          <m:lit/>
                          <m:nor/>
                        </m:rPr>
                        <a:rPr lang="en-US" sz="3600" b="0" i="0" smtClean="0">
                          <a:latin typeface="Cambria Math" panose="02040503050406030204" pitchFamily="18" charset="0"/>
                        </a:rPr>
                        <m:t>{</m:t>
                      </m:r>
                      <m:sSub>
                        <m:sSubPr>
                          <m:ctrlPr>
                            <a:rPr lang="en-US" sz="36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nor/>
                            </m:rPr>
                            <a:rPr lang="en-US" sz="3600" b="0" i="0" smtClean="0">
                              <a:latin typeface="Cambria Math" panose="02040503050406030204" pitchFamily="18" charset="0"/>
                            </a:rPr>
                            <m:t>P</m:t>
                          </m:r>
                        </m:e>
                        <m:sub>
                          <m:r>
                            <m:rPr>
                              <m:nor/>
                            </m:rPr>
                            <a:rPr lang="en-US" sz="3600" b="0" i="0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m:rPr>
                          <m:nor/>
                        </m:rPr>
                        <a:rPr lang="en-US" sz="3600" b="0" i="0" smtClean="0">
                          <a:latin typeface="Cambria Math" panose="02040503050406030204" pitchFamily="18" charset="0"/>
                        </a:rPr>
                        <m:t>, </m:t>
                      </m:r>
                      <m:sSub>
                        <m:sSubPr>
                          <m:ctrlPr>
                            <a:rPr lang="en-US" sz="36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nor/>
                            </m:rPr>
                            <a:rPr lang="en-US" sz="3600" b="0" i="0" smtClean="0">
                              <a:latin typeface="Cambria Math" panose="02040503050406030204" pitchFamily="18" charset="0"/>
                            </a:rPr>
                            <m:t>P</m:t>
                          </m:r>
                        </m:e>
                        <m:sub>
                          <m:r>
                            <m:rPr>
                              <m:nor/>
                            </m:rPr>
                            <a:rPr lang="en-US" sz="3600" b="0" i="0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m:rPr>
                          <m:nor/>
                        </m:rPr>
                        <a:rPr lang="en-US" sz="3600" b="0" i="0" smtClean="0">
                          <a:latin typeface="Cambria Math" panose="02040503050406030204" pitchFamily="18" charset="0"/>
                        </a:rPr>
                        <m:t>,…,</m:t>
                      </m:r>
                      <m:sSub>
                        <m:sSubPr>
                          <m:ctrlPr>
                            <a:rPr lang="en-US" sz="36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nor/>
                            </m:rPr>
                            <a:rPr lang="en-US" sz="3600" b="0" i="0" smtClean="0">
                              <a:latin typeface="Cambria Math" panose="02040503050406030204" pitchFamily="18" charset="0"/>
                            </a:rPr>
                            <m:t>P</m:t>
                          </m:r>
                        </m:e>
                        <m:sub>
                          <m:r>
                            <m:rPr>
                              <m:nor/>
                            </m:rPr>
                            <a:rPr lang="en-US" sz="3600" b="0" i="0" smtClean="0">
                              <a:latin typeface="Cambria Math" panose="02040503050406030204" pitchFamily="18" charset="0"/>
                            </a:rPr>
                            <m:t>n</m:t>
                          </m:r>
                        </m:sub>
                      </m:sSub>
                      <m:r>
                        <m:rPr>
                          <m:lit/>
                          <m:nor/>
                        </m:rPr>
                        <a:rPr lang="en-US" sz="3600" b="0" i="0" smtClean="0">
                          <a:latin typeface="Cambria Math" panose="02040503050406030204" pitchFamily="18" charset="0"/>
                        </a:rPr>
                        <m:t>}</m:t>
                      </m:r>
                      <m:r>
                        <m:rPr>
                          <m:nor/>
                        </m:rPr>
                        <a:rPr lang="en-US" sz="3600" b="0" i="0" smtClean="0">
                          <a:latin typeface="Cambria Math" panose="02040503050406030204" pitchFamily="18" charset="0"/>
                        </a:rPr>
                        <m:t> </m:t>
                      </m:r>
                    </m:oMath>
                  </m:oMathPara>
                </a14:m>
                <a:endParaRPr lang="en-US" sz="3600" dirty="0"/>
              </a:p>
            </p:txBody>
          </p:sp>
        </mc:Choice>
        <mc:Fallback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9657F653-8A18-1619-3E40-AF9A8FA72A2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58208" y="1769067"/>
                <a:ext cx="3494675" cy="578620"/>
              </a:xfrm>
              <a:prstGeom prst="rect">
                <a:avLst/>
              </a:prstGeom>
              <a:blipFill>
                <a:blip r:embed="rId2"/>
                <a:stretch>
                  <a:fillRect l="-2899" t="-8696" r="-4710" b="-3260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TextBox 3">
            <a:extLst>
              <a:ext uri="{FF2B5EF4-FFF2-40B4-BE49-F238E27FC236}">
                <a16:creationId xmlns:a16="http://schemas.microsoft.com/office/drawing/2014/main" id="{45E4BC60-2C59-EF44-734D-80A04E99D096}"/>
              </a:ext>
            </a:extLst>
          </p:cNvPr>
          <p:cNvSpPr txBox="1"/>
          <p:nvPr/>
        </p:nvSpPr>
        <p:spPr>
          <a:xfrm>
            <a:off x="1403497" y="2640531"/>
            <a:ext cx="9850774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000" dirty="0">
                <a:latin typeface="Chalk Board" panose="02000500000000000000" pitchFamily="2" charset="0"/>
              </a:rPr>
              <a:t>uses an ideal functionality to implement another ideal functionality</a:t>
            </a:r>
          </a:p>
        </p:txBody>
      </p: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44F8643C-14E3-C7CA-B7C0-04425D0C38C6}"/>
              </a:ext>
            </a:extLst>
          </p:cNvPr>
          <p:cNvCxnSpPr>
            <a:stCxn id="5" idx="4"/>
          </p:cNvCxnSpPr>
          <p:nvPr/>
        </p:nvCxnSpPr>
        <p:spPr>
          <a:xfrm flipH="1">
            <a:off x="8973879" y="3536165"/>
            <a:ext cx="811472" cy="1088998"/>
          </a:xfrm>
          <a:prstGeom prst="straightConnector1">
            <a:avLst/>
          </a:prstGeom>
          <a:ln>
            <a:headEnd type="stealth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>
            <a:extLst>
              <a:ext uri="{FF2B5EF4-FFF2-40B4-BE49-F238E27FC236}">
                <a16:creationId xmlns:a16="http://schemas.microsoft.com/office/drawing/2014/main" id="{B59D1D82-745B-5896-BC7E-DEB194019F84}"/>
              </a:ext>
            </a:extLst>
          </p:cNvPr>
          <p:cNvSpPr txBox="1"/>
          <p:nvPr/>
        </p:nvSpPr>
        <p:spPr>
          <a:xfrm>
            <a:off x="8196447" y="4625163"/>
            <a:ext cx="1383712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 dirty="0">
                <a:latin typeface="Chalk Board" panose="02000500000000000000" pitchFamily="2" charset="0"/>
              </a:rPr>
              <a:t>resource</a:t>
            </a:r>
            <a:endParaRPr lang="en-US" sz="3600" dirty="0">
              <a:latin typeface="Chalk Board" panose="02000500000000000000" pitchFamily="2" charset="0"/>
              <a:cs typeface="Apple Chancery" panose="03020702040506060504" pitchFamily="66" charset="-79"/>
            </a:endParaRP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F89DEB4A-42CB-9E82-FA3F-B224DD7F85F0}"/>
              </a:ext>
            </a:extLst>
          </p:cNvPr>
          <p:cNvSpPr/>
          <p:nvPr/>
        </p:nvSpPr>
        <p:spPr>
          <a:xfrm>
            <a:off x="4392706" y="5419203"/>
            <a:ext cx="981623" cy="914395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F3A37294-40D9-0278-F65B-E282C37F6694}"/>
              </a:ext>
            </a:extLst>
          </p:cNvPr>
          <p:cNvSpPr/>
          <p:nvPr/>
        </p:nvSpPr>
        <p:spPr>
          <a:xfrm>
            <a:off x="2689412" y="5419203"/>
            <a:ext cx="981623" cy="914395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2A9ECC27-A298-1F2F-81FF-1A584E3A5C2A}"/>
              </a:ext>
            </a:extLst>
          </p:cNvPr>
          <p:cNvSpPr/>
          <p:nvPr/>
        </p:nvSpPr>
        <p:spPr>
          <a:xfrm>
            <a:off x="6096000" y="5446097"/>
            <a:ext cx="981623" cy="914395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4868F7DC-2423-0F62-59A3-B98B2DF63DB8}"/>
              </a:ext>
            </a:extLst>
          </p:cNvPr>
          <p:cNvSpPr txBox="1"/>
          <p:nvPr/>
        </p:nvSpPr>
        <p:spPr>
          <a:xfrm>
            <a:off x="4589942" y="5641684"/>
            <a:ext cx="564772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dirty="0"/>
              <a:t>AT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224B22DB-4339-4A4F-D6B6-648DE54BCD66}"/>
              </a:ext>
            </a:extLst>
          </p:cNvPr>
          <p:cNvSpPr txBox="1"/>
          <p:nvPr/>
        </p:nvSpPr>
        <p:spPr>
          <a:xfrm>
            <a:off x="2936314" y="5718628"/>
            <a:ext cx="44114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P1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D2DC4DFF-7748-3312-D74B-96868AA613D9}"/>
              </a:ext>
            </a:extLst>
          </p:cNvPr>
          <p:cNvSpPr txBox="1"/>
          <p:nvPr/>
        </p:nvSpPr>
        <p:spPr>
          <a:xfrm>
            <a:off x="6366238" y="5744633"/>
            <a:ext cx="44114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P2</a:t>
            </a:r>
          </a:p>
        </p:txBody>
      </p: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566216F3-DB0B-835A-57E9-9FDA64B4B2CD}"/>
              </a:ext>
            </a:extLst>
          </p:cNvPr>
          <p:cNvCxnSpPr>
            <a:cxnSpLocks/>
          </p:cNvCxnSpPr>
          <p:nvPr/>
        </p:nvCxnSpPr>
        <p:spPr>
          <a:xfrm flipV="1">
            <a:off x="3009219" y="5042686"/>
            <a:ext cx="0" cy="451823"/>
          </a:xfrm>
          <a:prstGeom prst="straightConnector1">
            <a:avLst/>
          </a:prstGeom>
          <a:ln w="25400" cap="flat">
            <a:solidFill>
              <a:schemeClr val="tx1"/>
            </a:solidFill>
            <a:headEnd type="none" w="lg" len="sm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5ADD899F-F5A5-4B3F-1093-26AAFBF3DC15}"/>
              </a:ext>
            </a:extLst>
          </p:cNvPr>
          <p:cNvCxnSpPr>
            <a:cxnSpLocks/>
          </p:cNvCxnSpPr>
          <p:nvPr/>
        </p:nvCxnSpPr>
        <p:spPr>
          <a:xfrm flipV="1">
            <a:off x="4766648" y="5042686"/>
            <a:ext cx="0" cy="451823"/>
          </a:xfrm>
          <a:prstGeom prst="straightConnector1">
            <a:avLst/>
          </a:prstGeom>
          <a:ln w="25400" cap="flat">
            <a:solidFill>
              <a:schemeClr val="tx1"/>
            </a:solidFill>
            <a:headEnd type="none" w="lg" len="sm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BE1EF141-FFC6-A49A-9D35-F0EC2A9A0798}"/>
              </a:ext>
            </a:extLst>
          </p:cNvPr>
          <p:cNvCxnSpPr>
            <a:cxnSpLocks/>
          </p:cNvCxnSpPr>
          <p:nvPr/>
        </p:nvCxnSpPr>
        <p:spPr>
          <a:xfrm>
            <a:off x="5053519" y="5042686"/>
            <a:ext cx="0" cy="563413"/>
          </a:xfrm>
          <a:prstGeom prst="straightConnector1">
            <a:avLst/>
          </a:prstGeom>
          <a:ln w="25400" cap="flat">
            <a:solidFill>
              <a:schemeClr val="tx1"/>
            </a:solidFill>
            <a:headEnd type="none" w="lg" len="sm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67B09D5A-DBC0-CA19-8B37-4196E04D10C4}"/>
              </a:ext>
            </a:extLst>
          </p:cNvPr>
          <p:cNvCxnSpPr>
            <a:cxnSpLocks/>
          </p:cNvCxnSpPr>
          <p:nvPr/>
        </p:nvCxnSpPr>
        <p:spPr>
          <a:xfrm flipV="1">
            <a:off x="6486011" y="5042686"/>
            <a:ext cx="0" cy="451823"/>
          </a:xfrm>
          <a:prstGeom prst="straightConnector1">
            <a:avLst/>
          </a:prstGeom>
          <a:ln w="25400" cap="flat">
            <a:solidFill>
              <a:schemeClr val="tx1"/>
            </a:solidFill>
            <a:headEnd type="none" w="lg" len="sm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2BE567AD-CAEE-A14C-A75A-EC8BF21048C5}"/>
              </a:ext>
            </a:extLst>
          </p:cNvPr>
          <p:cNvCxnSpPr>
            <a:cxnSpLocks/>
          </p:cNvCxnSpPr>
          <p:nvPr/>
        </p:nvCxnSpPr>
        <p:spPr>
          <a:xfrm>
            <a:off x="6772882" y="5042686"/>
            <a:ext cx="0" cy="563413"/>
          </a:xfrm>
          <a:prstGeom prst="straightConnector1">
            <a:avLst/>
          </a:prstGeom>
          <a:ln w="25400" cap="flat">
            <a:solidFill>
              <a:schemeClr val="tx1"/>
            </a:solidFill>
            <a:headEnd type="none" w="lg" len="sm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7B6A82AA-95F7-C390-487D-15CB870C527C}"/>
              </a:ext>
            </a:extLst>
          </p:cNvPr>
          <p:cNvCxnSpPr>
            <a:cxnSpLocks/>
          </p:cNvCxnSpPr>
          <p:nvPr/>
        </p:nvCxnSpPr>
        <p:spPr>
          <a:xfrm>
            <a:off x="1815107" y="5766090"/>
            <a:ext cx="1121207" cy="5426"/>
          </a:xfrm>
          <a:prstGeom prst="straightConnector1">
            <a:avLst/>
          </a:prstGeom>
          <a:ln w="25400" cap="flat">
            <a:solidFill>
              <a:schemeClr val="tx1"/>
            </a:solidFill>
            <a:headEnd type="none" w="lg" len="sm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D732EF9A-212A-17BD-0C98-04EB391B0EE8}"/>
              </a:ext>
            </a:extLst>
          </p:cNvPr>
          <p:cNvCxnSpPr>
            <a:cxnSpLocks/>
          </p:cNvCxnSpPr>
          <p:nvPr/>
        </p:nvCxnSpPr>
        <p:spPr>
          <a:xfrm flipH="1" flipV="1">
            <a:off x="1777927" y="6125006"/>
            <a:ext cx="1050348" cy="10416"/>
          </a:xfrm>
          <a:prstGeom prst="straightConnector1">
            <a:avLst/>
          </a:prstGeom>
          <a:ln w="25400" cap="flat">
            <a:solidFill>
              <a:schemeClr val="tx1"/>
            </a:solidFill>
            <a:headEnd type="none" w="lg" len="sm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C32C9CE2-6227-05D5-8F7C-18840B4AEF3D}"/>
              </a:ext>
            </a:extLst>
          </p:cNvPr>
          <p:cNvCxnSpPr>
            <a:cxnSpLocks/>
          </p:cNvCxnSpPr>
          <p:nvPr/>
        </p:nvCxnSpPr>
        <p:spPr>
          <a:xfrm>
            <a:off x="3527253" y="5729044"/>
            <a:ext cx="1121207" cy="5426"/>
          </a:xfrm>
          <a:prstGeom prst="straightConnector1">
            <a:avLst/>
          </a:prstGeom>
          <a:ln w="25400" cap="flat">
            <a:solidFill>
              <a:schemeClr val="tx1"/>
            </a:solidFill>
            <a:headEnd type="none" w="lg" len="sm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50258AC7-3135-8F35-2D25-ABEBC03C6F23}"/>
              </a:ext>
            </a:extLst>
          </p:cNvPr>
          <p:cNvCxnSpPr>
            <a:cxnSpLocks/>
          </p:cNvCxnSpPr>
          <p:nvPr/>
        </p:nvCxnSpPr>
        <p:spPr>
          <a:xfrm flipH="1" flipV="1">
            <a:off x="3490073" y="6087960"/>
            <a:ext cx="1050348" cy="10416"/>
          </a:xfrm>
          <a:prstGeom prst="straightConnector1">
            <a:avLst/>
          </a:prstGeom>
          <a:ln w="25400" cap="flat">
            <a:solidFill>
              <a:schemeClr val="tx1"/>
            </a:solidFill>
            <a:headEnd type="none" w="lg" len="sm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Straight Arrow Connector 23">
            <a:extLst>
              <a:ext uri="{FF2B5EF4-FFF2-40B4-BE49-F238E27FC236}">
                <a16:creationId xmlns:a16="http://schemas.microsoft.com/office/drawing/2014/main" id="{7AF4F967-3208-2573-9474-5E534527A35A}"/>
              </a:ext>
            </a:extLst>
          </p:cNvPr>
          <p:cNvCxnSpPr>
            <a:cxnSpLocks/>
          </p:cNvCxnSpPr>
          <p:nvPr/>
        </p:nvCxnSpPr>
        <p:spPr>
          <a:xfrm>
            <a:off x="5228026" y="5744633"/>
            <a:ext cx="1121207" cy="5426"/>
          </a:xfrm>
          <a:prstGeom prst="straightConnector1">
            <a:avLst/>
          </a:prstGeom>
          <a:ln w="25400" cap="flat">
            <a:solidFill>
              <a:schemeClr val="tx1"/>
            </a:solidFill>
            <a:headEnd type="none" w="lg" len="sm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F544710D-A51D-A963-9E86-4BB714212797}"/>
              </a:ext>
            </a:extLst>
          </p:cNvPr>
          <p:cNvCxnSpPr>
            <a:cxnSpLocks/>
          </p:cNvCxnSpPr>
          <p:nvPr/>
        </p:nvCxnSpPr>
        <p:spPr>
          <a:xfrm flipH="1" flipV="1">
            <a:off x="5190846" y="6103549"/>
            <a:ext cx="1050348" cy="10416"/>
          </a:xfrm>
          <a:prstGeom prst="straightConnector1">
            <a:avLst/>
          </a:prstGeom>
          <a:ln w="25400" cap="flat">
            <a:solidFill>
              <a:schemeClr val="tx1"/>
            </a:solidFill>
            <a:headEnd type="none" w="lg" len="sm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Straight Arrow Connector 25">
            <a:extLst>
              <a:ext uri="{FF2B5EF4-FFF2-40B4-BE49-F238E27FC236}">
                <a16:creationId xmlns:a16="http://schemas.microsoft.com/office/drawing/2014/main" id="{84E03603-F599-19BC-676E-431DEE96FC0B}"/>
              </a:ext>
            </a:extLst>
          </p:cNvPr>
          <p:cNvCxnSpPr>
            <a:cxnSpLocks/>
          </p:cNvCxnSpPr>
          <p:nvPr/>
        </p:nvCxnSpPr>
        <p:spPr>
          <a:xfrm>
            <a:off x="7101345" y="5744633"/>
            <a:ext cx="1121207" cy="5426"/>
          </a:xfrm>
          <a:prstGeom prst="straightConnector1">
            <a:avLst/>
          </a:prstGeom>
          <a:ln w="25400" cap="flat">
            <a:solidFill>
              <a:schemeClr val="tx1"/>
            </a:solidFill>
            <a:headEnd type="none" w="lg" len="sm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04F95C32-A710-7BC9-648E-FFBD7AA4CCB4}"/>
              </a:ext>
            </a:extLst>
          </p:cNvPr>
          <p:cNvCxnSpPr>
            <a:cxnSpLocks/>
          </p:cNvCxnSpPr>
          <p:nvPr/>
        </p:nvCxnSpPr>
        <p:spPr>
          <a:xfrm flipH="1" flipV="1">
            <a:off x="7064165" y="6103549"/>
            <a:ext cx="1050348" cy="10416"/>
          </a:xfrm>
          <a:prstGeom prst="straightConnector1">
            <a:avLst/>
          </a:prstGeom>
          <a:ln w="25400" cap="flat">
            <a:solidFill>
              <a:schemeClr val="tx1"/>
            </a:solidFill>
            <a:headEnd type="none" w="lg" len="sm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405354083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8C05D19-84FC-3491-637C-A2637538647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7C22FD0E-D778-B5ED-55C3-8DF3E5E7A7B3}"/>
              </a:ext>
            </a:extLst>
          </p:cNvPr>
          <p:cNvSpPr txBox="1"/>
          <p:nvPr/>
        </p:nvSpPr>
        <p:spPr>
          <a:xfrm>
            <a:off x="338273" y="299434"/>
            <a:ext cx="3044038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5400" dirty="0"/>
              <a:t>Protocols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A8F2D253-CB8B-CA19-855C-229051A66FD3}"/>
              </a:ext>
            </a:extLst>
          </p:cNvPr>
          <p:cNvSpPr/>
          <p:nvPr/>
        </p:nvSpPr>
        <p:spPr>
          <a:xfrm>
            <a:off x="3411083" y="1682292"/>
            <a:ext cx="981623" cy="914395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67AB4925-00C7-E792-DB49-F301662DB846}"/>
              </a:ext>
            </a:extLst>
          </p:cNvPr>
          <p:cNvSpPr/>
          <p:nvPr/>
        </p:nvSpPr>
        <p:spPr>
          <a:xfrm>
            <a:off x="1707789" y="1682292"/>
            <a:ext cx="981623" cy="914395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78EEAE50-223C-083D-CD9F-342399F6D0D5}"/>
              </a:ext>
            </a:extLst>
          </p:cNvPr>
          <p:cNvSpPr/>
          <p:nvPr/>
        </p:nvSpPr>
        <p:spPr>
          <a:xfrm>
            <a:off x="5114377" y="1709186"/>
            <a:ext cx="981623" cy="914395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8D2DD47-CA60-3A6A-85BF-39BC51ECA9F3}"/>
              </a:ext>
            </a:extLst>
          </p:cNvPr>
          <p:cNvSpPr txBox="1"/>
          <p:nvPr/>
        </p:nvSpPr>
        <p:spPr>
          <a:xfrm>
            <a:off x="3608319" y="1904773"/>
            <a:ext cx="564772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dirty="0"/>
              <a:t>AT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992D5ED4-A050-0884-2B1B-B92626A62C1C}"/>
              </a:ext>
            </a:extLst>
          </p:cNvPr>
          <p:cNvSpPr txBox="1"/>
          <p:nvPr/>
        </p:nvSpPr>
        <p:spPr>
          <a:xfrm>
            <a:off x="1954691" y="1981717"/>
            <a:ext cx="44114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P1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673FC94F-3133-AB65-B3B4-1B6AE170B0AC}"/>
              </a:ext>
            </a:extLst>
          </p:cNvPr>
          <p:cNvSpPr txBox="1"/>
          <p:nvPr/>
        </p:nvSpPr>
        <p:spPr>
          <a:xfrm>
            <a:off x="5384615" y="2007722"/>
            <a:ext cx="44114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P2</a:t>
            </a:r>
          </a:p>
        </p:txBody>
      </p: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F0679551-AEE2-4BEB-022C-D9136194B7B5}"/>
              </a:ext>
            </a:extLst>
          </p:cNvPr>
          <p:cNvCxnSpPr>
            <a:cxnSpLocks/>
          </p:cNvCxnSpPr>
          <p:nvPr/>
        </p:nvCxnSpPr>
        <p:spPr>
          <a:xfrm flipV="1">
            <a:off x="2027596" y="1305775"/>
            <a:ext cx="0" cy="451823"/>
          </a:xfrm>
          <a:prstGeom prst="straightConnector1">
            <a:avLst/>
          </a:prstGeom>
          <a:ln w="25400" cap="flat">
            <a:solidFill>
              <a:schemeClr val="tx1"/>
            </a:solidFill>
            <a:headEnd type="none" w="lg" len="sm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1DFCD772-C7CF-2C7D-EF51-4131376B2409}"/>
              </a:ext>
            </a:extLst>
          </p:cNvPr>
          <p:cNvCxnSpPr>
            <a:cxnSpLocks/>
          </p:cNvCxnSpPr>
          <p:nvPr/>
        </p:nvCxnSpPr>
        <p:spPr>
          <a:xfrm flipV="1">
            <a:off x="3785025" y="1305775"/>
            <a:ext cx="0" cy="451823"/>
          </a:xfrm>
          <a:prstGeom prst="straightConnector1">
            <a:avLst/>
          </a:prstGeom>
          <a:ln w="25400" cap="flat">
            <a:solidFill>
              <a:schemeClr val="tx1"/>
            </a:solidFill>
            <a:headEnd type="none" w="lg" len="sm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1DE3E4FE-EB25-6396-F156-E33C9423B859}"/>
              </a:ext>
            </a:extLst>
          </p:cNvPr>
          <p:cNvCxnSpPr>
            <a:cxnSpLocks/>
          </p:cNvCxnSpPr>
          <p:nvPr/>
        </p:nvCxnSpPr>
        <p:spPr>
          <a:xfrm>
            <a:off x="4071896" y="1305775"/>
            <a:ext cx="0" cy="563413"/>
          </a:xfrm>
          <a:prstGeom prst="straightConnector1">
            <a:avLst/>
          </a:prstGeom>
          <a:ln w="25400" cap="flat">
            <a:solidFill>
              <a:schemeClr val="tx1"/>
            </a:solidFill>
            <a:headEnd type="none" w="lg" len="sm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DEBD7861-B1D6-4A08-B2A2-2D8322F1E6E1}"/>
              </a:ext>
            </a:extLst>
          </p:cNvPr>
          <p:cNvCxnSpPr>
            <a:cxnSpLocks/>
          </p:cNvCxnSpPr>
          <p:nvPr/>
        </p:nvCxnSpPr>
        <p:spPr>
          <a:xfrm flipV="1">
            <a:off x="5504388" y="1305775"/>
            <a:ext cx="0" cy="451823"/>
          </a:xfrm>
          <a:prstGeom prst="straightConnector1">
            <a:avLst/>
          </a:prstGeom>
          <a:ln w="25400" cap="flat">
            <a:solidFill>
              <a:schemeClr val="tx1"/>
            </a:solidFill>
            <a:headEnd type="none" w="lg" len="sm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336641DD-BF05-C7CE-7CD6-059366EA6369}"/>
              </a:ext>
            </a:extLst>
          </p:cNvPr>
          <p:cNvCxnSpPr>
            <a:cxnSpLocks/>
          </p:cNvCxnSpPr>
          <p:nvPr/>
        </p:nvCxnSpPr>
        <p:spPr>
          <a:xfrm>
            <a:off x="5791259" y="1305775"/>
            <a:ext cx="0" cy="563413"/>
          </a:xfrm>
          <a:prstGeom prst="straightConnector1">
            <a:avLst/>
          </a:prstGeom>
          <a:ln w="25400" cap="flat">
            <a:solidFill>
              <a:schemeClr val="tx1"/>
            </a:solidFill>
            <a:headEnd type="none" w="lg" len="sm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2AA2B568-3020-1A83-4926-12B98422CA2D}"/>
              </a:ext>
            </a:extLst>
          </p:cNvPr>
          <p:cNvCxnSpPr>
            <a:cxnSpLocks/>
          </p:cNvCxnSpPr>
          <p:nvPr/>
        </p:nvCxnSpPr>
        <p:spPr>
          <a:xfrm>
            <a:off x="833484" y="2029179"/>
            <a:ext cx="1121207" cy="5426"/>
          </a:xfrm>
          <a:prstGeom prst="straightConnector1">
            <a:avLst/>
          </a:prstGeom>
          <a:ln w="25400" cap="flat">
            <a:solidFill>
              <a:schemeClr val="tx1"/>
            </a:solidFill>
            <a:headEnd type="none" w="lg" len="sm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4DA35692-CA0A-623F-A010-4D7F70F00534}"/>
              </a:ext>
            </a:extLst>
          </p:cNvPr>
          <p:cNvCxnSpPr>
            <a:cxnSpLocks/>
          </p:cNvCxnSpPr>
          <p:nvPr/>
        </p:nvCxnSpPr>
        <p:spPr>
          <a:xfrm flipH="1" flipV="1">
            <a:off x="796304" y="2388095"/>
            <a:ext cx="1050348" cy="10416"/>
          </a:xfrm>
          <a:prstGeom prst="straightConnector1">
            <a:avLst/>
          </a:prstGeom>
          <a:ln w="25400" cap="flat">
            <a:solidFill>
              <a:schemeClr val="tx1"/>
            </a:solidFill>
            <a:headEnd type="none" w="lg" len="sm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46B7C83D-5199-BC16-DFE9-3991A35DF82E}"/>
              </a:ext>
            </a:extLst>
          </p:cNvPr>
          <p:cNvCxnSpPr>
            <a:cxnSpLocks/>
          </p:cNvCxnSpPr>
          <p:nvPr/>
        </p:nvCxnSpPr>
        <p:spPr>
          <a:xfrm>
            <a:off x="2545630" y="1992133"/>
            <a:ext cx="1121207" cy="5426"/>
          </a:xfrm>
          <a:prstGeom prst="straightConnector1">
            <a:avLst/>
          </a:prstGeom>
          <a:ln w="25400" cap="flat">
            <a:solidFill>
              <a:schemeClr val="tx1"/>
            </a:solidFill>
            <a:headEnd type="none" w="lg" len="sm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C566D80E-67A9-3A2C-328A-F6B5191A6048}"/>
              </a:ext>
            </a:extLst>
          </p:cNvPr>
          <p:cNvCxnSpPr>
            <a:cxnSpLocks/>
          </p:cNvCxnSpPr>
          <p:nvPr/>
        </p:nvCxnSpPr>
        <p:spPr>
          <a:xfrm flipH="1" flipV="1">
            <a:off x="2508450" y="2351049"/>
            <a:ext cx="1050348" cy="10416"/>
          </a:xfrm>
          <a:prstGeom prst="straightConnector1">
            <a:avLst/>
          </a:prstGeom>
          <a:ln w="25400" cap="flat">
            <a:solidFill>
              <a:schemeClr val="tx1"/>
            </a:solidFill>
            <a:headEnd type="none" w="lg" len="sm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Straight Arrow Connector 23">
            <a:extLst>
              <a:ext uri="{FF2B5EF4-FFF2-40B4-BE49-F238E27FC236}">
                <a16:creationId xmlns:a16="http://schemas.microsoft.com/office/drawing/2014/main" id="{90323B5E-610B-B062-C97D-ECC8F76C56E9}"/>
              </a:ext>
            </a:extLst>
          </p:cNvPr>
          <p:cNvCxnSpPr>
            <a:cxnSpLocks/>
          </p:cNvCxnSpPr>
          <p:nvPr/>
        </p:nvCxnSpPr>
        <p:spPr>
          <a:xfrm>
            <a:off x="4246403" y="2007722"/>
            <a:ext cx="1121207" cy="5426"/>
          </a:xfrm>
          <a:prstGeom prst="straightConnector1">
            <a:avLst/>
          </a:prstGeom>
          <a:ln w="25400" cap="flat">
            <a:solidFill>
              <a:schemeClr val="tx1"/>
            </a:solidFill>
            <a:headEnd type="none" w="lg" len="sm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1887A3DC-FFF8-CC6F-D24A-4FC7E1615028}"/>
              </a:ext>
            </a:extLst>
          </p:cNvPr>
          <p:cNvCxnSpPr>
            <a:cxnSpLocks/>
          </p:cNvCxnSpPr>
          <p:nvPr/>
        </p:nvCxnSpPr>
        <p:spPr>
          <a:xfrm flipH="1" flipV="1">
            <a:off x="4209223" y="2366638"/>
            <a:ext cx="1050348" cy="10416"/>
          </a:xfrm>
          <a:prstGeom prst="straightConnector1">
            <a:avLst/>
          </a:prstGeom>
          <a:ln w="25400" cap="flat">
            <a:solidFill>
              <a:schemeClr val="tx1"/>
            </a:solidFill>
            <a:headEnd type="none" w="lg" len="sm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Straight Arrow Connector 25">
            <a:extLst>
              <a:ext uri="{FF2B5EF4-FFF2-40B4-BE49-F238E27FC236}">
                <a16:creationId xmlns:a16="http://schemas.microsoft.com/office/drawing/2014/main" id="{DC0E0198-5595-3F7D-BA17-39778F81FF15}"/>
              </a:ext>
            </a:extLst>
          </p:cNvPr>
          <p:cNvCxnSpPr>
            <a:cxnSpLocks/>
          </p:cNvCxnSpPr>
          <p:nvPr/>
        </p:nvCxnSpPr>
        <p:spPr>
          <a:xfrm>
            <a:off x="6119722" y="2007722"/>
            <a:ext cx="1121207" cy="5426"/>
          </a:xfrm>
          <a:prstGeom prst="straightConnector1">
            <a:avLst/>
          </a:prstGeom>
          <a:ln w="25400" cap="flat">
            <a:solidFill>
              <a:schemeClr val="tx1"/>
            </a:solidFill>
            <a:headEnd type="none" w="lg" len="sm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9307FFB9-95E0-4D25-2692-BBD89331AA6E}"/>
              </a:ext>
            </a:extLst>
          </p:cNvPr>
          <p:cNvCxnSpPr>
            <a:cxnSpLocks/>
          </p:cNvCxnSpPr>
          <p:nvPr/>
        </p:nvCxnSpPr>
        <p:spPr>
          <a:xfrm flipH="1" flipV="1">
            <a:off x="6082542" y="2366638"/>
            <a:ext cx="1050348" cy="10416"/>
          </a:xfrm>
          <a:prstGeom prst="straightConnector1">
            <a:avLst/>
          </a:prstGeom>
          <a:ln w="25400" cap="flat">
            <a:solidFill>
              <a:schemeClr val="tx1"/>
            </a:solidFill>
            <a:headEnd type="none" w="lg" len="sm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TextBox 28">
            <a:extLst>
              <a:ext uri="{FF2B5EF4-FFF2-40B4-BE49-F238E27FC236}">
                <a16:creationId xmlns:a16="http://schemas.microsoft.com/office/drawing/2014/main" id="{55EB725C-F8E1-7B7A-BC35-604B1098AC30}"/>
              </a:ext>
            </a:extLst>
          </p:cNvPr>
          <p:cNvSpPr txBox="1"/>
          <p:nvPr/>
        </p:nvSpPr>
        <p:spPr>
          <a:xfrm>
            <a:off x="372139" y="3245372"/>
            <a:ext cx="109940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/>
              <a:t>Agent P1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AA0C64D4-4FF7-A923-65A4-D2918AE6D15C}"/>
              </a:ext>
            </a:extLst>
          </p:cNvPr>
          <p:cNvSpPr txBox="1"/>
          <p:nvPr/>
        </p:nvSpPr>
        <p:spPr>
          <a:xfrm>
            <a:off x="372139" y="3730860"/>
            <a:ext cx="739494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On input (mid,2,m) on ST.in1, output (mid,2, hello) on AT.in1.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FA704B62-BF39-BBA3-D73A-F2CE1FE443D3}"/>
              </a:ext>
            </a:extLst>
          </p:cNvPr>
          <p:cNvSpPr txBox="1"/>
          <p:nvPr/>
        </p:nvSpPr>
        <p:spPr>
          <a:xfrm>
            <a:off x="381174" y="4207698"/>
            <a:ext cx="603760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When receiving (mid, 2, ek) on AT.out1, sample encryption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B4F2E353-8449-58E0-35D6-E53D6F1FEFD2}"/>
              </a:ext>
            </a:extLst>
          </p:cNvPr>
          <p:cNvSpPr txBox="1"/>
          <p:nvPr/>
        </p:nvSpPr>
        <p:spPr>
          <a:xfrm>
            <a:off x="6153383" y="4207698"/>
            <a:ext cx="166676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c = E_{ek}(m)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9AD54CA3-641D-7F11-5573-45ED3724F765}"/>
              </a:ext>
            </a:extLst>
          </p:cNvPr>
          <p:cNvSpPr txBox="1"/>
          <p:nvPr/>
        </p:nvSpPr>
        <p:spPr>
          <a:xfrm>
            <a:off x="6209475" y="4659194"/>
            <a:ext cx="320685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and output (mid,2,c) on AT.in1.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88B0D6B1-4133-9320-7575-A040A9F61611}"/>
              </a:ext>
            </a:extLst>
          </p:cNvPr>
          <p:cNvSpPr txBox="1"/>
          <p:nvPr/>
        </p:nvSpPr>
        <p:spPr>
          <a:xfrm>
            <a:off x="372139" y="5440709"/>
            <a:ext cx="6895214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On input (mid,1, hello) on AT.out_2,</a:t>
            </a:r>
          </a:p>
          <a:p>
            <a:r>
              <a:rPr lang="en-US" dirty="0"/>
              <a:t>generate key pair (</a:t>
            </a:r>
            <a:r>
              <a:rPr lang="en-US" dirty="0" err="1"/>
              <a:t>ek,dk</a:t>
            </a:r>
            <a:r>
              <a:rPr lang="en-US" dirty="0"/>
              <a:t>) and send (mid,1,ek).</a:t>
            </a:r>
          </a:p>
          <a:p>
            <a:endParaRPr lang="en-US" dirty="0"/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E96C9525-55AF-8684-F4C4-D3173A1954B7}"/>
              </a:ext>
            </a:extLst>
          </p:cNvPr>
          <p:cNvSpPr txBox="1"/>
          <p:nvPr/>
        </p:nvSpPr>
        <p:spPr>
          <a:xfrm>
            <a:off x="381174" y="6113608"/>
            <a:ext cx="4193699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On input (mid,1,c) on AT.out_2, compute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E1866ACC-EF53-AC79-B1AC-B194BEEEAB96}"/>
              </a:ext>
            </a:extLst>
          </p:cNvPr>
          <p:cNvSpPr txBox="1"/>
          <p:nvPr/>
        </p:nvSpPr>
        <p:spPr>
          <a:xfrm>
            <a:off x="4429859" y="6113608"/>
            <a:ext cx="185476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m = D_{dk}(c)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DED1086A-4C62-164A-4411-21D9E8A7B731}"/>
              </a:ext>
            </a:extLst>
          </p:cNvPr>
          <p:cNvSpPr txBox="1"/>
          <p:nvPr/>
        </p:nvSpPr>
        <p:spPr>
          <a:xfrm>
            <a:off x="3466310" y="6482940"/>
            <a:ext cx="407271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and output (mid,1,m) on ST.out_2.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B29C25C7-4FB3-62FB-1963-3290FF994E8F}"/>
              </a:ext>
            </a:extLst>
          </p:cNvPr>
          <p:cNvSpPr txBox="1"/>
          <p:nvPr/>
        </p:nvSpPr>
        <p:spPr>
          <a:xfrm>
            <a:off x="381174" y="4963871"/>
            <a:ext cx="109940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/>
              <a:t>Agent P2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7E5076F1-AC11-FE68-1234-21B5DFA36271}"/>
              </a:ext>
            </a:extLst>
          </p:cNvPr>
          <p:cNvSpPr txBox="1"/>
          <p:nvPr/>
        </p:nvSpPr>
        <p:spPr>
          <a:xfrm>
            <a:off x="235526" y="1608201"/>
            <a:ext cx="806759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>
                <a:latin typeface="American Typewriter" panose="02090604020004020304" pitchFamily="18" charset="77"/>
              </a:rPr>
              <a:t>ST.in1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3FC7FEE0-0D15-5691-6F10-79A739FC4197}"/>
              </a:ext>
            </a:extLst>
          </p:cNvPr>
          <p:cNvSpPr txBox="1"/>
          <p:nvPr/>
        </p:nvSpPr>
        <p:spPr>
          <a:xfrm>
            <a:off x="200710" y="2424945"/>
            <a:ext cx="931794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>
                <a:latin typeface="American Typewriter" panose="02090604020004020304" pitchFamily="18" charset="77"/>
              </a:rPr>
              <a:t>ST.out1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6324B9F3-1C7E-4DD1-5E8F-1E54B0088D0D}"/>
              </a:ext>
            </a:extLst>
          </p:cNvPr>
          <p:cNvSpPr txBox="1"/>
          <p:nvPr/>
        </p:nvSpPr>
        <p:spPr>
          <a:xfrm>
            <a:off x="6671285" y="2401801"/>
            <a:ext cx="806759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>
                <a:latin typeface="American Typewriter" panose="02090604020004020304" pitchFamily="18" charset="77"/>
              </a:rPr>
              <a:t>ST.in2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CFBDB02C-FF62-0CF4-9A31-B24D51FAA462}"/>
              </a:ext>
            </a:extLst>
          </p:cNvPr>
          <p:cNvSpPr txBox="1"/>
          <p:nvPr/>
        </p:nvSpPr>
        <p:spPr>
          <a:xfrm>
            <a:off x="6596697" y="1564768"/>
            <a:ext cx="931794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>
                <a:latin typeface="American Typewriter" panose="02090604020004020304" pitchFamily="18" charset="77"/>
              </a:rPr>
              <a:t>ST.out2</a:t>
            </a:r>
          </a:p>
        </p:txBody>
      </p:sp>
      <p:cxnSp>
        <p:nvCxnSpPr>
          <p:cNvPr id="55" name="Straight Arrow Connector 54">
            <a:extLst>
              <a:ext uri="{FF2B5EF4-FFF2-40B4-BE49-F238E27FC236}">
                <a16:creationId xmlns:a16="http://schemas.microsoft.com/office/drawing/2014/main" id="{BB0AEC1C-59DE-1E7F-3ECF-4FEAA64331DD}"/>
              </a:ext>
            </a:extLst>
          </p:cNvPr>
          <p:cNvCxnSpPr>
            <a:cxnSpLocks/>
          </p:cNvCxnSpPr>
          <p:nvPr/>
        </p:nvCxnSpPr>
        <p:spPr>
          <a:xfrm>
            <a:off x="2395837" y="1249979"/>
            <a:ext cx="0" cy="563413"/>
          </a:xfrm>
          <a:prstGeom prst="straightConnector1">
            <a:avLst/>
          </a:prstGeom>
          <a:ln w="25400" cap="flat">
            <a:solidFill>
              <a:schemeClr val="tx1"/>
            </a:solidFill>
            <a:headEnd type="none" w="lg" len="sm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7" name="TextBox 56">
            <a:extLst>
              <a:ext uri="{FF2B5EF4-FFF2-40B4-BE49-F238E27FC236}">
                <a16:creationId xmlns:a16="http://schemas.microsoft.com/office/drawing/2014/main" id="{3A9415FB-7386-59A2-F1E2-E5163837944F}"/>
              </a:ext>
            </a:extLst>
          </p:cNvPr>
          <p:cNvSpPr txBox="1"/>
          <p:nvPr/>
        </p:nvSpPr>
        <p:spPr>
          <a:xfrm>
            <a:off x="8655128" y="1946755"/>
            <a:ext cx="2532153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What does this mean?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C84D98B4-5607-433C-63A7-8BEED07AA456}"/>
              </a:ext>
            </a:extLst>
          </p:cNvPr>
          <p:cNvSpPr txBox="1"/>
          <p:nvPr/>
        </p:nvSpPr>
        <p:spPr>
          <a:xfrm>
            <a:off x="2668834" y="1587997"/>
            <a:ext cx="830164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>
                <a:latin typeface="American Typewriter" panose="02090604020004020304" pitchFamily="18" charset="77"/>
              </a:rPr>
              <a:t>AT.in1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9834DE96-2AFD-9CB0-5034-329C71CFC135}"/>
              </a:ext>
            </a:extLst>
          </p:cNvPr>
          <p:cNvSpPr txBox="1"/>
          <p:nvPr/>
        </p:nvSpPr>
        <p:spPr>
          <a:xfrm>
            <a:off x="2634018" y="2404741"/>
            <a:ext cx="95519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>
                <a:latin typeface="American Typewriter" panose="02090604020004020304" pitchFamily="18" charset="77"/>
              </a:rPr>
              <a:t>AT.out1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B6CF3053-B943-151E-5A5B-C197992C6890}"/>
              </a:ext>
            </a:extLst>
          </p:cNvPr>
          <p:cNvSpPr txBox="1"/>
          <p:nvPr/>
        </p:nvSpPr>
        <p:spPr>
          <a:xfrm>
            <a:off x="4391924" y="2381597"/>
            <a:ext cx="830164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>
                <a:latin typeface="American Typewriter" panose="02090604020004020304" pitchFamily="18" charset="77"/>
              </a:rPr>
              <a:t>AT.in2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84CC2522-57F2-C114-6F65-CAE958FFC4F2}"/>
              </a:ext>
            </a:extLst>
          </p:cNvPr>
          <p:cNvSpPr txBox="1"/>
          <p:nvPr/>
        </p:nvSpPr>
        <p:spPr>
          <a:xfrm>
            <a:off x="4317826" y="1704325"/>
            <a:ext cx="95519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>
                <a:latin typeface="American Typewriter" panose="02090604020004020304" pitchFamily="18" charset="77"/>
              </a:rPr>
              <a:t>AT.out2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7FCF9520-D6CF-BB30-9CCF-A9D7166268AC}"/>
              </a:ext>
            </a:extLst>
          </p:cNvPr>
          <p:cNvSpPr txBox="1"/>
          <p:nvPr/>
        </p:nvSpPr>
        <p:spPr>
          <a:xfrm>
            <a:off x="4019804" y="1229394"/>
            <a:ext cx="847091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 err="1">
                <a:latin typeface="American Typewriter" panose="02090604020004020304" pitchFamily="18" charset="77"/>
              </a:rPr>
              <a:t>AT.infl</a:t>
            </a:r>
            <a:endParaRPr lang="en-US" sz="1600" dirty="0">
              <a:latin typeface="American Typewriter" panose="02090604020004020304" pitchFamily="18" charset="77"/>
            </a:endParaRP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4AC0B044-FECE-B990-323B-B7F37DC93B23}"/>
              </a:ext>
            </a:extLst>
          </p:cNvPr>
          <p:cNvSpPr txBox="1"/>
          <p:nvPr/>
        </p:nvSpPr>
        <p:spPr>
          <a:xfrm>
            <a:off x="3454958" y="931636"/>
            <a:ext cx="91832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 err="1">
                <a:latin typeface="American Typewriter" panose="02090604020004020304" pitchFamily="18" charset="77"/>
              </a:rPr>
              <a:t>AT.leak</a:t>
            </a:r>
            <a:endParaRPr lang="en-US" sz="1600" dirty="0">
              <a:latin typeface="American Typewriter" panose="02090604020004020304" pitchFamily="18" charset="77"/>
            </a:endParaRP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CE2FC41A-C1D5-418D-70FD-E30A91FB32CC}"/>
              </a:ext>
            </a:extLst>
          </p:cNvPr>
          <p:cNvSpPr txBox="1"/>
          <p:nvPr/>
        </p:nvSpPr>
        <p:spPr>
          <a:xfrm>
            <a:off x="5777391" y="1210705"/>
            <a:ext cx="97853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>
                <a:latin typeface="American Typewriter" panose="02090604020004020304" pitchFamily="18" charset="77"/>
              </a:rPr>
              <a:t>AT.infl2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04F91FAF-F8BE-8981-0904-2C9858C29621}"/>
              </a:ext>
            </a:extLst>
          </p:cNvPr>
          <p:cNvSpPr txBox="1"/>
          <p:nvPr/>
        </p:nvSpPr>
        <p:spPr>
          <a:xfrm>
            <a:off x="5212545" y="912947"/>
            <a:ext cx="1049775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>
                <a:latin typeface="American Typewriter" panose="02090604020004020304" pitchFamily="18" charset="77"/>
              </a:rPr>
              <a:t>AT.leak2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89A204CA-497B-6421-99F5-D8BCFD35CFC4}"/>
              </a:ext>
            </a:extLst>
          </p:cNvPr>
          <p:cNvSpPr txBox="1"/>
          <p:nvPr/>
        </p:nvSpPr>
        <p:spPr>
          <a:xfrm>
            <a:off x="2328041" y="1235981"/>
            <a:ext cx="97853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>
                <a:latin typeface="American Typewriter" panose="02090604020004020304" pitchFamily="18" charset="77"/>
              </a:rPr>
              <a:t>AT.infl1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348140B4-9300-0454-EB3F-4E346B74A0EC}"/>
              </a:ext>
            </a:extLst>
          </p:cNvPr>
          <p:cNvSpPr txBox="1"/>
          <p:nvPr/>
        </p:nvSpPr>
        <p:spPr>
          <a:xfrm>
            <a:off x="1019148" y="1193286"/>
            <a:ext cx="1049775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>
                <a:latin typeface="American Typewriter" panose="02090604020004020304" pitchFamily="18" charset="77"/>
              </a:rPr>
              <a:t>AT.leak1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70" name="TextBox 69">
                <a:extLst>
                  <a:ext uri="{FF2B5EF4-FFF2-40B4-BE49-F238E27FC236}">
                    <a16:creationId xmlns:a16="http://schemas.microsoft.com/office/drawing/2014/main" id="{C1B08F11-E5CD-7C5C-7B62-AA5FB4F984CC}"/>
                  </a:ext>
                </a:extLst>
              </p:cNvPr>
              <p:cNvSpPr txBox="1"/>
              <p:nvPr/>
            </p:nvSpPr>
            <p:spPr>
              <a:xfrm>
                <a:off x="8494518" y="902928"/>
                <a:ext cx="2216761" cy="615553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4000" b="0" i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sz="4000" b="0" i="0" smtClean="0">
                              <a:latin typeface="Cambria Math" panose="02040503050406030204" pitchFamily="18" charset="0"/>
                            </a:rPr>
                            <m:t>Π</m:t>
                          </m:r>
                        </m:e>
                        <m:sub>
                          <m:r>
                            <a:rPr lang="en-US" sz="4000" b="0" i="1" smtClean="0">
                              <a:latin typeface="Cambria Math" panose="02040503050406030204" pitchFamily="18" charset="0"/>
                            </a:rPr>
                            <m:t>𝑆𝑇</m:t>
                          </m:r>
                        </m:sub>
                      </m:sSub>
                      <m:r>
                        <a:rPr lang="en-US" sz="4000" b="0" i="1" smtClean="0">
                          <a:latin typeface="Cambria Math" panose="02040503050406030204" pitchFamily="18" charset="0"/>
                        </a:rPr>
                        <m:t> ⋄</m:t>
                      </m:r>
                      <m:sSub>
                        <m:sSubPr>
                          <m:ctrlPr>
                            <a:rPr lang="en-US" sz="40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4000" b="0" i="1" smtClean="0">
                              <a:latin typeface="Cambria Math" panose="02040503050406030204" pitchFamily="18" charset="0"/>
                            </a:rPr>
                            <m:t>𝐹</m:t>
                          </m:r>
                        </m:e>
                        <m:sub>
                          <m:r>
                            <a:rPr lang="en-US" sz="4000" b="0" i="1" smtClean="0">
                              <a:latin typeface="Cambria Math" panose="02040503050406030204" pitchFamily="18" charset="0"/>
                            </a:rPr>
                            <m:t>𝐴𝑇</m:t>
                          </m:r>
                        </m:sub>
                      </m:sSub>
                    </m:oMath>
                  </m:oMathPara>
                </a14:m>
                <a:endParaRPr lang="en-US" sz="4000" dirty="0"/>
              </a:p>
            </p:txBody>
          </p:sp>
        </mc:Choice>
        <mc:Fallback>
          <p:sp>
            <p:nvSpPr>
              <p:cNvPr id="70" name="TextBox 69">
                <a:extLst>
                  <a:ext uri="{FF2B5EF4-FFF2-40B4-BE49-F238E27FC236}">
                    <a16:creationId xmlns:a16="http://schemas.microsoft.com/office/drawing/2014/main" id="{C1B08F11-E5CD-7C5C-7B62-AA5FB4F984C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494518" y="902928"/>
                <a:ext cx="2216761" cy="615553"/>
              </a:xfrm>
              <a:prstGeom prst="rect">
                <a:avLst/>
              </a:prstGeom>
              <a:blipFill>
                <a:blip r:embed="rId3"/>
                <a:stretch>
                  <a:fillRect l="-4545" t="-10204" r="-1136" b="-3673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2" name="Oval 71">
            <a:extLst>
              <a:ext uri="{FF2B5EF4-FFF2-40B4-BE49-F238E27FC236}">
                <a16:creationId xmlns:a16="http://schemas.microsoft.com/office/drawing/2014/main" id="{348259C3-D88C-DDDD-415E-9B8CA6C49871}"/>
              </a:ext>
            </a:extLst>
          </p:cNvPr>
          <p:cNvSpPr/>
          <p:nvPr/>
        </p:nvSpPr>
        <p:spPr>
          <a:xfrm>
            <a:off x="8143244" y="498827"/>
            <a:ext cx="3044037" cy="1404495"/>
          </a:xfrm>
          <a:prstGeom prst="ellipse">
            <a:avLst/>
          </a:prstGeom>
          <a:solidFill>
            <a:schemeClr val="accent1">
              <a:alpha val="16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6026232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C08692E-836B-9296-13A4-8818ED38B00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2CCB57A2-746A-3940-F141-AD373FDDFF32}"/>
              </a:ext>
            </a:extLst>
          </p:cNvPr>
          <p:cNvSpPr/>
          <p:nvPr/>
        </p:nvSpPr>
        <p:spPr>
          <a:xfrm>
            <a:off x="4770691" y="1189186"/>
            <a:ext cx="981623" cy="914395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3F89A0B3-5F1E-4277-A974-6EEE83F0C5D8}"/>
              </a:ext>
            </a:extLst>
          </p:cNvPr>
          <p:cNvSpPr/>
          <p:nvPr/>
        </p:nvSpPr>
        <p:spPr>
          <a:xfrm>
            <a:off x="3067397" y="1189186"/>
            <a:ext cx="981623" cy="914395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BF1B83F8-1FDE-13C0-ADAC-012C5D80AA28}"/>
              </a:ext>
            </a:extLst>
          </p:cNvPr>
          <p:cNvSpPr/>
          <p:nvPr/>
        </p:nvSpPr>
        <p:spPr>
          <a:xfrm>
            <a:off x="6473985" y="1216080"/>
            <a:ext cx="981623" cy="914395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BCF535C3-146F-54E9-1D81-00013D524DDB}"/>
              </a:ext>
            </a:extLst>
          </p:cNvPr>
          <p:cNvSpPr/>
          <p:nvPr/>
        </p:nvSpPr>
        <p:spPr>
          <a:xfrm>
            <a:off x="4993339" y="5419164"/>
            <a:ext cx="1264024" cy="1183341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Trapezoid 5">
            <a:extLst>
              <a:ext uri="{FF2B5EF4-FFF2-40B4-BE49-F238E27FC236}">
                <a16:creationId xmlns:a16="http://schemas.microsoft.com/office/drawing/2014/main" id="{4FC28BA1-D458-31FF-BAF0-13C8A9259DCE}"/>
              </a:ext>
            </a:extLst>
          </p:cNvPr>
          <p:cNvSpPr/>
          <p:nvPr/>
        </p:nvSpPr>
        <p:spPr>
          <a:xfrm rot="10800000">
            <a:off x="2888874" y="4428565"/>
            <a:ext cx="5472954" cy="632012"/>
          </a:xfrm>
          <a:prstGeom prst="trapezoid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F6D22446-DD9B-3271-61EE-3638A82603EA}"/>
              </a:ext>
            </a:extLst>
          </p:cNvPr>
          <p:cNvCxnSpPr/>
          <p:nvPr/>
        </p:nvCxnSpPr>
        <p:spPr>
          <a:xfrm>
            <a:off x="2051772" y="457201"/>
            <a:ext cx="0" cy="2501153"/>
          </a:xfrm>
          <a:prstGeom prst="line">
            <a:avLst/>
          </a:prstGeom>
          <a:ln w="2921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1AAD5F38-448C-A516-B488-906054C68197}"/>
              </a:ext>
            </a:extLst>
          </p:cNvPr>
          <p:cNvCxnSpPr/>
          <p:nvPr/>
        </p:nvCxnSpPr>
        <p:spPr>
          <a:xfrm>
            <a:off x="8794018" y="454029"/>
            <a:ext cx="0" cy="2501153"/>
          </a:xfrm>
          <a:prstGeom prst="line">
            <a:avLst/>
          </a:prstGeom>
          <a:ln w="2921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6F2AD405-4D40-7043-7267-14EC2257B68F}"/>
              </a:ext>
            </a:extLst>
          </p:cNvPr>
          <p:cNvCxnSpPr>
            <a:cxnSpLocks/>
          </p:cNvCxnSpPr>
          <p:nvPr/>
        </p:nvCxnSpPr>
        <p:spPr>
          <a:xfrm flipH="1">
            <a:off x="2185145" y="605121"/>
            <a:ext cx="6488208" cy="0"/>
          </a:xfrm>
          <a:prstGeom prst="line">
            <a:avLst/>
          </a:prstGeom>
          <a:ln w="2921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5232F8A5-06C0-F7EB-37BA-1C6469F62BBE}"/>
              </a:ext>
            </a:extLst>
          </p:cNvPr>
          <p:cNvCxnSpPr/>
          <p:nvPr/>
        </p:nvCxnSpPr>
        <p:spPr>
          <a:xfrm>
            <a:off x="2436123" y="3802346"/>
            <a:ext cx="0" cy="2501153"/>
          </a:xfrm>
          <a:prstGeom prst="line">
            <a:avLst/>
          </a:prstGeom>
          <a:ln w="2921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E66DF3F5-3126-3943-DEC8-4B7EC8CF3927}"/>
              </a:ext>
            </a:extLst>
          </p:cNvPr>
          <p:cNvCxnSpPr/>
          <p:nvPr/>
        </p:nvCxnSpPr>
        <p:spPr>
          <a:xfrm>
            <a:off x="9196657" y="3804015"/>
            <a:ext cx="0" cy="2501153"/>
          </a:xfrm>
          <a:prstGeom prst="line">
            <a:avLst/>
          </a:prstGeom>
          <a:ln w="2921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D1A4706F-50AF-F860-40A4-0FF07B2B8EF6}"/>
              </a:ext>
            </a:extLst>
          </p:cNvPr>
          <p:cNvCxnSpPr>
            <a:cxnSpLocks/>
          </p:cNvCxnSpPr>
          <p:nvPr/>
        </p:nvCxnSpPr>
        <p:spPr>
          <a:xfrm flipH="1">
            <a:off x="2569496" y="3957921"/>
            <a:ext cx="6488208" cy="0"/>
          </a:xfrm>
          <a:prstGeom prst="line">
            <a:avLst/>
          </a:prstGeom>
          <a:ln w="2921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1" name="TextBox 20">
            <a:extLst>
              <a:ext uri="{FF2B5EF4-FFF2-40B4-BE49-F238E27FC236}">
                <a16:creationId xmlns:a16="http://schemas.microsoft.com/office/drawing/2014/main" id="{18498B8A-8FF8-495B-641B-008FB2370EEE}"/>
              </a:ext>
            </a:extLst>
          </p:cNvPr>
          <p:cNvSpPr txBox="1"/>
          <p:nvPr/>
        </p:nvSpPr>
        <p:spPr>
          <a:xfrm>
            <a:off x="4967927" y="1411667"/>
            <a:ext cx="564772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dirty="0"/>
              <a:t>AT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B9FA167F-2109-64E5-46B9-7D8C68B97FC9}"/>
              </a:ext>
            </a:extLst>
          </p:cNvPr>
          <p:cNvSpPr txBox="1"/>
          <p:nvPr/>
        </p:nvSpPr>
        <p:spPr>
          <a:xfrm>
            <a:off x="3314299" y="1488611"/>
            <a:ext cx="44114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P1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E2C48341-7F0B-9985-591B-2CF480C13A98}"/>
              </a:ext>
            </a:extLst>
          </p:cNvPr>
          <p:cNvSpPr txBox="1"/>
          <p:nvPr/>
        </p:nvSpPr>
        <p:spPr>
          <a:xfrm>
            <a:off x="6744223" y="1514616"/>
            <a:ext cx="44114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P2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4BD6E724-BBDE-67DD-D257-FFB2B968F43D}"/>
              </a:ext>
            </a:extLst>
          </p:cNvPr>
          <p:cNvSpPr txBox="1"/>
          <p:nvPr/>
        </p:nvSpPr>
        <p:spPr>
          <a:xfrm>
            <a:off x="5433728" y="4567986"/>
            <a:ext cx="31451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S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3BDC332A-52A9-64B4-E213-9C2153EB0A32}"/>
              </a:ext>
            </a:extLst>
          </p:cNvPr>
          <p:cNvSpPr txBox="1"/>
          <p:nvPr/>
        </p:nvSpPr>
        <p:spPr>
          <a:xfrm>
            <a:off x="5415003" y="5894293"/>
            <a:ext cx="42069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ST</a:t>
            </a:r>
          </a:p>
        </p:txBody>
      </p: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A6E65103-785A-37CB-BC58-1F18FF8AFBCB}"/>
              </a:ext>
            </a:extLst>
          </p:cNvPr>
          <p:cNvCxnSpPr>
            <a:cxnSpLocks/>
          </p:cNvCxnSpPr>
          <p:nvPr/>
        </p:nvCxnSpPr>
        <p:spPr>
          <a:xfrm>
            <a:off x="6096000" y="5739205"/>
            <a:ext cx="2961704" cy="0"/>
          </a:xfrm>
          <a:prstGeom prst="straightConnector1">
            <a:avLst/>
          </a:prstGeom>
          <a:ln w="25400" cap="flat">
            <a:solidFill>
              <a:schemeClr val="tx1"/>
            </a:solidFill>
            <a:headEnd type="none" w="lg" len="sm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Straight Arrow Connector 28">
            <a:extLst>
              <a:ext uri="{FF2B5EF4-FFF2-40B4-BE49-F238E27FC236}">
                <a16:creationId xmlns:a16="http://schemas.microsoft.com/office/drawing/2014/main" id="{B7F5F6BF-89CF-9042-53E2-99FBC91780FC}"/>
              </a:ext>
            </a:extLst>
          </p:cNvPr>
          <p:cNvCxnSpPr>
            <a:cxnSpLocks/>
          </p:cNvCxnSpPr>
          <p:nvPr/>
        </p:nvCxnSpPr>
        <p:spPr>
          <a:xfrm flipH="1">
            <a:off x="5986183" y="6093311"/>
            <a:ext cx="3071521" cy="0"/>
          </a:xfrm>
          <a:prstGeom prst="straightConnector1">
            <a:avLst/>
          </a:prstGeom>
          <a:ln w="25400" cap="flat">
            <a:solidFill>
              <a:schemeClr val="tx1"/>
            </a:solidFill>
            <a:headEnd type="none" w="lg" len="sm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Straight Arrow Connector 31">
            <a:extLst>
              <a:ext uri="{FF2B5EF4-FFF2-40B4-BE49-F238E27FC236}">
                <a16:creationId xmlns:a16="http://schemas.microsoft.com/office/drawing/2014/main" id="{F35B41AA-05C8-4B79-64CD-28DE2E165D53}"/>
              </a:ext>
            </a:extLst>
          </p:cNvPr>
          <p:cNvCxnSpPr>
            <a:cxnSpLocks/>
          </p:cNvCxnSpPr>
          <p:nvPr/>
        </p:nvCxnSpPr>
        <p:spPr>
          <a:xfrm>
            <a:off x="2632281" y="5718587"/>
            <a:ext cx="2517943" cy="20618"/>
          </a:xfrm>
          <a:prstGeom prst="straightConnector1">
            <a:avLst/>
          </a:prstGeom>
          <a:ln w="25400" cap="flat">
            <a:solidFill>
              <a:schemeClr val="tx1"/>
            </a:solidFill>
            <a:headEnd type="none" w="lg" len="sm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Straight Arrow Connector 32">
            <a:extLst>
              <a:ext uri="{FF2B5EF4-FFF2-40B4-BE49-F238E27FC236}">
                <a16:creationId xmlns:a16="http://schemas.microsoft.com/office/drawing/2014/main" id="{B0D4CBDC-F50D-9043-3B7E-1F46B33E55D6}"/>
              </a:ext>
            </a:extLst>
          </p:cNvPr>
          <p:cNvCxnSpPr>
            <a:cxnSpLocks/>
          </p:cNvCxnSpPr>
          <p:nvPr/>
        </p:nvCxnSpPr>
        <p:spPr>
          <a:xfrm flipH="1">
            <a:off x="2522464" y="6072693"/>
            <a:ext cx="2614312" cy="0"/>
          </a:xfrm>
          <a:prstGeom prst="straightConnector1">
            <a:avLst/>
          </a:prstGeom>
          <a:ln w="25400" cap="flat">
            <a:solidFill>
              <a:schemeClr val="tx1"/>
            </a:solidFill>
            <a:headEnd type="none" w="lg" len="sm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Straight Arrow Connector 37">
            <a:extLst>
              <a:ext uri="{FF2B5EF4-FFF2-40B4-BE49-F238E27FC236}">
                <a16:creationId xmlns:a16="http://schemas.microsoft.com/office/drawing/2014/main" id="{B772BE8E-EAB0-9D7B-D5FE-3BA0F8E9F7C3}"/>
              </a:ext>
            </a:extLst>
          </p:cNvPr>
          <p:cNvCxnSpPr>
            <a:cxnSpLocks/>
          </p:cNvCxnSpPr>
          <p:nvPr/>
        </p:nvCxnSpPr>
        <p:spPr>
          <a:xfrm flipV="1">
            <a:off x="3349831" y="4116163"/>
            <a:ext cx="0" cy="451823"/>
          </a:xfrm>
          <a:prstGeom prst="straightConnector1">
            <a:avLst/>
          </a:prstGeom>
          <a:ln w="25400" cap="flat">
            <a:solidFill>
              <a:schemeClr val="tx1"/>
            </a:solidFill>
            <a:headEnd type="none" w="lg" len="sm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Straight Arrow Connector 39">
            <a:extLst>
              <a:ext uri="{FF2B5EF4-FFF2-40B4-BE49-F238E27FC236}">
                <a16:creationId xmlns:a16="http://schemas.microsoft.com/office/drawing/2014/main" id="{39E15F4B-F25B-CAC7-2B91-4D5CCC741568}"/>
              </a:ext>
            </a:extLst>
          </p:cNvPr>
          <p:cNvCxnSpPr>
            <a:cxnSpLocks/>
          </p:cNvCxnSpPr>
          <p:nvPr/>
        </p:nvCxnSpPr>
        <p:spPr>
          <a:xfrm>
            <a:off x="3636702" y="4116163"/>
            <a:ext cx="0" cy="563413"/>
          </a:xfrm>
          <a:prstGeom prst="straightConnector1">
            <a:avLst/>
          </a:prstGeom>
          <a:ln w="25400" cap="flat">
            <a:solidFill>
              <a:schemeClr val="tx1"/>
            </a:solidFill>
            <a:headEnd type="none" w="lg" len="sm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Straight Arrow Connector 42">
            <a:extLst>
              <a:ext uri="{FF2B5EF4-FFF2-40B4-BE49-F238E27FC236}">
                <a16:creationId xmlns:a16="http://schemas.microsoft.com/office/drawing/2014/main" id="{1DD1049F-D18A-6E29-ABA7-90A2A334F821}"/>
              </a:ext>
            </a:extLst>
          </p:cNvPr>
          <p:cNvCxnSpPr>
            <a:cxnSpLocks/>
          </p:cNvCxnSpPr>
          <p:nvPr/>
        </p:nvCxnSpPr>
        <p:spPr>
          <a:xfrm flipV="1">
            <a:off x="5431504" y="4116163"/>
            <a:ext cx="0" cy="451823"/>
          </a:xfrm>
          <a:prstGeom prst="straightConnector1">
            <a:avLst/>
          </a:prstGeom>
          <a:ln w="25400" cap="flat">
            <a:solidFill>
              <a:schemeClr val="tx1"/>
            </a:solidFill>
            <a:headEnd type="none" w="lg" len="sm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Straight Arrow Connector 43">
            <a:extLst>
              <a:ext uri="{FF2B5EF4-FFF2-40B4-BE49-F238E27FC236}">
                <a16:creationId xmlns:a16="http://schemas.microsoft.com/office/drawing/2014/main" id="{DCDA5564-3806-B249-2CF3-54EA3D0A4568}"/>
              </a:ext>
            </a:extLst>
          </p:cNvPr>
          <p:cNvCxnSpPr>
            <a:cxnSpLocks/>
          </p:cNvCxnSpPr>
          <p:nvPr/>
        </p:nvCxnSpPr>
        <p:spPr>
          <a:xfrm>
            <a:off x="5718375" y="4116163"/>
            <a:ext cx="0" cy="563413"/>
          </a:xfrm>
          <a:prstGeom prst="straightConnector1">
            <a:avLst/>
          </a:prstGeom>
          <a:ln w="25400" cap="flat">
            <a:solidFill>
              <a:schemeClr val="tx1"/>
            </a:solidFill>
            <a:headEnd type="none" w="lg" len="sm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Straight Arrow Connector 44">
            <a:extLst>
              <a:ext uri="{FF2B5EF4-FFF2-40B4-BE49-F238E27FC236}">
                <a16:creationId xmlns:a16="http://schemas.microsoft.com/office/drawing/2014/main" id="{240A2192-6CD1-1BF4-044C-7F403ABE81B5}"/>
              </a:ext>
            </a:extLst>
          </p:cNvPr>
          <p:cNvCxnSpPr>
            <a:cxnSpLocks/>
          </p:cNvCxnSpPr>
          <p:nvPr/>
        </p:nvCxnSpPr>
        <p:spPr>
          <a:xfrm flipV="1">
            <a:off x="7536349" y="4146858"/>
            <a:ext cx="0" cy="451823"/>
          </a:xfrm>
          <a:prstGeom prst="straightConnector1">
            <a:avLst/>
          </a:prstGeom>
          <a:ln w="25400" cap="flat">
            <a:solidFill>
              <a:schemeClr val="tx1"/>
            </a:solidFill>
            <a:headEnd type="none" w="lg" len="sm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Straight Arrow Connector 45">
            <a:extLst>
              <a:ext uri="{FF2B5EF4-FFF2-40B4-BE49-F238E27FC236}">
                <a16:creationId xmlns:a16="http://schemas.microsoft.com/office/drawing/2014/main" id="{88AD014A-6F52-613D-4645-2824A765F3F0}"/>
              </a:ext>
            </a:extLst>
          </p:cNvPr>
          <p:cNvCxnSpPr>
            <a:cxnSpLocks/>
          </p:cNvCxnSpPr>
          <p:nvPr/>
        </p:nvCxnSpPr>
        <p:spPr>
          <a:xfrm>
            <a:off x="7823220" y="4146858"/>
            <a:ext cx="0" cy="563413"/>
          </a:xfrm>
          <a:prstGeom prst="straightConnector1">
            <a:avLst/>
          </a:prstGeom>
          <a:ln w="25400" cap="flat">
            <a:solidFill>
              <a:schemeClr val="tx1"/>
            </a:solidFill>
            <a:headEnd type="none" w="lg" len="sm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Straight Arrow Connector 46">
            <a:extLst>
              <a:ext uri="{FF2B5EF4-FFF2-40B4-BE49-F238E27FC236}">
                <a16:creationId xmlns:a16="http://schemas.microsoft.com/office/drawing/2014/main" id="{5CB9D63B-511A-5A4B-85E6-0D33A77B1B78}"/>
              </a:ext>
            </a:extLst>
          </p:cNvPr>
          <p:cNvCxnSpPr>
            <a:cxnSpLocks/>
          </p:cNvCxnSpPr>
          <p:nvPr/>
        </p:nvCxnSpPr>
        <p:spPr>
          <a:xfrm flipV="1">
            <a:off x="5431504" y="5060578"/>
            <a:ext cx="0" cy="451823"/>
          </a:xfrm>
          <a:prstGeom prst="straightConnector1">
            <a:avLst/>
          </a:prstGeom>
          <a:ln w="25400" cap="flat">
            <a:solidFill>
              <a:schemeClr val="tx1"/>
            </a:solidFill>
            <a:headEnd type="none" w="lg" len="sm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Straight Arrow Connector 47">
            <a:extLst>
              <a:ext uri="{FF2B5EF4-FFF2-40B4-BE49-F238E27FC236}">
                <a16:creationId xmlns:a16="http://schemas.microsoft.com/office/drawing/2014/main" id="{517EA890-304A-7D26-78AF-20AEACEAD9D0}"/>
              </a:ext>
            </a:extLst>
          </p:cNvPr>
          <p:cNvCxnSpPr>
            <a:cxnSpLocks/>
          </p:cNvCxnSpPr>
          <p:nvPr/>
        </p:nvCxnSpPr>
        <p:spPr>
          <a:xfrm>
            <a:off x="5718375" y="5060578"/>
            <a:ext cx="0" cy="563413"/>
          </a:xfrm>
          <a:prstGeom prst="straightConnector1">
            <a:avLst/>
          </a:prstGeom>
          <a:ln w="25400" cap="flat">
            <a:solidFill>
              <a:schemeClr val="tx1"/>
            </a:solidFill>
            <a:headEnd type="none" w="lg" len="sm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" name="Straight Arrow Connector 48">
            <a:extLst>
              <a:ext uri="{FF2B5EF4-FFF2-40B4-BE49-F238E27FC236}">
                <a16:creationId xmlns:a16="http://schemas.microsoft.com/office/drawing/2014/main" id="{5F7782FA-E414-08B2-9403-98F3195C9064}"/>
              </a:ext>
            </a:extLst>
          </p:cNvPr>
          <p:cNvCxnSpPr>
            <a:cxnSpLocks/>
          </p:cNvCxnSpPr>
          <p:nvPr/>
        </p:nvCxnSpPr>
        <p:spPr>
          <a:xfrm flipV="1">
            <a:off x="3387204" y="812669"/>
            <a:ext cx="0" cy="451823"/>
          </a:xfrm>
          <a:prstGeom prst="straightConnector1">
            <a:avLst/>
          </a:prstGeom>
          <a:ln w="25400" cap="flat">
            <a:solidFill>
              <a:schemeClr val="tx1"/>
            </a:solidFill>
            <a:headEnd type="none" w="lg" len="sm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Straight Arrow Connector 49">
            <a:extLst>
              <a:ext uri="{FF2B5EF4-FFF2-40B4-BE49-F238E27FC236}">
                <a16:creationId xmlns:a16="http://schemas.microsoft.com/office/drawing/2014/main" id="{7DC341A5-8C1B-A946-5709-31F631737791}"/>
              </a:ext>
            </a:extLst>
          </p:cNvPr>
          <p:cNvCxnSpPr>
            <a:cxnSpLocks/>
          </p:cNvCxnSpPr>
          <p:nvPr/>
        </p:nvCxnSpPr>
        <p:spPr>
          <a:xfrm>
            <a:off x="3674075" y="812669"/>
            <a:ext cx="0" cy="563413"/>
          </a:xfrm>
          <a:prstGeom prst="straightConnector1">
            <a:avLst/>
          </a:prstGeom>
          <a:ln w="25400" cap="flat">
            <a:solidFill>
              <a:schemeClr val="tx1"/>
            </a:solidFill>
            <a:headEnd type="none" w="lg" len="sm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Straight Arrow Connector 50">
            <a:extLst>
              <a:ext uri="{FF2B5EF4-FFF2-40B4-BE49-F238E27FC236}">
                <a16:creationId xmlns:a16="http://schemas.microsoft.com/office/drawing/2014/main" id="{C48862EE-A241-ABF3-0B68-DB0837690823}"/>
              </a:ext>
            </a:extLst>
          </p:cNvPr>
          <p:cNvCxnSpPr>
            <a:cxnSpLocks/>
          </p:cNvCxnSpPr>
          <p:nvPr/>
        </p:nvCxnSpPr>
        <p:spPr>
          <a:xfrm flipV="1">
            <a:off x="5144633" y="812669"/>
            <a:ext cx="0" cy="451823"/>
          </a:xfrm>
          <a:prstGeom prst="straightConnector1">
            <a:avLst/>
          </a:prstGeom>
          <a:ln w="25400" cap="flat">
            <a:solidFill>
              <a:schemeClr val="tx1"/>
            </a:solidFill>
            <a:headEnd type="none" w="lg" len="sm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" name="Straight Arrow Connector 51">
            <a:extLst>
              <a:ext uri="{FF2B5EF4-FFF2-40B4-BE49-F238E27FC236}">
                <a16:creationId xmlns:a16="http://schemas.microsoft.com/office/drawing/2014/main" id="{4540CF36-6145-6364-7003-DA69DEA64FF5}"/>
              </a:ext>
            </a:extLst>
          </p:cNvPr>
          <p:cNvCxnSpPr>
            <a:cxnSpLocks/>
          </p:cNvCxnSpPr>
          <p:nvPr/>
        </p:nvCxnSpPr>
        <p:spPr>
          <a:xfrm>
            <a:off x="5431504" y="812669"/>
            <a:ext cx="0" cy="563413"/>
          </a:xfrm>
          <a:prstGeom prst="straightConnector1">
            <a:avLst/>
          </a:prstGeom>
          <a:ln w="25400" cap="flat">
            <a:solidFill>
              <a:schemeClr val="tx1"/>
            </a:solidFill>
            <a:headEnd type="none" w="lg" len="sm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" name="Straight Arrow Connector 52">
            <a:extLst>
              <a:ext uri="{FF2B5EF4-FFF2-40B4-BE49-F238E27FC236}">
                <a16:creationId xmlns:a16="http://schemas.microsoft.com/office/drawing/2014/main" id="{7C104EAC-E5B5-B107-2840-6B751716098C}"/>
              </a:ext>
            </a:extLst>
          </p:cNvPr>
          <p:cNvCxnSpPr>
            <a:cxnSpLocks/>
          </p:cNvCxnSpPr>
          <p:nvPr/>
        </p:nvCxnSpPr>
        <p:spPr>
          <a:xfrm flipV="1">
            <a:off x="6863996" y="812669"/>
            <a:ext cx="0" cy="451823"/>
          </a:xfrm>
          <a:prstGeom prst="straightConnector1">
            <a:avLst/>
          </a:prstGeom>
          <a:ln w="25400" cap="flat">
            <a:solidFill>
              <a:schemeClr val="tx1"/>
            </a:solidFill>
            <a:headEnd type="none" w="lg" len="sm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Straight Arrow Connector 53">
            <a:extLst>
              <a:ext uri="{FF2B5EF4-FFF2-40B4-BE49-F238E27FC236}">
                <a16:creationId xmlns:a16="http://schemas.microsoft.com/office/drawing/2014/main" id="{D7778F7E-C481-E34F-98E0-4B7243318F93}"/>
              </a:ext>
            </a:extLst>
          </p:cNvPr>
          <p:cNvCxnSpPr>
            <a:cxnSpLocks/>
          </p:cNvCxnSpPr>
          <p:nvPr/>
        </p:nvCxnSpPr>
        <p:spPr>
          <a:xfrm>
            <a:off x="7150867" y="812669"/>
            <a:ext cx="0" cy="563413"/>
          </a:xfrm>
          <a:prstGeom prst="straightConnector1">
            <a:avLst/>
          </a:prstGeom>
          <a:ln w="25400" cap="flat">
            <a:solidFill>
              <a:schemeClr val="tx1"/>
            </a:solidFill>
            <a:headEnd type="none" w="lg" len="sm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Straight Arrow Connector 54">
            <a:extLst>
              <a:ext uri="{FF2B5EF4-FFF2-40B4-BE49-F238E27FC236}">
                <a16:creationId xmlns:a16="http://schemas.microsoft.com/office/drawing/2014/main" id="{27AAC5EF-5D3E-AD2E-AEFA-3BD0A4C1D8B7}"/>
              </a:ext>
            </a:extLst>
          </p:cNvPr>
          <p:cNvCxnSpPr>
            <a:cxnSpLocks/>
          </p:cNvCxnSpPr>
          <p:nvPr/>
        </p:nvCxnSpPr>
        <p:spPr>
          <a:xfrm>
            <a:off x="2193092" y="1536073"/>
            <a:ext cx="1121207" cy="5426"/>
          </a:xfrm>
          <a:prstGeom prst="straightConnector1">
            <a:avLst/>
          </a:prstGeom>
          <a:ln w="25400" cap="flat">
            <a:solidFill>
              <a:schemeClr val="tx1"/>
            </a:solidFill>
            <a:headEnd type="none" w="lg" len="sm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Straight Arrow Connector 55">
            <a:extLst>
              <a:ext uri="{FF2B5EF4-FFF2-40B4-BE49-F238E27FC236}">
                <a16:creationId xmlns:a16="http://schemas.microsoft.com/office/drawing/2014/main" id="{F939896A-ED5C-3914-933B-005C2DFF2B31}"/>
              </a:ext>
            </a:extLst>
          </p:cNvPr>
          <p:cNvCxnSpPr>
            <a:cxnSpLocks/>
          </p:cNvCxnSpPr>
          <p:nvPr/>
        </p:nvCxnSpPr>
        <p:spPr>
          <a:xfrm flipH="1" flipV="1">
            <a:off x="2155912" y="1894989"/>
            <a:ext cx="1050348" cy="10416"/>
          </a:xfrm>
          <a:prstGeom prst="straightConnector1">
            <a:avLst/>
          </a:prstGeom>
          <a:ln w="25400" cap="flat">
            <a:solidFill>
              <a:schemeClr val="tx1"/>
            </a:solidFill>
            <a:headEnd type="none" w="lg" len="sm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5" name="Straight Arrow Connector 64">
            <a:extLst>
              <a:ext uri="{FF2B5EF4-FFF2-40B4-BE49-F238E27FC236}">
                <a16:creationId xmlns:a16="http://schemas.microsoft.com/office/drawing/2014/main" id="{984FB97C-64BE-1960-A91B-1A909F3180EC}"/>
              </a:ext>
            </a:extLst>
          </p:cNvPr>
          <p:cNvCxnSpPr>
            <a:cxnSpLocks/>
          </p:cNvCxnSpPr>
          <p:nvPr/>
        </p:nvCxnSpPr>
        <p:spPr>
          <a:xfrm>
            <a:off x="3905238" y="1499027"/>
            <a:ext cx="1121207" cy="5426"/>
          </a:xfrm>
          <a:prstGeom prst="straightConnector1">
            <a:avLst/>
          </a:prstGeom>
          <a:ln w="25400" cap="flat">
            <a:solidFill>
              <a:schemeClr val="tx1"/>
            </a:solidFill>
            <a:headEnd type="none" w="lg" len="sm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6" name="Straight Arrow Connector 65">
            <a:extLst>
              <a:ext uri="{FF2B5EF4-FFF2-40B4-BE49-F238E27FC236}">
                <a16:creationId xmlns:a16="http://schemas.microsoft.com/office/drawing/2014/main" id="{0FF5BD9E-3D1A-BE8F-6492-1D33CDC78179}"/>
              </a:ext>
            </a:extLst>
          </p:cNvPr>
          <p:cNvCxnSpPr>
            <a:cxnSpLocks/>
          </p:cNvCxnSpPr>
          <p:nvPr/>
        </p:nvCxnSpPr>
        <p:spPr>
          <a:xfrm flipH="1" flipV="1">
            <a:off x="3868058" y="1857943"/>
            <a:ext cx="1050348" cy="10416"/>
          </a:xfrm>
          <a:prstGeom prst="straightConnector1">
            <a:avLst/>
          </a:prstGeom>
          <a:ln w="25400" cap="flat">
            <a:solidFill>
              <a:schemeClr val="tx1"/>
            </a:solidFill>
            <a:headEnd type="none" w="lg" len="sm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7" name="Straight Arrow Connector 66">
            <a:extLst>
              <a:ext uri="{FF2B5EF4-FFF2-40B4-BE49-F238E27FC236}">
                <a16:creationId xmlns:a16="http://schemas.microsoft.com/office/drawing/2014/main" id="{56F55D13-61B5-4743-2297-6072FE8BF1AD}"/>
              </a:ext>
            </a:extLst>
          </p:cNvPr>
          <p:cNvCxnSpPr>
            <a:cxnSpLocks/>
          </p:cNvCxnSpPr>
          <p:nvPr/>
        </p:nvCxnSpPr>
        <p:spPr>
          <a:xfrm>
            <a:off x="5606011" y="1514616"/>
            <a:ext cx="1121207" cy="5426"/>
          </a:xfrm>
          <a:prstGeom prst="straightConnector1">
            <a:avLst/>
          </a:prstGeom>
          <a:ln w="25400" cap="flat">
            <a:solidFill>
              <a:schemeClr val="tx1"/>
            </a:solidFill>
            <a:headEnd type="none" w="lg" len="sm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8" name="Straight Arrow Connector 67">
            <a:extLst>
              <a:ext uri="{FF2B5EF4-FFF2-40B4-BE49-F238E27FC236}">
                <a16:creationId xmlns:a16="http://schemas.microsoft.com/office/drawing/2014/main" id="{E9E17767-A882-105E-9BAA-B718C015C3A7}"/>
              </a:ext>
            </a:extLst>
          </p:cNvPr>
          <p:cNvCxnSpPr>
            <a:cxnSpLocks/>
          </p:cNvCxnSpPr>
          <p:nvPr/>
        </p:nvCxnSpPr>
        <p:spPr>
          <a:xfrm flipH="1" flipV="1">
            <a:off x="5568831" y="1873532"/>
            <a:ext cx="1050348" cy="10416"/>
          </a:xfrm>
          <a:prstGeom prst="straightConnector1">
            <a:avLst/>
          </a:prstGeom>
          <a:ln w="25400" cap="flat">
            <a:solidFill>
              <a:schemeClr val="tx1"/>
            </a:solidFill>
            <a:headEnd type="none" w="lg" len="sm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9" name="Straight Arrow Connector 68">
            <a:extLst>
              <a:ext uri="{FF2B5EF4-FFF2-40B4-BE49-F238E27FC236}">
                <a16:creationId xmlns:a16="http://schemas.microsoft.com/office/drawing/2014/main" id="{FC298968-9219-92BD-CB64-414177D986E2}"/>
              </a:ext>
            </a:extLst>
          </p:cNvPr>
          <p:cNvCxnSpPr>
            <a:cxnSpLocks/>
          </p:cNvCxnSpPr>
          <p:nvPr/>
        </p:nvCxnSpPr>
        <p:spPr>
          <a:xfrm>
            <a:off x="7479330" y="1514616"/>
            <a:ext cx="1121207" cy="5426"/>
          </a:xfrm>
          <a:prstGeom prst="straightConnector1">
            <a:avLst/>
          </a:prstGeom>
          <a:ln w="25400" cap="flat">
            <a:solidFill>
              <a:schemeClr val="tx1"/>
            </a:solidFill>
            <a:headEnd type="none" w="lg" len="sm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0" name="Straight Arrow Connector 69">
            <a:extLst>
              <a:ext uri="{FF2B5EF4-FFF2-40B4-BE49-F238E27FC236}">
                <a16:creationId xmlns:a16="http://schemas.microsoft.com/office/drawing/2014/main" id="{C9CFDA05-F9CB-F56B-83E3-AE138740FAF7}"/>
              </a:ext>
            </a:extLst>
          </p:cNvPr>
          <p:cNvCxnSpPr>
            <a:cxnSpLocks/>
          </p:cNvCxnSpPr>
          <p:nvPr/>
        </p:nvCxnSpPr>
        <p:spPr>
          <a:xfrm flipH="1" flipV="1">
            <a:off x="7442150" y="1873532"/>
            <a:ext cx="1050348" cy="10416"/>
          </a:xfrm>
          <a:prstGeom prst="straightConnector1">
            <a:avLst/>
          </a:prstGeom>
          <a:ln w="25400" cap="flat">
            <a:solidFill>
              <a:schemeClr val="tx1"/>
            </a:solidFill>
            <a:headEnd type="none" w="lg" len="sm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1" name="TextBox 70">
            <a:extLst>
              <a:ext uri="{FF2B5EF4-FFF2-40B4-BE49-F238E27FC236}">
                <a16:creationId xmlns:a16="http://schemas.microsoft.com/office/drawing/2014/main" id="{578B3994-A72B-7030-D817-09299E5A72BC}"/>
              </a:ext>
            </a:extLst>
          </p:cNvPr>
          <p:cNvSpPr txBox="1"/>
          <p:nvPr/>
        </p:nvSpPr>
        <p:spPr>
          <a:xfrm>
            <a:off x="10087635" y="1109664"/>
            <a:ext cx="825544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7200" dirty="0">
                <a:latin typeface="Bradley Hand" pitchFamily="2" charset="77"/>
                <a:cs typeface="Calibri" panose="020F0502020204030204" pitchFamily="34" charset="0"/>
              </a:rPr>
              <a:t>Z</a:t>
            </a:r>
            <a:endParaRPr lang="en-US" sz="7200" dirty="0"/>
          </a:p>
        </p:txBody>
      </p:sp>
      <p:cxnSp>
        <p:nvCxnSpPr>
          <p:cNvPr id="72" name="Straight Arrow Connector 71">
            <a:extLst>
              <a:ext uri="{FF2B5EF4-FFF2-40B4-BE49-F238E27FC236}">
                <a16:creationId xmlns:a16="http://schemas.microsoft.com/office/drawing/2014/main" id="{029F6A63-8308-DA59-D8C1-CA08D1CA62CD}"/>
              </a:ext>
            </a:extLst>
          </p:cNvPr>
          <p:cNvCxnSpPr>
            <a:cxnSpLocks/>
            <a:endCxn id="71" idx="1"/>
          </p:cNvCxnSpPr>
          <p:nvPr/>
        </p:nvCxnSpPr>
        <p:spPr>
          <a:xfrm>
            <a:off x="9024076" y="1088109"/>
            <a:ext cx="1063559" cy="621720"/>
          </a:xfrm>
          <a:prstGeom prst="straightConnector1">
            <a:avLst/>
          </a:prstGeom>
          <a:ln w="25400" cap="flat" cmpd="thickThin">
            <a:solidFill>
              <a:schemeClr val="tx1"/>
            </a:solidFill>
            <a:prstDash val="dash"/>
            <a:headEnd type="none" w="lg" len="sm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3" name="TextBox 72">
            <a:extLst>
              <a:ext uri="{FF2B5EF4-FFF2-40B4-BE49-F238E27FC236}">
                <a16:creationId xmlns:a16="http://schemas.microsoft.com/office/drawing/2014/main" id="{78617846-C7AE-E9E9-7AF1-AFEC6F798E53}"/>
              </a:ext>
            </a:extLst>
          </p:cNvPr>
          <p:cNvSpPr txBox="1"/>
          <p:nvPr/>
        </p:nvSpPr>
        <p:spPr>
          <a:xfrm>
            <a:off x="10444193" y="5023826"/>
            <a:ext cx="825544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7200" dirty="0">
                <a:latin typeface="Bradley Hand" pitchFamily="2" charset="77"/>
                <a:cs typeface="Calibri" panose="020F0502020204030204" pitchFamily="34" charset="0"/>
              </a:rPr>
              <a:t>Z</a:t>
            </a:r>
            <a:endParaRPr lang="en-US" sz="7200" dirty="0"/>
          </a:p>
        </p:txBody>
      </p:sp>
      <p:cxnSp>
        <p:nvCxnSpPr>
          <p:cNvPr id="74" name="Straight Arrow Connector 73">
            <a:extLst>
              <a:ext uri="{FF2B5EF4-FFF2-40B4-BE49-F238E27FC236}">
                <a16:creationId xmlns:a16="http://schemas.microsoft.com/office/drawing/2014/main" id="{2D2E4123-73FB-D1FC-87CF-8382FB3E3038}"/>
              </a:ext>
            </a:extLst>
          </p:cNvPr>
          <p:cNvCxnSpPr>
            <a:cxnSpLocks/>
            <a:endCxn id="73" idx="1"/>
          </p:cNvCxnSpPr>
          <p:nvPr/>
        </p:nvCxnSpPr>
        <p:spPr>
          <a:xfrm>
            <a:off x="9380634" y="5002271"/>
            <a:ext cx="1063559" cy="621720"/>
          </a:xfrm>
          <a:prstGeom prst="straightConnector1">
            <a:avLst/>
          </a:prstGeom>
          <a:ln w="25400" cap="flat" cmpd="thickThin">
            <a:solidFill>
              <a:schemeClr val="tx1"/>
            </a:solidFill>
            <a:prstDash val="dash"/>
            <a:headEnd type="none" w="lg" len="sm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3212527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7BA85875-68D9-C3E0-9B2D-B7C5348F804A}"/>
              </a:ext>
            </a:extLst>
          </p:cNvPr>
          <p:cNvSpPr txBox="1"/>
          <p:nvPr/>
        </p:nvSpPr>
        <p:spPr>
          <a:xfrm>
            <a:off x="338273" y="299434"/>
            <a:ext cx="6887655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 dirty="0"/>
              <a:t>How does Environment Z behave?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61BB9B04-84B5-3FD1-89C9-80D1010304F0}"/>
              </a:ext>
            </a:extLst>
          </p:cNvPr>
          <p:cNvSpPr txBox="1"/>
          <p:nvPr/>
        </p:nvSpPr>
        <p:spPr>
          <a:xfrm>
            <a:off x="733645" y="1926482"/>
            <a:ext cx="7861447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 dirty="0">
                <a:latin typeface="Chalk Board" panose="02000500000000000000" pitchFamily="2" charset="0"/>
              </a:rPr>
              <a:t>Picks some message m and inputs </a:t>
            </a:r>
            <a:r>
              <a:rPr lang="en-US" sz="2800" dirty="0">
                <a:latin typeface="American Typewriter" panose="02090604020004020304" pitchFamily="18" charset="77"/>
              </a:rPr>
              <a:t>(mid, 2, m) </a:t>
            </a:r>
            <a:r>
              <a:rPr lang="en-US" sz="3600" dirty="0">
                <a:latin typeface="Chalk Board" panose="02000500000000000000" pitchFamily="2" charset="0"/>
              </a:rPr>
              <a:t>on ST.in1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F01FFEB-8E4E-4054-7BE7-17981C495464}"/>
              </a:ext>
            </a:extLst>
          </p:cNvPr>
          <p:cNvSpPr txBox="1"/>
          <p:nvPr/>
        </p:nvSpPr>
        <p:spPr>
          <a:xfrm>
            <a:off x="733645" y="2668893"/>
            <a:ext cx="11563358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 dirty="0">
                <a:latin typeface="Chalk Board" panose="02000500000000000000" pitchFamily="2" charset="0"/>
              </a:rPr>
              <a:t>Then it sees</a:t>
            </a:r>
            <a:r>
              <a:rPr lang="en-US" sz="2400" dirty="0">
                <a:latin typeface="American Typewriter" panose="02090604020004020304" pitchFamily="18" charset="77"/>
              </a:rPr>
              <a:t> (mid, 1, 2, hello)</a:t>
            </a:r>
            <a:r>
              <a:rPr lang="en-US" sz="3600" dirty="0">
                <a:latin typeface="Chalk Board" panose="02000500000000000000" pitchFamily="2" charset="0"/>
              </a:rPr>
              <a:t> on </a:t>
            </a:r>
            <a:r>
              <a:rPr lang="en-US" sz="3600" dirty="0" err="1">
                <a:latin typeface="Chalk Board" panose="02000500000000000000" pitchFamily="2" charset="0"/>
              </a:rPr>
              <a:t>AT.leak</a:t>
            </a:r>
            <a:r>
              <a:rPr lang="en-US" sz="3600" dirty="0">
                <a:latin typeface="Chalk Board" panose="02000500000000000000" pitchFamily="2" charset="0"/>
              </a:rPr>
              <a:t> and inputs </a:t>
            </a:r>
            <a:r>
              <a:rPr lang="en-US" sz="2400" dirty="0">
                <a:latin typeface="American Typewriter" panose="02090604020004020304" pitchFamily="18" charset="77"/>
              </a:rPr>
              <a:t>(deliver, mid,1,2)</a:t>
            </a:r>
            <a:r>
              <a:rPr lang="en-US" sz="3600" dirty="0">
                <a:latin typeface="Chalk Board" panose="02000500000000000000" pitchFamily="2" charset="0"/>
              </a:rPr>
              <a:t> on </a:t>
            </a:r>
            <a:r>
              <a:rPr lang="en-US" sz="3600" dirty="0" err="1">
                <a:latin typeface="Chalk Board" panose="02000500000000000000" pitchFamily="2" charset="0"/>
              </a:rPr>
              <a:t>AT.infl</a:t>
            </a:r>
            <a:endParaRPr lang="en-US" sz="3600" dirty="0">
              <a:latin typeface="Chalk Board" panose="02000500000000000000" pitchFamily="2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ED2F8FA-2470-38BD-C2C5-5E4816311A0A}"/>
              </a:ext>
            </a:extLst>
          </p:cNvPr>
          <p:cNvSpPr txBox="1"/>
          <p:nvPr/>
        </p:nvSpPr>
        <p:spPr>
          <a:xfrm>
            <a:off x="733645" y="3392698"/>
            <a:ext cx="11577528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 dirty="0">
                <a:latin typeface="Chalk Board" panose="02000500000000000000" pitchFamily="2" charset="0"/>
              </a:rPr>
              <a:t>Then it sees </a:t>
            </a:r>
            <a:r>
              <a:rPr lang="en-US" sz="2800" dirty="0">
                <a:latin typeface="American Typewriter" panose="02090604020004020304" pitchFamily="18" charset="77"/>
              </a:rPr>
              <a:t>(mid, 2, 1, ek)</a:t>
            </a:r>
            <a:r>
              <a:rPr lang="en-US" sz="3600" dirty="0">
                <a:latin typeface="Chalk Board" panose="02000500000000000000" pitchFamily="2" charset="0"/>
              </a:rPr>
              <a:t> on </a:t>
            </a:r>
            <a:r>
              <a:rPr lang="en-US" sz="3600" dirty="0" err="1">
                <a:latin typeface="Chalk Board" panose="02000500000000000000" pitchFamily="2" charset="0"/>
              </a:rPr>
              <a:t>AT.leak</a:t>
            </a:r>
            <a:r>
              <a:rPr lang="en-US" sz="3600" dirty="0">
                <a:latin typeface="Chalk Board" panose="02000500000000000000" pitchFamily="2" charset="0"/>
              </a:rPr>
              <a:t> and inputs </a:t>
            </a:r>
            <a:r>
              <a:rPr lang="en-US" sz="2400" dirty="0">
                <a:latin typeface="American Typewriter" panose="02090604020004020304" pitchFamily="18" charset="77"/>
              </a:rPr>
              <a:t>(deliver, mid,2,1) </a:t>
            </a:r>
            <a:r>
              <a:rPr lang="en-US" sz="3600" dirty="0">
                <a:latin typeface="Chalk Board" panose="02000500000000000000" pitchFamily="2" charset="0"/>
              </a:rPr>
              <a:t>on </a:t>
            </a:r>
            <a:r>
              <a:rPr lang="en-US" sz="3600" dirty="0" err="1">
                <a:latin typeface="Chalk Board" panose="02000500000000000000" pitchFamily="2" charset="0"/>
              </a:rPr>
              <a:t>AT.infl</a:t>
            </a:r>
            <a:endParaRPr lang="en-US" sz="3600" dirty="0">
              <a:latin typeface="Chalk Board" panose="02000500000000000000" pitchFamily="2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5C190F5D-4190-3C99-673B-0AB95BBCE12E}"/>
              </a:ext>
            </a:extLst>
          </p:cNvPr>
          <p:cNvSpPr txBox="1"/>
          <p:nvPr/>
        </p:nvSpPr>
        <p:spPr>
          <a:xfrm>
            <a:off x="733645" y="4119169"/>
            <a:ext cx="11490453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 dirty="0">
                <a:latin typeface="Chalk Board" panose="02000500000000000000" pitchFamily="2" charset="0"/>
              </a:rPr>
              <a:t>Then it sees </a:t>
            </a:r>
            <a:r>
              <a:rPr lang="en-US" sz="2800" dirty="0">
                <a:latin typeface="American Typewriter" panose="02090604020004020304" pitchFamily="18" charset="77"/>
              </a:rPr>
              <a:t>(mid, 1, 2, c’’) </a:t>
            </a:r>
            <a:r>
              <a:rPr lang="en-US" sz="3600" dirty="0">
                <a:latin typeface="Chalk Board" panose="02000500000000000000" pitchFamily="2" charset="0"/>
              </a:rPr>
              <a:t>on </a:t>
            </a:r>
            <a:r>
              <a:rPr lang="en-US" sz="3600" dirty="0" err="1">
                <a:latin typeface="Chalk Board" panose="02000500000000000000" pitchFamily="2" charset="0"/>
              </a:rPr>
              <a:t>AT.leak</a:t>
            </a:r>
            <a:r>
              <a:rPr lang="en-US" sz="3600" dirty="0">
                <a:latin typeface="Chalk Board" panose="02000500000000000000" pitchFamily="2" charset="0"/>
              </a:rPr>
              <a:t> and inputs </a:t>
            </a:r>
            <a:r>
              <a:rPr lang="en-US" sz="2400" dirty="0">
                <a:latin typeface="American Typewriter" panose="02090604020004020304" pitchFamily="18" charset="77"/>
              </a:rPr>
              <a:t>(deliver, mid,1,2) </a:t>
            </a:r>
            <a:r>
              <a:rPr lang="en-US" sz="3600" dirty="0">
                <a:latin typeface="Chalk Board" panose="02000500000000000000" pitchFamily="2" charset="0"/>
              </a:rPr>
              <a:t>on </a:t>
            </a:r>
            <a:r>
              <a:rPr lang="en-US" sz="3600" dirty="0" err="1">
                <a:latin typeface="Chalk Board" panose="02000500000000000000" pitchFamily="2" charset="0"/>
              </a:rPr>
              <a:t>AT.infl</a:t>
            </a:r>
            <a:endParaRPr lang="en-US" sz="3600" dirty="0">
              <a:latin typeface="Chalk Board" panose="02000500000000000000" pitchFamily="2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80416752-8925-81BD-6B51-EADA27806E89}"/>
              </a:ext>
            </a:extLst>
          </p:cNvPr>
          <p:cNvSpPr txBox="1"/>
          <p:nvPr/>
        </p:nvSpPr>
        <p:spPr>
          <a:xfrm>
            <a:off x="733645" y="4920447"/>
            <a:ext cx="5387500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 dirty="0">
                <a:latin typeface="Chalk Board" panose="02000500000000000000" pitchFamily="2" charset="0"/>
              </a:rPr>
              <a:t>Then it sees </a:t>
            </a:r>
            <a:r>
              <a:rPr lang="en-US" sz="2800" dirty="0">
                <a:latin typeface="American Typewriter" panose="02090604020004020304" pitchFamily="18" charset="77"/>
              </a:rPr>
              <a:t>(mid, 1, m’’) </a:t>
            </a:r>
            <a:r>
              <a:rPr lang="en-US" sz="3600" dirty="0">
                <a:latin typeface="Chalk Board" panose="02000500000000000000" pitchFamily="2" charset="0"/>
              </a:rPr>
              <a:t>on ST.out2</a:t>
            </a:r>
          </a:p>
        </p:txBody>
      </p:sp>
    </p:spTree>
    <p:extLst>
      <p:ext uri="{BB962C8B-B14F-4D97-AF65-F5344CB8AC3E}">
        <p14:creationId xmlns:p14="http://schemas.microsoft.com/office/powerpoint/2010/main" val="1088473157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2F504D49-30D5-1B84-429D-831094899847}"/>
              </a:ext>
            </a:extLst>
          </p:cNvPr>
          <p:cNvSpPr txBox="1"/>
          <p:nvPr/>
        </p:nvSpPr>
        <p:spPr>
          <a:xfrm>
            <a:off x="256592" y="733600"/>
            <a:ext cx="4990469" cy="110799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6600" dirty="0">
                <a:latin typeface="Chalk Board" panose="02000500000000000000" pitchFamily="2" charset="0"/>
              </a:rPr>
              <a:t>Standalone Security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2E7D6E43-650B-71E2-F9D1-DD6AC874CB5F}"/>
              </a:ext>
            </a:extLst>
          </p:cNvPr>
          <p:cNvSpPr txBox="1"/>
          <p:nvPr/>
        </p:nvSpPr>
        <p:spPr>
          <a:xfrm>
            <a:off x="388839" y="3776605"/>
            <a:ext cx="4725974" cy="110799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6600" dirty="0">
                <a:latin typeface="Chalk Board" panose="02000500000000000000" pitchFamily="2" charset="0"/>
              </a:rPr>
              <a:t>Composed Security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4DD6987-1C2D-FACA-198F-BEE1DD90F78E}"/>
              </a:ext>
            </a:extLst>
          </p:cNvPr>
          <p:cNvSpPr txBox="1"/>
          <p:nvPr/>
        </p:nvSpPr>
        <p:spPr>
          <a:xfrm>
            <a:off x="1929000" y="1670617"/>
            <a:ext cx="9043800" cy="15696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3200" dirty="0">
                <a:latin typeface="Chalk Board" panose="02000500000000000000" pitchFamily="2" charset="0"/>
              </a:rPr>
              <a:t>The protocol is secure </a:t>
            </a:r>
            <a:r>
              <a:rPr lang="en-US" sz="3200" b="1" dirty="0">
                <a:latin typeface="Chalk Board" panose="02000500000000000000" pitchFamily="2" charset="0"/>
              </a:rPr>
              <a:t>when run alone.</a:t>
            </a:r>
          </a:p>
          <a:p>
            <a:r>
              <a:rPr lang="en-US" sz="3200" b="1" dirty="0">
                <a:latin typeface="Chalk Board" panose="02000500000000000000" pitchFamily="2" charset="0"/>
              </a:rPr>
              <a:t> Adversary</a:t>
            </a:r>
            <a:r>
              <a:rPr lang="en-US" sz="3200" dirty="0">
                <a:latin typeface="Chalk Board" panose="02000500000000000000" pitchFamily="2" charset="0"/>
              </a:rPr>
              <a:t> interacts with </a:t>
            </a:r>
            <a:r>
              <a:rPr lang="en-US" sz="3200" i="1" dirty="0">
                <a:latin typeface="Chalk Board" panose="02000500000000000000" pitchFamily="2" charset="0"/>
              </a:rPr>
              <a:t>only this execution. </a:t>
            </a:r>
          </a:p>
          <a:p>
            <a:r>
              <a:rPr lang="en-US" sz="3200" i="1" dirty="0">
                <a:latin typeface="Chalk Board" panose="02000500000000000000" pitchFamily="2" charset="0"/>
              </a:rPr>
              <a:t>Proof</a:t>
            </a:r>
            <a:r>
              <a:rPr lang="en-US" sz="3200" dirty="0">
                <a:latin typeface="Chalk Board" panose="02000500000000000000" pitchFamily="2" charset="0"/>
              </a:rPr>
              <a:t> compares </a:t>
            </a:r>
            <a:r>
              <a:rPr lang="en-US" sz="3200" b="1" dirty="0">
                <a:latin typeface="Chalk Board" panose="02000500000000000000" pitchFamily="2" charset="0"/>
              </a:rPr>
              <a:t>the real vs ideal world for a single run</a:t>
            </a:r>
            <a:endParaRPr lang="en-US" sz="3200" dirty="0">
              <a:latin typeface="Chalk Board" panose="02000500000000000000" pitchFamily="2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20C83E2-50D2-CC8D-ADF8-48448358B8B0}"/>
              </a:ext>
            </a:extLst>
          </p:cNvPr>
          <p:cNvSpPr txBox="1"/>
          <p:nvPr/>
        </p:nvSpPr>
        <p:spPr>
          <a:xfrm>
            <a:off x="2751826" y="4959264"/>
            <a:ext cx="9043800" cy="138499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800" dirty="0">
                <a:latin typeface="Chalk Board" panose="02000500000000000000" pitchFamily="2" charset="0"/>
              </a:rPr>
              <a:t>Protocol remains secure </a:t>
            </a:r>
            <a:r>
              <a:rPr lang="en-US" sz="2800" b="1" dirty="0">
                <a:latin typeface="Chalk Board" panose="02000500000000000000" pitchFamily="2" charset="0"/>
              </a:rPr>
              <a:t>even when composed with arbitrary other protocols</a:t>
            </a:r>
          </a:p>
          <a:p>
            <a:r>
              <a:rPr lang="en-US" sz="2800" dirty="0">
                <a:latin typeface="Chalk Board" panose="02000500000000000000" pitchFamily="2" charset="0"/>
              </a:rPr>
              <a:t>An adversary can interleave many executions</a:t>
            </a:r>
          </a:p>
          <a:p>
            <a:r>
              <a:rPr lang="en-US" sz="2800" dirty="0">
                <a:latin typeface="Chalk Board" panose="02000500000000000000" pitchFamily="2" charset="0"/>
              </a:rPr>
              <a:t>The environment can interact during execution</a:t>
            </a:r>
          </a:p>
        </p:txBody>
      </p:sp>
    </p:spTree>
    <p:extLst>
      <p:ext uri="{BB962C8B-B14F-4D97-AF65-F5344CB8AC3E}">
        <p14:creationId xmlns:p14="http://schemas.microsoft.com/office/powerpoint/2010/main" val="3928109788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E05E6551-0C1A-EAFA-4A65-4DAB91F4A7C9}"/>
                  </a:ext>
                </a:extLst>
              </p:cNvPr>
              <p:cNvSpPr txBox="1"/>
              <p:nvPr/>
            </p:nvSpPr>
            <p:spPr>
              <a:xfrm>
                <a:off x="1432113" y="2111187"/>
                <a:ext cx="6849889" cy="198490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96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nor/>
                            </m:rPr>
                            <a:rPr lang="en-US" sz="9600" b="0" i="0" smtClean="0">
                              <a:latin typeface="Chalk Board" panose="02000500000000000000" pitchFamily="2" charset="0"/>
                            </a:rPr>
                            <m:t>Π</m:t>
                          </m:r>
                        </m:e>
                        <m:sub>
                          <m:r>
                            <m:rPr>
                              <m:nor/>
                            </m:rPr>
                            <a:rPr lang="en-US" sz="9600" b="0" i="0" smtClean="0">
                              <a:latin typeface="Chalk Board" panose="02000500000000000000" pitchFamily="2" charset="0"/>
                            </a:rPr>
                            <m:t>F</m:t>
                          </m:r>
                        </m:sub>
                      </m:sSub>
                      <m:r>
                        <m:rPr>
                          <m:nor/>
                        </m:rPr>
                        <a:rPr lang="en-US" sz="9600" b="0" i="0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m:rPr>
                          <m:nor/>
                        </m:rPr>
                        <a:rPr lang="en-US" sz="9600" b="0" i="0" smtClean="0">
                          <a:latin typeface="Chalk Board" panose="02000500000000000000" pitchFamily="2" charset="0"/>
                        </a:rPr>
                        <m:t>⋄ </m:t>
                      </m:r>
                      <m:sSub>
                        <m:sSubPr>
                          <m:ctrlPr>
                            <a:rPr lang="en-US" sz="96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nor/>
                            </m:rPr>
                            <a:rPr lang="en-US" sz="9600" b="0" i="0" smtClean="0">
                              <a:latin typeface="Chalk Board" panose="02000500000000000000" pitchFamily="2" charset="0"/>
                            </a:rPr>
                            <m:t>F</m:t>
                          </m:r>
                        </m:e>
                        <m:sub>
                          <m:r>
                            <m:rPr>
                              <m:nor/>
                            </m:rPr>
                            <a:rPr lang="en-US" sz="9600" b="0" i="0" smtClean="0">
                              <a:latin typeface="Chalk Board" panose="02000500000000000000" pitchFamily="2" charset="0"/>
                            </a:rPr>
                            <m:t>G</m:t>
                          </m:r>
                        </m:sub>
                      </m:sSub>
                      <m:sSup>
                        <m:sSupPr>
                          <m:ctrlPr>
                            <a:rPr lang="en-US" sz="9600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m:rPr>
                              <m:nor/>
                            </m:rPr>
                            <a:rPr lang="en-US" sz="9600" b="0" i="0" smtClean="0">
                              <a:latin typeface="Chalk Board" panose="02000500000000000000" pitchFamily="2" charset="0"/>
                            </a:rPr>
                            <m:t>≥</m:t>
                          </m:r>
                        </m:e>
                        <m:sup>
                          <m:r>
                            <m:rPr>
                              <m:nor/>
                            </m:rPr>
                            <a:rPr lang="en-US" sz="9600" b="0" i="0" smtClean="0">
                              <a:latin typeface="Chalk Board" panose="02000500000000000000" pitchFamily="2" charset="0"/>
                            </a:rPr>
                            <m:t>Env</m:t>
                          </m:r>
                        </m:sup>
                      </m:sSup>
                      <m:sSub>
                        <m:sSubPr>
                          <m:ctrlPr>
                            <a:rPr lang="en-US" sz="96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nor/>
                            </m:rPr>
                            <a:rPr lang="en-US" sz="9600" b="0" i="0" smtClean="0">
                              <a:latin typeface="Chalk Board" panose="02000500000000000000" pitchFamily="2" charset="0"/>
                            </a:rPr>
                            <m:t>F</m:t>
                          </m:r>
                        </m:e>
                        <m:sub>
                          <m:r>
                            <m:rPr>
                              <m:nor/>
                            </m:rPr>
                            <a:rPr lang="en-US" sz="9600" b="0" i="0" smtClean="0">
                              <a:latin typeface="Chalk Board" panose="02000500000000000000" pitchFamily="2" charset="0"/>
                            </a:rPr>
                            <m:t>F</m:t>
                          </m:r>
                        </m:sub>
                      </m:sSub>
                    </m:oMath>
                  </m:oMathPara>
                </a14:m>
                <a:endParaRPr lang="en-US" sz="9600" dirty="0">
                  <a:latin typeface="Chalk Board" panose="02000500000000000000" pitchFamily="2" charset="0"/>
                </a:endParaRPr>
              </a:p>
            </p:txBody>
          </p:sp>
        </mc:Choice>
        <mc:Fallback xmlns="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E05E6551-0C1A-EAFA-4A65-4DAB91F4A7C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432113" y="2111187"/>
                <a:ext cx="6849889" cy="1984902"/>
              </a:xfrm>
              <a:prstGeom prst="rect">
                <a:avLst/>
              </a:prstGeom>
              <a:blipFill>
                <a:blip r:embed="rId2"/>
                <a:stretch>
                  <a:fillRect l="-3142" t="-5732" r="-2957" b="-3566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TextBox 4">
            <a:extLst>
              <a:ext uri="{FF2B5EF4-FFF2-40B4-BE49-F238E27FC236}">
                <a16:creationId xmlns:a16="http://schemas.microsoft.com/office/drawing/2014/main" id="{EBD4F165-659F-4B3B-B5ED-C34A294A9455}"/>
              </a:ext>
            </a:extLst>
          </p:cNvPr>
          <p:cNvSpPr txBox="1"/>
          <p:nvPr/>
        </p:nvSpPr>
        <p:spPr>
          <a:xfrm>
            <a:off x="579321" y="4772037"/>
            <a:ext cx="1382110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000" dirty="0">
                <a:latin typeface="Chalk Board" panose="02000500000000000000" pitchFamily="2" charset="0"/>
              </a:rPr>
              <a:t>Protocol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B1741D9E-B075-F534-2CED-B76E7041CE9F}"/>
              </a:ext>
            </a:extLst>
          </p:cNvPr>
          <p:cNvSpPr txBox="1"/>
          <p:nvPr/>
        </p:nvSpPr>
        <p:spPr>
          <a:xfrm>
            <a:off x="3465210" y="4766049"/>
            <a:ext cx="1535998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000" dirty="0">
                <a:latin typeface="Chalk Board" panose="02000500000000000000" pitchFamily="2" charset="0"/>
              </a:rPr>
              <a:t>Resource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846DB10F-A2ED-2215-EC38-B6CF580C611A}"/>
              </a:ext>
            </a:extLst>
          </p:cNvPr>
          <p:cNvSpPr txBox="1"/>
          <p:nvPr/>
        </p:nvSpPr>
        <p:spPr>
          <a:xfrm>
            <a:off x="7190794" y="4766049"/>
            <a:ext cx="2743059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000" dirty="0">
                <a:latin typeface="Chalk Board" panose="02000500000000000000" pitchFamily="2" charset="0"/>
              </a:rPr>
              <a:t>Ideal Functionality</a:t>
            </a:r>
          </a:p>
        </p:txBody>
      </p: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99446214-A89F-18A9-2BBD-C15E267EDE9F}"/>
              </a:ext>
            </a:extLst>
          </p:cNvPr>
          <p:cNvCxnSpPr/>
          <p:nvPr/>
        </p:nvCxnSpPr>
        <p:spPr>
          <a:xfrm flipH="1">
            <a:off x="1270376" y="3865096"/>
            <a:ext cx="691055" cy="900953"/>
          </a:xfrm>
          <a:prstGeom prst="straightConnector1">
            <a:avLst/>
          </a:prstGeom>
          <a:ln>
            <a:solidFill>
              <a:schemeClr val="tx1"/>
            </a:solidFill>
            <a:prstDash val="sysDash"/>
            <a:headEnd w="lg" len="sm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1F799C73-39F4-A3E9-AB82-EE156E5F102A}"/>
              </a:ext>
            </a:extLst>
          </p:cNvPr>
          <p:cNvCxnSpPr>
            <a:cxnSpLocks/>
          </p:cNvCxnSpPr>
          <p:nvPr/>
        </p:nvCxnSpPr>
        <p:spPr>
          <a:xfrm flipH="1">
            <a:off x="4008338" y="3755353"/>
            <a:ext cx="142679" cy="1120437"/>
          </a:xfrm>
          <a:prstGeom prst="straightConnector1">
            <a:avLst/>
          </a:prstGeom>
          <a:ln>
            <a:solidFill>
              <a:schemeClr val="tx1"/>
            </a:solidFill>
            <a:prstDash val="sysDash"/>
            <a:headEnd w="lg" len="sm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01E5968B-1DC0-C786-4CFD-6CB61E673B48}"/>
              </a:ext>
            </a:extLst>
          </p:cNvPr>
          <p:cNvCxnSpPr>
            <a:cxnSpLocks/>
          </p:cNvCxnSpPr>
          <p:nvPr/>
        </p:nvCxnSpPr>
        <p:spPr>
          <a:xfrm>
            <a:off x="8183664" y="3535870"/>
            <a:ext cx="641466" cy="1230179"/>
          </a:xfrm>
          <a:prstGeom prst="straightConnector1">
            <a:avLst/>
          </a:prstGeom>
          <a:ln>
            <a:solidFill>
              <a:schemeClr val="tx1"/>
            </a:solidFill>
            <a:prstDash val="sysDash"/>
            <a:headEnd w="lg" len="sm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AE8696DA-B7BD-EFE4-AE86-EE5CB652C653}"/>
              </a:ext>
            </a:extLst>
          </p:cNvPr>
          <p:cNvCxnSpPr>
            <a:cxnSpLocks/>
          </p:cNvCxnSpPr>
          <p:nvPr/>
        </p:nvCxnSpPr>
        <p:spPr>
          <a:xfrm flipV="1">
            <a:off x="6413135" y="1384065"/>
            <a:ext cx="1036536" cy="727122"/>
          </a:xfrm>
          <a:prstGeom prst="straightConnector1">
            <a:avLst/>
          </a:prstGeom>
          <a:ln>
            <a:solidFill>
              <a:schemeClr val="tx1"/>
            </a:solidFill>
            <a:prstDash val="sysDash"/>
            <a:headEnd w="lg" len="sm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>
            <a:extLst>
              <a:ext uri="{FF2B5EF4-FFF2-40B4-BE49-F238E27FC236}">
                <a16:creationId xmlns:a16="http://schemas.microsoft.com/office/drawing/2014/main" id="{338ECBCC-A4BA-1354-E785-025F43529494}"/>
              </a:ext>
            </a:extLst>
          </p:cNvPr>
          <p:cNvSpPr txBox="1"/>
          <p:nvPr/>
        </p:nvSpPr>
        <p:spPr>
          <a:xfrm>
            <a:off x="7190794" y="735308"/>
            <a:ext cx="2236510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000" dirty="0">
                <a:latin typeface="Chalk Board" panose="02000500000000000000" pitchFamily="2" charset="0"/>
              </a:rPr>
              <a:t>As secure as!</a:t>
            </a:r>
          </a:p>
        </p:txBody>
      </p:sp>
    </p:spTree>
    <p:extLst>
      <p:ext uri="{BB962C8B-B14F-4D97-AF65-F5344CB8AC3E}">
        <p14:creationId xmlns:p14="http://schemas.microsoft.com/office/powerpoint/2010/main" val="200214401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  <p:bldP spid="6" grpId="0"/>
      <p:bldP spid="7" grpId="0"/>
      <p:bldP spid="17" grpId="0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2129E44B-06A2-0459-FFBA-796FABD1A381}"/>
              </a:ext>
            </a:extLst>
          </p:cNvPr>
          <p:cNvSpPr/>
          <p:nvPr/>
        </p:nvSpPr>
        <p:spPr>
          <a:xfrm>
            <a:off x="4770691" y="1189186"/>
            <a:ext cx="981623" cy="914395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1D46879F-F20F-2919-1DB6-67DED7CCBCD8}"/>
              </a:ext>
            </a:extLst>
          </p:cNvPr>
          <p:cNvSpPr/>
          <p:nvPr/>
        </p:nvSpPr>
        <p:spPr>
          <a:xfrm>
            <a:off x="3067397" y="1189186"/>
            <a:ext cx="981623" cy="914395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76650D30-AF9A-F413-600B-14ADB24BDF6D}"/>
              </a:ext>
            </a:extLst>
          </p:cNvPr>
          <p:cNvSpPr/>
          <p:nvPr/>
        </p:nvSpPr>
        <p:spPr>
          <a:xfrm>
            <a:off x="6473985" y="1216080"/>
            <a:ext cx="981623" cy="914395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4386B463-E456-9A5E-E139-0E054FE62C48}"/>
              </a:ext>
            </a:extLst>
          </p:cNvPr>
          <p:cNvSpPr/>
          <p:nvPr/>
        </p:nvSpPr>
        <p:spPr>
          <a:xfrm>
            <a:off x="4993339" y="5419164"/>
            <a:ext cx="1264024" cy="1183341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Trapezoid 5">
            <a:extLst>
              <a:ext uri="{FF2B5EF4-FFF2-40B4-BE49-F238E27FC236}">
                <a16:creationId xmlns:a16="http://schemas.microsoft.com/office/drawing/2014/main" id="{C56F415C-260E-373D-C36F-91D35D34659A}"/>
              </a:ext>
            </a:extLst>
          </p:cNvPr>
          <p:cNvSpPr/>
          <p:nvPr/>
        </p:nvSpPr>
        <p:spPr>
          <a:xfrm rot="10800000">
            <a:off x="2888874" y="4428565"/>
            <a:ext cx="5472954" cy="632012"/>
          </a:xfrm>
          <a:prstGeom prst="trapezoid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7FE4051F-2991-EF76-DB89-CD1006C0DF5C}"/>
              </a:ext>
            </a:extLst>
          </p:cNvPr>
          <p:cNvCxnSpPr/>
          <p:nvPr/>
        </p:nvCxnSpPr>
        <p:spPr>
          <a:xfrm>
            <a:off x="2030506" y="457201"/>
            <a:ext cx="0" cy="2501153"/>
          </a:xfrm>
          <a:prstGeom prst="line">
            <a:avLst/>
          </a:prstGeom>
          <a:ln w="2921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34211C25-8F9D-0432-6778-844B40DE723E}"/>
              </a:ext>
            </a:extLst>
          </p:cNvPr>
          <p:cNvCxnSpPr/>
          <p:nvPr/>
        </p:nvCxnSpPr>
        <p:spPr>
          <a:xfrm>
            <a:off x="8812306" y="461684"/>
            <a:ext cx="0" cy="2501153"/>
          </a:xfrm>
          <a:prstGeom prst="line">
            <a:avLst/>
          </a:prstGeom>
          <a:ln w="2921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FF553CFB-B912-BE16-723C-3422CCFEED85}"/>
              </a:ext>
            </a:extLst>
          </p:cNvPr>
          <p:cNvCxnSpPr>
            <a:cxnSpLocks/>
          </p:cNvCxnSpPr>
          <p:nvPr/>
        </p:nvCxnSpPr>
        <p:spPr>
          <a:xfrm flipH="1">
            <a:off x="2185145" y="605121"/>
            <a:ext cx="6488208" cy="0"/>
          </a:xfrm>
          <a:prstGeom prst="line">
            <a:avLst/>
          </a:prstGeom>
          <a:ln w="2921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0FA8C30E-6A72-5956-0DCD-5DF8444C934E}"/>
              </a:ext>
            </a:extLst>
          </p:cNvPr>
          <p:cNvCxnSpPr/>
          <p:nvPr/>
        </p:nvCxnSpPr>
        <p:spPr>
          <a:xfrm>
            <a:off x="2414857" y="3810001"/>
            <a:ext cx="0" cy="2501153"/>
          </a:xfrm>
          <a:prstGeom prst="line">
            <a:avLst/>
          </a:prstGeom>
          <a:ln w="2921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324F6CB0-C113-DB61-5BCE-819ACC4CC69B}"/>
              </a:ext>
            </a:extLst>
          </p:cNvPr>
          <p:cNvCxnSpPr/>
          <p:nvPr/>
        </p:nvCxnSpPr>
        <p:spPr>
          <a:xfrm>
            <a:off x="9196657" y="3801037"/>
            <a:ext cx="0" cy="2501153"/>
          </a:xfrm>
          <a:prstGeom prst="line">
            <a:avLst/>
          </a:prstGeom>
          <a:ln w="2921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718531AD-07D4-F002-9BA5-CD8A64000447}"/>
              </a:ext>
            </a:extLst>
          </p:cNvPr>
          <p:cNvCxnSpPr>
            <a:cxnSpLocks/>
          </p:cNvCxnSpPr>
          <p:nvPr/>
        </p:nvCxnSpPr>
        <p:spPr>
          <a:xfrm flipH="1">
            <a:off x="2569496" y="3957921"/>
            <a:ext cx="6488208" cy="0"/>
          </a:xfrm>
          <a:prstGeom prst="line">
            <a:avLst/>
          </a:prstGeom>
          <a:ln w="2921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1" name="TextBox 20">
            <a:extLst>
              <a:ext uri="{FF2B5EF4-FFF2-40B4-BE49-F238E27FC236}">
                <a16:creationId xmlns:a16="http://schemas.microsoft.com/office/drawing/2014/main" id="{E0166A14-B438-8E77-D558-7FCBAF167F5D}"/>
              </a:ext>
            </a:extLst>
          </p:cNvPr>
          <p:cNvSpPr txBox="1"/>
          <p:nvPr/>
        </p:nvSpPr>
        <p:spPr>
          <a:xfrm>
            <a:off x="4967927" y="1411667"/>
            <a:ext cx="564772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dirty="0"/>
              <a:t>AT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3EFAFB4D-F9AD-BE0C-E076-7CFD69A10815}"/>
              </a:ext>
            </a:extLst>
          </p:cNvPr>
          <p:cNvSpPr txBox="1"/>
          <p:nvPr/>
        </p:nvSpPr>
        <p:spPr>
          <a:xfrm>
            <a:off x="3314299" y="1488611"/>
            <a:ext cx="44114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P1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6C37FCA2-D7F9-DCDE-F80B-776AFC41377F}"/>
              </a:ext>
            </a:extLst>
          </p:cNvPr>
          <p:cNvSpPr txBox="1"/>
          <p:nvPr/>
        </p:nvSpPr>
        <p:spPr>
          <a:xfrm>
            <a:off x="6744223" y="1514616"/>
            <a:ext cx="44114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P2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A5638B9F-80D7-054E-67EE-53E71EB33CBC}"/>
              </a:ext>
            </a:extLst>
          </p:cNvPr>
          <p:cNvSpPr txBox="1"/>
          <p:nvPr/>
        </p:nvSpPr>
        <p:spPr>
          <a:xfrm>
            <a:off x="5433728" y="4567986"/>
            <a:ext cx="31451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S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4947CB44-6BC4-7104-6897-51E9CF05E4B2}"/>
              </a:ext>
            </a:extLst>
          </p:cNvPr>
          <p:cNvSpPr txBox="1"/>
          <p:nvPr/>
        </p:nvSpPr>
        <p:spPr>
          <a:xfrm>
            <a:off x="5415003" y="5894293"/>
            <a:ext cx="42069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ST</a:t>
            </a:r>
          </a:p>
        </p:txBody>
      </p: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9B76149F-734C-FB1B-6383-F5852283BFCA}"/>
              </a:ext>
            </a:extLst>
          </p:cNvPr>
          <p:cNvCxnSpPr>
            <a:cxnSpLocks/>
          </p:cNvCxnSpPr>
          <p:nvPr/>
        </p:nvCxnSpPr>
        <p:spPr>
          <a:xfrm>
            <a:off x="6096000" y="5739205"/>
            <a:ext cx="2961704" cy="0"/>
          </a:xfrm>
          <a:prstGeom prst="straightConnector1">
            <a:avLst/>
          </a:prstGeom>
          <a:ln w="25400" cap="flat">
            <a:solidFill>
              <a:schemeClr val="tx1"/>
            </a:solidFill>
            <a:headEnd type="none" w="lg" len="sm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Straight Arrow Connector 28">
            <a:extLst>
              <a:ext uri="{FF2B5EF4-FFF2-40B4-BE49-F238E27FC236}">
                <a16:creationId xmlns:a16="http://schemas.microsoft.com/office/drawing/2014/main" id="{807037FE-967B-0D44-5D38-F46C5FFFF07E}"/>
              </a:ext>
            </a:extLst>
          </p:cNvPr>
          <p:cNvCxnSpPr>
            <a:cxnSpLocks/>
          </p:cNvCxnSpPr>
          <p:nvPr/>
        </p:nvCxnSpPr>
        <p:spPr>
          <a:xfrm flipH="1">
            <a:off x="5986183" y="6093311"/>
            <a:ext cx="3071521" cy="0"/>
          </a:xfrm>
          <a:prstGeom prst="straightConnector1">
            <a:avLst/>
          </a:prstGeom>
          <a:ln w="25400" cap="flat">
            <a:solidFill>
              <a:schemeClr val="tx1"/>
            </a:solidFill>
            <a:headEnd type="none" w="lg" len="sm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Straight Arrow Connector 31">
            <a:extLst>
              <a:ext uri="{FF2B5EF4-FFF2-40B4-BE49-F238E27FC236}">
                <a16:creationId xmlns:a16="http://schemas.microsoft.com/office/drawing/2014/main" id="{0408563C-EFE2-CEAF-7159-2DCA43CE8BEE}"/>
              </a:ext>
            </a:extLst>
          </p:cNvPr>
          <p:cNvCxnSpPr>
            <a:cxnSpLocks/>
          </p:cNvCxnSpPr>
          <p:nvPr/>
        </p:nvCxnSpPr>
        <p:spPr>
          <a:xfrm>
            <a:off x="2632281" y="5718587"/>
            <a:ext cx="2517943" cy="20618"/>
          </a:xfrm>
          <a:prstGeom prst="straightConnector1">
            <a:avLst/>
          </a:prstGeom>
          <a:ln w="25400" cap="flat">
            <a:solidFill>
              <a:schemeClr val="tx1"/>
            </a:solidFill>
            <a:headEnd type="none" w="lg" len="sm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Straight Arrow Connector 32">
            <a:extLst>
              <a:ext uri="{FF2B5EF4-FFF2-40B4-BE49-F238E27FC236}">
                <a16:creationId xmlns:a16="http://schemas.microsoft.com/office/drawing/2014/main" id="{7F6B31D3-64AE-C182-0464-8E9A48B55C41}"/>
              </a:ext>
            </a:extLst>
          </p:cNvPr>
          <p:cNvCxnSpPr>
            <a:cxnSpLocks/>
          </p:cNvCxnSpPr>
          <p:nvPr/>
        </p:nvCxnSpPr>
        <p:spPr>
          <a:xfrm flipH="1">
            <a:off x="2522464" y="6072693"/>
            <a:ext cx="2614312" cy="0"/>
          </a:xfrm>
          <a:prstGeom prst="straightConnector1">
            <a:avLst/>
          </a:prstGeom>
          <a:ln w="25400" cap="flat">
            <a:solidFill>
              <a:schemeClr val="tx1"/>
            </a:solidFill>
            <a:headEnd type="none" w="lg" len="sm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Straight Arrow Connector 37">
            <a:extLst>
              <a:ext uri="{FF2B5EF4-FFF2-40B4-BE49-F238E27FC236}">
                <a16:creationId xmlns:a16="http://schemas.microsoft.com/office/drawing/2014/main" id="{6FE860AF-D166-9A36-A233-239B3B238571}"/>
              </a:ext>
            </a:extLst>
          </p:cNvPr>
          <p:cNvCxnSpPr>
            <a:cxnSpLocks/>
          </p:cNvCxnSpPr>
          <p:nvPr/>
        </p:nvCxnSpPr>
        <p:spPr>
          <a:xfrm flipV="1">
            <a:off x="3349831" y="4116163"/>
            <a:ext cx="0" cy="451823"/>
          </a:xfrm>
          <a:prstGeom prst="straightConnector1">
            <a:avLst/>
          </a:prstGeom>
          <a:ln w="25400" cap="flat">
            <a:solidFill>
              <a:schemeClr val="tx1"/>
            </a:solidFill>
            <a:headEnd type="none" w="lg" len="sm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Straight Arrow Connector 39">
            <a:extLst>
              <a:ext uri="{FF2B5EF4-FFF2-40B4-BE49-F238E27FC236}">
                <a16:creationId xmlns:a16="http://schemas.microsoft.com/office/drawing/2014/main" id="{6D07D6ED-BAED-7A97-70C9-43A5D4BCBF0D}"/>
              </a:ext>
            </a:extLst>
          </p:cNvPr>
          <p:cNvCxnSpPr>
            <a:cxnSpLocks/>
          </p:cNvCxnSpPr>
          <p:nvPr/>
        </p:nvCxnSpPr>
        <p:spPr>
          <a:xfrm>
            <a:off x="3636702" y="4116163"/>
            <a:ext cx="0" cy="563413"/>
          </a:xfrm>
          <a:prstGeom prst="straightConnector1">
            <a:avLst/>
          </a:prstGeom>
          <a:ln w="25400" cap="flat">
            <a:solidFill>
              <a:schemeClr val="tx1"/>
            </a:solidFill>
            <a:headEnd type="none" w="lg" len="sm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Straight Arrow Connector 42">
            <a:extLst>
              <a:ext uri="{FF2B5EF4-FFF2-40B4-BE49-F238E27FC236}">
                <a16:creationId xmlns:a16="http://schemas.microsoft.com/office/drawing/2014/main" id="{F6F1FAC1-6805-DE65-7928-A9EE07A9A1F4}"/>
              </a:ext>
            </a:extLst>
          </p:cNvPr>
          <p:cNvCxnSpPr>
            <a:cxnSpLocks/>
          </p:cNvCxnSpPr>
          <p:nvPr/>
        </p:nvCxnSpPr>
        <p:spPr>
          <a:xfrm flipV="1">
            <a:off x="5431504" y="4116163"/>
            <a:ext cx="0" cy="451823"/>
          </a:xfrm>
          <a:prstGeom prst="straightConnector1">
            <a:avLst/>
          </a:prstGeom>
          <a:ln w="25400" cap="flat">
            <a:solidFill>
              <a:schemeClr val="tx1"/>
            </a:solidFill>
            <a:headEnd type="none" w="lg" len="sm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Straight Arrow Connector 43">
            <a:extLst>
              <a:ext uri="{FF2B5EF4-FFF2-40B4-BE49-F238E27FC236}">
                <a16:creationId xmlns:a16="http://schemas.microsoft.com/office/drawing/2014/main" id="{88396123-AECA-A298-07E0-F2D2B800917A}"/>
              </a:ext>
            </a:extLst>
          </p:cNvPr>
          <p:cNvCxnSpPr>
            <a:cxnSpLocks/>
          </p:cNvCxnSpPr>
          <p:nvPr/>
        </p:nvCxnSpPr>
        <p:spPr>
          <a:xfrm>
            <a:off x="5718375" y="4116163"/>
            <a:ext cx="0" cy="563413"/>
          </a:xfrm>
          <a:prstGeom prst="straightConnector1">
            <a:avLst/>
          </a:prstGeom>
          <a:ln w="25400" cap="flat">
            <a:solidFill>
              <a:schemeClr val="tx1"/>
            </a:solidFill>
            <a:headEnd type="none" w="lg" len="sm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Straight Arrow Connector 44">
            <a:extLst>
              <a:ext uri="{FF2B5EF4-FFF2-40B4-BE49-F238E27FC236}">
                <a16:creationId xmlns:a16="http://schemas.microsoft.com/office/drawing/2014/main" id="{8B8B9809-CF14-B444-736F-C69CB16F0657}"/>
              </a:ext>
            </a:extLst>
          </p:cNvPr>
          <p:cNvCxnSpPr>
            <a:cxnSpLocks/>
          </p:cNvCxnSpPr>
          <p:nvPr/>
        </p:nvCxnSpPr>
        <p:spPr>
          <a:xfrm flipV="1">
            <a:off x="7536349" y="4146858"/>
            <a:ext cx="0" cy="451823"/>
          </a:xfrm>
          <a:prstGeom prst="straightConnector1">
            <a:avLst/>
          </a:prstGeom>
          <a:ln w="25400" cap="flat">
            <a:solidFill>
              <a:schemeClr val="tx1"/>
            </a:solidFill>
            <a:headEnd type="none" w="lg" len="sm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Straight Arrow Connector 45">
            <a:extLst>
              <a:ext uri="{FF2B5EF4-FFF2-40B4-BE49-F238E27FC236}">
                <a16:creationId xmlns:a16="http://schemas.microsoft.com/office/drawing/2014/main" id="{D3F19E20-2DC0-5F17-D01E-A23B5A2F28D9}"/>
              </a:ext>
            </a:extLst>
          </p:cNvPr>
          <p:cNvCxnSpPr>
            <a:cxnSpLocks/>
          </p:cNvCxnSpPr>
          <p:nvPr/>
        </p:nvCxnSpPr>
        <p:spPr>
          <a:xfrm>
            <a:off x="7823220" y="4146858"/>
            <a:ext cx="0" cy="563413"/>
          </a:xfrm>
          <a:prstGeom prst="straightConnector1">
            <a:avLst/>
          </a:prstGeom>
          <a:ln w="25400" cap="flat">
            <a:solidFill>
              <a:schemeClr val="tx1"/>
            </a:solidFill>
            <a:headEnd type="none" w="lg" len="sm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Straight Arrow Connector 46">
            <a:extLst>
              <a:ext uri="{FF2B5EF4-FFF2-40B4-BE49-F238E27FC236}">
                <a16:creationId xmlns:a16="http://schemas.microsoft.com/office/drawing/2014/main" id="{AF41D235-A135-F643-0B44-A6C5AA94F8CD}"/>
              </a:ext>
            </a:extLst>
          </p:cNvPr>
          <p:cNvCxnSpPr>
            <a:cxnSpLocks/>
          </p:cNvCxnSpPr>
          <p:nvPr/>
        </p:nvCxnSpPr>
        <p:spPr>
          <a:xfrm flipV="1">
            <a:off x="5431504" y="5060578"/>
            <a:ext cx="0" cy="451823"/>
          </a:xfrm>
          <a:prstGeom prst="straightConnector1">
            <a:avLst/>
          </a:prstGeom>
          <a:ln w="25400" cap="flat">
            <a:solidFill>
              <a:schemeClr val="tx1"/>
            </a:solidFill>
            <a:headEnd type="none" w="lg" len="sm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Straight Arrow Connector 47">
            <a:extLst>
              <a:ext uri="{FF2B5EF4-FFF2-40B4-BE49-F238E27FC236}">
                <a16:creationId xmlns:a16="http://schemas.microsoft.com/office/drawing/2014/main" id="{908C2067-0E63-134E-132F-540A78B68478}"/>
              </a:ext>
            </a:extLst>
          </p:cNvPr>
          <p:cNvCxnSpPr>
            <a:cxnSpLocks/>
          </p:cNvCxnSpPr>
          <p:nvPr/>
        </p:nvCxnSpPr>
        <p:spPr>
          <a:xfrm>
            <a:off x="5718375" y="5060578"/>
            <a:ext cx="0" cy="563413"/>
          </a:xfrm>
          <a:prstGeom prst="straightConnector1">
            <a:avLst/>
          </a:prstGeom>
          <a:ln w="25400" cap="flat">
            <a:solidFill>
              <a:schemeClr val="tx1"/>
            </a:solidFill>
            <a:headEnd type="none" w="lg" len="sm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" name="Straight Arrow Connector 48">
            <a:extLst>
              <a:ext uri="{FF2B5EF4-FFF2-40B4-BE49-F238E27FC236}">
                <a16:creationId xmlns:a16="http://schemas.microsoft.com/office/drawing/2014/main" id="{16DBB851-C6C9-A750-6701-6F916BCD3331}"/>
              </a:ext>
            </a:extLst>
          </p:cNvPr>
          <p:cNvCxnSpPr>
            <a:cxnSpLocks/>
          </p:cNvCxnSpPr>
          <p:nvPr/>
        </p:nvCxnSpPr>
        <p:spPr>
          <a:xfrm flipV="1">
            <a:off x="3387204" y="812669"/>
            <a:ext cx="0" cy="451823"/>
          </a:xfrm>
          <a:prstGeom prst="straightConnector1">
            <a:avLst/>
          </a:prstGeom>
          <a:ln w="25400" cap="flat">
            <a:solidFill>
              <a:schemeClr val="tx1"/>
            </a:solidFill>
            <a:headEnd type="none" w="lg" len="sm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Straight Arrow Connector 49">
            <a:extLst>
              <a:ext uri="{FF2B5EF4-FFF2-40B4-BE49-F238E27FC236}">
                <a16:creationId xmlns:a16="http://schemas.microsoft.com/office/drawing/2014/main" id="{0D5C0C92-E582-A096-7DD7-76AB4AC2DF2D}"/>
              </a:ext>
            </a:extLst>
          </p:cNvPr>
          <p:cNvCxnSpPr>
            <a:cxnSpLocks/>
          </p:cNvCxnSpPr>
          <p:nvPr/>
        </p:nvCxnSpPr>
        <p:spPr>
          <a:xfrm>
            <a:off x="3674075" y="812669"/>
            <a:ext cx="0" cy="563413"/>
          </a:xfrm>
          <a:prstGeom prst="straightConnector1">
            <a:avLst/>
          </a:prstGeom>
          <a:ln w="25400" cap="flat">
            <a:solidFill>
              <a:schemeClr val="tx1"/>
            </a:solidFill>
            <a:headEnd type="none" w="lg" len="sm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Straight Arrow Connector 50">
            <a:extLst>
              <a:ext uri="{FF2B5EF4-FFF2-40B4-BE49-F238E27FC236}">
                <a16:creationId xmlns:a16="http://schemas.microsoft.com/office/drawing/2014/main" id="{ABD5DCD5-685B-F1D5-9105-CB55D7C8CEA8}"/>
              </a:ext>
            </a:extLst>
          </p:cNvPr>
          <p:cNvCxnSpPr>
            <a:cxnSpLocks/>
          </p:cNvCxnSpPr>
          <p:nvPr/>
        </p:nvCxnSpPr>
        <p:spPr>
          <a:xfrm flipV="1">
            <a:off x="5144633" y="812669"/>
            <a:ext cx="0" cy="451823"/>
          </a:xfrm>
          <a:prstGeom prst="straightConnector1">
            <a:avLst/>
          </a:prstGeom>
          <a:ln w="25400" cap="flat">
            <a:solidFill>
              <a:schemeClr val="tx1"/>
            </a:solidFill>
            <a:headEnd type="none" w="lg" len="sm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" name="Straight Arrow Connector 51">
            <a:extLst>
              <a:ext uri="{FF2B5EF4-FFF2-40B4-BE49-F238E27FC236}">
                <a16:creationId xmlns:a16="http://schemas.microsoft.com/office/drawing/2014/main" id="{54043E65-4C01-9CD1-02A6-0805478EEA34}"/>
              </a:ext>
            </a:extLst>
          </p:cNvPr>
          <p:cNvCxnSpPr>
            <a:cxnSpLocks/>
          </p:cNvCxnSpPr>
          <p:nvPr/>
        </p:nvCxnSpPr>
        <p:spPr>
          <a:xfrm>
            <a:off x="5431504" y="812669"/>
            <a:ext cx="0" cy="563413"/>
          </a:xfrm>
          <a:prstGeom prst="straightConnector1">
            <a:avLst/>
          </a:prstGeom>
          <a:ln w="25400" cap="flat">
            <a:solidFill>
              <a:schemeClr val="tx1"/>
            </a:solidFill>
            <a:headEnd type="none" w="lg" len="sm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" name="Straight Arrow Connector 52">
            <a:extLst>
              <a:ext uri="{FF2B5EF4-FFF2-40B4-BE49-F238E27FC236}">
                <a16:creationId xmlns:a16="http://schemas.microsoft.com/office/drawing/2014/main" id="{9981E737-7906-8DBF-A3B9-EBDDBFEF93C0}"/>
              </a:ext>
            </a:extLst>
          </p:cNvPr>
          <p:cNvCxnSpPr>
            <a:cxnSpLocks/>
          </p:cNvCxnSpPr>
          <p:nvPr/>
        </p:nvCxnSpPr>
        <p:spPr>
          <a:xfrm flipV="1">
            <a:off x="6863996" y="812669"/>
            <a:ext cx="0" cy="451823"/>
          </a:xfrm>
          <a:prstGeom prst="straightConnector1">
            <a:avLst/>
          </a:prstGeom>
          <a:ln w="25400" cap="flat">
            <a:solidFill>
              <a:schemeClr val="tx1"/>
            </a:solidFill>
            <a:headEnd type="none" w="lg" len="sm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Straight Arrow Connector 53">
            <a:extLst>
              <a:ext uri="{FF2B5EF4-FFF2-40B4-BE49-F238E27FC236}">
                <a16:creationId xmlns:a16="http://schemas.microsoft.com/office/drawing/2014/main" id="{039720A1-3A9E-1757-82A2-A6D872A3AB66}"/>
              </a:ext>
            </a:extLst>
          </p:cNvPr>
          <p:cNvCxnSpPr>
            <a:cxnSpLocks/>
          </p:cNvCxnSpPr>
          <p:nvPr/>
        </p:nvCxnSpPr>
        <p:spPr>
          <a:xfrm>
            <a:off x="7150867" y="812669"/>
            <a:ext cx="0" cy="563413"/>
          </a:xfrm>
          <a:prstGeom prst="straightConnector1">
            <a:avLst/>
          </a:prstGeom>
          <a:ln w="25400" cap="flat">
            <a:solidFill>
              <a:schemeClr val="tx1"/>
            </a:solidFill>
            <a:headEnd type="none" w="lg" len="sm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Straight Arrow Connector 54">
            <a:extLst>
              <a:ext uri="{FF2B5EF4-FFF2-40B4-BE49-F238E27FC236}">
                <a16:creationId xmlns:a16="http://schemas.microsoft.com/office/drawing/2014/main" id="{0F1DC0B7-AEB0-2F93-0599-3F4181916C74}"/>
              </a:ext>
            </a:extLst>
          </p:cNvPr>
          <p:cNvCxnSpPr>
            <a:cxnSpLocks/>
          </p:cNvCxnSpPr>
          <p:nvPr/>
        </p:nvCxnSpPr>
        <p:spPr>
          <a:xfrm>
            <a:off x="2193092" y="1536073"/>
            <a:ext cx="1121207" cy="5426"/>
          </a:xfrm>
          <a:prstGeom prst="straightConnector1">
            <a:avLst/>
          </a:prstGeom>
          <a:ln w="25400" cap="flat">
            <a:solidFill>
              <a:schemeClr val="tx1"/>
            </a:solidFill>
            <a:headEnd type="none" w="lg" len="sm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Straight Arrow Connector 55">
            <a:extLst>
              <a:ext uri="{FF2B5EF4-FFF2-40B4-BE49-F238E27FC236}">
                <a16:creationId xmlns:a16="http://schemas.microsoft.com/office/drawing/2014/main" id="{17185DF4-3F1C-A0B5-6A17-576ACE2E72D3}"/>
              </a:ext>
            </a:extLst>
          </p:cNvPr>
          <p:cNvCxnSpPr>
            <a:cxnSpLocks/>
          </p:cNvCxnSpPr>
          <p:nvPr/>
        </p:nvCxnSpPr>
        <p:spPr>
          <a:xfrm flipH="1" flipV="1">
            <a:off x="2155912" y="1894989"/>
            <a:ext cx="1050348" cy="10416"/>
          </a:xfrm>
          <a:prstGeom prst="straightConnector1">
            <a:avLst/>
          </a:prstGeom>
          <a:ln w="25400" cap="flat">
            <a:solidFill>
              <a:schemeClr val="tx1"/>
            </a:solidFill>
            <a:headEnd type="none" w="lg" len="sm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5" name="Straight Arrow Connector 64">
            <a:extLst>
              <a:ext uri="{FF2B5EF4-FFF2-40B4-BE49-F238E27FC236}">
                <a16:creationId xmlns:a16="http://schemas.microsoft.com/office/drawing/2014/main" id="{ED9405F2-C67D-600D-62E3-AD523B8DC92D}"/>
              </a:ext>
            </a:extLst>
          </p:cNvPr>
          <p:cNvCxnSpPr>
            <a:cxnSpLocks/>
          </p:cNvCxnSpPr>
          <p:nvPr/>
        </p:nvCxnSpPr>
        <p:spPr>
          <a:xfrm>
            <a:off x="3905238" y="1499027"/>
            <a:ext cx="1121207" cy="5426"/>
          </a:xfrm>
          <a:prstGeom prst="straightConnector1">
            <a:avLst/>
          </a:prstGeom>
          <a:ln w="25400" cap="flat">
            <a:solidFill>
              <a:schemeClr val="tx1"/>
            </a:solidFill>
            <a:headEnd type="none" w="lg" len="sm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6" name="Straight Arrow Connector 65">
            <a:extLst>
              <a:ext uri="{FF2B5EF4-FFF2-40B4-BE49-F238E27FC236}">
                <a16:creationId xmlns:a16="http://schemas.microsoft.com/office/drawing/2014/main" id="{69740F42-68D5-9CA1-D63F-1D2971E221F9}"/>
              </a:ext>
            </a:extLst>
          </p:cNvPr>
          <p:cNvCxnSpPr>
            <a:cxnSpLocks/>
          </p:cNvCxnSpPr>
          <p:nvPr/>
        </p:nvCxnSpPr>
        <p:spPr>
          <a:xfrm flipH="1" flipV="1">
            <a:off x="3868058" y="1857943"/>
            <a:ext cx="1050348" cy="10416"/>
          </a:xfrm>
          <a:prstGeom prst="straightConnector1">
            <a:avLst/>
          </a:prstGeom>
          <a:ln w="25400" cap="flat">
            <a:solidFill>
              <a:schemeClr val="tx1"/>
            </a:solidFill>
            <a:headEnd type="none" w="lg" len="sm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7" name="Straight Arrow Connector 66">
            <a:extLst>
              <a:ext uri="{FF2B5EF4-FFF2-40B4-BE49-F238E27FC236}">
                <a16:creationId xmlns:a16="http://schemas.microsoft.com/office/drawing/2014/main" id="{BA8F3FF7-7193-EB20-3443-C4981FC11A10}"/>
              </a:ext>
            </a:extLst>
          </p:cNvPr>
          <p:cNvCxnSpPr>
            <a:cxnSpLocks/>
          </p:cNvCxnSpPr>
          <p:nvPr/>
        </p:nvCxnSpPr>
        <p:spPr>
          <a:xfrm>
            <a:off x="5606011" y="1514616"/>
            <a:ext cx="1121207" cy="5426"/>
          </a:xfrm>
          <a:prstGeom prst="straightConnector1">
            <a:avLst/>
          </a:prstGeom>
          <a:ln w="25400" cap="flat">
            <a:solidFill>
              <a:schemeClr val="tx1"/>
            </a:solidFill>
            <a:headEnd type="none" w="lg" len="sm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8" name="Straight Arrow Connector 67">
            <a:extLst>
              <a:ext uri="{FF2B5EF4-FFF2-40B4-BE49-F238E27FC236}">
                <a16:creationId xmlns:a16="http://schemas.microsoft.com/office/drawing/2014/main" id="{D9722185-AAE2-662F-299B-2ED263AAEFD3}"/>
              </a:ext>
            </a:extLst>
          </p:cNvPr>
          <p:cNvCxnSpPr>
            <a:cxnSpLocks/>
          </p:cNvCxnSpPr>
          <p:nvPr/>
        </p:nvCxnSpPr>
        <p:spPr>
          <a:xfrm flipH="1" flipV="1">
            <a:off x="5568831" y="1873532"/>
            <a:ext cx="1050348" cy="10416"/>
          </a:xfrm>
          <a:prstGeom prst="straightConnector1">
            <a:avLst/>
          </a:prstGeom>
          <a:ln w="25400" cap="flat">
            <a:solidFill>
              <a:schemeClr val="tx1"/>
            </a:solidFill>
            <a:headEnd type="none" w="lg" len="sm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9" name="Straight Arrow Connector 68">
            <a:extLst>
              <a:ext uri="{FF2B5EF4-FFF2-40B4-BE49-F238E27FC236}">
                <a16:creationId xmlns:a16="http://schemas.microsoft.com/office/drawing/2014/main" id="{7B991A71-7D19-D4FC-0F68-77C7C44308A6}"/>
              </a:ext>
            </a:extLst>
          </p:cNvPr>
          <p:cNvCxnSpPr>
            <a:cxnSpLocks/>
          </p:cNvCxnSpPr>
          <p:nvPr/>
        </p:nvCxnSpPr>
        <p:spPr>
          <a:xfrm>
            <a:off x="7479330" y="1514616"/>
            <a:ext cx="1121207" cy="5426"/>
          </a:xfrm>
          <a:prstGeom prst="straightConnector1">
            <a:avLst/>
          </a:prstGeom>
          <a:ln w="25400" cap="flat">
            <a:solidFill>
              <a:schemeClr val="tx1"/>
            </a:solidFill>
            <a:headEnd type="none" w="lg" len="sm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0" name="Straight Arrow Connector 69">
            <a:extLst>
              <a:ext uri="{FF2B5EF4-FFF2-40B4-BE49-F238E27FC236}">
                <a16:creationId xmlns:a16="http://schemas.microsoft.com/office/drawing/2014/main" id="{138257CF-DB3D-455B-3F73-F175F333EC90}"/>
              </a:ext>
            </a:extLst>
          </p:cNvPr>
          <p:cNvCxnSpPr>
            <a:cxnSpLocks/>
          </p:cNvCxnSpPr>
          <p:nvPr/>
        </p:nvCxnSpPr>
        <p:spPr>
          <a:xfrm flipH="1" flipV="1">
            <a:off x="7442150" y="1873532"/>
            <a:ext cx="1050348" cy="10416"/>
          </a:xfrm>
          <a:prstGeom prst="straightConnector1">
            <a:avLst/>
          </a:prstGeom>
          <a:ln w="25400" cap="flat">
            <a:solidFill>
              <a:schemeClr val="tx1"/>
            </a:solidFill>
            <a:headEnd type="none" w="lg" len="sm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1" name="TextBox 70">
            <a:extLst>
              <a:ext uri="{FF2B5EF4-FFF2-40B4-BE49-F238E27FC236}">
                <a16:creationId xmlns:a16="http://schemas.microsoft.com/office/drawing/2014/main" id="{9A9B92D4-1955-0CA0-2BE0-DFF40B625577}"/>
              </a:ext>
            </a:extLst>
          </p:cNvPr>
          <p:cNvSpPr txBox="1"/>
          <p:nvPr/>
        </p:nvSpPr>
        <p:spPr>
          <a:xfrm>
            <a:off x="10087635" y="1109664"/>
            <a:ext cx="825544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7200" dirty="0">
                <a:latin typeface="Bradley Hand" pitchFamily="2" charset="77"/>
                <a:cs typeface="Calibri" panose="020F0502020204030204" pitchFamily="34" charset="0"/>
              </a:rPr>
              <a:t>Z</a:t>
            </a:r>
            <a:endParaRPr lang="en-US" sz="7200" dirty="0"/>
          </a:p>
        </p:txBody>
      </p:sp>
      <p:cxnSp>
        <p:nvCxnSpPr>
          <p:cNvPr id="72" name="Straight Arrow Connector 71">
            <a:extLst>
              <a:ext uri="{FF2B5EF4-FFF2-40B4-BE49-F238E27FC236}">
                <a16:creationId xmlns:a16="http://schemas.microsoft.com/office/drawing/2014/main" id="{22D08384-81D2-6179-E940-E9F1763E2942}"/>
              </a:ext>
            </a:extLst>
          </p:cNvPr>
          <p:cNvCxnSpPr>
            <a:cxnSpLocks/>
            <a:endCxn id="71" idx="1"/>
          </p:cNvCxnSpPr>
          <p:nvPr/>
        </p:nvCxnSpPr>
        <p:spPr>
          <a:xfrm>
            <a:off x="9024076" y="1088109"/>
            <a:ext cx="1063559" cy="621720"/>
          </a:xfrm>
          <a:prstGeom prst="straightConnector1">
            <a:avLst/>
          </a:prstGeom>
          <a:ln w="25400" cap="flat" cmpd="thickThin">
            <a:solidFill>
              <a:schemeClr val="tx1"/>
            </a:solidFill>
            <a:prstDash val="dash"/>
            <a:headEnd type="none" w="lg" len="sm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3" name="TextBox 72">
            <a:extLst>
              <a:ext uri="{FF2B5EF4-FFF2-40B4-BE49-F238E27FC236}">
                <a16:creationId xmlns:a16="http://schemas.microsoft.com/office/drawing/2014/main" id="{C3C624FD-9A11-863B-ABB9-AFF9DDE36590}"/>
              </a:ext>
            </a:extLst>
          </p:cNvPr>
          <p:cNvSpPr txBox="1"/>
          <p:nvPr/>
        </p:nvSpPr>
        <p:spPr>
          <a:xfrm>
            <a:off x="10444193" y="5023826"/>
            <a:ext cx="825544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7200" dirty="0">
                <a:latin typeface="Bradley Hand" pitchFamily="2" charset="77"/>
                <a:cs typeface="Calibri" panose="020F0502020204030204" pitchFamily="34" charset="0"/>
              </a:rPr>
              <a:t>Z</a:t>
            </a:r>
            <a:endParaRPr lang="en-US" sz="7200" dirty="0"/>
          </a:p>
        </p:txBody>
      </p:sp>
      <p:cxnSp>
        <p:nvCxnSpPr>
          <p:cNvPr id="74" name="Straight Arrow Connector 73">
            <a:extLst>
              <a:ext uri="{FF2B5EF4-FFF2-40B4-BE49-F238E27FC236}">
                <a16:creationId xmlns:a16="http://schemas.microsoft.com/office/drawing/2014/main" id="{9C7288EA-1AE7-2180-B8EE-39379E31909A}"/>
              </a:ext>
            </a:extLst>
          </p:cNvPr>
          <p:cNvCxnSpPr>
            <a:cxnSpLocks/>
            <a:endCxn id="73" idx="1"/>
          </p:cNvCxnSpPr>
          <p:nvPr/>
        </p:nvCxnSpPr>
        <p:spPr>
          <a:xfrm>
            <a:off x="9380634" y="5002271"/>
            <a:ext cx="1063559" cy="621720"/>
          </a:xfrm>
          <a:prstGeom prst="straightConnector1">
            <a:avLst/>
          </a:prstGeom>
          <a:ln w="25400" cap="flat" cmpd="thickThin">
            <a:solidFill>
              <a:schemeClr val="tx1"/>
            </a:solidFill>
            <a:prstDash val="dash"/>
            <a:headEnd type="none" w="lg" len="sm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5" name="TextBox 74">
            <a:extLst>
              <a:ext uri="{FF2B5EF4-FFF2-40B4-BE49-F238E27FC236}">
                <a16:creationId xmlns:a16="http://schemas.microsoft.com/office/drawing/2014/main" id="{F704A004-348E-B507-3C92-914D2EFEA5CF}"/>
              </a:ext>
            </a:extLst>
          </p:cNvPr>
          <p:cNvSpPr txBox="1"/>
          <p:nvPr/>
        </p:nvSpPr>
        <p:spPr>
          <a:xfrm>
            <a:off x="4583920" y="2425115"/>
            <a:ext cx="1535998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000" dirty="0">
                <a:latin typeface="Chalk Board" panose="02000500000000000000" pitchFamily="2" charset="0"/>
              </a:rPr>
              <a:t>Resource</a:t>
            </a: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95CEC997-32AD-EBF9-1FF4-9E21AE73821F}"/>
              </a:ext>
            </a:extLst>
          </p:cNvPr>
          <p:cNvSpPr txBox="1"/>
          <p:nvPr/>
        </p:nvSpPr>
        <p:spPr>
          <a:xfrm>
            <a:off x="4555139" y="3124534"/>
            <a:ext cx="1382110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000" dirty="0">
                <a:latin typeface="Chalk Board" panose="02000500000000000000" pitchFamily="2" charset="0"/>
              </a:rPr>
              <a:t>Protocol</a:t>
            </a:r>
          </a:p>
        </p:txBody>
      </p:sp>
      <p:cxnSp>
        <p:nvCxnSpPr>
          <p:cNvPr id="77" name="Straight Arrow Connector 76">
            <a:extLst>
              <a:ext uri="{FF2B5EF4-FFF2-40B4-BE49-F238E27FC236}">
                <a16:creationId xmlns:a16="http://schemas.microsoft.com/office/drawing/2014/main" id="{0AA07680-75AA-BEFF-0D33-AD020DE4FB79}"/>
              </a:ext>
            </a:extLst>
          </p:cNvPr>
          <p:cNvCxnSpPr>
            <a:cxnSpLocks/>
          </p:cNvCxnSpPr>
          <p:nvPr/>
        </p:nvCxnSpPr>
        <p:spPr>
          <a:xfrm flipH="1">
            <a:off x="5261502" y="2206384"/>
            <a:ext cx="20318" cy="371599"/>
          </a:xfrm>
          <a:prstGeom prst="straightConnector1">
            <a:avLst/>
          </a:prstGeom>
          <a:ln w="25400" cap="flat" cmpd="thickThin">
            <a:solidFill>
              <a:schemeClr val="tx1"/>
            </a:solidFill>
            <a:prstDash val="dash"/>
            <a:headEnd type="none" w="lg" len="sm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9" name="Straight Arrow Connector 78">
            <a:extLst>
              <a:ext uri="{FF2B5EF4-FFF2-40B4-BE49-F238E27FC236}">
                <a16:creationId xmlns:a16="http://schemas.microsoft.com/office/drawing/2014/main" id="{D6B14B66-5C92-5502-6CA7-B340C4FA0983}"/>
              </a:ext>
            </a:extLst>
          </p:cNvPr>
          <p:cNvCxnSpPr>
            <a:cxnSpLocks/>
          </p:cNvCxnSpPr>
          <p:nvPr/>
        </p:nvCxnSpPr>
        <p:spPr>
          <a:xfrm flipH="1">
            <a:off x="5986183" y="2266874"/>
            <a:ext cx="877813" cy="1080614"/>
          </a:xfrm>
          <a:prstGeom prst="straightConnector1">
            <a:avLst/>
          </a:prstGeom>
          <a:ln w="25400" cap="flat" cmpd="thickThin">
            <a:solidFill>
              <a:schemeClr val="tx1"/>
            </a:solidFill>
            <a:prstDash val="dash"/>
            <a:headEnd type="none" w="lg" len="sm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2" name="Straight Arrow Connector 81">
            <a:extLst>
              <a:ext uri="{FF2B5EF4-FFF2-40B4-BE49-F238E27FC236}">
                <a16:creationId xmlns:a16="http://schemas.microsoft.com/office/drawing/2014/main" id="{FC505A48-A1E2-4C66-5053-7BF9312DE21A}"/>
              </a:ext>
            </a:extLst>
          </p:cNvPr>
          <p:cNvCxnSpPr>
            <a:cxnSpLocks/>
          </p:cNvCxnSpPr>
          <p:nvPr/>
        </p:nvCxnSpPr>
        <p:spPr>
          <a:xfrm>
            <a:off x="3456788" y="2174940"/>
            <a:ext cx="1127132" cy="1142068"/>
          </a:xfrm>
          <a:prstGeom prst="straightConnector1">
            <a:avLst/>
          </a:prstGeom>
          <a:ln w="25400" cap="flat" cmpd="thickThin">
            <a:solidFill>
              <a:schemeClr val="tx1"/>
            </a:solidFill>
            <a:prstDash val="dash"/>
            <a:headEnd type="none" w="lg" len="sm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34002864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5" grpId="0"/>
      <p:bldP spid="76" grpId="0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ED83BB19-76B4-B371-F352-D8378DFD2EA5}"/>
              </a:ext>
            </a:extLst>
          </p:cNvPr>
          <p:cNvSpPr txBox="1"/>
          <p:nvPr/>
        </p:nvSpPr>
        <p:spPr>
          <a:xfrm>
            <a:off x="79558" y="693260"/>
            <a:ext cx="4960012" cy="110799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6600" dirty="0">
                <a:latin typeface="Chalk Board" panose="02000500000000000000" pitchFamily="2" charset="0"/>
              </a:rPr>
              <a:t>Composed Protocols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B92BFABE-D022-0797-38F6-DF8C820AD9B4}"/>
              </a:ext>
            </a:extLst>
          </p:cNvPr>
          <p:cNvSpPr txBox="1"/>
          <p:nvPr/>
        </p:nvSpPr>
        <p:spPr>
          <a:xfrm>
            <a:off x="1882176" y="2554833"/>
            <a:ext cx="1622560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 dirty="0">
                <a:latin typeface="Chalk Board" panose="02000500000000000000" pitchFamily="2" charset="0"/>
              </a:rPr>
              <a:t>implements</a:t>
            </a:r>
            <a:endParaRPr lang="en-US" dirty="0">
              <a:latin typeface="Chalk Board" panose="02000500000000000000" pitchFamily="2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1E84ED3-5305-31C5-F479-1CE68A9E73D8}"/>
              </a:ext>
            </a:extLst>
          </p:cNvPr>
          <p:cNvSpPr txBox="1"/>
          <p:nvPr/>
        </p:nvSpPr>
        <p:spPr>
          <a:xfrm>
            <a:off x="4301576" y="2554832"/>
            <a:ext cx="4591321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 dirty="0">
                <a:latin typeface="Chalk Board" panose="02000500000000000000" pitchFamily="2" charset="0"/>
              </a:rPr>
              <a:t>with computational security, then: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57EEF99-D61A-16DD-B26F-0FD482D3C704}"/>
              </a:ext>
            </a:extLst>
          </p:cNvPr>
          <p:cNvSpPr txBox="1"/>
          <p:nvPr/>
        </p:nvSpPr>
        <p:spPr>
          <a:xfrm>
            <a:off x="5042914" y="3246566"/>
            <a:ext cx="3975768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 dirty="0">
                <a:latin typeface="Chalk Board" panose="02000500000000000000" pitchFamily="2" charset="0"/>
              </a:rPr>
              <a:t>can be securely replaced by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A169039A-DF8D-822C-27EA-E897F64C6AD2}"/>
              </a:ext>
            </a:extLst>
          </p:cNvPr>
          <p:cNvSpPr txBox="1"/>
          <p:nvPr/>
        </p:nvSpPr>
        <p:spPr>
          <a:xfrm>
            <a:off x="4449853" y="4047842"/>
            <a:ext cx="4294765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 dirty="0">
                <a:latin typeface="Chalk Board" panose="02000500000000000000" pitchFamily="2" charset="0"/>
              </a:rPr>
              <a:t>in any polynomial-time protocol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E01A4ACC-1DD7-DF6A-8752-BEF08CB6DF8C}"/>
                  </a:ext>
                </a:extLst>
              </p:cNvPr>
              <p:cNvSpPr txBox="1"/>
              <p:nvPr/>
            </p:nvSpPr>
            <p:spPr>
              <a:xfrm>
                <a:off x="336176" y="2458637"/>
                <a:ext cx="1473032" cy="604076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36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nor/>
                            </m:rPr>
                            <a:rPr lang="en-US" sz="3600" b="0" i="0" smtClean="0">
                              <a:latin typeface="Chalk Board" panose="02000500000000000000" pitchFamily="2" charset="0"/>
                            </a:rPr>
                            <m:t>Π</m:t>
                          </m:r>
                        </m:e>
                        <m:sub>
                          <m:r>
                            <m:rPr>
                              <m:nor/>
                            </m:rPr>
                            <a:rPr lang="en-US" sz="3600" b="0" i="0" smtClean="0">
                              <a:latin typeface="Chalk Board" panose="02000500000000000000" pitchFamily="2" charset="0"/>
                            </a:rPr>
                            <m:t>ST</m:t>
                          </m:r>
                        </m:sub>
                      </m:sSub>
                      <m:r>
                        <m:rPr>
                          <m:nor/>
                        </m:rPr>
                        <a:rPr lang="en-US" sz="3600" b="0" i="0" smtClean="0">
                          <a:latin typeface="Chalk Board" panose="02000500000000000000" pitchFamily="2" charset="0"/>
                        </a:rPr>
                        <m:t>⋄</m:t>
                      </m:r>
                      <m:sSub>
                        <m:sSubPr>
                          <m:ctrlPr>
                            <a:rPr lang="en-US" sz="36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nor/>
                            </m:rPr>
                            <a:rPr lang="en-US" sz="3600" b="0" i="0" smtClean="0">
                              <a:latin typeface="Chalk Board" panose="02000500000000000000" pitchFamily="2" charset="0"/>
                            </a:rPr>
                            <m:t>F</m:t>
                          </m:r>
                        </m:e>
                        <m:sub>
                          <m:r>
                            <m:rPr>
                              <m:nor/>
                            </m:rPr>
                            <a:rPr lang="en-US" sz="3600" b="0" i="0" smtClean="0">
                              <a:latin typeface="Chalk Board" panose="02000500000000000000" pitchFamily="2" charset="0"/>
                            </a:rPr>
                            <m:t>AT</m:t>
                          </m:r>
                        </m:sub>
                      </m:sSub>
                    </m:oMath>
                  </m:oMathPara>
                </a14:m>
                <a:endParaRPr lang="en-US" sz="3600" dirty="0">
                  <a:latin typeface="Chalk Board" panose="02000500000000000000" pitchFamily="2" charset="0"/>
                </a:endParaRPr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E01A4ACC-1DD7-DF6A-8752-BEF08CB6DF8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36176" y="2458637"/>
                <a:ext cx="1473032" cy="604076"/>
              </a:xfrm>
              <a:prstGeom prst="rect">
                <a:avLst/>
              </a:prstGeom>
              <a:blipFill>
                <a:blip r:embed="rId2"/>
                <a:stretch>
                  <a:fillRect l="-5983" t="-2083" r="-5983" b="-2291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41552E36-ED6E-3E02-1731-8F37E17A4261}"/>
                  </a:ext>
                </a:extLst>
              </p:cNvPr>
              <p:cNvSpPr txBox="1"/>
              <p:nvPr/>
            </p:nvSpPr>
            <p:spPr>
              <a:xfrm>
                <a:off x="3577704" y="2458637"/>
                <a:ext cx="588238" cy="604076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36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nor/>
                            </m:rPr>
                            <a:rPr lang="en-US" sz="3600" b="0" i="0" smtClean="0">
                              <a:latin typeface="Chalk Board" panose="02000500000000000000" pitchFamily="2" charset="0"/>
                            </a:rPr>
                            <m:t>F</m:t>
                          </m:r>
                        </m:e>
                        <m:sub>
                          <m:r>
                            <m:rPr>
                              <m:nor/>
                            </m:rPr>
                            <a:rPr lang="en-US" sz="3600" b="0" i="0" smtClean="0">
                              <a:latin typeface="Chalk Board" panose="02000500000000000000" pitchFamily="2" charset="0"/>
                            </a:rPr>
                            <m:t>ST</m:t>
                          </m:r>
                        </m:sub>
                      </m:sSub>
                    </m:oMath>
                  </m:oMathPara>
                </a14:m>
                <a:endParaRPr lang="en-US" sz="3600" dirty="0">
                  <a:latin typeface="Chalk Board" panose="02000500000000000000" pitchFamily="2" charset="0"/>
                </a:endParaRPr>
              </a:p>
            </p:txBody>
          </p:sp>
        </mc:Choice>
        <mc:Fallback xmlns="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41552E36-ED6E-3E02-1731-8F37E17A426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577704" y="2458637"/>
                <a:ext cx="588238" cy="604076"/>
              </a:xfrm>
              <a:prstGeom prst="rect">
                <a:avLst/>
              </a:prstGeom>
              <a:blipFill>
                <a:blip r:embed="rId3"/>
                <a:stretch>
                  <a:fillRect l="-19149" t="-2083" r="-17021" b="-2291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2B848DBB-35BB-F0CC-5D32-0FABC6A9E21F}"/>
                  </a:ext>
                </a:extLst>
              </p:cNvPr>
              <p:cNvSpPr txBox="1"/>
              <p:nvPr/>
            </p:nvSpPr>
            <p:spPr>
              <a:xfrm>
                <a:off x="9144466" y="3201163"/>
                <a:ext cx="1473032" cy="604076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36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nor/>
                            </m:rPr>
                            <a:rPr lang="en-US" sz="3600" b="0" i="0" smtClean="0">
                              <a:latin typeface="Chalk Board" panose="02000500000000000000" pitchFamily="2" charset="0"/>
                            </a:rPr>
                            <m:t>Π</m:t>
                          </m:r>
                        </m:e>
                        <m:sub>
                          <m:r>
                            <m:rPr>
                              <m:nor/>
                            </m:rPr>
                            <a:rPr lang="en-US" sz="3600" b="0" i="0" smtClean="0">
                              <a:latin typeface="Chalk Board" panose="02000500000000000000" pitchFamily="2" charset="0"/>
                            </a:rPr>
                            <m:t>ST</m:t>
                          </m:r>
                        </m:sub>
                      </m:sSub>
                      <m:r>
                        <m:rPr>
                          <m:nor/>
                        </m:rPr>
                        <a:rPr lang="en-US" sz="3600" b="0" i="0" smtClean="0">
                          <a:latin typeface="Chalk Board" panose="02000500000000000000" pitchFamily="2" charset="0"/>
                        </a:rPr>
                        <m:t>⋄</m:t>
                      </m:r>
                      <m:sSub>
                        <m:sSubPr>
                          <m:ctrlPr>
                            <a:rPr lang="en-US" sz="36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nor/>
                            </m:rPr>
                            <a:rPr lang="en-US" sz="3600" b="0" i="0" smtClean="0">
                              <a:latin typeface="Chalk Board" panose="02000500000000000000" pitchFamily="2" charset="0"/>
                            </a:rPr>
                            <m:t>F</m:t>
                          </m:r>
                        </m:e>
                        <m:sub>
                          <m:r>
                            <m:rPr>
                              <m:nor/>
                            </m:rPr>
                            <a:rPr lang="en-US" sz="3600" b="0" i="0" smtClean="0">
                              <a:latin typeface="Chalk Board" panose="02000500000000000000" pitchFamily="2" charset="0"/>
                            </a:rPr>
                            <m:t>AT</m:t>
                          </m:r>
                        </m:sub>
                      </m:sSub>
                    </m:oMath>
                  </m:oMathPara>
                </a14:m>
                <a:endParaRPr lang="en-US" sz="3600" dirty="0">
                  <a:latin typeface="Chalk Board" panose="02000500000000000000" pitchFamily="2" charset="0"/>
                </a:endParaRPr>
              </a:p>
            </p:txBody>
          </p:sp>
        </mc:Choice>
        <mc:Fallback xmlns="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2B848DBB-35BB-F0CC-5D32-0FABC6A9E21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144466" y="3201163"/>
                <a:ext cx="1473032" cy="604076"/>
              </a:xfrm>
              <a:prstGeom prst="rect">
                <a:avLst/>
              </a:prstGeom>
              <a:blipFill>
                <a:blip r:embed="rId4"/>
                <a:stretch>
                  <a:fillRect l="-6838" t="-2083" r="-5128" b="-2083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7165800D-888C-BD85-1E03-0BEB872FAD31}"/>
                  </a:ext>
                </a:extLst>
              </p:cNvPr>
              <p:cNvSpPr txBox="1"/>
              <p:nvPr/>
            </p:nvSpPr>
            <p:spPr>
              <a:xfrm>
                <a:off x="4437619" y="3160882"/>
                <a:ext cx="588238" cy="604076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36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nor/>
                            </m:rPr>
                            <a:rPr lang="en-US" sz="3600" b="0" i="0" smtClean="0">
                              <a:latin typeface="Chalk Board" panose="02000500000000000000" pitchFamily="2" charset="0"/>
                            </a:rPr>
                            <m:t>F</m:t>
                          </m:r>
                        </m:e>
                        <m:sub>
                          <m:r>
                            <m:rPr>
                              <m:nor/>
                            </m:rPr>
                            <a:rPr lang="en-US" sz="3600" b="0" i="0" smtClean="0">
                              <a:latin typeface="Chalk Board" panose="02000500000000000000" pitchFamily="2" charset="0"/>
                            </a:rPr>
                            <m:t>ST</m:t>
                          </m:r>
                        </m:sub>
                      </m:sSub>
                    </m:oMath>
                  </m:oMathPara>
                </a14:m>
                <a:endParaRPr lang="en-US" sz="3600" dirty="0">
                  <a:latin typeface="Chalk Board" panose="02000500000000000000" pitchFamily="2" charset="0"/>
                </a:endParaRPr>
              </a:p>
            </p:txBody>
          </p:sp>
        </mc:Choice>
        <mc:Fallback xmlns="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7165800D-888C-BD85-1E03-0BEB872FAD3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437619" y="3160882"/>
                <a:ext cx="588238" cy="604076"/>
              </a:xfrm>
              <a:prstGeom prst="rect">
                <a:avLst/>
              </a:prstGeom>
              <a:blipFill>
                <a:blip r:embed="rId5"/>
                <a:stretch>
                  <a:fillRect l="-19149" t="-4167" r="-14894" b="-2083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910387577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A1D19E6E-40AE-C12E-8C77-76793E6E5145}"/>
              </a:ext>
            </a:extLst>
          </p:cNvPr>
          <p:cNvSpPr/>
          <p:nvPr/>
        </p:nvSpPr>
        <p:spPr>
          <a:xfrm>
            <a:off x="3203089" y="4475181"/>
            <a:ext cx="1116107" cy="1105348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4800" dirty="0">
                <a:latin typeface="American Typewriter" panose="02090604020004020304" pitchFamily="18" charset="77"/>
              </a:rPr>
              <a:t>Q1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1F04BCFD-68F1-F1A6-DC18-F3A7E155EC94}"/>
              </a:ext>
            </a:extLst>
          </p:cNvPr>
          <p:cNvSpPr/>
          <p:nvPr/>
        </p:nvSpPr>
        <p:spPr>
          <a:xfrm>
            <a:off x="5065955" y="4475181"/>
            <a:ext cx="1116107" cy="1105348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4400" dirty="0">
                <a:latin typeface="American Typewriter" panose="02090604020004020304" pitchFamily="18" charset="77"/>
              </a:rPr>
              <a:t>ST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A8F3D298-1AFF-7490-1E23-79D4C6744F2B}"/>
              </a:ext>
            </a:extLst>
          </p:cNvPr>
          <p:cNvSpPr/>
          <p:nvPr/>
        </p:nvSpPr>
        <p:spPr>
          <a:xfrm>
            <a:off x="6928821" y="4475181"/>
            <a:ext cx="1116107" cy="1105348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4800" dirty="0">
                <a:latin typeface="American Typewriter" panose="02090604020004020304" pitchFamily="18" charset="77"/>
              </a:rPr>
              <a:t>Q1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DF3CAEA4-648A-07BE-F425-E62633C1B6A3}"/>
              </a:ext>
            </a:extLst>
          </p:cNvPr>
          <p:cNvSpPr/>
          <p:nvPr/>
        </p:nvSpPr>
        <p:spPr>
          <a:xfrm>
            <a:off x="5065955" y="1453627"/>
            <a:ext cx="1116107" cy="1105348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4800" dirty="0">
                <a:latin typeface="American Typewriter" panose="02090604020004020304" pitchFamily="18" charset="77"/>
              </a:rPr>
              <a:t>N</a:t>
            </a:r>
            <a:endParaRPr lang="en-US" dirty="0">
              <a:latin typeface="American Typewriter" panose="02090604020004020304" pitchFamily="18" charset="77"/>
            </a:endParaRPr>
          </a:p>
        </p:txBody>
      </p: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52601501-CC19-5D52-0950-398C6DDD72D6}"/>
              </a:ext>
            </a:extLst>
          </p:cNvPr>
          <p:cNvCxnSpPr>
            <a:cxnSpLocks/>
          </p:cNvCxnSpPr>
          <p:nvPr/>
        </p:nvCxnSpPr>
        <p:spPr>
          <a:xfrm>
            <a:off x="4319196" y="4851699"/>
            <a:ext cx="844475" cy="0"/>
          </a:xfrm>
          <a:prstGeom prst="straightConnector1">
            <a:avLst/>
          </a:prstGeom>
          <a:ln w="25400" cap="flat">
            <a:solidFill>
              <a:schemeClr val="tx1"/>
            </a:solidFill>
            <a:headEnd type="none" w="lg" len="sm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BE8323B5-16F4-BEA0-1DE1-14E1E745E398}"/>
              </a:ext>
            </a:extLst>
          </p:cNvPr>
          <p:cNvCxnSpPr>
            <a:cxnSpLocks/>
          </p:cNvCxnSpPr>
          <p:nvPr/>
        </p:nvCxnSpPr>
        <p:spPr>
          <a:xfrm flipH="1">
            <a:off x="4283336" y="5246146"/>
            <a:ext cx="782619" cy="0"/>
          </a:xfrm>
          <a:prstGeom prst="straightConnector1">
            <a:avLst/>
          </a:prstGeom>
          <a:ln w="25400" cap="flat">
            <a:solidFill>
              <a:schemeClr val="tx1"/>
            </a:solidFill>
            <a:headEnd type="none" w="lg" len="sm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92241EB2-86ED-202C-0F11-6FA1015D9E57}"/>
              </a:ext>
            </a:extLst>
          </p:cNvPr>
          <p:cNvCxnSpPr>
            <a:cxnSpLocks/>
          </p:cNvCxnSpPr>
          <p:nvPr/>
        </p:nvCxnSpPr>
        <p:spPr>
          <a:xfrm>
            <a:off x="6182062" y="4851699"/>
            <a:ext cx="844475" cy="0"/>
          </a:xfrm>
          <a:prstGeom prst="straightConnector1">
            <a:avLst/>
          </a:prstGeom>
          <a:ln w="25400" cap="flat">
            <a:solidFill>
              <a:schemeClr val="tx1"/>
            </a:solidFill>
            <a:headEnd type="none" w="lg" len="sm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BE6582E7-E673-098D-9A0D-D72514ADA6D5}"/>
              </a:ext>
            </a:extLst>
          </p:cNvPr>
          <p:cNvCxnSpPr>
            <a:cxnSpLocks/>
          </p:cNvCxnSpPr>
          <p:nvPr/>
        </p:nvCxnSpPr>
        <p:spPr>
          <a:xfrm flipH="1">
            <a:off x="6146202" y="5246146"/>
            <a:ext cx="782619" cy="0"/>
          </a:xfrm>
          <a:prstGeom prst="straightConnector1">
            <a:avLst/>
          </a:prstGeom>
          <a:ln w="25400" cap="flat">
            <a:solidFill>
              <a:schemeClr val="tx1"/>
            </a:solidFill>
            <a:headEnd type="none" w="lg" len="sm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D9079C13-F3F0-3E05-80CF-94BC7B003BD3}"/>
              </a:ext>
            </a:extLst>
          </p:cNvPr>
          <p:cNvCxnSpPr>
            <a:cxnSpLocks/>
          </p:cNvCxnSpPr>
          <p:nvPr/>
        </p:nvCxnSpPr>
        <p:spPr>
          <a:xfrm>
            <a:off x="2375648" y="4851699"/>
            <a:ext cx="844475" cy="0"/>
          </a:xfrm>
          <a:prstGeom prst="straightConnector1">
            <a:avLst/>
          </a:prstGeom>
          <a:ln w="25400" cap="flat">
            <a:solidFill>
              <a:schemeClr val="tx1"/>
            </a:solidFill>
            <a:headEnd type="none" w="lg" len="sm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F572AD6A-0B9C-D815-88BD-F667941D6AFC}"/>
              </a:ext>
            </a:extLst>
          </p:cNvPr>
          <p:cNvCxnSpPr>
            <a:cxnSpLocks/>
          </p:cNvCxnSpPr>
          <p:nvPr/>
        </p:nvCxnSpPr>
        <p:spPr>
          <a:xfrm flipH="1">
            <a:off x="2375648" y="5246146"/>
            <a:ext cx="827441" cy="0"/>
          </a:xfrm>
          <a:prstGeom prst="straightConnector1">
            <a:avLst/>
          </a:prstGeom>
          <a:ln w="25400" cap="flat">
            <a:solidFill>
              <a:schemeClr val="tx1"/>
            </a:solidFill>
            <a:headEnd type="none" w="lg" len="sm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289BEFD7-A860-5BD1-4129-C7E4518723E4}"/>
              </a:ext>
            </a:extLst>
          </p:cNvPr>
          <p:cNvCxnSpPr>
            <a:cxnSpLocks/>
          </p:cNvCxnSpPr>
          <p:nvPr/>
        </p:nvCxnSpPr>
        <p:spPr>
          <a:xfrm>
            <a:off x="8044928" y="4851699"/>
            <a:ext cx="844475" cy="0"/>
          </a:xfrm>
          <a:prstGeom prst="straightConnector1">
            <a:avLst/>
          </a:prstGeom>
          <a:ln w="25400" cap="flat">
            <a:solidFill>
              <a:schemeClr val="tx1"/>
            </a:solidFill>
            <a:headEnd type="none" w="lg" len="sm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Straight Arrow Connector 27">
            <a:extLst>
              <a:ext uri="{FF2B5EF4-FFF2-40B4-BE49-F238E27FC236}">
                <a16:creationId xmlns:a16="http://schemas.microsoft.com/office/drawing/2014/main" id="{7FF65BF9-048D-6C40-316C-3E348CB37C36}"/>
              </a:ext>
            </a:extLst>
          </p:cNvPr>
          <p:cNvCxnSpPr>
            <a:cxnSpLocks/>
          </p:cNvCxnSpPr>
          <p:nvPr/>
        </p:nvCxnSpPr>
        <p:spPr>
          <a:xfrm flipH="1">
            <a:off x="8044928" y="5246146"/>
            <a:ext cx="827441" cy="0"/>
          </a:xfrm>
          <a:prstGeom prst="straightConnector1">
            <a:avLst/>
          </a:prstGeom>
          <a:ln w="25400" cap="flat">
            <a:solidFill>
              <a:schemeClr val="tx1"/>
            </a:solidFill>
            <a:headEnd type="none" w="lg" len="sm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Straight Arrow Connector 38">
            <a:extLst>
              <a:ext uri="{FF2B5EF4-FFF2-40B4-BE49-F238E27FC236}">
                <a16:creationId xmlns:a16="http://schemas.microsoft.com/office/drawing/2014/main" id="{4D8AB14C-85F7-8D7D-AA55-4921C4D16C12}"/>
              </a:ext>
            </a:extLst>
          </p:cNvPr>
          <p:cNvCxnSpPr>
            <a:cxnSpLocks/>
          </p:cNvCxnSpPr>
          <p:nvPr/>
        </p:nvCxnSpPr>
        <p:spPr>
          <a:xfrm>
            <a:off x="4545106" y="1748566"/>
            <a:ext cx="618565" cy="0"/>
          </a:xfrm>
          <a:prstGeom prst="straightConnector1">
            <a:avLst/>
          </a:prstGeom>
          <a:ln w="25400" cap="flat">
            <a:solidFill>
              <a:schemeClr val="tx1"/>
            </a:solidFill>
            <a:headEnd type="none" w="lg" len="sm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Straight Arrow Connector 39">
            <a:extLst>
              <a:ext uri="{FF2B5EF4-FFF2-40B4-BE49-F238E27FC236}">
                <a16:creationId xmlns:a16="http://schemas.microsoft.com/office/drawing/2014/main" id="{2B09D7AA-14C3-2A78-75A5-5C6222A7DB1C}"/>
              </a:ext>
            </a:extLst>
          </p:cNvPr>
          <p:cNvCxnSpPr>
            <a:cxnSpLocks/>
          </p:cNvCxnSpPr>
          <p:nvPr/>
        </p:nvCxnSpPr>
        <p:spPr>
          <a:xfrm flipH="1">
            <a:off x="4450976" y="2143013"/>
            <a:ext cx="614979" cy="0"/>
          </a:xfrm>
          <a:prstGeom prst="straightConnector1">
            <a:avLst/>
          </a:prstGeom>
          <a:ln w="25400" cap="flat">
            <a:solidFill>
              <a:schemeClr val="tx1"/>
            </a:solidFill>
            <a:headEnd type="none" w="lg" len="sm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Straight Arrow Connector 40">
            <a:extLst>
              <a:ext uri="{FF2B5EF4-FFF2-40B4-BE49-F238E27FC236}">
                <a16:creationId xmlns:a16="http://schemas.microsoft.com/office/drawing/2014/main" id="{11669DFA-2BC5-F714-0521-D28EBFE9A508}"/>
              </a:ext>
            </a:extLst>
          </p:cNvPr>
          <p:cNvCxnSpPr>
            <a:cxnSpLocks/>
          </p:cNvCxnSpPr>
          <p:nvPr/>
        </p:nvCxnSpPr>
        <p:spPr>
          <a:xfrm>
            <a:off x="6182062" y="1762461"/>
            <a:ext cx="581809" cy="0"/>
          </a:xfrm>
          <a:prstGeom prst="straightConnector1">
            <a:avLst/>
          </a:prstGeom>
          <a:ln w="25400" cap="flat">
            <a:solidFill>
              <a:schemeClr val="tx1"/>
            </a:solidFill>
            <a:headEnd type="none" w="lg" len="sm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Straight Arrow Connector 41">
            <a:extLst>
              <a:ext uri="{FF2B5EF4-FFF2-40B4-BE49-F238E27FC236}">
                <a16:creationId xmlns:a16="http://schemas.microsoft.com/office/drawing/2014/main" id="{770777F2-699C-F5F5-5212-455EB1A6C67A}"/>
              </a:ext>
            </a:extLst>
          </p:cNvPr>
          <p:cNvCxnSpPr>
            <a:cxnSpLocks/>
          </p:cNvCxnSpPr>
          <p:nvPr/>
        </p:nvCxnSpPr>
        <p:spPr>
          <a:xfrm flipH="1">
            <a:off x="6096000" y="2174838"/>
            <a:ext cx="667871" cy="0"/>
          </a:xfrm>
          <a:prstGeom prst="straightConnector1">
            <a:avLst/>
          </a:prstGeom>
          <a:ln w="25400" cap="flat">
            <a:solidFill>
              <a:schemeClr val="tx1"/>
            </a:solidFill>
            <a:headEnd type="none" w="lg" len="sm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Straight Arrow Connector 42">
            <a:extLst>
              <a:ext uri="{FF2B5EF4-FFF2-40B4-BE49-F238E27FC236}">
                <a16:creationId xmlns:a16="http://schemas.microsoft.com/office/drawing/2014/main" id="{9BFC5674-F40B-3B43-5C2F-B8EFE1315AC2}"/>
              </a:ext>
            </a:extLst>
          </p:cNvPr>
          <p:cNvCxnSpPr>
            <a:cxnSpLocks/>
          </p:cNvCxnSpPr>
          <p:nvPr/>
        </p:nvCxnSpPr>
        <p:spPr>
          <a:xfrm>
            <a:off x="5888915" y="981635"/>
            <a:ext cx="0" cy="579568"/>
          </a:xfrm>
          <a:prstGeom prst="straightConnector1">
            <a:avLst/>
          </a:prstGeom>
          <a:ln w="25400" cap="flat">
            <a:solidFill>
              <a:schemeClr val="tx1"/>
            </a:solidFill>
            <a:headEnd type="none" w="lg" len="sm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Straight Arrow Connector 43">
            <a:extLst>
              <a:ext uri="{FF2B5EF4-FFF2-40B4-BE49-F238E27FC236}">
                <a16:creationId xmlns:a16="http://schemas.microsoft.com/office/drawing/2014/main" id="{930E68A6-474B-69E4-A105-829071298B03}"/>
              </a:ext>
            </a:extLst>
          </p:cNvPr>
          <p:cNvCxnSpPr>
            <a:cxnSpLocks/>
          </p:cNvCxnSpPr>
          <p:nvPr/>
        </p:nvCxnSpPr>
        <p:spPr>
          <a:xfrm flipV="1">
            <a:off x="5395855" y="874059"/>
            <a:ext cx="0" cy="570604"/>
          </a:xfrm>
          <a:prstGeom prst="straightConnector1">
            <a:avLst/>
          </a:prstGeom>
          <a:ln w="25400" cap="flat">
            <a:solidFill>
              <a:schemeClr val="tx1"/>
            </a:solidFill>
            <a:headEnd type="none" w="lg" len="sm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" name="Straight Arrow Connector 51">
            <a:extLst>
              <a:ext uri="{FF2B5EF4-FFF2-40B4-BE49-F238E27FC236}">
                <a16:creationId xmlns:a16="http://schemas.microsoft.com/office/drawing/2014/main" id="{EDBF60E5-1903-EA39-E36E-C94ADA87365E}"/>
              </a:ext>
            </a:extLst>
          </p:cNvPr>
          <p:cNvCxnSpPr>
            <a:cxnSpLocks/>
          </p:cNvCxnSpPr>
          <p:nvPr/>
        </p:nvCxnSpPr>
        <p:spPr>
          <a:xfrm>
            <a:off x="3965987" y="3792071"/>
            <a:ext cx="0" cy="683110"/>
          </a:xfrm>
          <a:prstGeom prst="straightConnector1">
            <a:avLst/>
          </a:prstGeom>
          <a:ln w="25400" cap="flat">
            <a:solidFill>
              <a:schemeClr val="tx1"/>
            </a:solidFill>
            <a:headEnd type="none" w="lg" len="sm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" name="Straight Arrow Connector 52">
            <a:extLst>
              <a:ext uri="{FF2B5EF4-FFF2-40B4-BE49-F238E27FC236}">
                <a16:creationId xmlns:a16="http://schemas.microsoft.com/office/drawing/2014/main" id="{EC034816-0CCC-6E46-CB3C-53AC65806D1B}"/>
              </a:ext>
            </a:extLst>
          </p:cNvPr>
          <p:cNvCxnSpPr>
            <a:cxnSpLocks/>
          </p:cNvCxnSpPr>
          <p:nvPr/>
        </p:nvCxnSpPr>
        <p:spPr>
          <a:xfrm flipV="1">
            <a:off x="3518647" y="3792071"/>
            <a:ext cx="0" cy="674146"/>
          </a:xfrm>
          <a:prstGeom prst="straightConnector1">
            <a:avLst/>
          </a:prstGeom>
          <a:ln w="25400" cap="flat">
            <a:solidFill>
              <a:schemeClr val="tx1"/>
            </a:solidFill>
            <a:headEnd type="none" w="lg" len="sm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Straight Arrow Connector 53">
            <a:extLst>
              <a:ext uri="{FF2B5EF4-FFF2-40B4-BE49-F238E27FC236}">
                <a16:creationId xmlns:a16="http://schemas.microsoft.com/office/drawing/2014/main" id="{06B3F211-D73C-0016-A60D-22D934A4259F}"/>
              </a:ext>
            </a:extLst>
          </p:cNvPr>
          <p:cNvCxnSpPr>
            <a:cxnSpLocks/>
          </p:cNvCxnSpPr>
          <p:nvPr/>
        </p:nvCxnSpPr>
        <p:spPr>
          <a:xfrm>
            <a:off x="5888915" y="3792071"/>
            <a:ext cx="0" cy="683110"/>
          </a:xfrm>
          <a:prstGeom prst="straightConnector1">
            <a:avLst/>
          </a:prstGeom>
          <a:ln w="25400" cap="flat">
            <a:solidFill>
              <a:schemeClr val="tx1"/>
            </a:solidFill>
            <a:headEnd type="none" w="lg" len="sm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Straight Arrow Connector 54">
            <a:extLst>
              <a:ext uri="{FF2B5EF4-FFF2-40B4-BE49-F238E27FC236}">
                <a16:creationId xmlns:a16="http://schemas.microsoft.com/office/drawing/2014/main" id="{0F569C89-66A5-0A5F-0677-3C71C7E319FC}"/>
              </a:ext>
            </a:extLst>
          </p:cNvPr>
          <p:cNvCxnSpPr>
            <a:cxnSpLocks/>
          </p:cNvCxnSpPr>
          <p:nvPr/>
        </p:nvCxnSpPr>
        <p:spPr>
          <a:xfrm flipV="1">
            <a:off x="5441575" y="3792071"/>
            <a:ext cx="0" cy="674146"/>
          </a:xfrm>
          <a:prstGeom prst="straightConnector1">
            <a:avLst/>
          </a:prstGeom>
          <a:ln w="25400" cap="flat">
            <a:solidFill>
              <a:schemeClr val="tx1"/>
            </a:solidFill>
            <a:headEnd type="none" w="lg" len="sm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Straight Arrow Connector 55">
            <a:extLst>
              <a:ext uri="{FF2B5EF4-FFF2-40B4-BE49-F238E27FC236}">
                <a16:creationId xmlns:a16="http://schemas.microsoft.com/office/drawing/2014/main" id="{3A82A9F4-A260-BEB2-8D6F-5CF688C310F6}"/>
              </a:ext>
            </a:extLst>
          </p:cNvPr>
          <p:cNvCxnSpPr>
            <a:cxnSpLocks/>
          </p:cNvCxnSpPr>
          <p:nvPr/>
        </p:nvCxnSpPr>
        <p:spPr>
          <a:xfrm>
            <a:off x="7731162" y="3792071"/>
            <a:ext cx="0" cy="683110"/>
          </a:xfrm>
          <a:prstGeom prst="straightConnector1">
            <a:avLst/>
          </a:prstGeom>
          <a:ln w="25400" cap="flat">
            <a:solidFill>
              <a:schemeClr val="tx1"/>
            </a:solidFill>
            <a:headEnd type="none" w="lg" len="sm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" name="Straight Arrow Connector 56">
            <a:extLst>
              <a:ext uri="{FF2B5EF4-FFF2-40B4-BE49-F238E27FC236}">
                <a16:creationId xmlns:a16="http://schemas.microsoft.com/office/drawing/2014/main" id="{689120D1-390D-98D7-0C3F-91CBA1CD402C}"/>
              </a:ext>
            </a:extLst>
          </p:cNvPr>
          <p:cNvCxnSpPr>
            <a:cxnSpLocks/>
          </p:cNvCxnSpPr>
          <p:nvPr/>
        </p:nvCxnSpPr>
        <p:spPr>
          <a:xfrm flipV="1">
            <a:off x="7283822" y="3792071"/>
            <a:ext cx="0" cy="674146"/>
          </a:xfrm>
          <a:prstGeom prst="straightConnector1">
            <a:avLst/>
          </a:prstGeom>
          <a:ln w="25400" cap="flat">
            <a:solidFill>
              <a:schemeClr val="tx1"/>
            </a:solidFill>
            <a:headEnd type="none" w="lg" len="sm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78" name="TextBox 77">
                <a:extLst>
                  <a:ext uri="{FF2B5EF4-FFF2-40B4-BE49-F238E27FC236}">
                    <a16:creationId xmlns:a16="http://schemas.microsoft.com/office/drawing/2014/main" id="{8B915986-17B9-440A-AEF8-9FDC5ECB9892}"/>
                  </a:ext>
                </a:extLst>
              </p:cNvPr>
              <p:cNvSpPr txBox="1"/>
              <p:nvPr/>
            </p:nvSpPr>
            <p:spPr>
              <a:xfrm>
                <a:off x="4593066" y="5936339"/>
                <a:ext cx="1761784" cy="446084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nor/>
                            </m:rPr>
                            <a:rPr lang="en-US" sz="2000" b="0" i="0" smtClean="0">
                              <a:latin typeface="KG Ten Thousand Reasons" panose="02000000000000000000" pitchFamily="2" charset="77"/>
                            </a:rPr>
                            <m:t>π</m:t>
                          </m:r>
                        </m:e>
                        <m:sub>
                          <m:r>
                            <m:rPr>
                              <m:nor/>
                            </m:rPr>
                            <a:rPr lang="en-US" sz="2000" b="0" i="0" smtClean="0">
                              <a:latin typeface="KG Ten Thousand Reasons" panose="02000000000000000000" pitchFamily="2" charset="77"/>
                            </a:rPr>
                            <m:t>N</m:t>
                          </m:r>
                        </m:sub>
                      </m:sSub>
                      <m:r>
                        <m:rPr>
                          <m:nor/>
                        </m:rPr>
                        <a:rPr lang="en-US" sz="2000" b="0" i="0" smtClean="0">
                          <a:latin typeface="KG Ten Thousand Reasons" panose="02000000000000000000" pitchFamily="2" charset="77"/>
                        </a:rPr>
                        <m:t> ⋄ </m:t>
                      </m:r>
                      <m:sSub>
                        <m:sSubPr>
                          <m:ctrlPr>
                            <a:rPr lang="en-US" sz="20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nor/>
                            </m:rPr>
                            <a:rPr lang="en-US" sz="2000" b="0" i="0" smtClean="0">
                              <a:latin typeface="KG Ten Thousand Reasons" panose="02000000000000000000" pitchFamily="2" charset="77"/>
                            </a:rPr>
                            <m:t>F</m:t>
                          </m:r>
                        </m:e>
                        <m:sub>
                          <m:r>
                            <m:rPr>
                              <m:nor/>
                            </m:rPr>
                            <a:rPr lang="en-US" sz="2000" b="0" i="0" smtClean="0">
                              <a:latin typeface="KG Ten Thousand Reasons" panose="02000000000000000000" pitchFamily="2" charset="77"/>
                            </a:rPr>
                            <m:t>ST</m:t>
                          </m:r>
                        </m:sub>
                      </m:sSub>
                    </m:oMath>
                  </m:oMathPara>
                </a14:m>
                <a:endParaRPr lang="en-US" sz="2000" dirty="0">
                  <a:latin typeface="KG Ten Thousand Reasons" panose="02000000000000000000" pitchFamily="2" charset="77"/>
                </a:endParaRPr>
              </a:p>
            </p:txBody>
          </p:sp>
        </mc:Choice>
        <mc:Fallback xmlns="">
          <p:sp>
            <p:nvSpPr>
              <p:cNvPr id="78" name="TextBox 77">
                <a:extLst>
                  <a:ext uri="{FF2B5EF4-FFF2-40B4-BE49-F238E27FC236}">
                    <a16:creationId xmlns:a16="http://schemas.microsoft.com/office/drawing/2014/main" id="{8B915986-17B9-440A-AEF8-9FDC5ECB989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593066" y="5936339"/>
                <a:ext cx="1761784" cy="446084"/>
              </a:xfrm>
              <a:prstGeom prst="rect">
                <a:avLst/>
              </a:prstGeom>
              <a:blipFill>
                <a:blip r:embed="rId2"/>
                <a:stretch>
                  <a:fillRect t="-19444" b="-2777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9" name="TextBox 78">
            <a:extLst>
              <a:ext uri="{FF2B5EF4-FFF2-40B4-BE49-F238E27FC236}">
                <a16:creationId xmlns:a16="http://schemas.microsoft.com/office/drawing/2014/main" id="{73B3DDAF-9962-2E35-4850-CD50F6ECD58A}"/>
              </a:ext>
            </a:extLst>
          </p:cNvPr>
          <p:cNvSpPr txBox="1"/>
          <p:nvPr/>
        </p:nvSpPr>
        <p:spPr>
          <a:xfrm>
            <a:off x="3613353" y="1577795"/>
            <a:ext cx="79060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American Typewriter" panose="02090604020004020304" pitchFamily="18" charset="77"/>
              </a:rPr>
              <a:t>N.in1</a:t>
            </a:r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48113775-D25B-55E8-8E99-0FE107359755}"/>
              </a:ext>
            </a:extLst>
          </p:cNvPr>
          <p:cNvSpPr txBox="1"/>
          <p:nvPr/>
        </p:nvSpPr>
        <p:spPr>
          <a:xfrm>
            <a:off x="6804212" y="2002729"/>
            <a:ext cx="79060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American Typewriter" panose="02090604020004020304" pitchFamily="18" charset="77"/>
              </a:rPr>
              <a:t>N.in2</a:t>
            </a:r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27D03953-9B36-90DE-C418-935E2EC3C568}"/>
              </a:ext>
            </a:extLst>
          </p:cNvPr>
          <p:cNvSpPr txBox="1"/>
          <p:nvPr/>
        </p:nvSpPr>
        <p:spPr>
          <a:xfrm>
            <a:off x="6817187" y="1561203"/>
            <a:ext cx="93326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American Typewriter" panose="02090604020004020304" pitchFamily="18" charset="77"/>
              </a:rPr>
              <a:t>N.out2</a:t>
            </a:r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927BA02E-6249-E923-08EC-24ED9AA4F15E}"/>
              </a:ext>
            </a:extLst>
          </p:cNvPr>
          <p:cNvSpPr txBox="1"/>
          <p:nvPr/>
        </p:nvSpPr>
        <p:spPr>
          <a:xfrm>
            <a:off x="3595615" y="1942450"/>
            <a:ext cx="93326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American Typewriter" panose="02090604020004020304" pitchFamily="18" charset="77"/>
              </a:rPr>
              <a:t>N.out1</a:t>
            </a:r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9DBC1AFF-DCE7-CA79-376C-5289C96E3560}"/>
              </a:ext>
            </a:extLst>
          </p:cNvPr>
          <p:cNvSpPr txBox="1"/>
          <p:nvPr/>
        </p:nvSpPr>
        <p:spPr>
          <a:xfrm>
            <a:off x="5963300" y="750353"/>
            <a:ext cx="80926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>
                <a:latin typeface="American Typewriter" panose="02090604020004020304" pitchFamily="18" charset="77"/>
              </a:rPr>
              <a:t>N.infl</a:t>
            </a:r>
            <a:endParaRPr lang="en-US" dirty="0">
              <a:latin typeface="American Typewriter" panose="02090604020004020304" pitchFamily="18" charset="77"/>
            </a:endParaRPr>
          </a:p>
        </p:txBody>
      </p:sp>
      <p:sp>
        <p:nvSpPr>
          <p:cNvPr id="84" name="TextBox 83">
            <a:extLst>
              <a:ext uri="{FF2B5EF4-FFF2-40B4-BE49-F238E27FC236}">
                <a16:creationId xmlns:a16="http://schemas.microsoft.com/office/drawing/2014/main" id="{DE82766B-AD91-FBE4-81E6-384FACE05BA1}"/>
              </a:ext>
            </a:extLst>
          </p:cNvPr>
          <p:cNvSpPr txBox="1"/>
          <p:nvPr/>
        </p:nvSpPr>
        <p:spPr>
          <a:xfrm>
            <a:off x="4809990" y="520625"/>
            <a:ext cx="88838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>
                <a:latin typeface="American Typewriter" panose="02090604020004020304" pitchFamily="18" charset="77"/>
              </a:rPr>
              <a:t>N.leak</a:t>
            </a:r>
            <a:endParaRPr lang="en-US" dirty="0">
              <a:latin typeface="American Typewriter" panose="02090604020004020304" pitchFamily="18" charset="77"/>
            </a:endParaRPr>
          </a:p>
        </p:txBody>
      </p:sp>
      <p:sp>
        <p:nvSpPr>
          <p:cNvPr id="85" name="TextBox 84">
            <a:extLst>
              <a:ext uri="{FF2B5EF4-FFF2-40B4-BE49-F238E27FC236}">
                <a16:creationId xmlns:a16="http://schemas.microsoft.com/office/drawing/2014/main" id="{32FB0B7E-A060-2C44-D41E-02D2A832653B}"/>
              </a:ext>
            </a:extLst>
          </p:cNvPr>
          <p:cNvSpPr txBox="1"/>
          <p:nvPr/>
        </p:nvSpPr>
        <p:spPr>
          <a:xfrm>
            <a:off x="1530042" y="4696825"/>
            <a:ext cx="79060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American Typewriter" panose="02090604020004020304" pitchFamily="18" charset="77"/>
              </a:rPr>
              <a:t>N.in1</a:t>
            </a:r>
          </a:p>
        </p:txBody>
      </p:sp>
      <p:sp>
        <p:nvSpPr>
          <p:cNvPr id="86" name="TextBox 85">
            <a:extLst>
              <a:ext uri="{FF2B5EF4-FFF2-40B4-BE49-F238E27FC236}">
                <a16:creationId xmlns:a16="http://schemas.microsoft.com/office/drawing/2014/main" id="{A178204B-8756-7436-9549-623151DB55C6}"/>
              </a:ext>
            </a:extLst>
          </p:cNvPr>
          <p:cNvSpPr txBox="1"/>
          <p:nvPr/>
        </p:nvSpPr>
        <p:spPr>
          <a:xfrm>
            <a:off x="1512304" y="5061480"/>
            <a:ext cx="93326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American Typewriter" panose="02090604020004020304" pitchFamily="18" charset="77"/>
              </a:rPr>
              <a:t>N.out1</a:t>
            </a:r>
          </a:p>
        </p:txBody>
      </p:sp>
      <p:sp>
        <p:nvSpPr>
          <p:cNvPr id="87" name="TextBox 86">
            <a:extLst>
              <a:ext uri="{FF2B5EF4-FFF2-40B4-BE49-F238E27FC236}">
                <a16:creationId xmlns:a16="http://schemas.microsoft.com/office/drawing/2014/main" id="{28EB6317-FADC-CE36-8884-8B93B399D0F5}"/>
              </a:ext>
            </a:extLst>
          </p:cNvPr>
          <p:cNvSpPr txBox="1"/>
          <p:nvPr/>
        </p:nvSpPr>
        <p:spPr>
          <a:xfrm>
            <a:off x="8913522" y="5065514"/>
            <a:ext cx="79060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American Typewriter" panose="02090604020004020304" pitchFamily="18" charset="77"/>
              </a:rPr>
              <a:t>N.in2</a:t>
            </a:r>
          </a:p>
        </p:txBody>
      </p:sp>
      <p:sp>
        <p:nvSpPr>
          <p:cNvPr id="88" name="TextBox 87">
            <a:extLst>
              <a:ext uri="{FF2B5EF4-FFF2-40B4-BE49-F238E27FC236}">
                <a16:creationId xmlns:a16="http://schemas.microsoft.com/office/drawing/2014/main" id="{A816F0A5-0578-06A9-F4EE-693EC764429E}"/>
              </a:ext>
            </a:extLst>
          </p:cNvPr>
          <p:cNvSpPr txBox="1"/>
          <p:nvPr/>
        </p:nvSpPr>
        <p:spPr>
          <a:xfrm>
            <a:off x="8926497" y="4623988"/>
            <a:ext cx="93326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American Typewriter" panose="02090604020004020304" pitchFamily="18" charset="77"/>
              </a:rPr>
              <a:t>N.out2</a:t>
            </a:r>
          </a:p>
        </p:txBody>
      </p:sp>
      <p:sp>
        <p:nvSpPr>
          <p:cNvPr id="89" name="TextBox 88">
            <a:extLst>
              <a:ext uri="{FF2B5EF4-FFF2-40B4-BE49-F238E27FC236}">
                <a16:creationId xmlns:a16="http://schemas.microsoft.com/office/drawing/2014/main" id="{4B11D601-372D-4A63-231E-14640CBAE0F0}"/>
              </a:ext>
            </a:extLst>
          </p:cNvPr>
          <p:cNvSpPr txBox="1"/>
          <p:nvPr/>
        </p:nvSpPr>
        <p:spPr>
          <a:xfrm>
            <a:off x="6213512" y="4963259"/>
            <a:ext cx="740972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>
                <a:latin typeface="American Typewriter" panose="02090604020004020304" pitchFamily="18" charset="77"/>
              </a:rPr>
              <a:t>ST.out2</a:t>
            </a:r>
          </a:p>
        </p:txBody>
      </p:sp>
      <p:sp>
        <p:nvSpPr>
          <p:cNvPr id="90" name="TextBox 89">
            <a:extLst>
              <a:ext uri="{FF2B5EF4-FFF2-40B4-BE49-F238E27FC236}">
                <a16:creationId xmlns:a16="http://schemas.microsoft.com/office/drawing/2014/main" id="{B1B0E70C-3FA2-D5F1-85E5-AFFBC282F08E}"/>
              </a:ext>
            </a:extLst>
          </p:cNvPr>
          <p:cNvSpPr txBox="1"/>
          <p:nvPr/>
        </p:nvSpPr>
        <p:spPr>
          <a:xfrm>
            <a:off x="6213512" y="4533448"/>
            <a:ext cx="647998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>
                <a:latin typeface="American Typewriter" panose="02090604020004020304" pitchFamily="18" charset="77"/>
              </a:rPr>
              <a:t>ST.in2</a:t>
            </a:r>
          </a:p>
        </p:txBody>
      </p:sp>
      <p:sp>
        <p:nvSpPr>
          <p:cNvPr id="91" name="TextBox 90">
            <a:extLst>
              <a:ext uri="{FF2B5EF4-FFF2-40B4-BE49-F238E27FC236}">
                <a16:creationId xmlns:a16="http://schemas.microsoft.com/office/drawing/2014/main" id="{A0562526-D2E2-4B6C-77C7-69EA548D6C80}"/>
              </a:ext>
            </a:extLst>
          </p:cNvPr>
          <p:cNvSpPr txBox="1"/>
          <p:nvPr/>
        </p:nvSpPr>
        <p:spPr>
          <a:xfrm>
            <a:off x="4389194" y="4988136"/>
            <a:ext cx="740972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>
                <a:latin typeface="American Typewriter" panose="02090604020004020304" pitchFamily="18" charset="77"/>
              </a:rPr>
              <a:t>ST.out1</a:t>
            </a:r>
          </a:p>
        </p:txBody>
      </p:sp>
      <p:sp>
        <p:nvSpPr>
          <p:cNvPr id="92" name="TextBox 91">
            <a:extLst>
              <a:ext uri="{FF2B5EF4-FFF2-40B4-BE49-F238E27FC236}">
                <a16:creationId xmlns:a16="http://schemas.microsoft.com/office/drawing/2014/main" id="{21AF3E0F-42FD-B609-446E-99F1CC4D1735}"/>
              </a:ext>
            </a:extLst>
          </p:cNvPr>
          <p:cNvSpPr txBox="1"/>
          <p:nvPr/>
        </p:nvSpPr>
        <p:spPr>
          <a:xfrm>
            <a:off x="4389194" y="4558325"/>
            <a:ext cx="647998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>
                <a:latin typeface="American Typewriter" panose="02090604020004020304" pitchFamily="18" charset="77"/>
              </a:rPr>
              <a:t>ST.in1</a:t>
            </a:r>
          </a:p>
        </p:txBody>
      </p:sp>
      <p:sp>
        <p:nvSpPr>
          <p:cNvPr id="93" name="TextBox 92">
            <a:extLst>
              <a:ext uri="{FF2B5EF4-FFF2-40B4-BE49-F238E27FC236}">
                <a16:creationId xmlns:a16="http://schemas.microsoft.com/office/drawing/2014/main" id="{14309A15-7EA6-BCB2-7490-233CFA4C1077}"/>
              </a:ext>
            </a:extLst>
          </p:cNvPr>
          <p:cNvSpPr txBox="1"/>
          <p:nvPr/>
        </p:nvSpPr>
        <p:spPr>
          <a:xfrm>
            <a:off x="5861595" y="3650730"/>
            <a:ext cx="74270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 err="1">
                <a:latin typeface="American Typewriter" panose="02090604020004020304" pitchFamily="18" charset="77"/>
              </a:rPr>
              <a:t>ST.infl</a:t>
            </a:r>
            <a:endParaRPr lang="en-US" sz="1400" dirty="0">
              <a:latin typeface="American Typewriter" panose="02090604020004020304" pitchFamily="18" charset="77"/>
            </a:endParaRPr>
          </a:p>
        </p:txBody>
      </p:sp>
      <p:sp>
        <p:nvSpPr>
          <p:cNvPr id="94" name="TextBox 93">
            <a:extLst>
              <a:ext uri="{FF2B5EF4-FFF2-40B4-BE49-F238E27FC236}">
                <a16:creationId xmlns:a16="http://schemas.microsoft.com/office/drawing/2014/main" id="{B0B1C014-7890-334D-D88B-62F90D7490B0}"/>
              </a:ext>
            </a:extLst>
          </p:cNvPr>
          <p:cNvSpPr txBox="1"/>
          <p:nvPr/>
        </p:nvSpPr>
        <p:spPr>
          <a:xfrm>
            <a:off x="4993661" y="3465306"/>
            <a:ext cx="804387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 err="1">
                <a:latin typeface="American Typewriter" panose="02090604020004020304" pitchFamily="18" charset="77"/>
              </a:rPr>
              <a:t>ST.leak</a:t>
            </a:r>
            <a:endParaRPr lang="en-US" sz="1400" dirty="0">
              <a:latin typeface="American Typewriter" panose="02090604020004020304" pitchFamily="18" charset="77"/>
            </a:endParaRPr>
          </a:p>
        </p:txBody>
      </p:sp>
      <p:sp>
        <p:nvSpPr>
          <p:cNvPr id="97" name="TextBox 96">
            <a:extLst>
              <a:ext uri="{FF2B5EF4-FFF2-40B4-BE49-F238E27FC236}">
                <a16:creationId xmlns:a16="http://schemas.microsoft.com/office/drawing/2014/main" id="{B8726ABF-19A7-4F54-E172-8BECEFD56045}"/>
              </a:ext>
            </a:extLst>
          </p:cNvPr>
          <p:cNvSpPr txBox="1"/>
          <p:nvPr/>
        </p:nvSpPr>
        <p:spPr>
          <a:xfrm>
            <a:off x="7785101" y="3638182"/>
            <a:ext cx="856517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>
                <a:latin typeface="American Typewriter" panose="02090604020004020304" pitchFamily="18" charset="77"/>
              </a:rPr>
              <a:t>ST.infl2</a:t>
            </a:r>
          </a:p>
        </p:txBody>
      </p:sp>
      <p:sp>
        <p:nvSpPr>
          <p:cNvPr id="98" name="TextBox 97">
            <a:extLst>
              <a:ext uri="{FF2B5EF4-FFF2-40B4-BE49-F238E27FC236}">
                <a16:creationId xmlns:a16="http://schemas.microsoft.com/office/drawing/2014/main" id="{898660F5-3CD2-B5BF-6AC4-9B169833E1D5}"/>
              </a:ext>
            </a:extLst>
          </p:cNvPr>
          <p:cNvSpPr txBox="1"/>
          <p:nvPr/>
        </p:nvSpPr>
        <p:spPr>
          <a:xfrm>
            <a:off x="6917167" y="3452758"/>
            <a:ext cx="918200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>
                <a:latin typeface="American Typewriter" panose="02090604020004020304" pitchFamily="18" charset="77"/>
              </a:rPr>
              <a:t>ST.leak2</a:t>
            </a:r>
          </a:p>
        </p:txBody>
      </p:sp>
      <p:sp>
        <p:nvSpPr>
          <p:cNvPr id="99" name="TextBox 98">
            <a:extLst>
              <a:ext uri="{FF2B5EF4-FFF2-40B4-BE49-F238E27FC236}">
                <a16:creationId xmlns:a16="http://schemas.microsoft.com/office/drawing/2014/main" id="{EABF0E6B-ECAB-49B2-441F-0D43584E2BA0}"/>
              </a:ext>
            </a:extLst>
          </p:cNvPr>
          <p:cNvSpPr txBox="1"/>
          <p:nvPr/>
        </p:nvSpPr>
        <p:spPr>
          <a:xfrm>
            <a:off x="3905535" y="3552990"/>
            <a:ext cx="856517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>
                <a:latin typeface="American Typewriter" panose="02090604020004020304" pitchFamily="18" charset="77"/>
              </a:rPr>
              <a:t>ST.infl1</a:t>
            </a:r>
          </a:p>
        </p:txBody>
      </p:sp>
      <p:sp>
        <p:nvSpPr>
          <p:cNvPr id="100" name="TextBox 99">
            <a:extLst>
              <a:ext uri="{FF2B5EF4-FFF2-40B4-BE49-F238E27FC236}">
                <a16:creationId xmlns:a16="http://schemas.microsoft.com/office/drawing/2014/main" id="{4266DB1E-75F1-50E9-918F-6EA9C7E059F6}"/>
              </a:ext>
            </a:extLst>
          </p:cNvPr>
          <p:cNvSpPr txBox="1"/>
          <p:nvPr/>
        </p:nvSpPr>
        <p:spPr>
          <a:xfrm>
            <a:off x="3037601" y="3367566"/>
            <a:ext cx="918200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>
                <a:latin typeface="American Typewriter" panose="02090604020004020304" pitchFamily="18" charset="77"/>
              </a:rPr>
              <a:t>ST.leak1</a:t>
            </a:r>
          </a:p>
        </p:txBody>
      </p:sp>
    </p:spTree>
    <p:extLst>
      <p:ext uri="{BB962C8B-B14F-4D97-AF65-F5344CB8AC3E}">
        <p14:creationId xmlns:p14="http://schemas.microsoft.com/office/powerpoint/2010/main" val="1113840092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A848619-2B10-DB36-E461-067F7CCDB02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Rounded Rectangle 29">
            <a:extLst>
              <a:ext uri="{FF2B5EF4-FFF2-40B4-BE49-F238E27FC236}">
                <a16:creationId xmlns:a16="http://schemas.microsoft.com/office/drawing/2014/main" id="{3AB99491-E6AC-EDC4-CD8C-86651A6BE7F3}"/>
              </a:ext>
            </a:extLst>
          </p:cNvPr>
          <p:cNvSpPr/>
          <p:nvPr/>
        </p:nvSpPr>
        <p:spPr>
          <a:xfrm>
            <a:off x="6598027" y="3429000"/>
            <a:ext cx="3917568" cy="1666539"/>
          </a:xfrm>
          <a:custGeom>
            <a:avLst/>
            <a:gdLst>
              <a:gd name="connsiteX0" fmla="*/ 0 w 3917568"/>
              <a:gd name="connsiteY0" fmla="*/ 277762 h 1666539"/>
              <a:gd name="connsiteX1" fmla="*/ 277762 w 3917568"/>
              <a:gd name="connsiteY1" fmla="*/ 0 h 1666539"/>
              <a:gd name="connsiteX2" fmla="*/ 871723 w 3917568"/>
              <a:gd name="connsiteY2" fmla="*/ 0 h 1666539"/>
              <a:gd name="connsiteX3" fmla="*/ 1331202 w 3917568"/>
              <a:gd name="connsiteY3" fmla="*/ 0 h 1666539"/>
              <a:gd name="connsiteX4" fmla="*/ 1891543 w 3917568"/>
              <a:gd name="connsiteY4" fmla="*/ 0 h 1666539"/>
              <a:gd name="connsiteX5" fmla="*/ 2384643 w 3917568"/>
              <a:gd name="connsiteY5" fmla="*/ 0 h 1666539"/>
              <a:gd name="connsiteX6" fmla="*/ 2978604 w 3917568"/>
              <a:gd name="connsiteY6" fmla="*/ 0 h 1666539"/>
              <a:gd name="connsiteX7" fmla="*/ 3639806 w 3917568"/>
              <a:gd name="connsiteY7" fmla="*/ 0 h 1666539"/>
              <a:gd name="connsiteX8" fmla="*/ 3917568 w 3917568"/>
              <a:gd name="connsiteY8" fmla="*/ 277762 h 1666539"/>
              <a:gd name="connsiteX9" fmla="*/ 3917568 w 3917568"/>
              <a:gd name="connsiteY9" fmla="*/ 833270 h 1666539"/>
              <a:gd name="connsiteX10" fmla="*/ 3917568 w 3917568"/>
              <a:gd name="connsiteY10" fmla="*/ 1388777 h 1666539"/>
              <a:gd name="connsiteX11" fmla="*/ 3639806 w 3917568"/>
              <a:gd name="connsiteY11" fmla="*/ 1666539 h 1666539"/>
              <a:gd name="connsiteX12" fmla="*/ 3012224 w 3917568"/>
              <a:gd name="connsiteY12" fmla="*/ 1666539 h 1666539"/>
              <a:gd name="connsiteX13" fmla="*/ 2519125 w 3917568"/>
              <a:gd name="connsiteY13" fmla="*/ 1666539 h 1666539"/>
              <a:gd name="connsiteX14" fmla="*/ 2059645 w 3917568"/>
              <a:gd name="connsiteY14" fmla="*/ 1666539 h 1666539"/>
              <a:gd name="connsiteX15" fmla="*/ 1566546 w 3917568"/>
              <a:gd name="connsiteY15" fmla="*/ 1666539 h 1666539"/>
              <a:gd name="connsiteX16" fmla="*/ 1039825 w 3917568"/>
              <a:gd name="connsiteY16" fmla="*/ 1666539 h 1666539"/>
              <a:gd name="connsiteX17" fmla="*/ 277762 w 3917568"/>
              <a:gd name="connsiteY17" fmla="*/ 1666539 h 1666539"/>
              <a:gd name="connsiteX18" fmla="*/ 0 w 3917568"/>
              <a:gd name="connsiteY18" fmla="*/ 1388777 h 1666539"/>
              <a:gd name="connsiteX19" fmla="*/ 0 w 3917568"/>
              <a:gd name="connsiteY19" fmla="*/ 811049 h 1666539"/>
              <a:gd name="connsiteX20" fmla="*/ 0 w 3917568"/>
              <a:gd name="connsiteY20" fmla="*/ 277762 h 166653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</a:cxnLst>
            <a:rect l="l" t="t" r="r" b="b"/>
            <a:pathLst>
              <a:path w="3917568" h="1666539" fill="none" extrusionOk="0">
                <a:moveTo>
                  <a:pt x="0" y="277762"/>
                </a:moveTo>
                <a:cubicBezTo>
                  <a:pt x="19478" y="162924"/>
                  <a:pt x="101260" y="12181"/>
                  <a:pt x="277762" y="0"/>
                </a:cubicBezTo>
                <a:cubicBezTo>
                  <a:pt x="449486" y="-69805"/>
                  <a:pt x="610733" y="41663"/>
                  <a:pt x="871723" y="0"/>
                </a:cubicBezTo>
                <a:cubicBezTo>
                  <a:pt x="1132713" y="-41663"/>
                  <a:pt x="1200822" y="54664"/>
                  <a:pt x="1331202" y="0"/>
                </a:cubicBezTo>
                <a:cubicBezTo>
                  <a:pt x="1461582" y="-54664"/>
                  <a:pt x="1622081" y="39015"/>
                  <a:pt x="1891543" y="0"/>
                </a:cubicBezTo>
                <a:cubicBezTo>
                  <a:pt x="2161005" y="-39015"/>
                  <a:pt x="2222138" y="769"/>
                  <a:pt x="2384643" y="0"/>
                </a:cubicBezTo>
                <a:cubicBezTo>
                  <a:pt x="2547148" y="-769"/>
                  <a:pt x="2782072" y="5788"/>
                  <a:pt x="2978604" y="0"/>
                </a:cubicBezTo>
                <a:cubicBezTo>
                  <a:pt x="3175136" y="-5788"/>
                  <a:pt x="3355606" y="38022"/>
                  <a:pt x="3639806" y="0"/>
                </a:cubicBezTo>
                <a:cubicBezTo>
                  <a:pt x="3780792" y="38715"/>
                  <a:pt x="3910336" y="101584"/>
                  <a:pt x="3917568" y="277762"/>
                </a:cubicBezTo>
                <a:cubicBezTo>
                  <a:pt x="3943154" y="518582"/>
                  <a:pt x="3863862" y="678253"/>
                  <a:pt x="3917568" y="833270"/>
                </a:cubicBezTo>
                <a:cubicBezTo>
                  <a:pt x="3971274" y="988287"/>
                  <a:pt x="3911435" y="1139903"/>
                  <a:pt x="3917568" y="1388777"/>
                </a:cubicBezTo>
                <a:cubicBezTo>
                  <a:pt x="3891823" y="1556617"/>
                  <a:pt x="3805981" y="1701142"/>
                  <a:pt x="3639806" y="1666539"/>
                </a:cubicBezTo>
                <a:cubicBezTo>
                  <a:pt x="3459159" y="1715186"/>
                  <a:pt x="3191012" y="1598071"/>
                  <a:pt x="3012224" y="1666539"/>
                </a:cubicBezTo>
                <a:cubicBezTo>
                  <a:pt x="2833436" y="1735007"/>
                  <a:pt x="2679565" y="1646501"/>
                  <a:pt x="2519125" y="1666539"/>
                </a:cubicBezTo>
                <a:cubicBezTo>
                  <a:pt x="2358685" y="1686577"/>
                  <a:pt x="2186978" y="1615238"/>
                  <a:pt x="2059645" y="1666539"/>
                </a:cubicBezTo>
                <a:cubicBezTo>
                  <a:pt x="1932312" y="1717840"/>
                  <a:pt x="1776011" y="1619560"/>
                  <a:pt x="1566546" y="1666539"/>
                </a:cubicBezTo>
                <a:cubicBezTo>
                  <a:pt x="1357081" y="1713518"/>
                  <a:pt x="1288356" y="1641922"/>
                  <a:pt x="1039825" y="1666539"/>
                </a:cubicBezTo>
                <a:cubicBezTo>
                  <a:pt x="791294" y="1691156"/>
                  <a:pt x="549345" y="1647281"/>
                  <a:pt x="277762" y="1666539"/>
                </a:cubicBezTo>
                <a:cubicBezTo>
                  <a:pt x="99689" y="1691028"/>
                  <a:pt x="12023" y="1544879"/>
                  <a:pt x="0" y="1388777"/>
                </a:cubicBezTo>
                <a:cubicBezTo>
                  <a:pt x="-1737" y="1170103"/>
                  <a:pt x="1518" y="970025"/>
                  <a:pt x="0" y="811049"/>
                </a:cubicBezTo>
                <a:cubicBezTo>
                  <a:pt x="-1518" y="652073"/>
                  <a:pt x="25518" y="393788"/>
                  <a:pt x="0" y="277762"/>
                </a:cubicBezTo>
                <a:close/>
              </a:path>
              <a:path w="3917568" h="1666539" stroke="0" extrusionOk="0">
                <a:moveTo>
                  <a:pt x="0" y="277762"/>
                </a:moveTo>
                <a:cubicBezTo>
                  <a:pt x="-21918" y="110838"/>
                  <a:pt x="101432" y="8605"/>
                  <a:pt x="277762" y="0"/>
                </a:cubicBezTo>
                <a:cubicBezTo>
                  <a:pt x="466306" y="-30587"/>
                  <a:pt x="622716" y="49696"/>
                  <a:pt x="905344" y="0"/>
                </a:cubicBezTo>
                <a:cubicBezTo>
                  <a:pt x="1187972" y="-49696"/>
                  <a:pt x="1291897" y="10844"/>
                  <a:pt x="1432064" y="0"/>
                </a:cubicBezTo>
                <a:cubicBezTo>
                  <a:pt x="1572231" y="-10844"/>
                  <a:pt x="1717395" y="8072"/>
                  <a:pt x="1925164" y="0"/>
                </a:cubicBezTo>
                <a:cubicBezTo>
                  <a:pt x="2132933" y="-8072"/>
                  <a:pt x="2229679" y="49669"/>
                  <a:pt x="2519125" y="0"/>
                </a:cubicBezTo>
                <a:cubicBezTo>
                  <a:pt x="2808571" y="-49669"/>
                  <a:pt x="2914734" y="40634"/>
                  <a:pt x="3045845" y="0"/>
                </a:cubicBezTo>
                <a:cubicBezTo>
                  <a:pt x="3176956" y="-40634"/>
                  <a:pt x="3452075" y="30868"/>
                  <a:pt x="3639806" y="0"/>
                </a:cubicBezTo>
                <a:cubicBezTo>
                  <a:pt x="3789621" y="-34223"/>
                  <a:pt x="3910179" y="134627"/>
                  <a:pt x="3917568" y="277762"/>
                </a:cubicBezTo>
                <a:cubicBezTo>
                  <a:pt x="3975477" y="447519"/>
                  <a:pt x="3890565" y="631549"/>
                  <a:pt x="3917568" y="811049"/>
                </a:cubicBezTo>
                <a:cubicBezTo>
                  <a:pt x="3944571" y="990549"/>
                  <a:pt x="3899437" y="1217217"/>
                  <a:pt x="3917568" y="1388777"/>
                </a:cubicBezTo>
                <a:cubicBezTo>
                  <a:pt x="3928223" y="1558042"/>
                  <a:pt x="3795482" y="1690072"/>
                  <a:pt x="3639806" y="1666539"/>
                </a:cubicBezTo>
                <a:cubicBezTo>
                  <a:pt x="3438437" y="1714174"/>
                  <a:pt x="3409224" y="1646808"/>
                  <a:pt x="3180327" y="1666539"/>
                </a:cubicBezTo>
                <a:cubicBezTo>
                  <a:pt x="2951430" y="1686270"/>
                  <a:pt x="2747323" y="1617566"/>
                  <a:pt x="2552745" y="1666539"/>
                </a:cubicBezTo>
                <a:cubicBezTo>
                  <a:pt x="2358167" y="1715512"/>
                  <a:pt x="2295879" y="1609000"/>
                  <a:pt x="2059645" y="1666539"/>
                </a:cubicBezTo>
                <a:cubicBezTo>
                  <a:pt x="1823411" y="1724078"/>
                  <a:pt x="1769435" y="1602317"/>
                  <a:pt x="1499305" y="1666539"/>
                </a:cubicBezTo>
                <a:cubicBezTo>
                  <a:pt x="1229175" y="1730761"/>
                  <a:pt x="1082412" y="1639821"/>
                  <a:pt x="871723" y="1666539"/>
                </a:cubicBezTo>
                <a:cubicBezTo>
                  <a:pt x="661034" y="1693257"/>
                  <a:pt x="565229" y="1603770"/>
                  <a:pt x="277762" y="1666539"/>
                </a:cubicBezTo>
                <a:cubicBezTo>
                  <a:pt x="113155" y="1686570"/>
                  <a:pt x="19990" y="1557035"/>
                  <a:pt x="0" y="1388777"/>
                </a:cubicBezTo>
                <a:cubicBezTo>
                  <a:pt x="-1039" y="1156647"/>
                  <a:pt x="13077" y="1014643"/>
                  <a:pt x="0" y="855490"/>
                </a:cubicBezTo>
                <a:cubicBezTo>
                  <a:pt x="-13077" y="696337"/>
                  <a:pt x="654" y="528819"/>
                  <a:pt x="0" y="277762"/>
                </a:cubicBezTo>
                <a:close/>
              </a:path>
            </a:pathLst>
          </a:custGeom>
          <a:ln>
            <a:prstDash val="sysDash"/>
            <a:extLst>
              <a:ext uri="{C807C97D-BFC1-408E-A445-0C87EB9F89A2}">
                <ask:lineSketchStyleProps xmlns:ask="http://schemas.microsoft.com/office/drawing/2018/sketchyshapes" sd="1219033472">
                  <a:prstGeom prst="roundRect">
                    <a:avLst/>
                  </a:prstGeom>
                  <ask:type>
                    <ask:lineSketchScribble/>
                  </ask:type>
                </ask:lineSketchStyleProps>
              </a:ext>
            </a:extLst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" name="Rounded Rectangle 28">
            <a:extLst>
              <a:ext uri="{FF2B5EF4-FFF2-40B4-BE49-F238E27FC236}">
                <a16:creationId xmlns:a16="http://schemas.microsoft.com/office/drawing/2014/main" id="{156DA7FD-34EF-AFF8-3581-BDA0F39C00F7}"/>
              </a:ext>
            </a:extLst>
          </p:cNvPr>
          <p:cNvSpPr/>
          <p:nvPr/>
        </p:nvSpPr>
        <p:spPr>
          <a:xfrm>
            <a:off x="729732" y="3288257"/>
            <a:ext cx="4012598" cy="1734667"/>
          </a:xfrm>
          <a:custGeom>
            <a:avLst/>
            <a:gdLst>
              <a:gd name="connsiteX0" fmla="*/ 0 w 4012598"/>
              <a:gd name="connsiteY0" fmla="*/ 289117 h 1734667"/>
              <a:gd name="connsiteX1" fmla="*/ 289117 w 4012598"/>
              <a:gd name="connsiteY1" fmla="*/ 0 h 1734667"/>
              <a:gd name="connsiteX2" fmla="*/ 895855 w 4012598"/>
              <a:gd name="connsiteY2" fmla="*/ 0 h 1734667"/>
              <a:gd name="connsiteX3" fmla="*/ 1365218 w 4012598"/>
              <a:gd name="connsiteY3" fmla="*/ 0 h 1734667"/>
              <a:gd name="connsiteX4" fmla="*/ 1937612 w 4012598"/>
              <a:gd name="connsiteY4" fmla="*/ 0 h 1734667"/>
              <a:gd name="connsiteX5" fmla="*/ 2441318 w 4012598"/>
              <a:gd name="connsiteY5" fmla="*/ 0 h 1734667"/>
              <a:gd name="connsiteX6" fmla="*/ 3048056 w 4012598"/>
              <a:gd name="connsiteY6" fmla="*/ 0 h 1734667"/>
              <a:gd name="connsiteX7" fmla="*/ 3723481 w 4012598"/>
              <a:gd name="connsiteY7" fmla="*/ 0 h 1734667"/>
              <a:gd name="connsiteX8" fmla="*/ 4012598 w 4012598"/>
              <a:gd name="connsiteY8" fmla="*/ 289117 h 1734667"/>
              <a:gd name="connsiteX9" fmla="*/ 4012598 w 4012598"/>
              <a:gd name="connsiteY9" fmla="*/ 867334 h 1734667"/>
              <a:gd name="connsiteX10" fmla="*/ 4012598 w 4012598"/>
              <a:gd name="connsiteY10" fmla="*/ 1445550 h 1734667"/>
              <a:gd name="connsiteX11" fmla="*/ 3723481 w 4012598"/>
              <a:gd name="connsiteY11" fmla="*/ 1734667 h 1734667"/>
              <a:gd name="connsiteX12" fmla="*/ 3082400 w 4012598"/>
              <a:gd name="connsiteY12" fmla="*/ 1734667 h 1734667"/>
              <a:gd name="connsiteX13" fmla="*/ 2578693 w 4012598"/>
              <a:gd name="connsiteY13" fmla="*/ 1734667 h 1734667"/>
              <a:gd name="connsiteX14" fmla="*/ 2109330 w 4012598"/>
              <a:gd name="connsiteY14" fmla="*/ 1734667 h 1734667"/>
              <a:gd name="connsiteX15" fmla="*/ 1605623 w 4012598"/>
              <a:gd name="connsiteY15" fmla="*/ 1734667 h 1734667"/>
              <a:gd name="connsiteX16" fmla="*/ 1067573 w 4012598"/>
              <a:gd name="connsiteY16" fmla="*/ 1734667 h 1734667"/>
              <a:gd name="connsiteX17" fmla="*/ 289117 w 4012598"/>
              <a:gd name="connsiteY17" fmla="*/ 1734667 h 1734667"/>
              <a:gd name="connsiteX18" fmla="*/ 0 w 4012598"/>
              <a:gd name="connsiteY18" fmla="*/ 1445550 h 1734667"/>
              <a:gd name="connsiteX19" fmla="*/ 0 w 4012598"/>
              <a:gd name="connsiteY19" fmla="*/ 844205 h 1734667"/>
              <a:gd name="connsiteX20" fmla="*/ 0 w 4012598"/>
              <a:gd name="connsiteY20" fmla="*/ 289117 h 173466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</a:cxnLst>
            <a:rect l="l" t="t" r="r" b="b"/>
            <a:pathLst>
              <a:path w="4012598" h="1734667" fill="none" extrusionOk="0">
                <a:moveTo>
                  <a:pt x="0" y="289117"/>
                </a:moveTo>
                <a:cubicBezTo>
                  <a:pt x="2932" y="135247"/>
                  <a:pt x="120476" y="4728"/>
                  <a:pt x="289117" y="0"/>
                </a:cubicBezTo>
                <a:cubicBezTo>
                  <a:pt x="464782" y="-63906"/>
                  <a:pt x="764380" y="28257"/>
                  <a:pt x="895855" y="0"/>
                </a:cubicBezTo>
                <a:cubicBezTo>
                  <a:pt x="1027330" y="-28257"/>
                  <a:pt x="1136854" y="1027"/>
                  <a:pt x="1365218" y="0"/>
                </a:cubicBezTo>
                <a:cubicBezTo>
                  <a:pt x="1593582" y="-1027"/>
                  <a:pt x="1780305" y="48665"/>
                  <a:pt x="1937612" y="0"/>
                </a:cubicBezTo>
                <a:cubicBezTo>
                  <a:pt x="2094919" y="-48665"/>
                  <a:pt x="2190110" y="43835"/>
                  <a:pt x="2441318" y="0"/>
                </a:cubicBezTo>
                <a:cubicBezTo>
                  <a:pt x="2692526" y="-43835"/>
                  <a:pt x="2811579" y="50019"/>
                  <a:pt x="3048056" y="0"/>
                </a:cubicBezTo>
                <a:cubicBezTo>
                  <a:pt x="3284533" y="-50019"/>
                  <a:pt x="3503998" y="24434"/>
                  <a:pt x="3723481" y="0"/>
                </a:cubicBezTo>
                <a:cubicBezTo>
                  <a:pt x="3878700" y="13892"/>
                  <a:pt x="4003495" y="100774"/>
                  <a:pt x="4012598" y="289117"/>
                </a:cubicBezTo>
                <a:cubicBezTo>
                  <a:pt x="4028962" y="422626"/>
                  <a:pt x="3995843" y="704319"/>
                  <a:pt x="4012598" y="867334"/>
                </a:cubicBezTo>
                <a:cubicBezTo>
                  <a:pt x="4029353" y="1030349"/>
                  <a:pt x="3968506" y="1300163"/>
                  <a:pt x="4012598" y="1445550"/>
                </a:cubicBezTo>
                <a:cubicBezTo>
                  <a:pt x="4001669" y="1611353"/>
                  <a:pt x="3893627" y="1763037"/>
                  <a:pt x="3723481" y="1734667"/>
                </a:cubicBezTo>
                <a:cubicBezTo>
                  <a:pt x="3433257" y="1790577"/>
                  <a:pt x="3268930" y="1672531"/>
                  <a:pt x="3082400" y="1734667"/>
                </a:cubicBezTo>
                <a:cubicBezTo>
                  <a:pt x="2895870" y="1796803"/>
                  <a:pt x="2692979" y="1728786"/>
                  <a:pt x="2578693" y="1734667"/>
                </a:cubicBezTo>
                <a:cubicBezTo>
                  <a:pt x="2464407" y="1740548"/>
                  <a:pt x="2292016" y="1719437"/>
                  <a:pt x="2109330" y="1734667"/>
                </a:cubicBezTo>
                <a:cubicBezTo>
                  <a:pt x="1926644" y="1749897"/>
                  <a:pt x="1711442" y="1714275"/>
                  <a:pt x="1605623" y="1734667"/>
                </a:cubicBezTo>
                <a:cubicBezTo>
                  <a:pt x="1499804" y="1755059"/>
                  <a:pt x="1228338" y="1684767"/>
                  <a:pt x="1067573" y="1734667"/>
                </a:cubicBezTo>
                <a:cubicBezTo>
                  <a:pt x="906808" y="1784567"/>
                  <a:pt x="663211" y="1728956"/>
                  <a:pt x="289117" y="1734667"/>
                </a:cubicBezTo>
                <a:cubicBezTo>
                  <a:pt x="119984" y="1744056"/>
                  <a:pt x="33592" y="1612764"/>
                  <a:pt x="0" y="1445550"/>
                </a:cubicBezTo>
                <a:cubicBezTo>
                  <a:pt x="-14899" y="1257601"/>
                  <a:pt x="33852" y="1051229"/>
                  <a:pt x="0" y="844205"/>
                </a:cubicBezTo>
                <a:cubicBezTo>
                  <a:pt x="-33852" y="637181"/>
                  <a:pt x="36229" y="452114"/>
                  <a:pt x="0" y="289117"/>
                </a:cubicBezTo>
                <a:close/>
              </a:path>
              <a:path w="4012598" h="1734667" stroke="0" extrusionOk="0">
                <a:moveTo>
                  <a:pt x="0" y="289117"/>
                </a:moveTo>
                <a:cubicBezTo>
                  <a:pt x="-14843" y="120287"/>
                  <a:pt x="104327" y="9426"/>
                  <a:pt x="289117" y="0"/>
                </a:cubicBezTo>
                <a:cubicBezTo>
                  <a:pt x="520737" y="-28247"/>
                  <a:pt x="639424" y="65363"/>
                  <a:pt x="930198" y="0"/>
                </a:cubicBezTo>
                <a:cubicBezTo>
                  <a:pt x="1220972" y="-65363"/>
                  <a:pt x="1252023" y="61820"/>
                  <a:pt x="1468249" y="0"/>
                </a:cubicBezTo>
                <a:cubicBezTo>
                  <a:pt x="1684475" y="-61820"/>
                  <a:pt x="1832019" y="34034"/>
                  <a:pt x="1971955" y="0"/>
                </a:cubicBezTo>
                <a:cubicBezTo>
                  <a:pt x="2111891" y="-34034"/>
                  <a:pt x="2428195" y="50745"/>
                  <a:pt x="2578693" y="0"/>
                </a:cubicBezTo>
                <a:cubicBezTo>
                  <a:pt x="2729191" y="-50745"/>
                  <a:pt x="2962333" y="24955"/>
                  <a:pt x="3116743" y="0"/>
                </a:cubicBezTo>
                <a:cubicBezTo>
                  <a:pt x="3271153" y="-24955"/>
                  <a:pt x="3426555" y="52208"/>
                  <a:pt x="3723481" y="0"/>
                </a:cubicBezTo>
                <a:cubicBezTo>
                  <a:pt x="3878239" y="-46892"/>
                  <a:pt x="4006518" y="137891"/>
                  <a:pt x="4012598" y="289117"/>
                </a:cubicBezTo>
                <a:cubicBezTo>
                  <a:pt x="4032892" y="442466"/>
                  <a:pt x="3953324" y="719789"/>
                  <a:pt x="4012598" y="844205"/>
                </a:cubicBezTo>
                <a:cubicBezTo>
                  <a:pt x="4071872" y="968621"/>
                  <a:pt x="3945128" y="1319157"/>
                  <a:pt x="4012598" y="1445550"/>
                </a:cubicBezTo>
                <a:cubicBezTo>
                  <a:pt x="4016297" y="1610732"/>
                  <a:pt x="3884778" y="1751468"/>
                  <a:pt x="3723481" y="1734667"/>
                </a:cubicBezTo>
                <a:cubicBezTo>
                  <a:pt x="3606734" y="1762921"/>
                  <a:pt x="3483554" y="1734476"/>
                  <a:pt x="3254118" y="1734667"/>
                </a:cubicBezTo>
                <a:cubicBezTo>
                  <a:pt x="3024682" y="1734858"/>
                  <a:pt x="2765735" y="1692916"/>
                  <a:pt x="2613037" y="1734667"/>
                </a:cubicBezTo>
                <a:cubicBezTo>
                  <a:pt x="2460339" y="1776418"/>
                  <a:pt x="2230077" y="1693268"/>
                  <a:pt x="2109330" y="1734667"/>
                </a:cubicBezTo>
                <a:cubicBezTo>
                  <a:pt x="1988583" y="1776066"/>
                  <a:pt x="1664713" y="1729451"/>
                  <a:pt x="1536936" y="1734667"/>
                </a:cubicBezTo>
                <a:cubicBezTo>
                  <a:pt x="1409159" y="1739883"/>
                  <a:pt x="1057227" y="1733753"/>
                  <a:pt x="895855" y="1734667"/>
                </a:cubicBezTo>
                <a:cubicBezTo>
                  <a:pt x="734483" y="1735581"/>
                  <a:pt x="422203" y="1710646"/>
                  <a:pt x="289117" y="1734667"/>
                </a:cubicBezTo>
                <a:cubicBezTo>
                  <a:pt x="113603" y="1762987"/>
                  <a:pt x="21828" y="1621445"/>
                  <a:pt x="0" y="1445550"/>
                </a:cubicBezTo>
                <a:cubicBezTo>
                  <a:pt x="-27577" y="1271109"/>
                  <a:pt x="27574" y="1032907"/>
                  <a:pt x="0" y="890462"/>
                </a:cubicBezTo>
                <a:cubicBezTo>
                  <a:pt x="-27574" y="748017"/>
                  <a:pt x="11024" y="438790"/>
                  <a:pt x="0" y="289117"/>
                </a:cubicBezTo>
                <a:close/>
              </a:path>
            </a:pathLst>
          </a:custGeom>
          <a:ln>
            <a:prstDash val="sysDash"/>
            <a:extLst>
              <a:ext uri="{C807C97D-BFC1-408E-A445-0C87EB9F89A2}">
                <ask:lineSketchStyleProps xmlns:ask="http://schemas.microsoft.com/office/drawing/2018/sketchyshapes" sd="1219033472">
                  <a:prstGeom prst="roundRect">
                    <a:avLst/>
                  </a:prstGeom>
                  <ask:type>
                    <ask:lineSketchScribble/>
                  </ask:type>
                </ask:lineSketchStyleProps>
              </a:ext>
            </a:extLst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185D347A-A99E-9268-75DA-C38FE9AC2A6B}"/>
              </a:ext>
            </a:extLst>
          </p:cNvPr>
          <p:cNvSpPr/>
          <p:nvPr/>
        </p:nvSpPr>
        <p:spPr>
          <a:xfrm>
            <a:off x="1226372" y="3675532"/>
            <a:ext cx="1116107" cy="1105348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4800" dirty="0">
                <a:latin typeface="American Typewriter" panose="02090604020004020304" pitchFamily="18" charset="77"/>
              </a:rPr>
              <a:t>Q1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70F36276-C655-3FB1-D4AD-781A420E238E}"/>
              </a:ext>
            </a:extLst>
          </p:cNvPr>
          <p:cNvSpPr/>
          <p:nvPr/>
        </p:nvSpPr>
        <p:spPr>
          <a:xfrm>
            <a:off x="8830237" y="3675532"/>
            <a:ext cx="1116107" cy="1105348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4800" dirty="0">
                <a:latin typeface="American Typewriter" panose="02090604020004020304" pitchFamily="18" charset="77"/>
              </a:rPr>
              <a:t>Q2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DBEA28EC-1E93-3328-3DE3-3866D06C278D}"/>
              </a:ext>
            </a:extLst>
          </p:cNvPr>
          <p:cNvSpPr/>
          <p:nvPr/>
        </p:nvSpPr>
        <p:spPr>
          <a:xfrm>
            <a:off x="5065955" y="1453627"/>
            <a:ext cx="1116107" cy="1105348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4800" dirty="0">
                <a:latin typeface="American Typewriter" panose="02090604020004020304" pitchFamily="18" charset="77"/>
              </a:rPr>
              <a:t>N</a:t>
            </a:r>
            <a:endParaRPr lang="en-US" dirty="0">
              <a:latin typeface="American Typewriter" panose="02090604020004020304" pitchFamily="18" charset="77"/>
            </a:endParaRPr>
          </a:p>
        </p:txBody>
      </p: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B3716A19-1EF9-09B7-7664-08C5E6EEAFE4}"/>
              </a:ext>
            </a:extLst>
          </p:cNvPr>
          <p:cNvCxnSpPr>
            <a:cxnSpLocks/>
          </p:cNvCxnSpPr>
          <p:nvPr/>
        </p:nvCxnSpPr>
        <p:spPr>
          <a:xfrm>
            <a:off x="398931" y="4052050"/>
            <a:ext cx="844475" cy="0"/>
          </a:xfrm>
          <a:prstGeom prst="straightConnector1">
            <a:avLst/>
          </a:prstGeom>
          <a:ln w="25400" cap="flat">
            <a:solidFill>
              <a:schemeClr val="tx1"/>
            </a:solidFill>
            <a:headEnd type="none" w="lg" len="sm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19718885-CB07-8675-92E4-345FC7046ABC}"/>
              </a:ext>
            </a:extLst>
          </p:cNvPr>
          <p:cNvCxnSpPr>
            <a:cxnSpLocks/>
          </p:cNvCxnSpPr>
          <p:nvPr/>
        </p:nvCxnSpPr>
        <p:spPr>
          <a:xfrm flipH="1">
            <a:off x="398931" y="4446497"/>
            <a:ext cx="827441" cy="0"/>
          </a:xfrm>
          <a:prstGeom prst="straightConnector1">
            <a:avLst/>
          </a:prstGeom>
          <a:ln w="25400" cap="flat">
            <a:solidFill>
              <a:schemeClr val="tx1"/>
            </a:solidFill>
            <a:headEnd type="none" w="lg" len="sm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8E8BF4BC-F620-7C79-64E6-F56880D330D5}"/>
              </a:ext>
            </a:extLst>
          </p:cNvPr>
          <p:cNvCxnSpPr>
            <a:cxnSpLocks/>
          </p:cNvCxnSpPr>
          <p:nvPr/>
        </p:nvCxnSpPr>
        <p:spPr>
          <a:xfrm>
            <a:off x="9946344" y="4052050"/>
            <a:ext cx="844475" cy="0"/>
          </a:xfrm>
          <a:prstGeom prst="straightConnector1">
            <a:avLst/>
          </a:prstGeom>
          <a:ln w="25400" cap="flat">
            <a:solidFill>
              <a:schemeClr val="tx1"/>
            </a:solidFill>
            <a:headEnd type="none" w="lg" len="sm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Straight Arrow Connector 27">
            <a:extLst>
              <a:ext uri="{FF2B5EF4-FFF2-40B4-BE49-F238E27FC236}">
                <a16:creationId xmlns:a16="http://schemas.microsoft.com/office/drawing/2014/main" id="{F42588DF-C027-113E-0245-79695D5F2BDE}"/>
              </a:ext>
            </a:extLst>
          </p:cNvPr>
          <p:cNvCxnSpPr>
            <a:cxnSpLocks/>
          </p:cNvCxnSpPr>
          <p:nvPr/>
        </p:nvCxnSpPr>
        <p:spPr>
          <a:xfrm flipH="1">
            <a:off x="9946344" y="4446497"/>
            <a:ext cx="827441" cy="0"/>
          </a:xfrm>
          <a:prstGeom prst="straightConnector1">
            <a:avLst/>
          </a:prstGeom>
          <a:ln w="25400" cap="flat">
            <a:solidFill>
              <a:schemeClr val="tx1"/>
            </a:solidFill>
            <a:headEnd type="none" w="lg" len="sm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Straight Arrow Connector 38">
            <a:extLst>
              <a:ext uri="{FF2B5EF4-FFF2-40B4-BE49-F238E27FC236}">
                <a16:creationId xmlns:a16="http://schemas.microsoft.com/office/drawing/2014/main" id="{A44F4B0A-9677-E3B3-AC1F-03A354E35A27}"/>
              </a:ext>
            </a:extLst>
          </p:cNvPr>
          <p:cNvCxnSpPr>
            <a:cxnSpLocks/>
          </p:cNvCxnSpPr>
          <p:nvPr/>
        </p:nvCxnSpPr>
        <p:spPr>
          <a:xfrm>
            <a:off x="4545106" y="1748566"/>
            <a:ext cx="618565" cy="0"/>
          </a:xfrm>
          <a:prstGeom prst="straightConnector1">
            <a:avLst/>
          </a:prstGeom>
          <a:ln w="25400" cap="flat">
            <a:solidFill>
              <a:schemeClr val="tx1"/>
            </a:solidFill>
            <a:headEnd type="none" w="lg" len="sm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Straight Arrow Connector 39">
            <a:extLst>
              <a:ext uri="{FF2B5EF4-FFF2-40B4-BE49-F238E27FC236}">
                <a16:creationId xmlns:a16="http://schemas.microsoft.com/office/drawing/2014/main" id="{98FF0F6E-81E8-3F6E-9074-C12DAFB26C7A}"/>
              </a:ext>
            </a:extLst>
          </p:cNvPr>
          <p:cNvCxnSpPr>
            <a:cxnSpLocks/>
          </p:cNvCxnSpPr>
          <p:nvPr/>
        </p:nvCxnSpPr>
        <p:spPr>
          <a:xfrm flipH="1">
            <a:off x="4450976" y="2143013"/>
            <a:ext cx="614979" cy="0"/>
          </a:xfrm>
          <a:prstGeom prst="straightConnector1">
            <a:avLst/>
          </a:prstGeom>
          <a:ln w="25400" cap="flat">
            <a:solidFill>
              <a:schemeClr val="tx1"/>
            </a:solidFill>
            <a:headEnd type="none" w="lg" len="sm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Straight Arrow Connector 40">
            <a:extLst>
              <a:ext uri="{FF2B5EF4-FFF2-40B4-BE49-F238E27FC236}">
                <a16:creationId xmlns:a16="http://schemas.microsoft.com/office/drawing/2014/main" id="{EF87DBE5-DBE3-B642-6C33-A40B9DF7A8C3}"/>
              </a:ext>
            </a:extLst>
          </p:cNvPr>
          <p:cNvCxnSpPr>
            <a:cxnSpLocks/>
          </p:cNvCxnSpPr>
          <p:nvPr/>
        </p:nvCxnSpPr>
        <p:spPr>
          <a:xfrm>
            <a:off x="6182062" y="1762461"/>
            <a:ext cx="581809" cy="0"/>
          </a:xfrm>
          <a:prstGeom prst="straightConnector1">
            <a:avLst/>
          </a:prstGeom>
          <a:ln w="25400" cap="flat">
            <a:solidFill>
              <a:schemeClr val="tx1"/>
            </a:solidFill>
            <a:headEnd type="none" w="lg" len="sm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Straight Arrow Connector 41">
            <a:extLst>
              <a:ext uri="{FF2B5EF4-FFF2-40B4-BE49-F238E27FC236}">
                <a16:creationId xmlns:a16="http://schemas.microsoft.com/office/drawing/2014/main" id="{6DF05C2A-D959-30D9-8425-7D5C02088690}"/>
              </a:ext>
            </a:extLst>
          </p:cNvPr>
          <p:cNvCxnSpPr>
            <a:cxnSpLocks/>
          </p:cNvCxnSpPr>
          <p:nvPr/>
        </p:nvCxnSpPr>
        <p:spPr>
          <a:xfrm flipH="1">
            <a:off x="6096000" y="2174838"/>
            <a:ext cx="667871" cy="0"/>
          </a:xfrm>
          <a:prstGeom prst="straightConnector1">
            <a:avLst/>
          </a:prstGeom>
          <a:ln w="25400" cap="flat">
            <a:solidFill>
              <a:schemeClr val="tx1"/>
            </a:solidFill>
            <a:headEnd type="none" w="lg" len="sm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Straight Arrow Connector 42">
            <a:extLst>
              <a:ext uri="{FF2B5EF4-FFF2-40B4-BE49-F238E27FC236}">
                <a16:creationId xmlns:a16="http://schemas.microsoft.com/office/drawing/2014/main" id="{7A39624E-9B9E-B466-2FF7-F96DAA6CB695}"/>
              </a:ext>
            </a:extLst>
          </p:cNvPr>
          <p:cNvCxnSpPr>
            <a:cxnSpLocks/>
          </p:cNvCxnSpPr>
          <p:nvPr/>
        </p:nvCxnSpPr>
        <p:spPr>
          <a:xfrm>
            <a:off x="5888915" y="981635"/>
            <a:ext cx="0" cy="579568"/>
          </a:xfrm>
          <a:prstGeom prst="straightConnector1">
            <a:avLst/>
          </a:prstGeom>
          <a:ln w="25400" cap="flat">
            <a:solidFill>
              <a:schemeClr val="tx1"/>
            </a:solidFill>
            <a:headEnd type="none" w="lg" len="sm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Straight Arrow Connector 43">
            <a:extLst>
              <a:ext uri="{FF2B5EF4-FFF2-40B4-BE49-F238E27FC236}">
                <a16:creationId xmlns:a16="http://schemas.microsoft.com/office/drawing/2014/main" id="{110B8CAC-26A1-4817-07B7-E9644435C7CC}"/>
              </a:ext>
            </a:extLst>
          </p:cNvPr>
          <p:cNvCxnSpPr>
            <a:cxnSpLocks/>
          </p:cNvCxnSpPr>
          <p:nvPr/>
        </p:nvCxnSpPr>
        <p:spPr>
          <a:xfrm flipV="1">
            <a:off x="5395855" y="874059"/>
            <a:ext cx="0" cy="570604"/>
          </a:xfrm>
          <a:prstGeom prst="straightConnector1">
            <a:avLst/>
          </a:prstGeom>
          <a:ln w="25400" cap="flat">
            <a:solidFill>
              <a:schemeClr val="tx1"/>
            </a:solidFill>
            <a:headEnd type="none" w="lg" len="sm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" name="Straight Arrow Connector 51">
            <a:extLst>
              <a:ext uri="{FF2B5EF4-FFF2-40B4-BE49-F238E27FC236}">
                <a16:creationId xmlns:a16="http://schemas.microsoft.com/office/drawing/2014/main" id="{11D3DE86-52B4-FA98-980D-A10A162E3552}"/>
              </a:ext>
            </a:extLst>
          </p:cNvPr>
          <p:cNvCxnSpPr>
            <a:cxnSpLocks/>
          </p:cNvCxnSpPr>
          <p:nvPr/>
        </p:nvCxnSpPr>
        <p:spPr>
          <a:xfrm>
            <a:off x="1989270" y="2992422"/>
            <a:ext cx="0" cy="683110"/>
          </a:xfrm>
          <a:prstGeom prst="straightConnector1">
            <a:avLst/>
          </a:prstGeom>
          <a:ln w="25400" cap="flat">
            <a:solidFill>
              <a:schemeClr val="tx1"/>
            </a:solidFill>
            <a:headEnd type="none" w="lg" len="sm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" name="Straight Arrow Connector 52">
            <a:extLst>
              <a:ext uri="{FF2B5EF4-FFF2-40B4-BE49-F238E27FC236}">
                <a16:creationId xmlns:a16="http://schemas.microsoft.com/office/drawing/2014/main" id="{5E41DD79-87B9-1995-DE2F-9CD509926171}"/>
              </a:ext>
            </a:extLst>
          </p:cNvPr>
          <p:cNvCxnSpPr>
            <a:cxnSpLocks/>
          </p:cNvCxnSpPr>
          <p:nvPr/>
        </p:nvCxnSpPr>
        <p:spPr>
          <a:xfrm flipV="1">
            <a:off x="1541930" y="2992422"/>
            <a:ext cx="0" cy="674146"/>
          </a:xfrm>
          <a:prstGeom prst="straightConnector1">
            <a:avLst/>
          </a:prstGeom>
          <a:ln w="25400" cap="flat">
            <a:solidFill>
              <a:schemeClr val="tx1"/>
            </a:solidFill>
            <a:headEnd type="none" w="lg" len="sm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Straight Arrow Connector 55">
            <a:extLst>
              <a:ext uri="{FF2B5EF4-FFF2-40B4-BE49-F238E27FC236}">
                <a16:creationId xmlns:a16="http://schemas.microsoft.com/office/drawing/2014/main" id="{A4B10CA8-ADE3-8FDF-882A-4C9A50322929}"/>
              </a:ext>
            </a:extLst>
          </p:cNvPr>
          <p:cNvCxnSpPr>
            <a:cxnSpLocks/>
          </p:cNvCxnSpPr>
          <p:nvPr/>
        </p:nvCxnSpPr>
        <p:spPr>
          <a:xfrm>
            <a:off x="9632578" y="2992422"/>
            <a:ext cx="0" cy="683110"/>
          </a:xfrm>
          <a:prstGeom prst="straightConnector1">
            <a:avLst/>
          </a:prstGeom>
          <a:ln w="25400" cap="flat">
            <a:solidFill>
              <a:schemeClr val="tx1"/>
            </a:solidFill>
            <a:headEnd type="none" w="lg" len="sm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" name="Straight Arrow Connector 56">
            <a:extLst>
              <a:ext uri="{FF2B5EF4-FFF2-40B4-BE49-F238E27FC236}">
                <a16:creationId xmlns:a16="http://schemas.microsoft.com/office/drawing/2014/main" id="{95855AF8-6E62-3C7A-CD6E-6125BFC4A01F}"/>
              </a:ext>
            </a:extLst>
          </p:cNvPr>
          <p:cNvCxnSpPr>
            <a:cxnSpLocks/>
          </p:cNvCxnSpPr>
          <p:nvPr/>
        </p:nvCxnSpPr>
        <p:spPr>
          <a:xfrm flipV="1">
            <a:off x="9185238" y="2992422"/>
            <a:ext cx="0" cy="674146"/>
          </a:xfrm>
          <a:prstGeom prst="straightConnector1">
            <a:avLst/>
          </a:prstGeom>
          <a:ln w="25400" cap="flat">
            <a:solidFill>
              <a:schemeClr val="tx1"/>
            </a:solidFill>
            <a:headEnd type="none" w="lg" len="sm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24" name="Group 23">
            <a:extLst>
              <a:ext uri="{FF2B5EF4-FFF2-40B4-BE49-F238E27FC236}">
                <a16:creationId xmlns:a16="http://schemas.microsoft.com/office/drawing/2014/main" id="{2A270048-0E6B-E49A-77D6-989FAE4D4A6C}"/>
              </a:ext>
            </a:extLst>
          </p:cNvPr>
          <p:cNvGrpSpPr/>
          <p:nvPr/>
        </p:nvGrpSpPr>
        <p:grpSpPr>
          <a:xfrm>
            <a:off x="2286003" y="3060106"/>
            <a:ext cx="6641950" cy="1788458"/>
            <a:chOff x="2380132" y="3859755"/>
            <a:chExt cx="6641950" cy="1788458"/>
          </a:xfrm>
        </p:grpSpPr>
        <p:cxnSp>
          <p:nvCxnSpPr>
            <p:cNvPr id="16" name="Straight Arrow Connector 15">
              <a:extLst>
                <a:ext uri="{FF2B5EF4-FFF2-40B4-BE49-F238E27FC236}">
                  <a16:creationId xmlns:a16="http://schemas.microsoft.com/office/drawing/2014/main" id="{8990C020-0983-DCAF-5D48-0C213CF5B9D7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380132" y="5246146"/>
              <a:ext cx="900951" cy="0"/>
            </a:xfrm>
            <a:prstGeom prst="straightConnector1">
              <a:avLst/>
            </a:prstGeom>
            <a:ln w="25400" cap="flat">
              <a:solidFill>
                <a:schemeClr val="tx1"/>
              </a:solidFill>
              <a:headEnd type="none" w="lg" len="sm"/>
              <a:tailEnd type="arrow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Straight Arrow Connector 19">
              <a:extLst>
                <a:ext uri="{FF2B5EF4-FFF2-40B4-BE49-F238E27FC236}">
                  <a16:creationId xmlns:a16="http://schemas.microsoft.com/office/drawing/2014/main" id="{B41A96D8-4687-17E5-7A07-3AA95028AABB}"/>
                </a:ext>
              </a:extLst>
            </p:cNvPr>
            <p:cNvCxnSpPr>
              <a:cxnSpLocks/>
            </p:cNvCxnSpPr>
            <p:nvPr/>
          </p:nvCxnSpPr>
          <p:spPr>
            <a:xfrm>
              <a:off x="8177607" y="4851699"/>
              <a:ext cx="844475" cy="0"/>
            </a:xfrm>
            <a:prstGeom prst="straightConnector1">
              <a:avLst/>
            </a:prstGeom>
            <a:ln w="25400" cap="flat">
              <a:solidFill>
                <a:schemeClr val="tx1"/>
              </a:solidFill>
              <a:headEnd type="none" w="lg" len="sm"/>
              <a:tailEnd type="arrow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Arrow Connector 20">
              <a:extLst>
                <a:ext uri="{FF2B5EF4-FFF2-40B4-BE49-F238E27FC236}">
                  <a16:creationId xmlns:a16="http://schemas.microsoft.com/office/drawing/2014/main" id="{139B705F-313E-4D0E-CC9D-0337FBC9090E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8141747" y="5246146"/>
              <a:ext cx="782619" cy="0"/>
            </a:xfrm>
            <a:prstGeom prst="straightConnector1">
              <a:avLst/>
            </a:prstGeom>
            <a:ln w="25400" cap="flat">
              <a:solidFill>
                <a:schemeClr val="tx1"/>
              </a:solidFill>
              <a:headEnd type="none" w="lg" len="sm"/>
              <a:tailEnd type="arrow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" name="Rectangle 2">
              <a:extLst>
                <a:ext uri="{FF2B5EF4-FFF2-40B4-BE49-F238E27FC236}">
                  <a16:creationId xmlns:a16="http://schemas.microsoft.com/office/drawing/2014/main" id="{095AB933-5649-1F9C-8B21-DAEB300FC7A8}"/>
                </a:ext>
              </a:extLst>
            </p:cNvPr>
            <p:cNvSpPr/>
            <p:nvPr/>
          </p:nvSpPr>
          <p:spPr>
            <a:xfrm>
              <a:off x="3287358" y="4542865"/>
              <a:ext cx="1116107" cy="1105348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sz="4800" dirty="0">
                  <a:latin typeface="American Typewriter" panose="02090604020004020304" pitchFamily="18" charset="77"/>
                </a:rPr>
                <a:t>P1</a:t>
              </a:r>
              <a:endParaRPr lang="en-US" dirty="0"/>
            </a:p>
          </p:txBody>
        </p:sp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FC87911C-D83B-117B-6DE7-08420196F14B}"/>
                </a:ext>
              </a:extLst>
            </p:cNvPr>
            <p:cNvSpPr/>
            <p:nvPr/>
          </p:nvSpPr>
          <p:spPr>
            <a:xfrm>
              <a:off x="5150224" y="4542865"/>
              <a:ext cx="1116107" cy="1105348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sz="4800" dirty="0">
                  <a:latin typeface="American Typewriter" panose="02090604020004020304" pitchFamily="18" charset="77"/>
                </a:rPr>
                <a:t>AT</a:t>
              </a:r>
              <a:endParaRPr lang="en-US" dirty="0"/>
            </a:p>
          </p:txBody>
        </p:sp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1428BABA-5964-932E-3290-1B189D199598}"/>
                </a:ext>
              </a:extLst>
            </p:cNvPr>
            <p:cNvSpPr/>
            <p:nvPr/>
          </p:nvSpPr>
          <p:spPr>
            <a:xfrm>
              <a:off x="7013090" y="4542865"/>
              <a:ext cx="1116107" cy="1105348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sz="4800" dirty="0">
                  <a:latin typeface="American Typewriter" panose="02090604020004020304" pitchFamily="18" charset="77"/>
                </a:rPr>
                <a:t>Q2</a:t>
              </a:r>
              <a:endParaRPr lang="en-US" sz="4800" dirty="0"/>
            </a:p>
          </p:txBody>
        </p:sp>
        <p:cxnSp>
          <p:nvCxnSpPr>
            <p:cNvPr id="8" name="Straight Arrow Connector 7">
              <a:extLst>
                <a:ext uri="{FF2B5EF4-FFF2-40B4-BE49-F238E27FC236}">
                  <a16:creationId xmlns:a16="http://schemas.microsoft.com/office/drawing/2014/main" id="{E55D809E-1FFE-29F9-D4DE-F7AFE23E0E59}"/>
                </a:ext>
              </a:extLst>
            </p:cNvPr>
            <p:cNvCxnSpPr>
              <a:cxnSpLocks/>
            </p:cNvCxnSpPr>
            <p:nvPr/>
          </p:nvCxnSpPr>
          <p:spPr>
            <a:xfrm>
              <a:off x="4403465" y="4960621"/>
              <a:ext cx="844475" cy="0"/>
            </a:xfrm>
            <a:prstGeom prst="straightConnector1">
              <a:avLst/>
            </a:prstGeom>
            <a:ln w="25400" cap="flat">
              <a:solidFill>
                <a:schemeClr val="tx1"/>
              </a:solidFill>
              <a:headEnd type="none" w="lg" len="sm"/>
              <a:tailEnd type="arrow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" name="Straight Arrow Connector 8">
              <a:extLst>
                <a:ext uri="{FF2B5EF4-FFF2-40B4-BE49-F238E27FC236}">
                  <a16:creationId xmlns:a16="http://schemas.microsoft.com/office/drawing/2014/main" id="{9570DD3C-B813-8111-6CDE-88D1E03603AC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4403465" y="5355068"/>
              <a:ext cx="827441" cy="0"/>
            </a:xfrm>
            <a:prstGeom prst="straightConnector1">
              <a:avLst/>
            </a:prstGeom>
            <a:ln w="25400" cap="flat">
              <a:solidFill>
                <a:schemeClr val="tx1"/>
              </a:solidFill>
              <a:headEnd type="none" w="lg" len="sm"/>
              <a:tailEnd type="arrow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" name="Straight Arrow Connector 9">
              <a:extLst>
                <a:ext uri="{FF2B5EF4-FFF2-40B4-BE49-F238E27FC236}">
                  <a16:creationId xmlns:a16="http://schemas.microsoft.com/office/drawing/2014/main" id="{DB62077C-8AB5-4046-0782-F8E108C5E3E4}"/>
                </a:ext>
              </a:extLst>
            </p:cNvPr>
            <p:cNvCxnSpPr>
              <a:cxnSpLocks/>
            </p:cNvCxnSpPr>
            <p:nvPr/>
          </p:nvCxnSpPr>
          <p:spPr>
            <a:xfrm>
              <a:off x="6266331" y="4960621"/>
              <a:ext cx="844475" cy="0"/>
            </a:xfrm>
            <a:prstGeom prst="straightConnector1">
              <a:avLst/>
            </a:prstGeom>
            <a:ln w="25400" cap="flat">
              <a:solidFill>
                <a:schemeClr val="tx1"/>
              </a:solidFill>
              <a:headEnd type="none" w="lg" len="sm"/>
              <a:tailEnd type="arrow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Straight Arrow Connector 10">
              <a:extLst>
                <a:ext uri="{FF2B5EF4-FFF2-40B4-BE49-F238E27FC236}">
                  <a16:creationId xmlns:a16="http://schemas.microsoft.com/office/drawing/2014/main" id="{4A442179-76F7-BD17-974D-81E1899DDB0D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6266331" y="5355068"/>
              <a:ext cx="827441" cy="0"/>
            </a:xfrm>
            <a:prstGeom prst="straightConnector1">
              <a:avLst/>
            </a:prstGeom>
            <a:ln w="25400" cap="flat">
              <a:solidFill>
                <a:schemeClr val="tx1"/>
              </a:solidFill>
              <a:headEnd type="none" w="lg" len="sm"/>
              <a:tailEnd type="arrow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Straight Arrow Connector 12">
              <a:extLst>
                <a:ext uri="{FF2B5EF4-FFF2-40B4-BE49-F238E27FC236}">
                  <a16:creationId xmlns:a16="http://schemas.microsoft.com/office/drawing/2014/main" id="{9C734F48-3919-6DB0-9785-D9155F781D48}"/>
                </a:ext>
              </a:extLst>
            </p:cNvPr>
            <p:cNvCxnSpPr>
              <a:cxnSpLocks/>
            </p:cNvCxnSpPr>
            <p:nvPr/>
          </p:nvCxnSpPr>
          <p:spPr>
            <a:xfrm>
              <a:off x="4110318" y="3859755"/>
              <a:ext cx="0" cy="683110"/>
            </a:xfrm>
            <a:prstGeom prst="straightConnector1">
              <a:avLst/>
            </a:prstGeom>
            <a:ln w="25400" cap="flat">
              <a:solidFill>
                <a:schemeClr val="tx1"/>
              </a:solidFill>
              <a:headEnd type="none" w="lg" len="sm"/>
              <a:tailEnd type="arrow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Straight Arrow Connector 13">
              <a:extLst>
                <a:ext uri="{FF2B5EF4-FFF2-40B4-BE49-F238E27FC236}">
                  <a16:creationId xmlns:a16="http://schemas.microsoft.com/office/drawing/2014/main" id="{3113115A-F0C6-7A0C-9069-80CD2BD65801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662978" y="3859755"/>
              <a:ext cx="0" cy="674146"/>
            </a:xfrm>
            <a:prstGeom prst="straightConnector1">
              <a:avLst/>
            </a:prstGeom>
            <a:ln w="25400" cap="flat">
              <a:solidFill>
                <a:schemeClr val="tx1"/>
              </a:solidFill>
              <a:headEnd type="none" w="lg" len="sm"/>
              <a:tailEnd type="arrow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Arrow Connector 14">
              <a:extLst>
                <a:ext uri="{FF2B5EF4-FFF2-40B4-BE49-F238E27FC236}">
                  <a16:creationId xmlns:a16="http://schemas.microsoft.com/office/drawing/2014/main" id="{C459B629-86B1-0C88-87B8-323CF57FA248}"/>
                </a:ext>
              </a:extLst>
            </p:cNvPr>
            <p:cNvCxnSpPr>
              <a:cxnSpLocks/>
            </p:cNvCxnSpPr>
            <p:nvPr/>
          </p:nvCxnSpPr>
          <p:spPr>
            <a:xfrm>
              <a:off x="5924774" y="3859755"/>
              <a:ext cx="0" cy="683110"/>
            </a:xfrm>
            <a:prstGeom prst="straightConnector1">
              <a:avLst/>
            </a:prstGeom>
            <a:ln w="25400" cap="flat">
              <a:solidFill>
                <a:schemeClr val="tx1"/>
              </a:solidFill>
              <a:headEnd type="none" w="lg" len="sm"/>
              <a:tailEnd type="arrow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Straight Arrow Connector 16">
              <a:extLst>
                <a:ext uri="{FF2B5EF4-FFF2-40B4-BE49-F238E27FC236}">
                  <a16:creationId xmlns:a16="http://schemas.microsoft.com/office/drawing/2014/main" id="{DA157412-7FD4-D837-AC8D-D0DAD98BD35E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5477434" y="3859755"/>
              <a:ext cx="0" cy="674146"/>
            </a:xfrm>
            <a:prstGeom prst="straightConnector1">
              <a:avLst/>
            </a:prstGeom>
            <a:ln w="25400" cap="flat">
              <a:solidFill>
                <a:schemeClr val="tx1"/>
              </a:solidFill>
              <a:headEnd type="none" w="lg" len="sm"/>
              <a:tailEnd type="arrow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" name="Straight Arrow Connector 17">
              <a:extLst>
                <a:ext uri="{FF2B5EF4-FFF2-40B4-BE49-F238E27FC236}">
                  <a16:creationId xmlns:a16="http://schemas.microsoft.com/office/drawing/2014/main" id="{F7CE33A7-316E-27F8-B46C-4A7D83097707}"/>
                </a:ext>
              </a:extLst>
            </p:cNvPr>
            <p:cNvCxnSpPr>
              <a:cxnSpLocks/>
            </p:cNvCxnSpPr>
            <p:nvPr/>
          </p:nvCxnSpPr>
          <p:spPr>
            <a:xfrm>
              <a:off x="7808260" y="3985262"/>
              <a:ext cx="0" cy="683110"/>
            </a:xfrm>
            <a:prstGeom prst="straightConnector1">
              <a:avLst/>
            </a:prstGeom>
            <a:ln w="25400" cap="flat">
              <a:solidFill>
                <a:schemeClr val="tx1"/>
              </a:solidFill>
              <a:headEnd type="none" w="lg" len="sm"/>
              <a:tailEnd type="arrow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Straight Arrow Connector 18">
              <a:extLst>
                <a:ext uri="{FF2B5EF4-FFF2-40B4-BE49-F238E27FC236}">
                  <a16:creationId xmlns:a16="http://schemas.microsoft.com/office/drawing/2014/main" id="{3FD8764D-953C-8EEF-93F3-19634E8F3572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360920" y="3985262"/>
              <a:ext cx="0" cy="674146"/>
            </a:xfrm>
            <a:prstGeom prst="straightConnector1">
              <a:avLst/>
            </a:prstGeom>
            <a:ln w="25400" cap="flat">
              <a:solidFill>
                <a:schemeClr val="tx1"/>
              </a:solidFill>
              <a:headEnd type="none" w="lg" len="sm"/>
              <a:tailEnd type="arrow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Straight Arrow Connector 11">
              <a:extLst>
                <a:ext uri="{FF2B5EF4-FFF2-40B4-BE49-F238E27FC236}">
                  <a16:creationId xmlns:a16="http://schemas.microsoft.com/office/drawing/2014/main" id="{47063232-6607-6873-C04C-0F0C10742255}"/>
                </a:ext>
              </a:extLst>
            </p:cNvPr>
            <p:cNvCxnSpPr>
              <a:cxnSpLocks/>
            </p:cNvCxnSpPr>
            <p:nvPr/>
          </p:nvCxnSpPr>
          <p:spPr>
            <a:xfrm>
              <a:off x="2436608" y="4851699"/>
              <a:ext cx="952051" cy="0"/>
            </a:xfrm>
            <a:prstGeom prst="straightConnector1">
              <a:avLst/>
            </a:prstGeom>
            <a:ln w="25400" cap="flat">
              <a:solidFill>
                <a:schemeClr val="tx1"/>
              </a:solidFill>
              <a:headEnd type="none" w="lg" len="sm"/>
              <a:tailEnd type="arrow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33" name="TextBox 32">
                <a:extLst>
                  <a:ext uri="{FF2B5EF4-FFF2-40B4-BE49-F238E27FC236}">
                    <a16:creationId xmlns:a16="http://schemas.microsoft.com/office/drawing/2014/main" id="{73F10D65-1EA9-0737-7BF9-272B43883824}"/>
                  </a:ext>
                </a:extLst>
              </p:cNvPr>
              <p:cNvSpPr txBox="1"/>
              <p:nvPr/>
            </p:nvSpPr>
            <p:spPr>
              <a:xfrm>
                <a:off x="398931" y="5525838"/>
                <a:ext cx="4632958" cy="916726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40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nor/>
                            </m:rPr>
                            <a:rPr lang="en-US" sz="4000" b="0" i="0" smtClean="0">
                              <a:latin typeface="KG Ten Thousand Reasons" panose="02000000000000000000" pitchFamily="2" charset="77"/>
                            </a:rPr>
                            <m:t>π</m:t>
                          </m:r>
                        </m:e>
                        <m:sub>
                          <m:r>
                            <m:rPr>
                              <m:nor/>
                            </m:rPr>
                            <a:rPr lang="en-US" sz="4000" b="0" i="0" smtClean="0">
                              <a:latin typeface="KG Ten Thousand Reasons" panose="02000000000000000000" pitchFamily="2" charset="77"/>
                            </a:rPr>
                            <m:t>N</m:t>
                          </m:r>
                        </m:sub>
                      </m:sSub>
                      <m:r>
                        <m:rPr>
                          <m:nor/>
                        </m:rPr>
                        <a:rPr lang="en-US" sz="4000" b="0" i="0" smtClean="0">
                          <a:latin typeface="KG Ten Thousand Reasons" panose="02000000000000000000" pitchFamily="2" charset="77"/>
                        </a:rPr>
                        <m:t> ⋄</m:t>
                      </m:r>
                      <m:sSub>
                        <m:sSubPr>
                          <m:ctrlPr>
                            <a:rPr lang="en-US" sz="40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nor/>
                            </m:rPr>
                            <a:rPr lang="en-US" sz="4000" b="0" i="0" smtClean="0">
                              <a:latin typeface="KG Ten Thousand Reasons" panose="02000000000000000000" pitchFamily="2" charset="77"/>
                            </a:rPr>
                            <m:t> ( </m:t>
                          </m:r>
                          <m:r>
                            <m:rPr>
                              <m:nor/>
                            </m:rPr>
                            <a:rPr lang="en-US" sz="4000" b="0" i="0" smtClean="0">
                              <a:latin typeface="KG Ten Thousand Reasons" panose="02000000000000000000" pitchFamily="2" charset="77"/>
                            </a:rPr>
                            <m:t>π</m:t>
                          </m:r>
                        </m:e>
                        <m:sub>
                          <m:r>
                            <m:rPr>
                              <m:nor/>
                            </m:rPr>
                            <a:rPr lang="en-US" sz="4000" b="0" i="0" smtClean="0">
                              <a:latin typeface="KG Ten Thousand Reasons" panose="02000000000000000000" pitchFamily="2" charset="77"/>
                            </a:rPr>
                            <m:t>sT</m:t>
                          </m:r>
                        </m:sub>
                      </m:sSub>
                      <m:r>
                        <m:rPr>
                          <m:nor/>
                        </m:rPr>
                        <a:rPr lang="en-US" sz="4000" b="0" i="0" smtClean="0">
                          <a:latin typeface="KG Ten Thousand Reasons" panose="02000000000000000000" pitchFamily="2" charset="77"/>
                        </a:rPr>
                        <m:t> ⋄</m:t>
                      </m:r>
                      <m:sSub>
                        <m:sSubPr>
                          <m:ctrlPr>
                            <a:rPr lang="en-US" sz="40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nor/>
                            </m:rPr>
                            <a:rPr lang="en-US" sz="4000" b="0" i="0" smtClean="0">
                              <a:latin typeface="KG Ten Thousand Reasons" panose="02000000000000000000" pitchFamily="2" charset="77"/>
                            </a:rPr>
                            <m:t> </m:t>
                          </m:r>
                          <m:r>
                            <m:rPr>
                              <m:nor/>
                            </m:rPr>
                            <a:rPr lang="en-US" sz="4000" b="0" i="0" smtClean="0">
                              <a:latin typeface="KG Ten Thousand Reasons" panose="02000000000000000000" pitchFamily="2" charset="77"/>
                            </a:rPr>
                            <m:t>F</m:t>
                          </m:r>
                        </m:e>
                        <m:sub>
                          <m:r>
                            <m:rPr>
                              <m:nor/>
                            </m:rPr>
                            <a:rPr lang="en-US" sz="4000" b="0" i="0" smtClean="0">
                              <a:latin typeface="KG Ten Thousand Reasons" panose="02000000000000000000" pitchFamily="2" charset="77"/>
                            </a:rPr>
                            <m:t>AT</m:t>
                          </m:r>
                        </m:sub>
                      </m:sSub>
                      <m:r>
                        <m:rPr>
                          <m:nor/>
                        </m:rPr>
                        <a:rPr lang="en-US" sz="4000" b="0" i="0" smtClean="0">
                          <a:latin typeface="KG Ten Thousand Reasons" panose="02000000000000000000" pitchFamily="2" charset="77"/>
                        </a:rPr>
                        <m:t> ) </m:t>
                      </m:r>
                    </m:oMath>
                  </m:oMathPara>
                </a14:m>
                <a:endParaRPr lang="en-US" sz="4000" dirty="0">
                  <a:latin typeface="KG Ten Thousand Reasons" panose="02000000000000000000" pitchFamily="2" charset="77"/>
                </a:endParaRPr>
              </a:p>
            </p:txBody>
          </p:sp>
        </mc:Choice>
        <mc:Fallback xmlns="">
          <p:sp>
            <p:nvSpPr>
              <p:cNvPr id="33" name="TextBox 32">
                <a:extLst>
                  <a:ext uri="{FF2B5EF4-FFF2-40B4-BE49-F238E27FC236}">
                    <a16:creationId xmlns:a16="http://schemas.microsoft.com/office/drawing/2014/main" id="{73F10D65-1EA9-0737-7BF9-272B4388382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98931" y="5525838"/>
                <a:ext cx="4632958" cy="916726"/>
              </a:xfrm>
              <a:prstGeom prst="rect">
                <a:avLst/>
              </a:prstGeom>
              <a:blipFill>
                <a:blip r:embed="rId2"/>
                <a:stretch>
                  <a:fillRect t="-14865" r="-3014" b="-2567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4" name="TextBox 33">
                <a:extLst>
                  <a:ext uri="{FF2B5EF4-FFF2-40B4-BE49-F238E27FC236}">
                    <a16:creationId xmlns:a16="http://schemas.microsoft.com/office/drawing/2014/main" id="{6B4E69C2-25D7-DB1F-BB79-EF5D23F95893}"/>
                  </a:ext>
                </a:extLst>
              </p:cNvPr>
              <p:cNvSpPr txBox="1"/>
              <p:nvPr/>
            </p:nvSpPr>
            <p:spPr>
              <a:xfrm>
                <a:off x="6190131" y="5569764"/>
                <a:ext cx="4632958" cy="916726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40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nor/>
                            </m:rPr>
                            <a:rPr lang="en-US" sz="4000" b="0" i="0" smtClean="0">
                              <a:latin typeface="KG Ten Thousand Reasons" panose="02000000000000000000" pitchFamily="2" charset="77"/>
                            </a:rPr>
                            <m:t>(</m:t>
                          </m:r>
                          <m:r>
                            <m:rPr>
                              <m:nor/>
                            </m:rPr>
                            <a:rPr lang="en-US" sz="4000" b="0" i="0" smtClean="0">
                              <a:latin typeface="KG Ten Thousand Reasons" panose="02000000000000000000" pitchFamily="2" charset="77"/>
                            </a:rPr>
                            <m:t>π</m:t>
                          </m:r>
                        </m:e>
                        <m:sub>
                          <m:r>
                            <m:rPr>
                              <m:nor/>
                            </m:rPr>
                            <a:rPr lang="en-US" sz="4000" b="0" i="0" smtClean="0">
                              <a:latin typeface="KG Ten Thousand Reasons" panose="02000000000000000000" pitchFamily="2" charset="77"/>
                            </a:rPr>
                            <m:t>N</m:t>
                          </m:r>
                        </m:sub>
                      </m:sSub>
                      <m:r>
                        <m:rPr>
                          <m:nor/>
                        </m:rPr>
                        <a:rPr lang="en-US" sz="4000" b="0" i="0" smtClean="0">
                          <a:latin typeface="KG Ten Thousand Reasons" panose="02000000000000000000" pitchFamily="2" charset="77"/>
                        </a:rPr>
                        <m:t> ⋄</m:t>
                      </m:r>
                      <m:sSub>
                        <m:sSubPr>
                          <m:ctrlPr>
                            <a:rPr lang="en-US" sz="40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nor/>
                            </m:rPr>
                            <a:rPr lang="en-US" sz="4000" b="0" i="0" smtClean="0">
                              <a:latin typeface="KG Ten Thousand Reasons" panose="02000000000000000000" pitchFamily="2" charset="77"/>
                            </a:rPr>
                            <m:t>  </m:t>
                          </m:r>
                          <m:r>
                            <m:rPr>
                              <m:nor/>
                            </m:rPr>
                            <a:rPr lang="en-US" sz="4000" b="0" i="0" smtClean="0">
                              <a:latin typeface="KG Ten Thousand Reasons" panose="02000000000000000000" pitchFamily="2" charset="77"/>
                            </a:rPr>
                            <m:t>π</m:t>
                          </m:r>
                        </m:e>
                        <m:sub>
                          <m:r>
                            <m:rPr>
                              <m:nor/>
                            </m:rPr>
                            <a:rPr lang="en-US" sz="4000" b="0" i="0" smtClean="0">
                              <a:latin typeface="KG Ten Thousand Reasons" panose="02000000000000000000" pitchFamily="2" charset="77"/>
                            </a:rPr>
                            <m:t>sT</m:t>
                          </m:r>
                        </m:sub>
                      </m:sSub>
                      <m:r>
                        <m:rPr>
                          <m:nor/>
                        </m:rPr>
                        <a:rPr lang="en-US" sz="4000" b="0" i="0" smtClean="0">
                          <a:latin typeface="KG Ten Thousand Reasons" panose="02000000000000000000" pitchFamily="2" charset="77"/>
                        </a:rPr>
                        <m:t>) ⋄</m:t>
                      </m:r>
                      <m:sSub>
                        <m:sSubPr>
                          <m:ctrlPr>
                            <a:rPr lang="en-US" sz="40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nor/>
                            </m:rPr>
                            <a:rPr lang="en-US" sz="4000" b="0" i="0" smtClean="0">
                              <a:latin typeface="KG Ten Thousand Reasons" panose="02000000000000000000" pitchFamily="2" charset="77"/>
                            </a:rPr>
                            <m:t> </m:t>
                          </m:r>
                          <m:r>
                            <m:rPr>
                              <m:nor/>
                            </m:rPr>
                            <a:rPr lang="en-US" sz="4000" b="0" i="0" smtClean="0">
                              <a:latin typeface="KG Ten Thousand Reasons" panose="02000000000000000000" pitchFamily="2" charset="77"/>
                            </a:rPr>
                            <m:t>F</m:t>
                          </m:r>
                        </m:e>
                        <m:sub>
                          <m:r>
                            <m:rPr>
                              <m:nor/>
                            </m:rPr>
                            <a:rPr lang="en-US" sz="4000" b="0" i="0" smtClean="0">
                              <a:latin typeface="KG Ten Thousand Reasons" panose="02000000000000000000" pitchFamily="2" charset="77"/>
                            </a:rPr>
                            <m:t>AT</m:t>
                          </m:r>
                        </m:sub>
                      </m:sSub>
                      <m:r>
                        <m:rPr>
                          <m:nor/>
                        </m:rPr>
                        <a:rPr lang="en-US" sz="4000" b="0" i="0" smtClean="0">
                          <a:latin typeface="KG Ten Thousand Reasons" panose="02000000000000000000" pitchFamily="2" charset="77"/>
                        </a:rPr>
                        <m:t>  </m:t>
                      </m:r>
                    </m:oMath>
                  </m:oMathPara>
                </a14:m>
                <a:endParaRPr lang="en-US" sz="4000" dirty="0">
                  <a:latin typeface="KG Ten Thousand Reasons" panose="02000000000000000000" pitchFamily="2" charset="77"/>
                </a:endParaRPr>
              </a:p>
            </p:txBody>
          </p:sp>
        </mc:Choice>
        <mc:Fallback xmlns="">
          <p:sp>
            <p:nvSpPr>
              <p:cNvPr id="34" name="TextBox 33">
                <a:extLst>
                  <a:ext uri="{FF2B5EF4-FFF2-40B4-BE49-F238E27FC236}">
                    <a16:creationId xmlns:a16="http://schemas.microsoft.com/office/drawing/2014/main" id="{6B4E69C2-25D7-DB1F-BB79-EF5D23F9589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190131" y="5569764"/>
                <a:ext cx="4632958" cy="916726"/>
              </a:xfrm>
              <a:prstGeom prst="rect">
                <a:avLst/>
              </a:prstGeom>
              <a:blipFill>
                <a:blip r:embed="rId3"/>
                <a:stretch>
                  <a:fillRect l="-3552" t="-16438" r="-2732" b="-2739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5" name="TextBox 34">
            <a:extLst>
              <a:ext uri="{FF2B5EF4-FFF2-40B4-BE49-F238E27FC236}">
                <a16:creationId xmlns:a16="http://schemas.microsoft.com/office/drawing/2014/main" id="{3E4069BA-D9AC-0426-2E7D-E96BC5CA8BFC}"/>
              </a:ext>
            </a:extLst>
          </p:cNvPr>
          <p:cNvSpPr txBox="1"/>
          <p:nvPr/>
        </p:nvSpPr>
        <p:spPr>
          <a:xfrm>
            <a:off x="5075368" y="5481468"/>
            <a:ext cx="641522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7200" dirty="0">
                <a:latin typeface="KG Ten Thousand Reasons" panose="02000000000000000000" pitchFamily="2" charset="77"/>
              </a:rPr>
              <a:t>=</a:t>
            </a:r>
          </a:p>
        </p:txBody>
      </p:sp>
      <p:sp>
        <p:nvSpPr>
          <p:cNvPr id="36" name="Oval 35">
            <a:extLst>
              <a:ext uri="{FF2B5EF4-FFF2-40B4-BE49-F238E27FC236}">
                <a16:creationId xmlns:a16="http://schemas.microsoft.com/office/drawing/2014/main" id="{B1FE8A27-A7E8-8FFD-265E-F86AC13F49DA}"/>
              </a:ext>
            </a:extLst>
          </p:cNvPr>
          <p:cNvSpPr/>
          <p:nvPr/>
        </p:nvSpPr>
        <p:spPr>
          <a:xfrm>
            <a:off x="6190131" y="5291872"/>
            <a:ext cx="2859740" cy="1492624"/>
          </a:xfrm>
          <a:custGeom>
            <a:avLst/>
            <a:gdLst>
              <a:gd name="connsiteX0" fmla="*/ 0 w 2859740"/>
              <a:gd name="connsiteY0" fmla="*/ 746312 h 1492624"/>
              <a:gd name="connsiteX1" fmla="*/ 1429870 w 2859740"/>
              <a:gd name="connsiteY1" fmla="*/ 0 h 1492624"/>
              <a:gd name="connsiteX2" fmla="*/ 2859740 w 2859740"/>
              <a:gd name="connsiteY2" fmla="*/ 746312 h 1492624"/>
              <a:gd name="connsiteX3" fmla="*/ 1429870 w 2859740"/>
              <a:gd name="connsiteY3" fmla="*/ 1492624 h 1492624"/>
              <a:gd name="connsiteX4" fmla="*/ 0 w 2859740"/>
              <a:gd name="connsiteY4" fmla="*/ 746312 h 149262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859740" h="1492624" extrusionOk="0">
                <a:moveTo>
                  <a:pt x="0" y="746312"/>
                </a:moveTo>
                <a:cubicBezTo>
                  <a:pt x="-120024" y="260101"/>
                  <a:pt x="585385" y="20564"/>
                  <a:pt x="1429870" y="0"/>
                </a:cubicBezTo>
                <a:cubicBezTo>
                  <a:pt x="2289320" y="14685"/>
                  <a:pt x="2850590" y="334426"/>
                  <a:pt x="2859740" y="746312"/>
                </a:cubicBezTo>
                <a:cubicBezTo>
                  <a:pt x="2749563" y="1266083"/>
                  <a:pt x="2197601" y="1614028"/>
                  <a:pt x="1429870" y="1492624"/>
                </a:cubicBezTo>
                <a:cubicBezTo>
                  <a:pt x="593927" y="1467321"/>
                  <a:pt x="38870" y="1177061"/>
                  <a:pt x="0" y="746312"/>
                </a:cubicBezTo>
                <a:close/>
              </a:path>
            </a:pathLst>
          </a:custGeom>
          <a:noFill/>
          <a:ln>
            <a:prstDash val="lgDash"/>
            <a:extLst>
              <a:ext uri="{C807C97D-BFC1-408E-A445-0C87EB9F89A2}">
                <ask:lineSketchStyleProps xmlns:ask="http://schemas.microsoft.com/office/drawing/2018/sketchyshapes" sd="1219033472">
                  <a:prstGeom prst="ellipse">
                    <a:avLst/>
                  </a:prstGeom>
                  <ask:type>
                    <ask:lineSketchScribbl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38" name="Straight Arrow Connector 37">
            <a:extLst>
              <a:ext uri="{FF2B5EF4-FFF2-40B4-BE49-F238E27FC236}">
                <a16:creationId xmlns:a16="http://schemas.microsoft.com/office/drawing/2014/main" id="{1F88F4D2-5D3B-628C-12A0-3F0478A2BAB9}"/>
              </a:ext>
            </a:extLst>
          </p:cNvPr>
          <p:cNvCxnSpPr>
            <a:cxnSpLocks/>
          </p:cNvCxnSpPr>
          <p:nvPr/>
        </p:nvCxnSpPr>
        <p:spPr>
          <a:xfrm>
            <a:off x="8884922" y="6474338"/>
            <a:ext cx="1938167" cy="138914"/>
          </a:xfrm>
          <a:prstGeom prst="straightConnector1">
            <a:avLst/>
          </a:prstGeom>
          <a:ln w="19050">
            <a:tailEnd type="triangle" w="lg" len="lg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47" name="TextBox 46">
            <a:extLst>
              <a:ext uri="{FF2B5EF4-FFF2-40B4-BE49-F238E27FC236}">
                <a16:creationId xmlns:a16="http://schemas.microsoft.com/office/drawing/2014/main" id="{516B83AA-088A-8887-0E6A-75FBDF2057B0}"/>
              </a:ext>
            </a:extLst>
          </p:cNvPr>
          <p:cNvSpPr txBox="1"/>
          <p:nvPr/>
        </p:nvSpPr>
        <p:spPr>
          <a:xfrm>
            <a:off x="10823089" y="6176479"/>
            <a:ext cx="139933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Christmas Chalk" panose="02000500000000000000" pitchFamily="2" charset="0"/>
              </a:rPr>
              <a:t>Composed Protocol</a:t>
            </a:r>
          </a:p>
        </p:txBody>
      </p:sp>
      <p:cxnSp>
        <p:nvCxnSpPr>
          <p:cNvPr id="48" name="Straight Arrow Connector 47">
            <a:extLst>
              <a:ext uri="{FF2B5EF4-FFF2-40B4-BE49-F238E27FC236}">
                <a16:creationId xmlns:a16="http://schemas.microsoft.com/office/drawing/2014/main" id="{2804D40F-61B3-01EE-058C-797A71B3B16E}"/>
              </a:ext>
            </a:extLst>
          </p:cNvPr>
          <p:cNvCxnSpPr>
            <a:cxnSpLocks/>
          </p:cNvCxnSpPr>
          <p:nvPr/>
        </p:nvCxnSpPr>
        <p:spPr>
          <a:xfrm flipV="1">
            <a:off x="1110503" y="1881241"/>
            <a:ext cx="247876" cy="1407016"/>
          </a:xfrm>
          <a:prstGeom prst="straightConnector1">
            <a:avLst/>
          </a:prstGeom>
          <a:ln w="19050">
            <a:tailEnd type="triangle" w="lg" len="lg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50" name="TextBox 49">
            <a:extLst>
              <a:ext uri="{FF2B5EF4-FFF2-40B4-BE49-F238E27FC236}">
                <a16:creationId xmlns:a16="http://schemas.microsoft.com/office/drawing/2014/main" id="{28AC15B0-2873-6035-1742-FD702126BC29}"/>
              </a:ext>
            </a:extLst>
          </p:cNvPr>
          <p:cNvSpPr txBox="1"/>
          <p:nvPr/>
        </p:nvSpPr>
        <p:spPr>
          <a:xfrm>
            <a:off x="623528" y="1561203"/>
            <a:ext cx="219497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Christmas Chalk" panose="02000500000000000000" pitchFamily="2" charset="0"/>
              </a:rPr>
              <a:t>Composed Party</a:t>
            </a:r>
          </a:p>
        </p:txBody>
      </p:sp>
      <p:cxnSp>
        <p:nvCxnSpPr>
          <p:cNvPr id="51" name="Straight Arrow Connector 50">
            <a:extLst>
              <a:ext uri="{FF2B5EF4-FFF2-40B4-BE49-F238E27FC236}">
                <a16:creationId xmlns:a16="http://schemas.microsoft.com/office/drawing/2014/main" id="{80341EC8-9F85-8F64-D677-554887CA5A1B}"/>
              </a:ext>
            </a:extLst>
          </p:cNvPr>
          <p:cNvCxnSpPr>
            <a:cxnSpLocks/>
          </p:cNvCxnSpPr>
          <p:nvPr/>
        </p:nvCxnSpPr>
        <p:spPr>
          <a:xfrm flipH="1" flipV="1">
            <a:off x="9914551" y="1984243"/>
            <a:ext cx="278800" cy="1365776"/>
          </a:xfrm>
          <a:prstGeom prst="straightConnector1">
            <a:avLst/>
          </a:prstGeom>
          <a:ln w="19050">
            <a:tailEnd type="triangle" w="lg" len="lg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54" name="TextBox 53">
            <a:extLst>
              <a:ext uri="{FF2B5EF4-FFF2-40B4-BE49-F238E27FC236}">
                <a16:creationId xmlns:a16="http://schemas.microsoft.com/office/drawing/2014/main" id="{6D0AC28E-CC74-4AD1-673D-F873C6523156}"/>
              </a:ext>
            </a:extLst>
          </p:cNvPr>
          <p:cNvSpPr txBox="1"/>
          <p:nvPr/>
        </p:nvSpPr>
        <p:spPr>
          <a:xfrm>
            <a:off x="8720451" y="1589797"/>
            <a:ext cx="219497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Christmas Chalk" panose="02000500000000000000" pitchFamily="2" charset="0"/>
              </a:rPr>
              <a:t>Composed Party</a:t>
            </a:r>
          </a:p>
        </p:txBody>
      </p:sp>
    </p:spTree>
    <p:extLst>
      <p:ext uri="{BB962C8B-B14F-4D97-AF65-F5344CB8AC3E}">
        <p14:creationId xmlns:p14="http://schemas.microsoft.com/office/powerpoint/2010/main" val="3408449905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Trapezoid 15">
            <a:extLst>
              <a:ext uri="{FF2B5EF4-FFF2-40B4-BE49-F238E27FC236}">
                <a16:creationId xmlns:a16="http://schemas.microsoft.com/office/drawing/2014/main" id="{4BD79E70-DA5B-1E9A-D39A-7C9A56B13208}"/>
              </a:ext>
            </a:extLst>
          </p:cNvPr>
          <p:cNvSpPr/>
          <p:nvPr/>
        </p:nvSpPr>
        <p:spPr>
          <a:xfrm>
            <a:off x="519996" y="2008051"/>
            <a:ext cx="5766092" cy="1219243"/>
          </a:xfrm>
          <a:prstGeom prst="trapezoid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7200" dirty="0">
                <a:latin typeface="Bradley Hand" pitchFamily="2" charset="77"/>
                <a:cs typeface="Calibri" panose="020F0502020204030204" pitchFamily="34" charset="0"/>
              </a:rPr>
              <a:t>U</a:t>
            </a:r>
            <a:endParaRPr lang="en-US" dirty="0">
              <a:latin typeface="Bradley Hand" pitchFamily="2" charset="77"/>
              <a:cs typeface="Calibri" panose="020F0502020204030204" pitchFamily="34" charset="0"/>
            </a:endParaRPr>
          </a:p>
        </p:txBody>
      </p:sp>
      <p:cxnSp>
        <p:nvCxnSpPr>
          <p:cNvPr id="3" name="Straight Arrow Connector 2">
            <a:extLst>
              <a:ext uri="{FF2B5EF4-FFF2-40B4-BE49-F238E27FC236}">
                <a16:creationId xmlns:a16="http://schemas.microsoft.com/office/drawing/2014/main" id="{82CFAEF7-B058-D7FE-4433-9DC09BB107EE}"/>
              </a:ext>
            </a:extLst>
          </p:cNvPr>
          <p:cNvCxnSpPr>
            <a:cxnSpLocks/>
          </p:cNvCxnSpPr>
          <p:nvPr/>
        </p:nvCxnSpPr>
        <p:spPr>
          <a:xfrm>
            <a:off x="3948991" y="3227295"/>
            <a:ext cx="0" cy="683110"/>
          </a:xfrm>
          <a:prstGeom prst="straightConnector1">
            <a:avLst/>
          </a:prstGeom>
          <a:ln w="25400" cap="flat">
            <a:solidFill>
              <a:schemeClr val="tx1"/>
            </a:solidFill>
            <a:headEnd type="none" w="lg" len="sm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Straight Arrow Connector 3">
            <a:extLst>
              <a:ext uri="{FF2B5EF4-FFF2-40B4-BE49-F238E27FC236}">
                <a16:creationId xmlns:a16="http://schemas.microsoft.com/office/drawing/2014/main" id="{D77D73A4-493D-C7E3-5F54-B8D9237496C3}"/>
              </a:ext>
            </a:extLst>
          </p:cNvPr>
          <p:cNvCxnSpPr>
            <a:cxnSpLocks/>
          </p:cNvCxnSpPr>
          <p:nvPr/>
        </p:nvCxnSpPr>
        <p:spPr>
          <a:xfrm flipV="1">
            <a:off x="3447861" y="3064136"/>
            <a:ext cx="0" cy="674146"/>
          </a:xfrm>
          <a:prstGeom prst="straightConnector1">
            <a:avLst/>
          </a:prstGeom>
          <a:ln w="25400" cap="flat">
            <a:solidFill>
              <a:schemeClr val="tx1"/>
            </a:solidFill>
            <a:headEnd type="none" w="lg" len="sm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Straight Arrow Connector 4">
            <a:extLst>
              <a:ext uri="{FF2B5EF4-FFF2-40B4-BE49-F238E27FC236}">
                <a16:creationId xmlns:a16="http://schemas.microsoft.com/office/drawing/2014/main" id="{0ECD2F17-057C-DFC9-05BB-5B014380B626}"/>
              </a:ext>
            </a:extLst>
          </p:cNvPr>
          <p:cNvCxnSpPr>
            <a:cxnSpLocks/>
          </p:cNvCxnSpPr>
          <p:nvPr/>
        </p:nvCxnSpPr>
        <p:spPr>
          <a:xfrm>
            <a:off x="1461284" y="1470210"/>
            <a:ext cx="0" cy="683110"/>
          </a:xfrm>
          <a:prstGeom prst="straightConnector1">
            <a:avLst/>
          </a:prstGeom>
          <a:ln w="25400" cap="flat">
            <a:solidFill>
              <a:schemeClr val="tx1"/>
            </a:solidFill>
            <a:headEnd type="none" w="lg" len="sm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F320A6AC-83F0-FB35-0F42-43AE89726BE1}"/>
              </a:ext>
            </a:extLst>
          </p:cNvPr>
          <p:cNvCxnSpPr>
            <a:cxnSpLocks/>
          </p:cNvCxnSpPr>
          <p:nvPr/>
        </p:nvCxnSpPr>
        <p:spPr>
          <a:xfrm flipV="1">
            <a:off x="1081179" y="1308846"/>
            <a:ext cx="0" cy="674146"/>
          </a:xfrm>
          <a:prstGeom prst="straightConnector1">
            <a:avLst/>
          </a:prstGeom>
          <a:ln w="25400" cap="flat">
            <a:solidFill>
              <a:schemeClr val="tx1"/>
            </a:solidFill>
            <a:headEnd type="none" w="lg" len="sm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8D11066C-84EF-0BA3-6131-0CE5EE5293C5}"/>
              </a:ext>
            </a:extLst>
          </p:cNvPr>
          <p:cNvCxnSpPr>
            <a:cxnSpLocks/>
          </p:cNvCxnSpPr>
          <p:nvPr/>
        </p:nvCxnSpPr>
        <p:spPr>
          <a:xfrm>
            <a:off x="2604283" y="1483657"/>
            <a:ext cx="0" cy="683110"/>
          </a:xfrm>
          <a:prstGeom prst="straightConnector1">
            <a:avLst/>
          </a:prstGeom>
          <a:ln w="25400" cap="flat">
            <a:solidFill>
              <a:schemeClr val="tx1"/>
            </a:solidFill>
            <a:headEnd type="none" w="lg" len="sm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79EE7D52-C803-89C3-04F4-40763B952CAA}"/>
              </a:ext>
            </a:extLst>
          </p:cNvPr>
          <p:cNvCxnSpPr>
            <a:cxnSpLocks/>
          </p:cNvCxnSpPr>
          <p:nvPr/>
        </p:nvCxnSpPr>
        <p:spPr>
          <a:xfrm flipV="1">
            <a:off x="2170390" y="1308846"/>
            <a:ext cx="0" cy="674146"/>
          </a:xfrm>
          <a:prstGeom prst="straightConnector1">
            <a:avLst/>
          </a:prstGeom>
          <a:ln w="25400" cap="flat">
            <a:solidFill>
              <a:schemeClr val="tx1"/>
            </a:solidFill>
            <a:headEnd type="none" w="lg" len="sm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BC1894AE-CD9B-BE15-8E1A-63D4DADD2DA8}"/>
              </a:ext>
            </a:extLst>
          </p:cNvPr>
          <p:cNvCxnSpPr>
            <a:cxnSpLocks/>
          </p:cNvCxnSpPr>
          <p:nvPr/>
        </p:nvCxnSpPr>
        <p:spPr>
          <a:xfrm>
            <a:off x="3626260" y="1483657"/>
            <a:ext cx="0" cy="683110"/>
          </a:xfrm>
          <a:prstGeom prst="straightConnector1">
            <a:avLst/>
          </a:prstGeom>
          <a:ln w="25400" cap="flat">
            <a:solidFill>
              <a:schemeClr val="tx1"/>
            </a:solidFill>
            <a:headEnd type="none" w="lg" len="sm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C05F0DE0-9CB0-B5A1-CE44-8199C89F6CDE}"/>
              </a:ext>
            </a:extLst>
          </p:cNvPr>
          <p:cNvCxnSpPr>
            <a:cxnSpLocks/>
          </p:cNvCxnSpPr>
          <p:nvPr/>
        </p:nvCxnSpPr>
        <p:spPr>
          <a:xfrm flipV="1">
            <a:off x="3219261" y="1349187"/>
            <a:ext cx="0" cy="674146"/>
          </a:xfrm>
          <a:prstGeom prst="straightConnector1">
            <a:avLst/>
          </a:prstGeom>
          <a:ln w="25400" cap="flat">
            <a:solidFill>
              <a:schemeClr val="tx1"/>
            </a:solidFill>
            <a:headEnd type="none" w="lg" len="sm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FA08F7DB-F33A-CFF6-ED52-265384718BBC}"/>
              </a:ext>
            </a:extLst>
          </p:cNvPr>
          <p:cNvCxnSpPr>
            <a:cxnSpLocks/>
          </p:cNvCxnSpPr>
          <p:nvPr/>
        </p:nvCxnSpPr>
        <p:spPr>
          <a:xfrm>
            <a:off x="4661684" y="1523998"/>
            <a:ext cx="0" cy="683110"/>
          </a:xfrm>
          <a:prstGeom prst="straightConnector1">
            <a:avLst/>
          </a:prstGeom>
          <a:ln w="25400" cap="flat">
            <a:solidFill>
              <a:schemeClr val="tx1"/>
            </a:solidFill>
            <a:headEnd type="none" w="lg" len="sm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5201E95F-CADA-F3CC-01EE-461F714DEEEB}"/>
              </a:ext>
            </a:extLst>
          </p:cNvPr>
          <p:cNvCxnSpPr>
            <a:cxnSpLocks/>
          </p:cNvCxnSpPr>
          <p:nvPr/>
        </p:nvCxnSpPr>
        <p:spPr>
          <a:xfrm flipV="1">
            <a:off x="4295026" y="1299882"/>
            <a:ext cx="0" cy="674146"/>
          </a:xfrm>
          <a:prstGeom prst="straightConnector1">
            <a:avLst/>
          </a:prstGeom>
          <a:ln w="25400" cap="flat">
            <a:solidFill>
              <a:schemeClr val="tx1"/>
            </a:solidFill>
            <a:headEnd type="none" w="lg" len="sm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9E20868E-8A89-6DB3-3F6E-83B40A9F703E}"/>
              </a:ext>
            </a:extLst>
          </p:cNvPr>
          <p:cNvCxnSpPr>
            <a:cxnSpLocks/>
          </p:cNvCxnSpPr>
          <p:nvPr/>
        </p:nvCxnSpPr>
        <p:spPr>
          <a:xfrm>
            <a:off x="5602976" y="1470210"/>
            <a:ext cx="0" cy="683110"/>
          </a:xfrm>
          <a:prstGeom prst="straightConnector1">
            <a:avLst/>
          </a:prstGeom>
          <a:ln w="25400" cap="flat">
            <a:solidFill>
              <a:schemeClr val="tx1"/>
            </a:solidFill>
            <a:headEnd type="none" w="lg" len="sm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100B60CE-1D89-25E3-A882-BEF2184240B4}"/>
              </a:ext>
            </a:extLst>
          </p:cNvPr>
          <p:cNvCxnSpPr>
            <a:cxnSpLocks/>
          </p:cNvCxnSpPr>
          <p:nvPr/>
        </p:nvCxnSpPr>
        <p:spPr>
          <a:xfrm flipV="1">
            <a:off x="5236320" y="1349187"/>
            <a:ext cx="0" cy="674146"/>
          </a:xfrm>
          <a:prstGeom prst="straightConnector1">
            <a:avLst/>
          </a:prstGeom>
          <a:ln w="25400" cap="flat">
            <a:solidFill>
              <a:schemeClr val="tx1"/>
            </a:solidFill>
            <a:headEnd type="none" w="lg" len="sm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9AD8251D-EC9F-9F47-0E26-0818AD11D080}"/>
                  </a:ext>
                </a:extLst>
              </p:cNvPr>
              <p:cNvSpPr txBox="1"/>
              <p:nvPr/>
            </p:nvSpPr>
            <p:spPr>
              <a:xfrm>
                <a:off x="7212359" y="3909240"/>
                <a:ext cx="4632958" cy="916726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40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nor/>
                            </m:rPr>
                            <a:rPr lang="en-US" sz="4000" b="0" i="0" smtClean="0">
                              <a:latin typeface="KG Ten Thousand Reasons" panose="02000000000000000000" pitchFamily="2" charset="77"/>
                            </a:rPr>
                            <m:t>π</m:t>
                          </m:r>
                        </m:e>
                        <m:sub>
                          <m:r>
                            <m:rPr>
                              <m:nor/>
                            </m:rPr>
                            <a:rPr lang="en-US" sz="4000" b="0" i="0" smtClean="0">
                              <a:latin typeface="KG Ten Thousand Reasons" panose="02000000000000000000" pitchFamily="2" charset="77"/>
                            </a:rPr>
                            <m:t>N</m:t>
                          </m:r>
                        </m:sub>
                      </m:sSub>
                      <m:r>
                        <m:rPr>
                          <m:nor/>
                        </m:rPr>
                        <a:rPr lang="en-US" sz="4000" b="0" i="0" smtClean="0">
                          <a:latin typeface="KG Ten Thousand Reasons" panose="02000000000000000000" pitchFamily="2" charset="77"/>
                        </a:rPr>
                        <m:t> ⋄</m:t>
                      </m:r>
                      <m:sSub>
                        <m:sSubPr>
                          <m:ctrlPr>
                            <a:rPr lang="en-US" sz="40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nor/>
                            </m:rPr>
                            <a:rPr lang="en-US" sz="4000" b="0" i="0" smtClean="0">
                              <a:latin typeface="KG Ten Thousand Reasons" panose="02000000000000000000" pitchFamily="2" charset="77"/>
                            </a:rPr>
                            <m:t>  </m:t>
                          </m:r>
                          <m:r>
                            <m:rPr>
                              <m:nor/>
                            </m:rPr>
                            <a:rPr lang="en-US" sz="4000" b="0" i="0" smtClean="0">
                              <a:latin typeface="KG Ten Thousand Reasons" panose="02000000000000000000" pitchFamily="2" charset="77"/>
                            </a:rPr>
                            <m:t>π</m:t>
                          </m:r>
                        </m:e>
                        <m:sub>
                          <m:r>
                            <m:rPr>
                              <m:nor/>
                            </m:rPr>
                            <a:rPr lang="en-US" sz="4000" b="0" i="0" smtClean="0">
                              <a:latin typeface="KG Ten Thousand Reasons" panose="02000000000000000000" pitchFamily="2" charset="77"/>
                            </a:rPr>
                            <m:t>sT</m:t>
                          </m:r>
                        </m:sub>
                      </m:sSub>
                      <m:r>
                        <m:rPr>
                          <m:nor/>
                        </m:rPr>
                        <a:rPr lang="en-US" sz="4000" b="0" i="0" smtClean="0">
                          <a:latin typeface="KG Ten Thousand Reasons" panose="02000000000000000000" pitchFamily="2" charset="77"/>
                        </a:rPr>
                        <m:t> ⋄</m:t>
                      </m:r>
                      <m:sSub>
                        <m:sSubPr>
                          <m:ctrlPr>
                            <a:rPr lang="en-US" sz="40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nor/>
                            </m:rPr>
                            <a:rPr lang="en-US" sz="4000" b="0" i="0" smtClean="0">
                              <a:latin typeface="KG Ten Thousand Reasons" panose="02000000000000000000" pitchFamily="2" charset="77"/>
                            </a:rPr>
                            <m:t> </m:t>
                          </m:r>
                          <m:r>
                            <m:rPr>
                              <m:nor/>
                            </m:rPr>
                            <a:rPr lang="en-US" sz="4000" b="0" i="0" smtClean="0">
                              <a:latin typeface="KG Ten Thousand Reasons" panose="02000000000000000000" pitchFamily="2" charset="77"/>
                            </a:rPr>
                            <m:t>F</m:t>
                          </m:r>
                        </m:e>
                        <m:sub>
                          <m:r>
                            <m:rPr>
                              <m:nor/>
                            </m:rPr>
                            <a:rPr lang="en-US" sz="4000" b="0" i="0" smtClean="0">
                              <a:latin typeface="KG Ten Thousand Reasons" panose="02000000000000000000" pitchFamily="2" charset="77"/>
                            </a:rPr>
                            <m:t>AT</m:t>
                          </m:r>
                        </m:sub>
                      </m:sSub>
                      <m:r>
                        <m:rPr>
                          <m:nor/>
                        </m:rPr>
                        <a:rPr lang="en-US" sz="4000" b="0" i="0" smtClean="0">
                          <a:latin typeface="KG Ten Thousand Reasons" panose="02000000000000000000" pitchFamily="2" charset="77"/>
                        </a:rPr>
                        <m:t>  </m:t>
                      </m:r>
                    </m:oMath>
                  </m:oMathPara>
                </a14:m>
                <a:endParaRPr lang="en-US" sz="4000" dirty="0">
                  <a:latin typeface="KG Ten Thousand Reasons" panose="02000000000000000000" pitchFamily="2" charset="77"/>
                </a:endParaRPr>
              </a:p>
            </p:txBody>
          </p:sp>
        </mc:Choice>
        <mc:Fallback xmlns="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9AD8251D-EC9F-9F47-0E26-0818AD11D08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212359" y="3909240"/>
                <a:ext cx="4632958" cy="916726"/>
              </a:xfrm>
              <a:prstGeom prst="rect">
                <a:avLst/>
              </a:prstGeom>
              <a:blipFill>
                <a:blip r:embed="rId2"/>
                <a:stretch>
                  <a:fillRect t="-18919" b="-2297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7" name="TextBox 16">
            <a:extLst>
              <a:ext uri="{FF2B5EF4-FFF2-40B4-BE49-F238E27FC236}">
                <a16:creationId xmlns:a16="http://schemas.microsoft.com/office/drawing/2014/main" id="{BFD8E44D-753E-56E5-0B2B-A18C25C44A1E}"/>
              </a:ext>
            </a:extLst>
          </p:cNvPr>
          <p:cNvSpPr txBox="1"/>
          <p:nvPr/>
        </p:nvSpPr>
        <p:spPr>
          <a:xfrm>
            <a:off x="2937233" y="3789722"/>
            <a:ext cx="734496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 err="1">
                <a:latin typeface="American Typewriter" panose="02090604020004020304" pitchFamily="18" charset="77"/>
              </a:rPr>
              <a:t>N.leak</a:t>
            </a:r>
            <a:endParaRPr lang="en-US" sz="1400" dirty="0">
              <a:latin typeface="American Typewriter" panose="02090604020004020304" pitchFamily="18" charset="77"/>
            </a:endParaRP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D1158DE7-9645-898B-E804-EB147A8A2209}"/>
              </a:ext>
            </a:extLst>
          </p:cNvPr>
          <p:cNvSpPr txBox="1"/>
          <p:nvPr/>
        </p:nvSpPr>
        <p:spPr>
          <a:xfrm>
            <a:off x="3793750" y="3916431"/>
            <a:ext cx="672813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 err="1">
                <a:latin typeface="American Typewriter" panose="02090604020004020304" pitchFamily="18" charset="77"/>
              </a:rPr>
              <a:t>N.infl</a:t>
            </a:r>
            <a:endParaRPr lang="en-US" sz="1400" dirty="0">
              <a:latin typeface="American Typewriter" panose="02090604020004020304" pitchFamily="18" charset="77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083D77E1-B208-37B8-E29D-BF86209EC5B3}"/>
              </a:ext>
            </a:extLst>
          </p:cNvPr>
          <p:cNvSpPr txBox="1"/>
          <p:nvPr/>
        </p:nvSpPr>
        <p:spPr>
          <a:xfrm>
            <a:off x="346683" y="1041410"/>
            <a:ext cx="918200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>
                <a:latin typeface="American Typewriter" panose="02090604020004020304" pitchFamily="18" charset="77"/>
              </a:rPr>
              <a:t>ST.leak1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A8AD0874-98BD-EFEF-B665-953DA8C62800}"/>
              </a:ext>
            </a:extLst>
          </p:cNvPr>
          <p:cNvSpPr txBox="1"/>
          <p:nvPr/>
        </p:nvSpPr>
        <p:spPr>
          <a:xfrm>
            <a:off x="1100315" y="1154957"/>
            <a:ext cx="856517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>
                <a:latin typeface="American Typewriter" panose="02090604020004020304" pitchFamily="18" charset="77"/>
              </a:rPr>
              <a:t>ST.infl1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6ADC9C34-E0BB-6FF9-7C66-3F51F919A4AB}"/>
              </a:ext>
            </a:extLst>
          </p:cNvPr>
          <p:cNvSpPr txBox="1"/>
          <p:nvPr/>
        </p:nvSpPr>
        <p:spPr>
          <a:xfrm>
            <a:off x="4887306" y="1032446"/>
            <a:ext cx="918200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>
                <a:latin typeface="American Typewriter" panose="02090604020004020304" pitchFamily="18" charset="77"/>
              </a:rPr>
              <a:t>ST.leak2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B063E5A5-B33E-228D-07F1-6A00740BCC0F}"/>
              </a:ext>
            </a:extLst>
          </p:cNvPr>
          <p:cNvSpPr txBox="1"/>
          <p:nvPr/>
        </p:nvSpPr>
        <p:spPr>
          <a:xfrm>
            <a:off x="5640938" y="1145993"/>
            <a:ext cx="856517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>
                <a:latin typeface="American Typewriter" panose="02090604020004020304" pitchFamily="18" charset="77"/>
              </a:rPr>
              <a:t>ST.infl2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FC025497-755D-181F-73AF-E548398F8393}"/>
              </a:ext>
            </a:extLst>
          </p:cNvPr>
          <p:cNvSpPr txBox="1"/>
          <p:nvPr/>
        </p:nvSpPr>
        <p:spPr>
          <a:xfrm>
            <a:off x="1823098" y="976010"/>
            <a:ext cx="940257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>
                <a:latin typeface="American Typewriter" panose="02090604020004020304" pitchFamily="18" charset="77"/>
              </a:rPr>
              <a:t>AT.leak1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FB85FC54-E7D1-FD4F-F053-DA1A5936EC4B}"/>
              </a:ext>
            </a:extLst>
          </p:cNvPr>
          <p:cNvSpPr txBox="1"/>
          <p:nvPr/>
        </p:nvSpPr>
        <p:spPr>
          <a:xfrm>
            <a:off x="2214917" y="1233365"/>
            <a:ext cx="87857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>
                <a:latin typeface="American Typewriter" panose="02090604020004020304" pitchFamily="18" charset="77"/>
              </a:rPr>
              <a:t>AT.infl1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9C18C00C-D7AA-06EB-39BD-8E957F71491E}"/>
              </a:ext>
            </a:extLst>
          </p:cNvPr>
          <p:cNvSpPr txBox="1"/>
          <p:nvPr/>
        </p:nvSpPr>
        <p:spPr>
          <a:xfrm>
            <a:off x="2943125" y="1001221"/>
            <a:ext cx="826445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 err="1">
                <a:latin typeface="American Typewriter" panose="02090604020004020304" pitchFamily="18" charset="77"/>
              </a:rPr>
              <a:t>AT.leak</a:t>
            </a:r>
            <a:endParaRPr lang="en-US" sz="1400" dirty="0">
              <a:latin typeface="American Typewriter" panose="02090604020004020304" pitchFamily="18" charset="77"/>
            </a:endParaRP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78B0C0B1-99F2-EBD7-9490-EBA5CB0FE875}"/>
              </a:ext>
            </a:extLst>
          </p:cNvPr>
          <p:cNvSpPr txBox="1"/>
          <p:nvPr/>
        </p:nvSpPr>
        <p:spPr>
          <a:xfrm>
            <a:off x="3334944" y="1258576"/>
            <a:ext cx="764761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 err="1">
                <a:latin typeface="American Typewriter" panose="02090604020004020304" pitchFamily="18" charset="77"/>
              </a:rPr>
              <a:t>AT.infl</a:t>
            </a:r>
            <a:endParaRPr lang="en-US" sz="1400" dirty="0">
              <a:latin typeface="American Typewriter" panose="02090604020004020304" pitchFamily="18" charset="77"/>
            </a:endParaRP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7E197B2A-8A60-F67F-A76D-C5B769802CDB}"/>
              </a:ext>
            </a:extLst>
          </p:cNvPr>
          <p:cNvSpPr txBox="1"/>
          <p:nvPr/>
        </p:nvSpPr>
        <p:spPr>
          <a:xfrm>
            <a:off x="3940967" y="995195"/>
            <a:ext cx="940257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>
                <a:latin typeface="American Typewriter" panose="02090604020004020304" pitchFamily="18" charset="77"/>
              </a:rPr>
              <a:t>AT.leak2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452B29B7-7EC3-A7D3-4B46-34A9A7AF45C0}"/>
              </a:ext>
            </a:extLst>
          </p:cNvPr>
          <p:cNvSpPr txBox="1"/>
          <p:nvPr/>
        </p:nvSpPr>
        <p:spPr>
          <a:xfrm>
            <a:off x="4332786" y="1252550"/>
            <a:ext cx="87857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>
                <a:latin typeface="American Typewriter" panose="02090604020004020304" pitchFamily="18" charset="77"/>
              </a:rPr>
              <a:t>AT.infl2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97D90515-6381-13D2-08D0-E5A961AE7CC1}"/>
              </a:ext>
            </a:extLst>
          </p:cNvPr>
          <p:cNvSpPr txBox="1"/>
          <p:nvPr/>
        </p:nvSpPr>
        <p:spPr>
          <a:xfrm>
            <a:off x="98884" y="4984911"/>
            <a:ext cx="6514925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5400" dirty="0">
                <a:latin typeface="Chalk Board" panose="02000500000000000000" pitchFamily="2" charset="0"/>
              </a:rPr>
              <a:t>Security of Composed Protocols: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191A55B7-1428-C10A-20AF-B6A21DDE4027}"/>
              </a:ext>
            </a:extLst>
          </p:cNvPr>
          <p:cNvSpPr txBox="1"/>
          <p:nvPr/>
        </p:nvSpPr>
        <p:spPr>
          <a:xfrm>
            <a:off x="4593447" y="5687295"/>
            <a:ext cx="3518912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 dirty="0">
                <a:latin typeface="Chalk Board" panose="02000500000000000000" pitchFamily="2" charset="0"/>
              </a:rPr>
              <a:t>Existence of a simulator 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5CBF3BEF-7C07-81D5-1C68-B72EC72189D7}"/>
              </a:ext>
            </a:extLst>
          </p:cNvPr>
          <p:cNvSpPr txBox="1"/>
          <p:nvPr/>
        </p:nvSpPr>
        <p:spPr>
          <a:xfrm>
            <a:off x="7980181" y="5267371"/>
            <a:ext cx="825544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7200" dirty="0">
                <a:latin typeface="Bradley Hand" pitchFamily="2" charset="77"/>
                <a:cs typeface="Calibri" panose="020F0502020204030204" pitchFamily="34" charset="0"/>
              </a:rPr>
              <a:t>U</a:t>
            </a:r>
            <a:endParaRPr lang="en-US" sz="7200" dirty="0"/>
          </a:p>
        </p:txBody>
      </p:sp>
    </p:spTree>
    <p:extLst>
      <p:ext uri="{BB962C8B-B14F-4D97-AF65-F5344CB8AC3E}">
        <p14:creationId xmlns:p14="http://schemas.microsoft.com/office/powerpoint/2010/main" val="417437318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30F3171E-E30F-78C8-49A5-F23314DB732A}"/>
              </a:ext>
            </a:extLst>
          </p:cNvPr>
          <p:cNvSpPr txBox="1"/>
          <p:nvPr/>
        </p:nvSpPr>
        <p:spPr>
          <a:xfrm>
            <a:off x="640529" y="192993"/>
            <a:ext cx="3180679" cy="110799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6600" dirty="0">
                <a:latin typeface="Chalk Board" panose="02000500000000000000" pitchFamily="2" charset="0"/>
              </a:rPr>
              <a:t>UC Theorem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76B49CFA-6E40-4B49-7209-DEF0E727179B}"/>
              </a:ext>
            </a:extLst>
          </p:cNvPr>
          <p:cNvSpPr txBox="1"/>
          <p:nvPr/>
        </p:nvSpPr>
        <p:spPr>
          <a:xfrm>
            <a:off x="640529" y="1428243"/>
            <a:ext cx="8185254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400" dirty="0">
                <a:latin typeface="Chalk Board" panose="02000500000000000000" pitchFamily="2" charset="0"/>
              </a:rPr>
              <a:t>Let Env be a set of polynomial-time environments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E072C770-59C7-589E-90C8-3992266D8F3D}"/>
                  </a:ext>
                </a:extLst>
              </p:cNvPr>
              <p:cNvSpPr txBox="1"/>
              <p:nvPr/>
            </p:nvSpPr>
            <p:spPr>
              <a:xfrm>
                <a:off x="3214790" y="2531850"/>
                <a:ext cx="4446474" cy="972061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36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nor/>
                            </m:rPr>
                            <a:rPr lang="en-US" sz="3600" b="0" i="0" smtClean="0">
                              <a:latin typeface="KG Ten Thousand Reasons" panose="02000000000000000000" pitchFamily="2" charset="77"/>
                            </a:rPr>
                            <m:t>π</m:t>
                          </m:r>
                        </m:e>
                        <m:sub>
                          <m:r>
                            <m:rPr>
                              <m:nor/>
                            </m:rPr>
                            <a:rPr lang="en-US" sz="3600" b="0" i="0" smtClean="0">
                              <a:latin typeface="KG Ten Thousand Reasons" panose="02000000000000000000" pitchFamily="2" charset="77"/>
                            </a:rPr>
                            <m:t>N</m:t>
                          </m:r>
                        </m:sub>
                      </m:sSub>
                      <m:r>
                        <m:rPr>
                          <m:nor/>
                        </m:rPr>
                        <a:rPr lang="en-US" sz="3600" b="0" i="0" smtClean="0">
                          <a:latin typeface="KG Ten Thousand Reasons" panose="02000000000000000000" pitchFamily="2" charset="77"/>
                        </a:rPr>
                        <m:t> ⋄ </m:t>
                      </m:r>
                      <m:sSub>
                        <m:sSubPr>
                          <m:ctrlPr>
                            <a:rPr lang="en-US" sz="36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nor/>
                            </m:rPr>
                            <a:rPr lang="en-US" sz="3600" b="0" i="0" smtClean="0">
                              <a:latin typeface="KG Ten Thousand Reasons" panose="02000000000000000000" pitchFamily="2" charset="77"/>
                            </a:rPr>
                            <m:t>F</m:t>
                          </m:r>
                        </m:e>
                        <m:sub>
                          <m:r>
                            <m:rPr>
                              <m:nor/>
                            </m:rPr>
                            <a:rPr lang="en-US" sz="3600" b="0" i="0" smtClean="0">
                              <a:latin typeface="KG Ten Thousand Reasons" panose="02000000000000000000" pitchFamily="2" charset="77"/>
                            </a:rPr>
                            <m:t>ST</m:t>
                          </m:r>
                        </m:sub>
                      </m:sSub>
                      <m:sSup>
                        <m:sSupPr>
                          <m:ctrlPr>
                            <a:rPr lang="en-US" sz="3600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m:rPr>
                              <m:nor/>
                            </m:rPr>
                            <a:rPr lang="en-US" sz="3600" b="0" i="0" smtClean="0">
                              <a:latin typeface="KG Ten Thousand Reasons" panose="02000000000000000000" pitchFamily="2" charset="77"/>
                            </a:rPr>
                            <m:t>≥</m:t>
                          </m:r>
                        </m:e>
                        <m:sup>
                          <m:r>
                            <m:rPr>
                              <m:nor/>
                            </m:rPr>
                            <a:rPr lang="en-US" sz="3600" b="0" i="0" smtClean="0">
                              <a:latin typeface="KG Ten Thousand Reasons" panose="02000000000000000000" pitchFamily="2" charset="77"/>
                            </a:rPr>
                            <m:t>Env</m:t>
                          </m:r>
                        </m:sup>
                      </m:sSup>
                      <m:r>
                        <m:rPr>
                          <m:nor/>
                        </m:rPr>
                        <a:rPr lang="en-US" sz="3600" b="0" i="0" smtClean="0">
                          <a:latin typeface="KG Ten Thousand Reasons" panose="02000000000000000000" pitchFamily="2" charset="77"/>
                        </a:rPr>
                        <m:t> </m:t>
                      </m:r>
                      <m:sSub>
                        <m:sSubPr>
                          <m:ctrlPr>
                            <a:rPr lang="en-US" sz="36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nor/>
                            </m:rPr>
                            <a:rPr lang="en-US" sz="3600" b="0" i="0" smtClean="0">
                              <a:latin typeface="KG Ten Thousand Reasons" panose="02000000000000000000" pitchFamily="2" charset="77"/>
                            </a:rPr>
                            <m:t>F</m:t>
                          </m:r>
                        </m:e>
                        <m:sub>
                          <m:r>
                            <m:rPr>
                              <m:nor/>
                            </m:rPr>
                            <a:rPr lang="en-US" sz="3600" b="0" i="0" smtClean="0">
                              <a:latin typeface="KG Ten Thousand Reasons" panose="02000000000000000000" pitchFamily="2" charset="77"/>
                            </a:rPr>
                            <m:t>N</m:t>
                          </m:r>
                          <m:r>
                            <m:rPr>
                              <m:nor/>
                            </m:rPr>
                            <a:rPr lang="en-US" sz="3600" b="0" i="0" smtClean="0">
                              <a:latin typeface="KG Ten Thousand Reasons" panose="02000000000000000000" pitchFamily="2" charset="77"/>
                            </a:rPr>
                            <m:t> </m:t>
                          </m:r>
                        </m:sub>
                      </m:sSub>
                    </m:oMath>
                  </m:oMathPara>
                </a14:m>
                <a:endParaRPr lang="en-US" sz="3600" dirty="0">
                  <a:latin typeface="KG Ten Thousand Reasons" panose="02000000000000000000" pitchFamily="2" charset="77"/>
                </a:endParaRPr>
              </a:p>
            </p:txBody>
          </p:sp>
        </mc:Choice>
        <mc:Fallback xmlns="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E072C770-59C7-589E-90C8-3992266D8F3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214790" y="2531850"/>
                <a:ext cx="4446474" cy="972061"/>
              </a:xfrm>
              <a:prstGeom prst="rect">
                <a:avLst/>
              </a:prstGeom>
              <a:blipFill>
                <a:blip r:embed="rId2"/>
                <a:stretch>
                  <a:fillRect l="-284" t="-5195" r="-2841" b="-4545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BA67E848-228B-4363-6A87-F65DEFDF77B4}"/>
                  </a:ext>
                </a:extLst>
              </p:cNvPr>
              <p:cNvSpPr txBox="1"/>
              <p:nvPr/>
            </p:nvSpPr>
            <p:spPr>
              <a:xfrm>
                <a:off x="3246166" y="3796987"/>
                <a:ext cx="4981877" cy="974241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36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nor/>
                            </m:rPr>
                            <a:rPr lang="en-US" sz="3600" b="0" i="0" smtClean="0">
                              <a:latin typeface="KG Ten Thousand Reasons" panose="02000000000000000000" pitchFamily="2" charset="77"/>
                              <a:ea typeface="Ayuthaya" pitchFamily="2" charset="-34"/>
                              <a:cs typeface="Ayuthaya" pitchFamily="2" charset="-34"/>
                            </a:rPr>
                            <m:t>π</m:t>
                          </m:r>
                        </m:e>
                        <m:sub>
                          <m:r>
                            <m:rPr>
                              <m:nor/>
                            </m:rPr>
                            <a:rPr lang="en-US" sz="3600" b="0" i="0" smtClean="0">
                              <a:latin typeface="KG Ten Thousand Reasons" panose="02000000000000000000" pitchFamily="2" charset="77"/>
                              <a:ea typeface="Ayuthaya" pitchFamily="2" charset="-34"/>
                              <a:cs typeface="Ayuthaya" pitchFamily="2" charset="-34"/>
                            </a:rPr>
                            <m:t>ST</m:t>
                          </m:r>
                        </m:sub>
                      </m:sSub>
                      <m:r>
                        <m:rPr>
                          <m:nor/>
                        </m:rPr>
                        <a:rPr lang="en-US" sz="3600" b="0" i="0" smtClean="0">
                          <a:latin typeface="KG Ten Thousand Reasons" panose="02000000000000000000" pitchFamily="2" charset="77"/>
                        </a:rPr>
                        <m:t> </m:t>
                      </m:r>
                      <m:r>
                        <m:rPr>
                          <m:nor/>
                        </m:rPr>
                        <a:rPr lang="en-US" sz="3600" b="0" i="0" smtClean="0">
                          <a:latin typeface="KG Ten Thousand Reasons" panose="02000000000000000000" pitchFamily="2" charset="77"/>
                          <a:ea typeface="Ayuthaya" pitchFamily="2" charset="-34"/>
                          <a:cs typeface="Ayuthaya" pitchFamily="2" charset="-34"/>
                        </a:rPr>
                        <m:t>⋄ </m:t>
                      </m:r>
                      <m:sSub>
                        <m:sSubPr>
                          <m:ctrlPr>
                            <a:rPr lang="en-US" sz="36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nor/>
                            </m:rPr>
                            <a:rPr lang="en-US" sz="3600" b="0" i="0" smtClean="0">
                              <a:latin typeface="KG Ten Thousand Reasons" panose="02000000000000000000" pitchFamily="2" charset="77"/>
                              <a:ea typeface="Ayuthaya" pitchFamily="2" charset="-34"/>
                              <a:cs typeface="Ayuthaya" pitchFamily="2" charset="-34"/>
                            </a:rPr>
                            <m:t>F</m:t>
                          </m:r>
                        </m:e>
                        <m:sub>
                          <m:r>
                            <m:rPr>
                              <m:nor/>
                            </m:rPr>
                            <a:rPr lang="en-US" sz="3600" b="0" i="0" smtClean="0">
                              <a:latin typeface="KG Ten Thousand Reasons" panose="02000000000000000000" pitchFamily="2" charset="77"/>
                              <a:ea typeface="Ayuthaya" pitchFamily="2" charset="-34"/>
                              <a:cs typeface="Ayuthaya" pitchFamily="2" charset="-34"/>
                            </a:rPr>
                            <m:t>AT</m:t>
                          </m:r>
                        </m:sub>
                      </m:sSub>
                      <m:sSup>
                        <m:sSupPr>
                          <m:ctrlPr>
                            <a:rPr lang="en-US" sz="3600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m:rPr>
                              <m:nor/>
                            </m:rPr>
                            <a:rPr lang="en-US" sz="3600" b="0" i="0" smtClean="0">
                              <a:latin typeface="KG Ten Thousand Reasons" panose="02000000000000000000" pitchFamily="2" charset="77"/>
                              <a:ea typeface="Ayuthaya" pitchFamily="2" charset="-34"/>
                              <a:cs typeface="Ayuthaya" pitchFamily="2" charset="-34"/>
                            </a:rPr>
                            <m:t>≥</m:t>
                          </m:r>
                        </m:e>
                        <m:sup>
                          <m:r>
                            <m:rPr>
                              <m:nor/>
                            </m:rPr>
                            <a:rPr lang="en-US" sz="3600" b="0" i="0" smtClean="0">
                              <a:latin typeface="KG Ten Thousand Reasons" panose="02000000000000000000" pitchFamily="2" charset="77"/>
                              <a:ea typeface="Ayuthaya" pitchFamily="2" charset="-34"/>
                              <a:cs typeface="Ayuthaya" pitchFamily="2" charset="-34"/>
                            </a:rPr>
                            <m:t>Env</m:t>
                          </m:r>
                        </m:sup>
                      </m:sSup>
                      <m:r>
                        <m:rPr>
                          <m:nor/>
                        </m:rPr>
                        <a:rPr lang="en-US" sz="3600" b="0" i="0" smtClean="0">
                          <a:latin typeface="KG Ten Thousand Reasons" panose="02000000000000000000" pitchFamily="2" charset="77"/>
                          <a:ea typeface="Ayuthaya" pitchFamily="2" charset="-34"/>
                          <a:cs typeface="Ayuthaya" pitchFamily="2" charset="-34"/>
                        </a:rPr>
                        <m:t> </m:t>
                      </m:r>
                      <m:sSub>
                        <m:sSubPr>
                          <m:ctrlPr>
                            <a:rPr lang="en-US" sz="36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nor/>
                            </m:rPr>
                            <a:rPr lang="en-US" sz="3600" b="0" i="0" smtClean="0">
                              <a:latin typeface="KG Ten Thousand Reasons" panose="02000000000000000000" pitchFamily="2" charset="77"/>
                              <a:ea typeface="Ayuthaya" pitchFamily="2" charset="-34"/>
                              <a:cs typeface="Ayuthaya" pitchFamily="2" charset="-34"/>
                            </a:rPr>
                            <m:t>F</m:t>
                          </m:r>
                        </m:e>
                        <m:sub>
                          <m:r>
                            <m:rPr>
                              <m:nor/>
                            </m:rPr>
                            <a:rPr lang="en-US" sz="3600" b="0" i="0" smtClean="0">
                              <a:latin typeface="KG Ten Thousand Reasons" panose="02000000000000000000" pitchFamily="2" charset="77"/>
                              <a:ea typeface="Ayuthaya" pitchFamily="2" charset="-34"/>
                              <a:cs typeface="Ayuthaya" pitchFamily="2" charset="-34"/>
                            </a:rPr>
                            <m:t>ST</m:t>
                          </m:r>
                          <m:r>
                            <m:rPr>
                              <m:nor/>
                            </m:rPr>
                            <a:rPr lang="en-US" sz="3600" b="0" i="0" smtClean="0">
                              <a:latin typeface="KG Ten Thousand Reasons" panose="02000000000000000000" pitchFamily="2" charset="77"/>
                              <a:ea typeface="Ayuthaya" pitchFamily="2" charset="-34"/>
                              <a:cs typeface="Ayuthaya" pitchFamily="2" charset="-34"/>
                            </a:rPr>
                            <m:t> </m:t>
                          </m:r>
                        </m:sub>
                      </m:sSub>
                    </m:oMath>
                  </m:oMathPara>
                </a14:m>
                <a:endParaRPr lang="en-US" sz="3600" dirty="0">
                  <a:latin typeface="KG Ten Thousand Reasons" panose="02000000000000000000" pitchFamily="2" charset="77"/>
                  <a:ea typeface="Ayuthaya" pitchFamily="2" charset="-34"/>
                  <a:cs typeface="Ayuthaya" pitchFamily="2" charset="-34"/>
                </a:endParaRPr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BA67E848-228B-4363-6A87-F65DEFDF77B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246166" y="3796987"/>
                <a:ext cx="4981877" cy="974241"/>
              </a:xfrm>
              <a:prstGeom prst="rect">
                <a:avLst/>
              </a:prstGeom>
              <a:blipFill>
                <a:blip r:embed="rId3"/>
                <a:stretch>
                  <a:fillRect l="-509" t="-5195" r="-2545" b="-4415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409742D4-17EA-25AF-38EF-82105D3D4DC2}"/>
                  </a:ext>
                </a:extLst>
              </p:cNvPr>
              <p:cNvSpPr txBox="1"/>
              <p:nvPr/>
            </p:nvSpPr>
            <p:spPr>
              <a:xfrm>
                <a:off x="3982251" y="5487746"/>
                <a:ext cx="5717591" cy="974241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36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nor/>
                            </m:rPr>
                            <a:rPr lang="en-US" sz="3600" b="0" i="0" smtClean="0">
                              <a:latin typeface="KG Ten Thousand Reasons" panose="02000000000000000000" pitchFamily="2" charset="77"/>
                            </a:rPr>
                            <m:t>π</m:t>
                          </m:r>
                        </m:e>
                        <m:sub>
                          <m:r>
                            <m:rPr>
                              <m:nor/>
                            </m:rPr>
                            <a:rPr lang="en-US" sz="3600" b="0" i="0" smtClean="0">
                              <a:latin typeface="KG Ten Thousand Reasons" panose="02000000000000000000" pitchFamily="2" charset="77"/>
                            </a:rPr>
                            <m:t>N</m:t>
                          </m:r>
                        </m:sub>
                      </m:sSub>
                      <m:r>
                        <a:rPr lang="en-US" sz="3600" b="0" i="1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m:rPr>
                          <m:nor/>
                        </m:rPr>
                        <a:rPr lang="en-US" sz="3600" b="0" i="0" smtClean="0">
                          <a:latin typeface="KG Ten Thousand Reasons" panose="02000000000000000000" pitchFamily="2" charset="77"/>
                        </a:rPr>
                        <m:t>⋄ </m:t>
                      </m:r>
                      <m:sSub>
                        <m:sSubPr>
                          <m:ctrlPr>
                            <a:rPr lang="en-US" sz="36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nor/>
                            </m:rPr>
                            <a:rPr lang="en-US" sz="3600" b="0" i="0" smtClean="0">
                              <a:latin typeface="KG Ten Thousand Reasons" panose="02000000000000000000" pitchFamily="2" charset="77"/>
                            </a:rPr>
                            <m:t>π</m:t>
                          </m:r>
                        </m:e>
                        <m:sub>
                          <m:r>
                            <m:rPr>
                              <m:nor/>
                            </m:rPr>
                            <a:rPr lang="en-US" sz="3600" b="0" i="0" smtClean="0">
                              <a:latin typeface="KG Ten Thousand Reasons" panose="02000000000000000000" pitchFamily="2" charset="77"/>
                            </a:rPr>
                            <m:t>ST</m:t>
                          </m:r>
                        </m:sub>
                      </m:sSub>
                      <m:r>
                        <m:rPr>
                          <m:nor/>
                        </m:rPr>
                        <a:rPr lang="en-US" sz="3600" b="0" i="0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m:rPr>
                          <m:nor/>
                        </m:rPr>
                        <a:rPr lang="en-US" sz="3600" b="0" i="0" smtClean="0">
                          <a:latin typeface="KG Ten Thousand Reasons" panose="02000000000000000000" pitchFamily="2" charset="77"/>
                        </a:rPr>
                        <m:t>⋄</m:t>
                      </m:r>
                      <m:r>
                        <a:rPr lang="en-US" sz="3600" b="0" i="1" smtClean="0">
                          <a:latin typeface="Cambria Math" panose="02040503050406030204" pitchFamily="18" charset="0"/>
                        </a:rPr>
                        <m:t> </m:t>
                      </m:r>
                      <m:sSub>
                        <m:sSubPr>
                          <m:ctrlPr>
                            <a:rPr lang="en-US" sz="36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nor/>
                            </m:rPr>
                            <a:rPr lang="en-US" sz="3600" b="0" i="0" smtClean="0">
                              <a:latin typeface="KG Ten Thousand Reasons" panose="02000000000000000000" pitchFamily="2" charset="77"/>
                            </a:rPr>
                            <m:t>F</m:t>
                          </m:r>
                        </m:e>
                        <m:sub>
                          <m:r>
                            <m:rPr>
                              <m:nor/>
                            </m:rPr>
                            <a:rPr lang="en-US" sz="3600" b="0" i="0" smtClean="0">
                              <a:latin typeface="KG Ten Thousand Reasons" panose="02000000000000000000" pitchFamily="2" charset="77"/>
                            </a:rPr>
                            <m:t>AT</m:t>
                          </m:r>
                        </m:sub>
                      </m:sSub>
                      <m:sSup>
                        <m:sSupPr>
                          <m:ctrlPr>
                            <a:rPr lang="en-US" sz="3600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m:rPr>
                              <m:nor/>
                            </m:rPr>
                            <a:rPr lang="en-US" sz="3600" b="0" i="0" smtClean="0">
                              <a:latin typeface="KG Ten Thousand Reasons" panose="02000000000000000000" pitchFamily="2" charset="77"/>
                            </a:rPr>
                            <m:t>≥</m:t>
                          </m:r>
                        </m:e>
                        <m:sup>
                          <m:r>
                            <m:rPr>
                              <m:nor/>
                            </m:rPr>
                            <a:rPr lang="en-US" sz="3600" b="0" i="0" smtClean="0">
                              <a:latin typeface="KG Ten Thousand Reasons" panose="02000000000000000000" pitchFamily="2" charset="77"/>
                            </a:rPr>
                            <m:t>Env</m:t>
                          </m:r>
                        </m:sup>
                      </m:sSup>
                      <m:r>
                        <m:rPr>
                          <m:nor/>
                        </m:rPr>
                        <a:rPr lang="en-US" sz="3600" b="0" i="0" smtClean="0">
                          <a:latin typeface="KG Ten Thousand Reasons" panose="02000000000000000000" pitchFamily="2" charset="77"/>
                        </a:rPr>
                        <m:t> </m:t>
                      </m:r>
                      <m:sSub>
                        <m:sSubPr>
                          <m:ctrlPr>
                            <a:rPr lang="en-US" sz="36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nor/>
                            </m:rPr>
                            <a:rPr lang="en-US" sz="3600" b="0" i="0" smtClean="0">
                              <a:latin typeface="KG Ten Thousand Reasons" panose="02000000000000000000" pitchFamily="2" charset="77"/>
                            </a:rPr>
                            <m:t>F</m:t>
                          </m:r>
                        </m:e>
                        <m:sub>
                          <m:r>
                            <m:rPr>
                              <m:nor/>
                            </m:rPr>
                            <a:rPr lang="en-US" sz="3600" b="0" i="0" smtClean="0">
                              <a:latin typeface="KG Ten Thousand Reasons" panose="02000000000000000000" pitchFamily="2" charset="77"/>
                            </a:rPr>
                            <m:t>N</m:t>
                          </m:r>
                          <m:r>
                            <m:rPr>
                              <m:nor/>
                            </m:rPr>
                            <a:rPr lang="en-US" sz="3600" b="0" i="0" smtClean="0">
                              <a:latin typeface="KG Ten Thousand Reasons" panose="02000000000000000000" pitchFamily="2" charset="77"/>
                            </a:rPr>
                            <m:t> </m:t>
                          </m:r>
                        </m:sub>
                      </m:sSub>
                    </m:oMath>
                  </m:oMathPara>
                </a14:m>
                <a:endParaRPr lang="en-US" sz="3600" dirty="0">
                  <a:latin typeface="KG Ten Thousand Reasons" panose="02000000000000000000" pitchFamily="2" charset="77"/>
                </a:endParaRPr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409742D4-17EA-25AF-38EF-82105D3D4DC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982251" y="5487746"/>
                <a:ext cx="5717591" cy="974241"/>
              </a:xfrm>
              <a:prstGeom prst="rect">
                <a:avLst/>
              </a:prstGeom>
              <a:blipFill>
                <a:blip r:embed="rId4"/>
                <a:stretch>
                  <a:fillRect l="-222" t="-5195" r="-2217" b="-4415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" name="Oval 6">
            <a:extLst>
              <a:ext uri="{FF2B5EF4-FFF2-40B4-BE49-F238E27FC236}">
                <a16:creationId xmlns:a16="http://schemas.microsoft.com/office/drawing/2014/main" id="{27BDFABD-EE8D-192F-09AF-BD4B3F3ADA65}"/>
              </a:ext>
            </a:extLst>
          </p:cNvPr>
          <p:cNvSpPr/>
          <p:nvPr/>
        </p:nvSpPr>
        <p:spPr>
          <a:xfrm>
            <a:off x="2464028" y="2100640"/>
            <a:ext cx="7005917" cy="3065929"/>
          </a:xfrm>
          <a:prstGeom prst="ellipse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U-Turn Arrow 7">
            <a:extLst>
              <a:ext uri="{FF2B5EF4-FFF2-40B4-BE49-F238E27FC236}">
                <a16:creationId xmlns:a16="http://schemas.microsoft.com/office/drawing/2014/main" id="{C7EE4443-08A8-DDF6-8034-8A0EC869701A}"/>
              </a:ext>
            </a:extLst>
          </p:cNvPr>
          <p:cNvSpPr/>
          <p:nvPr/>
        </p:nvSpPr>
        <p:spPr>
          <a:xfrm rot="5400000">
            <a:off x="8783159" y="4086847"/>
            <a:ext cx="2795365" cy="1368763"/>
          </a:xfrm>
          <a:prstGeom prst="uturnArrow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563348121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85B9A24-DC0C-12A8-928A-DC15E43C991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D602080E-83C9-FB35-9FC4-7285EFA7129C}"/>
              </a:ext>
            </a:extLst>
          </p:cNvPr>
          <p:cNvSpPr txBox="1"/>
          <p:nvPr/>
        </p:nvSpPr>
        <p:spPr>
          <a:xfrm>
            <a:off x="640529" y="192993"/>
            <a:ext cx="3180679" cy="110799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6600" dirty="0">
                <a:latin typeface="Chalk Board" panose="02000500000000000000" pitchFamily="2" charset="0"/>
              </a:rPr>
              <a:t>UC Theorem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484D30E4-FA4E-9B82-91C5-23D1AD798017}"/>
              </a:ext>
            </a:extLst>
          </p:cNvPr>
          <p:cNvSpPr txBox="1"/>
          <p:nvPr/>
        </p:nvSpPr>
        <p:spPr>
          <a:xfrm>
            <a:off x="640529" y="1428243"/>
            <a:ext cx="10265952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400" dirty="0">
                <a:latin typeface="Chalk Board" panose="02000500000000000000" pitchFamily="2" charset="0"/>
              </a:rPr>
              <a:t>Let Env be a set of polynomial-time environments (INTUITION)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8E874D33-6B4E-28BB-A9BD-5DB6BB69B0BB}"/>
                  </a:ext>
                </a:extLst>
              </p:cNvPr>
              <p:cNvSpPr txBox="1"/>
              <p:nvPr/>
            </p:nvSpPr>
            <p:spPr>
              <a:xfrm>
                <a:off x="3214790" y="2531850"/>
                <a:ext cx="4459298" cy="972061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36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nor/>
                            </m:rPr>
                            <a:rPr lang="en-US" sz="3600" b="0" i="0" smtClean="0">
                              <a:latin typeface="KG Ten Thousand Reasons" panose="02000000000000000000" pitchFamily="2" charset="77"/>
                            </a:rPr>
                            <m:t>π</m:t>
                          </m:r>
                        </m:e>
                        <m:sub>
                          <m:r>
                            <m:rPr>
                              <m:nor/>
                            </m:rPr>
                            <a:rPr lang="en-US" sz="3600" b="0" i="0" smtClean="0">
                              <a:latin typeface="KG Ten Thousand Reasons" panose="02000000000000000000" pitchFamily="2" charset="77"/>
                            </a:rPr>
                            <m:t>N</m:t>
                          </m:r>
                        </m:sub>
                      </m:sSub>
                      <m:r>
                        <m:rPr>
                          <m:nor/>
                        </m:rPr>
                        <a:rPr lang="en-US" sz="3600" b="0" i="0" smtClean="0">
                          <a:latin typeface="KG Ten Thousand Reasons" panose="02000000000000000000" pitchFamily="2" charset="77"/>
                        </a:rPr>
                        <m:t> + </m:t>
                      </m:r>
                      <m:sSub>
                        <m:sSubPr>
                          <m:ctrlPr>
                            <a:rPr lang="en-US" sz="36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nor/>
                            </m:rPr>
                            <a:rPr lang="en-US" sz="3600" b="0" i="0" smtClean="0">
                              <a:latin typeface="KG Ten Thousand Reasons" panose="02000000000000000000" pitchFamily="2" charset="77"/>
                            </a:rPr>
                            <m:t>F</m:t>
                          </m:r>
                        </m:e>
                        <m:sub>
                          <m:r>
                            <m:rPr>
                              <m:nor/>
                            </m:rPr>
                            <a:rPr lang="en-US" sz="3600" b="0" i="0" smtClean="0">
                              <a:latin typeface="KG Ten Thousand Reasons" panose="02000000000000000000" pitchFamily="2" charset="77"/>
                            </a:rPr>
                            <m:t>ST</m:t>
                          </m:r>
                        </m:sub>
                      </m:sSub>
                      <m:sSup>
                        <m:sSupPr>
                          <m:ctrlPr>
                            <a:rPr lang="en-US" sz="3600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m:rPr>
                              <m:nor/>
                            </m:rPr>
                            <a:rPr lang="en-US" sz="3600" b="0" i="0" smtClean="0">
                              <a:latin typeface="KG Ten Thousand Reasons" panose="02000000000000000000" pitchFamily="2" charset="77"/>
                            </a:rPr>
                            <m:t>≥</m:t>
                          </m:r>
                        </m:e>
                        <m:sup>
                          <m:r>
                            <m:rPr>
                              <m:nor/>
                            </m:rPr>
                            <a:rPr lang="en-US" sz="3600" b="0" i="0" smtClean="0">
                              <a:latin typeface="KG Ten Thousand Reasons" panose="02000000000000000000" pitchFamily="2" charset="77"/>
                            </a:rPr>
                            <m:t>Env</m:t>
                          </m:r>
                        </m:sup>
                      </m:sSup>
                      <m:r>
                        <m:rPr>
                          <m:nor/>
                        </m:rPr>
                        <a:rPr lang="en-US" sz="3600" b="0" i="0" smtClean="0">
                          <a:latin typeface="KG Ten Thousand Reasons" panose="02000000000000000000" pitchFamily="2" charset="77"/>
                        </a:rPr>
                        <m:t> </m:t>
                      </m:r>
                      <m:sSub>
                        <m:sSubPr>
                          <m:ctrlPr>
                            <a:rPr lang="en-US" sz="36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nor/>
                            </m:rPr>
                            <a:rPr lang="en-US" sz="3600" b="0" i="0" smtClean="0">
                              <a:latin typeface="KG Ten Thousand Reasons" panose="02000000000000000000" pitchFamily="2" charset="77"/>
                            </a:rPr>
                            <m:t>F</m:t>
                          </m:r>
                        </m:e>
                        <m:sub>
                          <m:r>
                            <m:rPr>
                              <m:nor/>
                            </m:rPr>
                            <a:rPr lang="en-US" sz="3600" b="0" i="0" smtClean="0">
                              <a:latin typeface="KG Ten Thousand Reasons" panose="02000000000000000000" pitchFamily="2" charset="77"/>
                            </a:rPr>
                            <m:t>N</m:t>
                          </m:r>
                          <m:r>
                            <m:rPr>
                              <m:nor/>
                            </m:rPr>
                            <a:rPr lang="en-US" sz="3600" b="0" i="0" smtClean="0">
                              <a:latin typeface="KG Ten Thousand Reasons" panose="02000000000000000000" pitchFamily="2" charset="77"/>
                            </a:rPr>
                            <m:t> </m:t>
                          </m:r>
                        </m:sub>
                      </m:sSub>
                    </m:oMath>
                  </m:oMathPara>
                </a14:m>
                <a:endParaRPr lang="en-US" sz="3600" dirty="0">
                  <a:latin typeface="KG Ten Thousand Reasons" panose="02000000000000000000" pitchFamily="2" charset="77"/>
                </a:endParaRPr>
              </a:p>
            </p:txBody>
          </p:sp>
        </mc:Choice>
        <mc:Fallback xmlns="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8E874D33-6B4E-28BB-A9BD-5DB6BB69B0B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214790" y="2531850"/>
                <a:ext cx="4459298" cy="972061"/>
              </a:xfrm>
              <a:prstGeom prst="rect">
                <a:avLst/>
              </a:prstGeom>
              <a:blipFill>
                <a:blip r:embed="rId2"/>
                <a:stretch>
                  <a:fillRect l="-283" t="-5195" r="-2833" b="-4545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E95A8328-F393-81D9-889A-6469340E1292}"/>
                  </a:ext>
                </a:extLst>
              </p:cNvPr>
              <p:cNvSpPr txBox="1"/>
              <p:nvPr/>
            </p:nvSpPr>
            <p:spPr>
              <a:xfrm>
                <a:off x="3246166" y="3796987"/>
                <a:ext cx="4994701" cy="974241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36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nor/>
                            </m:rPr>
                            <a:rPr lang="en-US" sz="3600" b="0" i="0" smtClean="0">
                              <a:latin typeface="KG Ten Thousand Reasons" panose="02000000000000000000" pitchFamily="2" charset="77"/>
                              <a:ea typeface="Ayuthaya" pitchFamily="2" charset="-34"/>
                              <a:cs typeface="Ayuthaya" pitchFamily="2" charset="-34"/>
                            </a:rPr>
                            <m:t>π</m:t>
                          </m:r>
                        </m:e>
                        <m:sub>
                          <m:r>
                            <m:rPr>
                              <m:nor/>
                            </m:rPr>
                            <a:rPr lang="en-US" sz="3600" b="0" i="0" smtClean="0">
                              <a:latin typeface="KG Ten Thousand Reasons" panose="02000000000000000000" pitchFamily="2" charset="77"/>
                              <a:ea typeface="Ayuthaya" pitchFamily="2" charset="-34"/>
                              <a:cs typeface="Ayuthaya" pitchFamily="2" charset="-34"/>
                            </a:rPr>
                            <m:t>ST</m:t>
                          </m:r>
                        </m:sub>
                      </m:sSub>
                      <m:r>
                        <m:rPr>
                          <m:nor/>
                        </m:rPr>
                        <a:rPr lang="en-US" sz="3600" b="0" i="0" smtClean="0">
                          <a:latin typeface="KG Ten Thousand Reasons" panose="02000000000000000000" pitchFamily="2" charset="77"/>
                        </a:rPr>
                        <m:t> </m:t>
                      </m:r>
                      <m:r>
                        <m:rPr>
                          <m:nor/>
                        </m:rPr>
                        <a:rPr lang="en-US" sz="3600" b="0" i="0" smtClean="0">
                          <a:latin typeface="KG Ten Thousand Reasons" panose="02000000000000000000" pitchFamily="2" charset="77"/>
                          <a:ea typeface="Ayuthaya" pitchFamily="2" charset="-34"/>
                          <a:cs typeface="Ayuthaya" pitchFamily="2" charset="-34"/>
                        </a:rPr>
                        <m:t>+ </m:t>
                      </m:r>
                      <m:sSub>
                        <m:sSubPr>
                          <m:ctrlPr>
                            <a:rPr lang="en-US" sz="36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nor/>
                            </m:rPr>
                            <a:rPr lang="en-US" sz="3600" b="0" i="0" smtClean="0">
                              <a:latin typeface="KG Ten Thousand Reasons" panose="02000000000000000000" pitchFamily="2" charset="77"/>
                              <a:ea typeface="Ayuthaya" pitchFamily="2" charset="-34"/>
                              <a:cs typeface="Ayuthaya" pitchFamily="2" charset="-34"/>
                            </a:rPr>
                            <m:t>F</m:t>
                          </m:r>
                        </m:e>
                        <m:sub>
                          <m:r>
                            <m:rPr>
                              <m:nor/>
                            </m:rPr>
                            <a:rPr lang="en-US" sz="3600" b="0" i="0" smtClean="0">
                              <a:latin typeface="KG Ten Thousand Reasons" panose="02000000000000000000" pitchFamily="2" charset="77"/>
                              <a:ea typeface="Ayuthaya" pitchFamily="2" charset="-34"/>
                              <a:cs typeface="Ayuthaya" pitchFamily="2" charset="-34"/>
                            </a:rPr>
                            <m:t>AT</m:t>
                          </m:r>
                        </m:sub>
                      </m:sSub>
                      <m:sSup>
                        <m:sSupPr>
                          <m:ctrlPr>
                            <a:rPr lang="en-US" sz="3600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m:rPr>
                              <m:nor/>
                            </m:rPr>
                            <a:rPr lang="en-US" sz="3600" b="0" i="0" smtClean="0">
                              <a:latin typeface="KG Ten Thousand Reasons" panose="02000000000000000000" pitchFamily="2" charset="77"/>
                              <a:ea typeface="Ayuthaya" pitchFamily="2" charset="-34"/>
                              <a:cs typeface="Ayuthaya" pitchFamily="2" charset="-34"/>
                            </a:rPr>
                            <m:t>≥</m:t>
                          </m:r>
                        </m:e>
                        <m:sup>
                          <m:r>
                            <m:rPr>
                              <m:nor/>
                            </m:rPr>
                            <a:rPr lang="en-US" sz="3600" b="0" i="0" smtClean="0">
                              <a:latin typeface="KG Ten Thousand Reasons" panose="02000000000000000000" pitchFamily="2" charset="77"/>
                              <a:ea typeface="Ayuthaya" pitchFamily="2" charset="-34"/>
                              <a:cs typeface="Ayuthaya" pitchFamily="2" charset="-34"/>
                            </a:rPr>
                            <m:t>Env</m:t>
                          </m:r>
                        </m:sup>
                      </m:sSup>
                      <m:r>
                        <m:rPr>
                          <m:nor/>
                        </m:rPr>
                        <a:rPr lang="en-US" sz="3600" b="0" i="0" smtClean="0">
                          <a:latin typeface="KG Ten Thousand Reasons" panose="02000000000000000000" pitchFamily="2" charset="77"/>
                          <a:ea typeface="Ayuthaya" pitchFamily="2" charset="-34"/>
                          <a:cs typeface="Ayuthaya" pitchFamily="2" charset="-34"/>
                        </a:rPr>
                        <m:t> </m:t>
                      </m:r>
                      <m:sSub>
                        <m:sSubPr>
                          <m:ctrlPr>
                            <a:rPr lang="en-US" sz="36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nor/>
                            </m:rPr>
                            <a:rPr lang="en-US" sz="3600" b="0" i="0" smtClean="0">
                              <a:latin typeface="KG Ten Thousand Reasons" panose="02000000000000000000" pitchFamily="2" charset="77"/>
                              <a:ea typeface="Ayuthaya" pitchFamily="2" charset="-34"/>
                              <a:cs typeface="Ayuthaya" pitchFamily="2" charset="-34"/>
                            </a:rPr>
                            <m:t>F</m:t>
                          </m:r>
                        </m:e>
                        <m:sub>
                          <m:r>
                            <m:rPr>
                              <m:nor/>
                            </m:rPr>
                            <a:rPr lang="en-US" sz="3600" b="0" i="0" smtClean="0">
                              <a:latin typeface="KG Ten Thousand Reasons" panose="02000000000000000000" pitchFamily="2" charset="77"/>
                              <a:ea typeface="Ayuthaya" pitchFamily="2" charset="-34"/>
                              <a:cs typeface="Ayuthaya" pitchFamily="2" charset="-34"/>
                            </a:rPr>
                            <m:t>ST</m:t>
                          </m:r>
                          <m:r>
                            <m:rPr>
                              <m:nor/>
                            </m:rPr>
                            <a:rPr lang="en-US" sz="3600" b="0" i="0" smtClean="0">
                              <a:latin typeface="KG Ten Thousand Reasons" panose="02000000000000000000" pitchFamily="2" charset="77"/>
                              <a:ea typeface="Ayuthaya" pitchFamily="2" charset="-34"/>
                              <a:cs typeface="Ayuthaya" pitchFamily="2" charset="-34"/>
                            </a:rPr>
                            <m:t> </m:t>
                          </m:r>
                        </m:sub>
                      </m:sSub>
                    </m:oMath>
                  </m:oMathPara>
                </a14:m>
                <a:endParaRPr lang="en-US" sz="3600" dirty="0">
                  <a:latin typeface="KG Ten Thousand Reasons" panose="02000000000000000000" pitchFamily="2" charset="77"/>
                  <a:ea typeface="Ayuthaya" pitchFamily="2" charset="-34"/>
                  <a:cs typeface="Ayuthaya" pitchFamily="2" charset="-34"/>
                </a:endParaRPr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E95A8328-F393-81D9-889A-6469340E129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246166" y="3796987"/>
                <a:ext cx="4994701" cy="974241"/>
              </a:xfrm>
              <a:prstGeom prst="rect">
                <a:avLst/>
              </a:prstGeom>
              <a:blipFill>
                <a:blip r:embed="rId3"/>
                <a:stretch>
                  <a:fillRect l="-508" t="-5195" r="-2792" b="-4415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D5C49FE7-E966-288C-7F0F-5A6538DA7ADE}"/>
                  </a:ext>
                </a:extLst>
              </p:cNvPr>
              <p:cNvSpPr txBox="1"/>
              <p:nvPr/>
            </p:nvSpPr>
            <p:spPr>
              <a:xfrm>
                <a:off x="3982251" y="5487746"/>
                <a:ext cx="6195286" cy="974241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36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nor/>
                            </m:rPr>
                            <a:rPr lang="en-US" sz="3600" b="0" i="0" smtClean="0">
                              <a:latin typeface="KG Ten Thousand Reasons" panose="02000000000000000000" pitchFamily="2" charset="77"/>
                            </a:rPr>
                            <m:t>π</m:t>
                          </m:r>
                        </m:e>
                        <m:sub>
                          <m:r>
                            <m:rPr>
                              <m:nor/>
                            </m:rPr>
                            <a:rPr lang="en-US" sz="3600" b="0" i="0" smtClean="0">
                              <a:latin typeface="KG Ten Thousand Reasons" panose="02000000000000000000" pitchFamily="2" charset="77"/>
                            </a:rPr>
                            <m:t>N</m:t>
                          </m:r>
                        </m:sub>
                      </m:sSub>
                      <m:r>
                        <a:rPr lang="en-US" sz="3600" b="0" i="1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m:rPr>
                          <m:nor/>
                        </m:rPr>
                        <a:rPr lang="en-US" sz="3600" b="0" i="0" smtClean="0">
                          <a:latin typeface="Cambria Math" panose="02040503050406030204" pitchFamily="18" charset="0"/>
                        </a:rPr>
                        <m:t>+</m:t>
                      </m:r>
                      <m:r>
                        <m:rPr>
                          <m:nor/>
                        </m:rPr>
                        <a:rPr lang="en-US" sz="3600" b="0" i="0" smtClean="0">
                          <a:latin typeface="KG Ten Thousand Reasons" panose="02000000000000000000" pitchFamily="2" charset="77"/>
                        </a:rPr>
                        <m:t> </m:t>
                      </m:r>
                      <m:sSub>
                        <m:sSubPr>
                          <m:ctrlPr>
                            <a:rPr lang="en-US" sz="36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nor/>
                            </m:rPr>
                            <a:rPr lang="en-US" sz="3600" b="0" i="0" smtClean="0">
                              <a:latin typeface="KG Ten Thousand Reasons" panose="02000000000000000000" pitchFamily="2" charset="77"/>
                            </a:rPr>
                            <m:t>π</m:t>
                          </m:r>
                        </m:e>
                        <m:sub>
                          <m:r>
                            <m:rPr>
                              <m:nor/>
                            </m:rPr>
                            <a:rPr lang="en-US" sz="3600" b="0" i="0" smtClean="0">
                              <a:latin typeface="KG Ten Thousand Reasons" panose="02000000000000000000" pitchFamily="2" charset="77"/>
                            </a:rPr>
                            <m:t>ST</m:t>
                          </m:r>
                        </m:sub>
                      </m:sSub>
                      <m:r>
                        <m:rPr>
                          <m:nor/>
                        </m:rPr>
                        <a:rPr lang="en-US" sz="3600" b="0" i="0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sz="3600" b="0" i="1" smtClean="0">
                          <a:latin typeface="Cambria Math" panose="02040503050406030204" pitchFamily="18" charset="0"/>
                        </a:rPr>
                        <m:t>+ </m:t>
                      </m:r>
                      <m:sSub>
                        <m:sSubPr>
                          <m:ctrlPr>
                            <a:rPr lang="en-US" sz="36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nor/>
                            </m:rPr>
                            <a:rPr lang="en-US" sz="3600" b="0" i="0" smtClean="0">
                              <a:latin typeface="KG Ten Thousand Reasons" panose="02000000000000000000" pitchFamily="2" charset="77"/>
                            </a:rPr>
                            <m:t>F</m:t>
                          </m:r>
                        </m:e>
                        <m:sub>
                          <m:r>
                            <m:rPr>
                              <m:nor/>
                            </m:rPr>
                            <a:rPr lang="en-US" sz="3600" b="0" i="0" smtClean="0">
                              <a:latin typeface="KG Ten Thousand Reasons" panose="02000000000000000000" pitchFamily="2" charset="77"/>
                            </a:rPr>
                            <m:t>AT</m:t>
                          </m:r>
                        </m:sub>
                      </m:sSub>
                      <m:sSup>
                        <m:sSupPr>
                          <m:ctrlPr>
                            <a:rPr lang="en-US" sz="3600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m:rPr>
                              <m:nor/>
                            </m:rPr>
                            <a:rPr lang="en-US" sz="3600" b="0" i="0" smtClean="0">
                              <a:latin typeface="KG Ten Thousand Reasons" panose="02000000000000000000" pitchFamily="2" charset="77"/>
                            </a:rPr>
                            <m:t>≥</m:t>
                          </m:r>
                        </m:e>
                        <m:sup>
                          <m:r>
                            <m:rPr>
                              <m:nor/>
                            </m:rPr>
                            <a:rPr lang="en-US" sz="3600" b="0" i="0" smtClean="0">
                              <a:latin typeface="KG Ten Thousand Reasons" panose="02000000000000000000" pitchFamily="2" charset="77"/>
                            </a:rPr>
                            <m:t>Env</m:t>
                          </m:r>
                        </m:sup>
                      </m:sSup>
                      <m:r>
                        <m:rPr>
                          <m:nor/>
                        </m:rPr>
                        <a:rPr lang="en-US" sz="3600" b="0" i="0" smtClean="0">
                          <a:latin typeface="KG Ten Thousand Reasons" panose="02000000000000000000" pitchFamily="2" charset="77"/>
                        </a:rPr>
                        <m:t> </m:t>
                      </m:r>
                      <m:sSub>
                        <m:sSubPr>
                          <m:ctrlPr>
                            <a:rPr lang="en-US" sz="36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nor/>
                            </m:rPr>
                            <a:rPr lang="en-US" sz="3600" b="0" i="0" smtClean="0">
                              <a:latin typeface="KG Ten Thousand Reasons" panose="02000000000000000000" pitchFamily="2" charset="77"/>
                            </a:rPr>
                            <m:t>F</m:t>
                          </m:r>
                        </m:e>
                        <m:sub>
                          <m:r>
                            <m:rPr>
                              <m:nor/>
                            </m:rPr>
                            <a:rPr lang="en-US" sz="3600" b="0" i="0" smtClean="0">
                              <a:latin typeface="KG Ten Thousand Reasons" panose="02000000000000000000" pitchFamily="2" charset="77"/>
                            </a:rPr>
                            <m:t>N</m:t>
                          </m:r>
                          <m:r>
                            <m:rPr>
                              <m:nor/>
                            </m:rPr>
                            <a:rPr lang="en-US" sz="3600" b="0" i="0" smtClean="0">
                              <a:latin typeface="KG Ten Thousand Reasons" panose="02000000000000000000" pitchFamily="2" charset="77"/>
                            </a:rPr>
                            <m:t> </m:t>
                          </m:r>
                        </m:sub>
                      </m:sSub>
                    </m:oMath>
                  </m:oMathPara>
                </a14:m>
                <a:endParaRPr lang="en-US" sz="3600" dirty="0">
                  <a:latin typeface="KG Ten Thousand Reasons" panose="02000000000000000000" pitchFamily="2" charset="77"/>
                </a:endParaRPr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D5C49FE7-E966-288C-7F0F-5A6538DA7AD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982251" y="5487746"/>
                <a:ext cx="6195286" cy="974241"/>
              </a:xfrm>
              <a:prstGeom prst="rect">
                <a:avLst/>
              </a:prstGeom>
              <a:blipFill>
                <a:blip r:embed="rId4"/>
                <a:stretch>
                  <a:fillRect l="-204" t="-5195" r="-1840" b="-4415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" name="Oval 6">
            <a:extLst>
              <a:ext uri="{FF2B5EF4-FFF2-40B4-BE49-F238E27FC236}">
                <a16:creationId xmlns:a16="http://schemas.microsoft.com/office/drawing/2014/main" id="{5DF7874E-501A-389B-31B5-2EC572AF4A62}"/>
              </a:ext>
            </a:extLst>
          </p:cNvPr>
          <p:cNvSpPr/>
          <p:nvPr/>
        </p:nvSpPr>
        <p:spPr>
          <a:xfrm>
            <a:off x="2464028" y="2100640"/>
            <a:ext cx="7005917" cy="3065929"/>
          </a:xfrm>
          <a:prstGeom prst="ellipse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U-Turn Arrow 7">
            <a:extLst>
              <a:ext uri="{FF2B5EF4-FFF2-40B4-BE49-F238E27FC236}">
                <a16:creationId xmlns:a16="http://schemas.microsoft.com/office/drawing/2014/main" id="{04AC5B1A-3851-2B79-BFDF-B1CEC0D4629A}"/>
              </a:ext>
            </a:extLst>
          </p:cNvPr>
          <p:cNvSpPr/>
          <p:nvPr/>
        </p:nvSpPr>
        <p:spPr>
          <a:xfrm rot="5400000">
            <a:off x="8783159" y="4086847"/>
            <a:ext cx="2795365" cy="1368763"/>
          </a:xfrm>
          <a:prstGeom prst="uturnArrow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611728503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361551A-764E-ABFF-3DE8-5D56747ECEC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89AF8A09-A508-79FF-3A10-520B9550E777}"/>
              </a:ext>
            </a:extLst>
          </p:cNvPr>
          <p:cNvSpPr/>
          <p:nvPr/>
        </p:nvSpPr>
        <p:spPr>
          <a:xfrm>
            <a:off x="3325904" y="1118345"/>
            <a:ext cx="1116107" cy="1105348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P1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70E5481D-3374-910A-745A-58862CAEB680}"/>
              </a:ext>
            </a:extLst>
          </p:cNvPr>
          <p:cNvSpPr/>
          <p:nvPr/>
        </p:nvSpPr>
        <p:spPr>
          <a:xfrm>
            <a:off x="5188770" y="1118345"/>
            <a:ext cx="1116107" cy="1105348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AT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FB21B9DF-2A8F-DC55-4568-700CCF3BB358}"/>
              </a:ext>
            </a:extLst>
          </p:cNvPr>
          <p:cNvSpPr/>
          <p:nvPr/>
        </p:nvSpPr>
        <p:spPr>
          <a:xfrm>
            <a:off x="7051636" y="1118345"/>
            <a:ext cx="1116107" cy="1105348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P2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852555DF-98EB-E464-376A-DE7523070D4A}"/>
              </a:ext>
            </a:extLst>
          </p:cNvPr>
          <p:cNvSpPr/>
          <p:nvPr/>
        </p:nvSpPr>
        <p:spPr>
          <a:xfrm>
            <a:off x="3701751" y="5407958"/>
            <a:ext cx="1116107" cy="1105348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ST</a:t>
            </a:r>
          </a:p>
        </p:txBody>
      </p: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5A8E7202-73A8-F736-BE8E-EF83AA4966FF}"/>
              </a:ext>
            </a:extLst>
          </p:cNvPr>
          <p:cNvCxnSpPr>
            <a:cxnSpLocks/>
          </p:cNvCxnSpPr>
          <p:nvPr/>
        </p:nvCxnSpPr>
        <p:spPr>
          <a:xfrm>
            <a:off x="4442011" y="1512793"/>
            <a:ext cx="913227" cy="0"/>
          </a:xfrm>
          <a:prstGeom prst="straightConnector1">
            <a:avLst/>
          </a:prstGeom>
          <a:ln w="25400" cap="flat">
            <a:solidFill>
              <a:schemeClr val="tx1"/>
            </a:solidFill>
            <a:headEnd type="none" w="lg" len="sm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rapezoid 11">
            <a:extLst>
              <a:ext uri="{FF2B5EF4-FFF2-40B4-BE49-F238E27FC236}">
                <a16:creationId xmlns:a16="http://schemas.microsoft.com/office/drawing/2014/main" id="{1DDFDC57-9BDE-CAD7-435B-4B33B411FFE7}"/>
              </a:ext>
            </a:extLst>
          </p:cNvPr>
          <p:cNvSpPr/>
          <p:nvPr/>
        </p:nvSpPr>
        <p:spPr>
          <a:xfrm>
            <a:off x="2625089" y="3545096"/>
            <a:ext cx="3079377" cy="1089212"/>
          </a:xfrm>
          <a:prstGeom prst="trapezoid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S</a:t>
            </a:r>
          </a:p>
        </p:txBody>
      </p: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EEFEAB16-BB7D-80B1-1659-36B4BF8CC54C}"/>
              </a:ext>
            </a:extLst>
          </p:cNvPr>
          <p:cNvCxnSpPr>
            <a:cxnSpLocks/>
          </p:cNvCxnSpPr>
          <p:nvPr/>
        </p:nvCxnSpPr>
        <p:spPr>
          <a:xfrm>
            <a:off x="2867584" y="5717244"/>
            <a:ext cx="960120" cy="0"/>
          </a:xfrm>
          <a:prstGeom prst="straightConnector1">
            <a:avLst/>
          </a:prstGeom>
          <a:ln w="25400" cap="flat">
            <a:solidFill>
              <a:schemeClr val="tx1"/>
            </a:solidFill>
            <a:headEnd type="none" w="lg" len="sm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02B2F2A4-A9B5-BC0E-85C3-E0EC232DE0B3}"/>
              </a:ext>
            </a:extLst>
          </p:cNvPr>
          <p:cNvCxnSpPr>
            <a:cxnSpLocks/>
          </p:cNvCxnSpPr>
          <p:nvPr/>
        </p:nvCxnSpPr>
        <p:spPr>
          <a:xfrm>
            <a:off x="4721485" y="5748621"/>
            <a:ext cx="982981" cy="0"/>
          </a:xfrm>
          <a:prstGeom prst="straightConnector1">
            <a:avLst/>
          </a:prstGeom>
          <a:ln w="25400" cap="flat">
            <a:solidFill>
              <a:schemeClr val="tx1"/>
            </a:solidFill>
            <a:headEnd type="none" w="lg" len="sm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EC1D5A06-EC09-A560-F048-61E5EE4F2FE4}"/>
              </a:ext>
            </a:extLst>
          </p:cNvPr>
          <p:cNvCxnSpPr>
            <a:cxnSpLocks/>
          </p:cNvCxnSpPr>
          <p:nvPr/>
        </p:nvCxnSpPr>
        <p:spPr>
          <a:xfrm flipH="1">
            <a:off x="2803936" y="6264089"/>
            <a:ext cx="1023768" cy="0"/>
          </a:xfrm>
          <a:prstGeom prst="straightConnector1">
            <a:avLst/>
          </a:prstGeom>
          <a:ln w="25400" cap="flat">
            <a:solidFill>
              <a:schemeClr val="tx1"/>
            </a:solidFill>
            <a:headEnd type="none" w="lg" len="sm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A40B8BF5-45C0-BFEC-34F8-45DD49DD27F2}"/>
              </a:ext>
            </a:extLst>
          </p:cNvPr>
          <p:cNvCxnSpPr>
            <a:cxnSpLocks/>
          </p:cNvCxnSpPr>
          <p:nvPr/>
        </p:nvCxnSpPr>
        <p:spPr>
          <a:xfrm flipH="1">
            <a:off x="4680698" y="6264089"/>
            <a:ext cx="1023768" cy="0"/>
          </a:xfrm>
          <a:prstGeom prst="straightConnector1">
            <a:avLst/>
          </a:prstGeom>
          <a:ln w="25400" cap="flat">
            <a:solidFill>
              <a:schemeClr val="tx1"/>
            </a:solidFill>
            <a:headEnd type="none" w="lg" len="sm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2FECA5F5-B814-83E8-D36F-AE43C90D7895}"/>
              </a:ext>
            </a:extLst>
          </p:cNvPr>
          <p:cNvCxnSpPr>
            <a:cxnSpLocks/>
          </p:cNvCxnSpPr>
          <p:nvPr/>
        </p:nvCxnSpPr>
        <p:spPr>
          <a:xfrm>
            <a:off x="6312049" y="1490382"/>
            <a:ext cx="928741" cy="0"/>
          </a:xfrm>
          <a:prstGeom prst="straightConnector1">
            <a:avLst/>
          </a:prstGeom>
          <a:ln w="25400" cap="flat">
            <a:solidFill>
              <a:schemeClr val="tx1"/>
            </a:solidFill>
            <a:headEnd type="none" w="lg" len="sm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8A0E601C-C880-9348-7626-3DBB815AC590}"/>
              </a:ext>
            </a:extLst>
          </p:cNvPr>
          <p:cNvCxnSpPr>
            <a:cxnSpLocks/>
          </p:cNvCxnSpPr>
          <p:nvPr/>
        </p:nvCxnSpPr>
        <p:spPr>
          <a:xfrm>
            <a:off x="8011756" y="1450042"/>
            <a:ext cx="923364" cy="0"/>
          </a:xfrm>
          <a:prstGeom prst="straightConnector1">
            <a:avLst/>
          </a:prstGeom>
          <a:ln w="25400" cap="flat">
            <a:solidFill>
              <a:schemeClr val="tx1"/>
            </a:solidFill>
            <a:headEnd type="none" w="lg" len="sm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2A9EFDE6-4329-97BE-17AB-153A436F3B21}"/>
              </a:ext>
            </a:extLst>
          </p:cNvPr>
          <p:cNvCxnSpPr>
            <a:cxnSpLocks/>
          </p:cNvCxnSpPr>
          <p:nvPr/>
        </p:nvCxnSpPr>
        <p:spPr>
          <a:xfrm>
            <a:off x="2695685" y="1450042"/>
            <a:ext cx="894229" cy="0"/>
          </a:xfrm>
          <a:prstGeom prst="straightConnector1">
            <a:avLst/>
          </a:prstGeom>
          <a:ln w="25400" cap="flat">
            <a:solidFill>
              <a:schemeClr val="tx1"/>
            </a:solidFill>
            <a:headEnd type="none" w="lg" len="sm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E8323ABE-540E-E7B3-3F0A-760D0EBD5314}"/>
              </a:ext>
            </a:extLst>
          </p:cNvPr>
          <p:cNvCxnSpPr>
            <a:cxnSpLocks/>
          </p:cNvCxnSpPr>
          <p:nvPr/>
        </p:nvCxnSpPr>
        <p:spPr>
          <a:xfrm flipV="1">
            <a:off x="3063014" y="3027829"/>
            <a:ext cx="0" cy="566574"/>
          </a:xfrm>
          <a:prstGeom prst="straightConnector1">
            <a:avLst/>
          </a:prstGeom>
          <a:ln w="25400" cap="flat">
            <a:solidFill>
              <a:schemeClr val="tx1"/>
            </a:solidFill>
            <a:headEnd type="none" w="lg" len="sm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FA9989FA-64FB-23CF-A32F-3C315E9D8C17}"/>
              </a:ext>
            </a:extLst>
          </p:cNvPr>
          <p:cNvCxnSpPr>
            <a:cxnSpLocks/>
          </p:cNvCxnSpPr>
          <p:nvPr/>
        </p:nvCxnSpPr>
        <p:spPr>
          <a:xfrm>
            <a:off x="3468219" y="3027829"/>
            <a:ext cx="0" cy="566574"/>
          </a:xfrm>
          <a:prstGeom prst="straightConnector1">
            <a:avLst/>
          </a:prstGeom>
          <a:ln w="25400" cap="flat">
            <a:solidFill>
              <a:schemeClr val="tx1"/>
            </a:solidFill>
            <a:headEnd type="none" w="lg" len="sm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9FEF7632-2DBD-2450-87AB-59D2C153CC28}"/>
              </a:ext>
            </a:extLst>
          </p:cNvPr>
          <p:cNvCxnSpPr>
            <a:cxnSpLocks/>
          </p:cNvCxnSpPr>
          <p:nvPr/>
        </p:nvCxnSpPr>
        <p:spPr>
          <a:xfrm flipV="1">
            <a:off x="3887767" y="3027829"/>
            <a:ext cx="0" cy="566574"/>
          </a:xfrm>
          <a:prstGeom prst="straightConnector1">
            <a:avLst/>
          </a:prstGeom>
          <a:ln w="25400" cap="flat">
            <a:solidFill>
              <a:schemeClr val="tx1"/>
            </a:solidFill>
            <a:headEnd type="none" w="lg" len="sm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FBC36D29-12BA-BA66-CB25-60BADA75F055}"/>
              </a:ext>
            </a:extLst>
          </p:cNvPr>
          <p:cNvCxnSpPr>
            <a:cxnSpLocks/>
          </p:cNvCxnSpPr>
          <p:nvPr/>
        </p:nvCxnSpPr>
        <p:spPr>
          <a:xfrm>
            <a:off x="4292972" y="3027829"/>
            <a:ext cx="0" cy="566574"/>
          </a:xfrm>
          <a:prstGeom prst="straightConnector1">
            <a:avLst/>
          </a:prstGeom>
          <a:ln w="25400" cap="flat">
            <a:solidFill>
              <a:schemeClr val="tx1"/>
            </a:solidFill>
            <a:headEnd type="none" w="lg" len="sm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Straight Arrow Connector 23">
            <a:extLst>
              <a:ext uri="{FF2B5EF4-FFF2-40B4-BE49-F238E27FC236}">
                <a16:creationId xmlns:a16="http://schemas.microsoft.com/office/drawing/2014/main" id="{387D4C63-23C0-2F24-0A0F-A2FD878CD0A6}"/>
              </a:ext>
            </a:extLst>
          </p:cNvPr>
          <p:cNvCxnSpPr>
            <a:cxnSpLocks/>
          </p:cNvCxnSpPr>
          <p:nvPr/>
        </p:nvCxnSpPr>
        <p:spPr>
          <a:xfrm flipV="1">
            <a:off x="4721485" y="3027829"/>
            <a:ext cx="0" cy="566574"/>
          </a:xfrm>
          <a:prstGeom prst="straightConnector1">
            <a:avLst/>
          </a:prstGeom>
          <a:ln w="25400" cap="flat">
            <a:solidFill>
              <a:schemeClr val="tx1"/>
            </a:solidFill>
            <a:headEnd type="none" w="lg" len="sm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55E18F8A-9E5E-BD12-64E0-D79489E2D8B5}"/>
              </a:ext>
            </a:extLst>
          </p:cNvPr>
          <p:cNvCxnSpPr>
            <a:cxnSpLocks/>
          </p:cNvCxnSpPr>
          <p:nvPr/>
        </p:nvCxnSpPr>
        <p:spPr>
          <a:xfrm>
            <a:off x="5126690" y="3027829"/>
            <a:ext cx="0" cy="566574"/>
          </a:xfrm>
          <a:prstGeom prst="straightConnector1">
            <a:avLst/>
          </a:prstGeom>
          <a:ln w="25400" cap="flat">
            <a:solidFill>
              <a:schemeClr val="tx1"/>
            </a:solidFill>
            <a:headEnd type="none" w="lg" len="sm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Straight Arrow Connector 25">
            <a:extLst>
              <a:ext uri="{FF2B5EF4-FFF2-40B4-BE49-F238E27FC236}">
                <a16:creationId xmlns:a16="http://schemas.microsoft.com/office/drawing/2014/main" id="{FD294691-96B0-BD8D-19F9-6E139B007F8F}"/>
              </a:ext>
            </a:extLst>
          </p:cNvPr>
          <p:cNvCxnSpPr>
            <a:cxnSpLocks/>
          </p:cNvCxnSpPr>
          <p:nvPr/>
        </p:nvCxnSpPr>
        <p:spPr>
          <a:xfrm flipV="1">
            <a:off x="3708246" y="551771"/>
            <a:ext cx="0" cy="566574"/>
          </a:xfrm>
          <a:prstGeom prst="straightConnector1">
            <a:avLst/>
          </a:prstGeom>
          <a:ln w="25400" cap="flat">
            <a:solidFill>
              <a:schemeClr val="tx1"/>
            </a:solidFill>
            <a:headEnd type="none" w="lg" len="sm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35FC011E-9FC7-FEB3-3C2E-0685B7C6E159}"/>
              </a:ext>
            </a:extLst>
          </p:cNvPr>
          <p:cNvCxnSpPr>
            <a:cxnSpLocks/>
          </p:cNvCxnSpPr>
          <p:nvPr/>
        </p:nvCxnSpPr>
        <p:spPr>
          <a:xfrm>
            <a:off x="4113451" y="551771"/>
            <a:ext cx="0" cy="566574"/>
          </a:xfrm>
          <a:prstGeom prst="straightConnector1">
            <a:avLst/>
          </a:prstGeom>
          <a:ln w="25400" cap="flat">
            <a:solidFill>
              <a:schemeClr val="tx1"/>
            </a:solidFill>
            <a:headEnd type="none" w="lg" len="sm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Straight Arrow Connector 27">
            <a:extLst>
              <a:ext uri="{FF2B5EF4-FFF2-40B4-BE49-F238E27FC236}">
                <a16:creationId xmlns:a16="http://schemas.microsoft.com/office/drawing/2014/main" id="{E268E112-125F-F2D5-3A3F-AEF2C9D5E333}"/>
              </a:ext>
            </a:extLst>
          </p:cNvPr>
          <p:cNvCxnSpPr>
            <a:cxnSpLocks/>
          </p:cNvCxnSpPr>
          <p:nvPr/>
        </p:nvCxnSpPr>
        <p:spPr>
          <a:xfrm flipV="1">
            <a:off x="5528082" y="551771"/>
            <a:ext cx="0" cy="566574"/>
          </a:xfrm>
          <a:prstGeom prst="straightConnector1">
            <a:avLst/>
          </a:prstGeom>
          <a:ln w="25400" cap="flat">
            <a:solidFill>
              <a:schemeClr val="tx1"/>
            </a:solidFill>
            <a:headEnd type="none" w="lg" len="sm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Straight Arrow Connector 28">
            <a:extLst>
              <a:ext uri="{FF2B5EF4-FFF2-40B4-BE49-F238E27FC236}">
                <a16:creationId xmlns:a16="http://schemas.microsoft.com/office/drawing/2014/main" id="{00FA98C2-4D56-9D4F-0255-4FDE70A06521}"/>
              </a:ext>
            </a:extLst>
          </p:cNvPr>
          <p:cNvCxnSpPr>
            <a:cxnSpLocks/>
          </p:cNvCxnSpPr>
          <p:nvPr/>
        </p:nvCxnSpPr>
        <p:spPr>
          <a:xfrm>
            <a:off x="5933287" y="551771"/>
            <a:ext cx="0" cy="566574"/>
          </a:xfrm>
          <a:prstGeom prst="straightConnector1">
            <a:avLst/>
          </a:prstGeom>
          <a:ln w="25400" cap="flat">
            <a:solidFill>
              <a:schemeClr val="tx1"/>
            </a:solidFill>
            <a:headEnd type="none" w="lg" len="sm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Straight Arrow Connector 29">
            <a:extLst>
              <a:ext uri="{FF2B5EF4-FFF2-40B4-BE49-F238E27FC236}">
                <a16:creationId xmlns:a16="http://schemas.microsoft.com/office/drawing/2014/main" id="{FD46BCC8-E0C6-1D01-EC1E-2E5D4981BF46}"/>
              </a:ext>
            </a:extLst>
          </p:cNvPr>
          <p:cNvCxnSpPr>
            <a:cxnSpLocks/>
          </p:cNvCxnSpPr>
          <p:nvPr/>
        </p:nvCxnSpPr>
        <p:spPr>
          <a:xfrm flipV="1">
            <a:off x="7383776" y="551771"/>
            <a:ext cx="0" cy="566574"/>
          </a:xfrm>
          <a:prstGeom prst="straightConnector1">
            <a:avLst/>
          </a:prstGeom>
          <a:ln w="25400" cap="flat">
            <a:solidFill>
              <a:schemeClr val="tx1"/>
            </a:solidFill>
            <a:headEnd type="none" w="lg" len="sm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Straight Arrow Connector 30">
            <a:extLst>
              <a:ext uri="{FF2B5EF4-FFF2-40B4-BE49-F238E27FC236}">
                <a16:creationId xmlns:a16="http://schemas.microsoft.com/office/drawing/2014/main" id="{7D156E46-4FB2-8919-F87B-F99B1B94DDA1}"/>
              </a:ext>
            </a:extLst>
          </p:cNvPr>
          <p:cNvCxnSpPr>
            <a:cxnSpLocks/>
          </p:cNvCxnSpPr>
          <p:nvPr/>
        </p:nvCxnSpPr>
        <p:spPr>
          <a:xfrm>
            <a:off x="7788981" y="551771"/>
            <a:ext cx="0" cy="566574"/>
          </a:xfrm>
          <a:prstGeom prst="straightConnector1">
            <a:avLst/>
          </a:prstGeom>
          <a:ln w="25400" cap="flat">
            <a:solidFill>
              <a:schemeClr val="tx1"/>
            </a:solidFill>
            <a:headEnd type="none" w="lg" len="sm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Straight Arrow Connector 31">
            <a:extLst>
              <a:ext uri="{FF2B5EF4-FFF2-40B4-BE49-F238E27FC236}">
                <a16:creationId xmlns:a16="http://schemas.microsoft.com/office/drawing/2014/main" id="{456B34FB-BBC3-81F6-7FC7-AD1EA18FE413}"/>
              </a:ext>
            </a:extLst>
          </p:cNvPr>
          <p:cNvCxnSpPr>
            <a:cxnSpLocks/>
          </p:cNvCxnSpPr>
          <p:nvPr/>
        </p:nvCxnSpPr>
        <p:spPr>
          <a:xfrm flipH="1" flipV="1">
            <a:off x="2625089" y="1974476"/>
            <a:ext cx="894229" cy="13444"/>
          </a:xfrm>
          <a:prstGeom prst="straightConnector1">
            <a:avLst/>
          </a:prstGeom>
          <a:ln w="25400" cap="flat">
            <a:solidFill>
              <a:schemeClr val="tx1"/>
            </a:solidFill>
            <a:headEnd type="none" w="lg" len="sm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Straight Arrow Connector 32">
            <a:extLst>
              <a:ext uri="{FF2B5EF4-FFF2-40B4-BE49-F238E27FC236}">
                <a16:creationId xmlns:a16="http://schemas.microsoft.com/office/drawing/2014/main" id="{E4C19477-A397-1D39-53DB-FE57D3D9B5C8}"/>
              </a:ext>
            </a:extLst>
          </p:cNvPr>
          <p:cNvCxnSpPr>
            <a:cxnSpLocks/>
          </p:cNvCxnSpPr>
          <p:nvPr/>
        </p:nvCxnSpPr>
        <p:spPr>
          <a:xfrm flipH="1">
            <a:off x="4280200" y="1913963"/>
            <a:ext cx="908570" cy="0"/>
          </a:xfrm>
          <a:prstGeom prst="straightConnector1">
            <a:avLst/>
          </a:prstGeom>
          <a:ln w="25400" cap="flat">
            <a:solidFill>
              <a:schemeClr val="tx1"/>
            </a:solidFill>
            <a:headEnd type="none" w="lg" len="sm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Straight Arrow Connector 39">
            <a:extLst>
              <a:ext uri="{FF2B5EF4-FFF2-40B4-BE49-F238E27FC236}">
                <a16:creationId xmlns:a16="http://schemas.microsoft.com/office/drawing/2014/main" id="{403DF372-F00C-601B-D1F3-E04E053CF797}"/>
              </a:ext>
            </a:extLst>
          </p:cNvPr>
          <p:cNvCxnSpPr>
            <a:cxnSpLocks/>
          </p:cNvCxnSpPr>
          <p:nvPr/>
        </p:nvCxnSpPr>
        <p:spPr>
          <a:xfrm flipH="1">
            <a:off x="6215676" y="1885501"/>
            <a:ext cx="835960" cy="0"/>
          </a:xfrm>
          <a:prstGeom prst="straightConnector1">
            <a:avLst/>
          </a:prstGeom>
          <a:ln w="25400" cap="flat">
            <a:solidFill>
              <a:schemeClr val="tx1"/>
            </a:solidFill>
            <a:headEnd type="none" w="lg" len="sm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Straight Arrow Connector 43">
            <a:extLst>
              <a:ext uri="{FF2B5EF4-FFF2-40B4-BE49-F238E27FC236}">
                <a16:creationId xmlns:a16="http://schemas.microsoft.com/office/drawing/2014/main" id="{69CBC6FB-80B0-8BF1-AF55-603FB35445D0}"/>
              </a:ext>
            </a:extLst>
          </p:cNvPr>
          <p:cNvCxnSpPr>
            <a:cxnSpLocks/>
          </p:cNvCxnSpPr>
          <p:nvPr/>
        </p:nvCxnSpPr>
        <p:spPr>
          <a:xfrm flipH="1">
            <a:off x="8011756" y="1845162"/>
            <a:ext cx="923366" cy="0"/>
          </a:xfrm>
          <a:prstGeom prst="straightConnector1">
            <a:avLst/>
          </a:prstGeom>
          <a:ln w="25400" cap="flat">
            <a:solidFill>
              <a:schemeClr val="tx1"/>
            </a:solidFill>
            <a:headEnd type="none" w="lg" len="sm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Straight Arrow Connector 47">
            <a:extLst>
              <a:ext uri="{FF2B5EF4-FFF2-40B4-BE49-F238E27FC236}">
                <a16:creationId xmlns:a16="http://schemas.microsoft.com/office/drawing/2014/main" id="{43F0A7BF-6C66-D4EA-A0E2-65B260376BFD}"/>
              </a:ext>
            </a:extLst>
          </p:cNvPr>
          <p:cNvCxnSpPr>
            <a:cxnSpLocks/>
          </p:cNvCxnSpPr>
          <p:nvPr/>
        </p:nvCxnSpPr>
        <p:spPr>
          <a:xfrm flipV="1">
            <a:off x="3990412" y="4507006"/>
            <a:ext cx="0" cy="900952"/>
          </a:xfrm>
          <a:prstGeom prst="straightConnector1">
            <a:avLst/>
          </a:prstGeom>
          <a:ln w="25400" cap="flat">
            <a:solidFill>
              <a:schemeClr val="tx1"/>
            </a:solidFill>
            <a:headEnd type="none" w="lg" len="sm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" name="Straight Arrow Connector 48">
            <a:extLst>
              <a:ext uri="{FF2B5EF4-FFF2-40B4-BE49-F238E27FC236}">
                <a16:creationId xmlns:a16="http://schemas.microsoft.com/office/drawing/2014/main" id="{202F4DDC-2AFB-74BE-2B3C-9AD080BC1121}"/>
              </a:ext>
            </a:extLst>
          </p:cNvPr>
          <p:cNvCxnSpPr>
            <a:cxnSpLocks/>
          </p:cNvCxnSpPr>
          <p:nvPr/>
        </p:nvCxnSpPr>
        <p:spPr>
          <a:xfrm>
            <a:off x="4452546" y="4634308"/>
            <a:ext cx="0" cy="935015"/>
          </a:xfrm>
          <a:prstGeom prst="straightConnector1">
            <a:avLst/>
          </a:prstGeom>
          <a:ln w="25400" cap="flat">
            <a:solidFill>
              <a:schemeClr val="tx1"/>
            </a:solidFill>
            <a:headEnd type="none" w="lg" len="sm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55" name="TextBox 54">
                <a:extLst>
                  <a:ext uri="{FF2B5EF4-FFF2-40B4-BE49-F238E27FC236}">
                    <a16:creationId xmlns:a16="http://schemas.microsoft.com/office/drawing/2014/main" id="{96D2C976-43B4-70E3-7813-92260B5A322B}"/>
                  </a:ext>
                </a:extLst>
              </p:cNvPr>
              <p:cNvSpPr txBox="1"/>
              <p:nvPr/>
            </p:nvSpPr>
            <p:spPr>
              <a:xfrm>
                <a:off x="6762079" y="3591257"/>
                <a:ext cx="5474931" cy="974241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36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nor/>
                            </m:rPr>
                            <a:rPr lang="en-US" sz="3600" b="0" i="0" smtClean="0">
                              <a:latin typeface="KG Ten Thousand Reasons" panose="02000000000000000000" pitchFamily="2" charset="77"/>
                              <a:ea typeface="Ayuthaya" pitchFamily="2" charset="-34"/>
                              <a:cs typeface="Ayuthaya" pitchFamily="2" charset="-34"/>
                            </a:rPr>
                            <m:t>π</m:t>
                          </m:r>
                        </m:e>
                        <m:sub>
                          <m:r>
                            <m:rPr>
                              <m:nor/>
                            </m:rPr>
                            <a:rPr lang="en-US" sz="3600" b="0" i="0" smtClean="0">
                              <a:latin typeface="KG Ten Thousand Reasons" panose="02000000000000000000" pitchFamily="2" charset="77"/>
                              <a:ea typeface="Ayuthaya" pitchFamily="2" charset="-34"/>
                              <a:cs typeface="Ayuthaya" pitchFamily="2" charset="-34"/>
                            </a:rPr>
                            <m:t>ST</m:t>
                          </m:r>
                        </m:sub>
                      </m:sSub>
                      <m:r>
                        <m:rPr>
                          <m:nor/>
                        </m:rPr>
                        <a:rPr lang="en-US" sz="3600" b="0" i="0" smtClean="0">
                          <a:latin typeface="KG Ten Thousand Reasons" panose="02000000000000000000" pitchFamily="2" charset="77"/>
                        </a:rPr>
                        <m:t> </m:t>
                      </m:r>
                      <m:r>
                        <m:rPr>
                          <m:nor/>
                        </m:rPr>
                        <a:rPr lang="en-US" sz="3600" b="0" i="0" smtClean="0">
                          <a:latin typeface="KG Ten Thousand Reasons" panose="02000000000000000000" pitchFamily="2" charset="77"/>
                          <a:ea typeface="Ayuthaya" pitchFamily="2" charset="-34"/>
                          <a:cs typeface="Ayuthaya" pitchFamily="2" charset="-34"/>
                        </a:rPr>
                        <m:t>⋄ </m:t>
                      </m:r>
                      <m:sSub>
                        <m:sSubPr>
                          <m:ctrlPr>
                            <a:rPr lang="en-US" sz="36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nor/>
                            </m:rPr>
                            <a:rPr lang="en-US" sz="3600" b="0" i="0" smtClean="0">
                              <a:latin typeface="KG Ten Thousand Reasons" panose="02000000000000000000" pitchFamily="2" charset="77"/>
                              <a:ea typeface="Ayuthaya" pitchFamily="2" charset="-34"/>
                              <a:cs typeface="Ayuthaya" pitchFamily="2" charset="-34"/>
                            </a:rPr>
                            <m:t>F</m:t>
                          </m:r>
                        </m:e>
                        <m:sub>
                          <m:r>
                            <m:rPr>
                              <m:nor/>
                            </m:rPr>
                            <a:rPr lang="en-US" sz="3600" b="0" i="0" smtClean="0">
                              <a:latin typeface="KG Ten Thousand Reasons" panose="02000000000000000000" pitchFamily="2" charset="77"/>
                              <a:ea typeface="Ayuthaya" pitchFamily="2" charset="-34"/>
                              <a:cs typeface="Ayuthaya" pitchFamily="2" charset="-34"/>
                            </a:rPr>
                            <m:t>AT</m:t>
                          </m:r>
                        </m:sub>
                      </m:sSub>
                      <m:sSup>
                        <m:sSupPr>
                          <m:ctrlPr>
                            <a:rPr lang="en-US" sz="3600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m:rPr>
                              <m:nor/>
                            </m:rPr>
                            <a:rPr lang="en-US" sz="3600" b="0" i="0" smtClean="0">
                              <a:latin typeface="KG Ten Thousand Reasons" panose="02000000000000000000" pitchFamily="2" charset="77"/>
                              <a:ea typeface="Ayuthaya" pitchFamily="2" charset="-34"/>
                              <a:cs typeface="Ayuthaya" pitchFamily="2" charset="-34"/>
                            </a:rPr>
                            <m:t>≥</m:t>
                          </m:r>
                        </m:e>
                        <m:sup>
                          <m:r>
                            <m:rPr>
                              <m:nor/>
                            </m:rPr>
                            <a:rPr lang="en-US" sz="3600" b="0" i="0" smtClean="0">
                              <a:latin typeface="KG Ten Thousand Reasons" panose="02000000000000000000" pitchFamily="2" charset="77"/>
                              <a:ea typeface="Ayuthaya" pitchFamily="2" charset="-34"/>
                              <a:cs typeface="Ayuthaya" pitchFamily="2" charset="-34"/>
                            </a:rPr>
                            <m:t>Env</m:t>
                          </m:r>
                        </m:sup>
                      </m:sSup>
                      <m:r>
                        <m:rPr>
                          <m:nor/>
                        </m:rPr>
                        <a:rPr lang="en-US" sz="3600" b="0" i="0" smtClean="0">
                          <a:latin typeface="KG Ten Thousand Reasons" panose="02000000000000000000" pitchFamily="2" charset="77"/>
                          <a:ea typeface="Ayuthaya" pitchFamily="2" charset="-34"/>
                          <a:cs typeface="Ayuthaya" pitchFamily="2" charset="-34"/>
                        </a:rPr>
                        <m:t> </m:t>
                      </m:r>
                      <m:sSub>
                        <m:sSubPr>
                          <m:ctrlPr>
                            <a:rPr lang="en-US" sz="36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nor/>
                            </m:rPr>
                            <a:rPr lang="en-US" sz="3600" b="0" i="0" smtClean="0">
                              <a:latin typeface="KG Ten Thousand Reasons" panose="02000000000000000000" pitchFamily="2" charset="77"/>
                              <a:ea typeface="Ayuthaya" pitchFamily="2" charset="-34"/>
                              <a:cs typeface="Ayuthaya" pitchFamily="2" charset="-34"/>
                            </a:rPr>
                            <m:t>F</m:t>
                          </m:r>
                        </m:e>
                        <m:sub>
                          <m:r>
                            <m:rPr>
                              <m:nor/>
                            </m:rPr>
                            <a:rPr lang="en-US" sz="3600" b="0" i="0" smtClean="0">
                              <a:latin typeface="KG Ten Thousand Reasons" panose="02000000000000000000" pitchFamily="2" charset="77"/>
                              <a:ea typeface="Ayuthaya" pitchFamily="2" charset="-34"/>
                              <a:cs typeface="Ayuthaya" pitchFamily="2" charset="-34"/>
                            </a:rPr>
                            <m:t>ST</m:t>
                          </m:r>
                          <m:r>
                            <m:rPr>
                              <m:nor/>
                            </m:rPr>
                            <a:rPr lang="en-US" sz="3600" b="0" i="0" smtClean="0">
                              <a:latin typeface="KG Ten Thousand Reasons" panose="02000000000000000000" pitchFamily="2" charset="77"/>
                              <a:ea typeface="Ayuthaya" pitchFamily="2" charset="-34"/>
                              <a:cs typeface="Ayuthaya" pitchFamily="2" charset="-34"/>
                            </a:rPr>
                            <m:t> </m:t>
                          </m:r>
                        </m:sub>
                      </m:sSub>
                    </m:oMath>
                  </m:oMathPara>
                </a14:m>
                <a:endParaRPr lang="en-US" sz="3600" dirty="0">
                  <a:latin typeface="KG Ten Thousand Reasons" panose="02000000000000000000" pitchFamily="2" charset="77"/>
                  <a:ea typeface="Ayuthaya" pitchFamily="2" charset="-34"/>
                  <a:cs typeface="Ayuthaya" pitchFamily="2" charset="-34"/>
                </a:endParaRPr>
              </a:p>
            </p:txBody>
          </p:sp>
        </mc:Choice>
        <mc:Fallback xmlns="">
          <p:sp>
            <p:nvSpPr>
              <p:cNvPr id="55" name="TextBox 54">
                <a:extLst>
                  <a:ext uri="{FF2B5EF4-FFF2-40B4-BE49-F238E27FC236}">
                    <a16:creationId xmlns:a16="http://schemas.microsoft.com/office/drawing/2014/main" id="{96D2C976-43B4-70E3-7813-92260B5A322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762079" y="3591257"/>
                <a:ext cx="5474931" cy="974241"/>
              </a:xfrm>
              <a:prstGeom prst="rect">
                <a:avLst/>
              </a:prstGeom>
              <a:blipFill>
                <a:blip r:embed="rId2"/>
                <a:stretch>
                  <a:fillRect t="-3846" b="-4359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69" name="Group 68">
            <a:extLst>
              <a:ext uri="{FF2B5EF4-FFF2-40B4-BE49-F238E27FC236}">
                <a16:creationId xmlns:a16="http://schemas.microsoft.com/office/drawing/2014/main" id="{EDE41110-0BE2-5D85-9364-DC01859B3C04}"/>
              </a:ext>
            </a:extLst>
          </p:cNvPr>
          <p:cNvGrpSpPr/>
          <p:nvPr/>
        </p:nvGrpSpPr>
        <p:grpSpPr>
          <a:xfrm>
            <a:off x="577322" y="1118345"/>
            <a:ext cx="10397271" cy="1105348"/>
            <a:chOff x="577322" y="1118345"/>
            <a:chExt cx="10397271" cy="1105348"/>
          </a:xfrm>
        </p:grpSpPr>
        <p:sp>
          <p:nvSpPr>
            <p:cNvPr id="56" name="Rectangle 55">
              <a:extLst>
                <a:ext uri="{FF2B5EF4-FFF2-40B4-BE49-F238E27FC236}">
                  <a16:creationId xmlns:a16="http://schemas.microsoft.com/office/drawing/2014/main" id="{2C54B79F-BEBB-4953-8819-9DF8451B4F18}"/>
                </a:ext>
              </a:extLst>
            </p:cNvPr>
            <p:cNvSpPr/>
            <p:nvPr/>
          </p:nvSpPr>
          <p:spPr>
            <a:xfrm>
              <a:off x="8935120" y="1118345"/>
              <a:ext cx="1116107" cy="1105348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Q2</a:t>
              </a:r>
            </a:p>
          </p:txBody>
        </p:sp>
        <p:cxnSp>
          <p:nvCxnSpPr>
            <p:cNvPr id="57" name="Straight Arrow Connector 56">
              <a:extLst>
                <a:ext uri="{FF2B5EF4-FFF2-40B4-BE49-F238E27FC236}">
                  <a16:creationId xmlns:a16="http://schemas.microsoft.com/office/drawing/2014/main" id="{6586E33F-DAA1-E7A5-1176-CB220924D6A3}"/>
                </a:ext>
              </a:extLst>
            </p:cNvPr>
            <p:cNvCxnSpPr>
              <a:cxnSpLocks/>
            </p:cNvCxnSpPr>
            <p:nvPr/>
          </p:nvCxnSpPr>
          <p:spPr>
            <a:xfrm>
              <a:off x="10051227" y="1490381"/>
              <a:ext cx="923364" cy="0"/>
            </a:xfrm>
            <a:prstGeom prst="straightConnector1">
              <a:avLst/>
            </a:prstGeom>
            <a:ln w="25400" cap="flat">
              <a:solidFill>
                <a:schemeClr val="tx1"/>
              </a:solidFill>
              <a:headEnd type="none" w="lg" len="sm"/>
              <a:tailEnd type="arrow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8" name="Straight Arrow Connector 57">
              <a:extLst>
                <a:ext uri="{FF2B5EF4-FFF2-40B4-BE49-F238E27FC236}">
                  <a16:creationId xmlns:a16="http://schemas.microsoft.com/office/drawing/2014/main" id="{2E13F986-BA66-21BA-A116-F29DD114A1A5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0051227" y="1885501"/>
              <a:ext cx="923366" cy="0"/>
            </a:xfrm>
            <a:prstGeom prst="straightConnector1">
              <a:avLst/>
            </a:prstGeom>
            <a:ln w="25400" cap="flat">
              <a:solidFill>
                <a:schemeClr val="tx1"/>
              </a:solidFill>
              <a:headEnd type="none" w="lg" len="sm"/>
              <a:tailEnd type="arrow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2" name="Straight Arrow Connector 61">
              <a:extLst>
                <a:ext uri="{FF2B5EF4-FFF2-40B4-BE49-F238E27FC236}">
                  <a16:creationId xmlns:a16="http://schemas.microsoft.com/office/drawing/2014/main" id="{580000B1-40D2-B031-F53A-BFCB36094CE8}"/>
                </a:ext>
              </a:extLst>
            </p:cNvPr>
            <p:cNvCxnSpPr>
              <a:cxnSpLocks/>
            </p:cNvCxnSpPr>
            <p:nvPr/>
          </p:nvCxnSpPr>
          <p:spPr>
            <a:xfrm>
              <a:off x="577322" y="1450042"/>
              <a:ext cx="923364" cy="0"/>
            </a:xfrm>
            <a:prstGeom prst="straightConnector1">
              <a:avLst/>
            </a:prstGeom>
            <a:ln w="25400" cap="flat">
              <a:solidFill>
                <a:schemeClr val="tx1"/>
              </a:solidFill>
              <a:headEnd type="none" w="lg" len="sm"/>
              <a:tailEnd type="arrow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3" name="Straight Arrow Connector 62">
              <a:extLst>
                <a:ext uri="{FF2B5EF4-FFF2-40B4-BE49-F238E27FC236}">
                  <a16:creationId xmlns:a16="http://schemas.microsoft.com/office/drawing/2014/main" id="{50E84EC2-F176-1D2A-E2EC-ED436A32BFA2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577322" y="1845162"/>
              <a:ext cx="923366" cy="0"/>
            </a:xfrm>
            <a:prstGeom prst="straightConnector1">
              <a:avLst/>
            </a:prstGeom>
            <a:ln w="25400" cap="flat">
              <a:solidFill>
                <a:schemeClr val="tx1"/>
              </a:solidFill>
              <a:headEnd type="none" w="lg" len="sm"/>
              <a:tailEnd type="arrow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64" name="Rectangle 63">
              <a:extLst>
                <a:ext uri="{FF2B5EF4-FFF2-40B4-BE49-F238E27FC236}">
                  <a16:creationId xmlns:a16="http://schemas.microsoft.com/office/drawing/2014/main" id="{3EDE090B-66E9-2C30-7574-47F1D804A28E}"/>
                </a:ext>
              </a:extLst>
            </p:cNvPr>
            <p:cNvSpPr/>
            <p:nvPr/>
          </p:nvSpPr>
          <p:spPr>
            <a:xfrm>
              <a:off x="1500686" y="1118345"/>
              <a:ext cx="1116107" cy="1105348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Q1</a:t>
              </a:r>
            </a:p>
          </p:txBody>
        </p:sp>
      </p:grpSp>
      <p:grpSp>
        <p:nvGrpSpPr>
          <p:cNvPr id="70" name="Group 69">
            <a:extLst>
              <a:ext uri="{FF2B5EF4-FFF2-40B4-BE49-F238E27FC236}">
                <a16:creationId xmlns:a16="http://schemas.microsoft.com/office/drawing/2014/main" id="{7F99F4CC-EE4D-E25A-FD64-2EA851BB793F}"/>
              </a:ext>
            </a:extLst>
          </p:cNvPr>
          <p:cNvGrpSpPr/>
          <p:nvPr/>
        </p:nvGrpSpPr>
        <p:grpSpPr>
          <a:xfrm>
            <a:off x="794941" y="5407958"/>
            <a:ext cx="6929729" cy="1117009"/>
            <a:chOff x="794941" y="5407958"/>
            <a:chExt cx="6929729" cy="1117009"/>
          </a:xfrm>
        </p:grpSpPr>
        <p:cxnSp>
          <p:nvCxnSpPr>
            <p:cNvPr id="59" name="Straight Arrow Connector 58">
              <a:extLst>
                <a:ext uri="{FF2B5EF4-FFF2-40B4-BE49-F238E27FC236}">
                  <a16:creationId xmlns:a16="http://schemas.microsoft.com/office/drawing/2014/main" id="{916D1260-B45C-A531-A8ED-242E3FE1F196}"/>
                </a:ext>
              </a:extLst>
            </p:cNvPr>
            <p:cNvCxnSpPr>
              <a:cxnSpLocks/>
            </p:cNvCxnSpPr>
            <p:nvPr/>
          </p:nvCxnSpPr>
          <p:spPr>
            <a:xfrm>
              <a:off x="794941" y="5739655"/>
              <a:ext cx="923364" cy="0"/>
            </a:xfrm>
            <a:prstGeom prst="straightConnector1">
              <a:avLst/>
            </a:prstGeom>
            <a:ln w="25400" cap="flat">
              <a:solidFill>
                <a:schemeClr val="tx1"/>
              </a:solidFill>
              <a:headEnd type="none" w="lg" len="sm"/>
              <a:tailEnd type="arrow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0" name="Straight Arrow Connector 59">
              <a:extLst>
                <a:ext uri="{FF2B5EF4-FFF2-40B4-BE49-F238E27FC236}">
                  <a16:creationId xmlns:a16="http://schemas.microsoft.com/office/drawing/2014/main" id="{C2F7A538-02C6-B66F-0C24-CED7818B9401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794941" y="6134775"/>
              <a:ext cx="923366" cy="0"/>
            </a:xfrm>
            <a:prstGeom prst="straightConnector1">
              <a:avLst/>
            </a:prstGeom>
            <a:ln w="25400" cap="flat">
              <a:solidFill>
                <a:schemeClr val="tx1"/>
              </a:solidFill>
              <a:headEnd type="none" w="lg" len="sm"/>
              <a:tailEnd type="arrow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61" name="Rectangle 60">
              <a:extLst>
                <a:ext uri="{FF2B5EF4-FFF2-40B4-BE49-F238E27FC236}">
                  <a16:creationId xmlns:a16="http://schemas.microsoft.com/office/drawing/2014/main" id="{5CA657E8-13F6-7322-A213-D9825B2542A2}"/>
                </a:ext>
              </a:extLst>
            </p:cNvPr>
            <p:cNvSpPr/>
            <p:nvPr/>
          </p:nvSpPr>
          <p:spPr>
            <a:xfrm>
              <a:off x="1718305" y="5407958"/>
              <a:ext cx="1116107" cy="1105348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Q1</a:t>
              </a:r>
            </a:p>
          </p:txBody>
        </p:sp>
        <p:sp>
          <p:nvSpPr>
            <p:cNvPr id="66" name="Rectangle 65">
              <a:extLst>
                <a:ext uri="{FF2B5EF4-FFF2-40B4-BE49-F238E27FC236}">
                  <a16:creationId xmlns:a16="http://schemas.microsoft.com/office/drawing/2014/main" id="{C378A7AA-9BE4-FF39-078C-8448EA9C04DF}"/>
                </a:ext>
              </a:extLst>
            </p:cNvPr>
            <p:cNvSpPr/>
            <p:nvPr/>
          </p:nvSpPr>
          <p:spPr>
            <a:xfrm>
              <a:off x="5685197" y="5419619"/>
              <a:ext cx="1116107" cy="1105348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Q2</a:t>
              </a:r>
            </a:p>
          </p:txBody>
        </p:sp>
        <p:cxnSp>
          <p:nvCxnSpPr>
            <p:cNvPr id="67" name="Straight Arrow Connector 66">
              <a:extLst>
                <a:ext uri="{FF2B5EF4-FFF2-40B4-BE49-F238E27FC236}">
                  <a16:creationId xmlns:a16="http://schemas.microsoft.com/office/drawing/2014/main" id="{47EFBB50-5E53-F5AD-8393-9D7B8F82D94D}"/>
                </a:ext>
              </a:extLst>
            </p:cNvPr>
            <p:cNvCxnSpPr>
              <a:cxnSpLocks/>
            </p:cNvCxnSpPr>
            <p:nvPr/>
          </p:nvCxnSpPr>
          <p:spPr>
            <a:xfrm>
              <a:off x="6801304" y="5791655"/>
              <a:ext cx="923364" cy="0"/>
            </a:xfrm>
            <a:prstGeom prst="straightConnector1">
              <a:avLst/>
            </a:prstGeom>
            <a:ln w="25400" cap="flat">
              <a:solidFill>
                <a:schemeClr val="tx1"/>
              </a:solidFill>
              <a:headEnd type="none" w="lg" len="sm"/>
              <a:tailEnd type="arrow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8" name="Straight Arrow Connector 67">
              <a:extLst>
                <a:ext uri="{FF2B5EF4-FFF2-40B4-BE49-F238E27FC236}">
                  <a16:creationId xmlns:a16="http://schemas.microsoft.com/office/drawing/2014/main" id="{5294E075-EB68-C4E6-CC33-D35FAFB06018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6801304" y="6186775"/>
              <a:ext cx="923366" cy="0"/>
            </a:xfrm>
            <a:prstGeom prst="straightConnector1">
              <a:avLst/>
            </a:prstGeom>
            <a:ln w="25400" cap="flat">
              <a:solidFill>
                <a:schemeClr val="tx1"/>
              </a:solidFill>
              <a:headEnd type="none" w="lg" len="sm"/>
              <a:tailEnd type="arrow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261229312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0B0EAF9-B316-CFA1-F43F-5A62D758CE5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1B53077F-091F-936C-2B49-9B7CB04C6A86}"/>
                  </a:ext>
                </a:extLst>
              </p:cNvPr>
              <p:cNvSpPr txBox="1"/>
              <p:nvPr/>
            </p:nvSpPr>
            <p:spPr>
              <a:xfrm>
                <a:off x="1080364" y="5633408"/>
                <a:ext cx="4446474" cy="972061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36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nor/>
                            </m:rPr>
                            <a:rPr lang="en-US" sz="3600" b="0" i="0" smtClean="0">
                              <a:latin typeface="KG Ten Thousand Reasons" panose="02000000000000000000" pitchFamily="2" charset="77"/>
                            </a:rPr>
                            <m:t>π</m:t>
                          </m:r>
                        </m:e>
                        <m:sub>
                          <m:r>
                            <m:rPr>
                              <m:nor/>
                            </m:rPr>
                            <a:rPr lang="en-US" sz="3600" b="0" i="0" smtClean="0">
                              <a:latin typeface="KG Ten Thousand Reasons" panose="02000000000000000000" pitchFamily="2" charset="77"/>
                            </a:rPr>
                            <m:t>N</m:t>
                          </m:r>
                        </m:sub>
                      </m:sSub>
                      <m:r>
                        <m:rPr>
                          <m:nor/>
                        </m:rPr>
                        <a:rPr lang="en-US" sz="3600" b="0" i="0" smtClean="0">
                          <a:latin typeface="KG Ten Thousand Reasons" panose="02000000000000000000" pitchFamily="2" charset="77"/>
                        </a:rPr>
                        <m:t> ⋄ </m:t>
                      </m:r>
                      <m:sSub>
                        <m:sSubPr>
                          <m:ctrlPr>
                            <a:rPr lang="en-US" sz="36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nor/>
                            </m:rPr>
                            <a:rPr lang="en-US" sz="3600" b="0" i="0" smtClean="0">
                              <a:latin typeface="KG Ten Thousand Reasons" panose="02000000000000000000" pitchFamily="2" charset="77"/>
                            </a:rPr>
                            <m:t>F</m:t>
                          </m:r>
                        </m:e>
                        <m:sub>
                          <m:r>
                            <m:rPr>
                              <m:nor/>
                            </m:rPr>
                            <a:rPr lang="en-US" sz="3600" b="0" i="0" smtClean="0">
                              <a:latin typeface="KG Ten Thousand Reasons" panose="02000000000000000000" pitchFamily="2" charset="77"/>
                            </a:rPr>
                            <m:t>ST</m:t>
                          </m:r>
                        </m:sub>
                      </m:sSub>
                      <m:sSup>
                        <m:sSupPr>
                          <m:ctrlPr>
                            <a:rPr lang="en-US" sz="3600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m:rPr>
                              <m:nor/>
                            </m:rPr>
                            <a:rPr lang="en-US" sz="3600" b="0" i="0" smtClean="0">
                              <a:latin typeface="KG Ten Thousand Reasons" panose="02000000000000000000" pitchFamily="2" charset="77"/>
                            </a:rPr>
                            <m:t>≥</m:t>
                          </m:r>
                        </m:e>
                        <m:sup>
                          <m:r>
                            <m:rPr>
                              <m:nor/>
                            </m:rPr>
                            <a:rPr lang="en-US" sz="3600" b="0" i="0" smtClean="0">
                              <a:latin typeface="KG Ten Thousand Reasons" panose="02000000000000000000" pitchFamily="2" charset="77"/>
                            </a:rPr>
                            <m:t>Env</m:t>
                          </m:r>
                        </m:sup>
                      </m:sSup>
                      <m:r>
                        <m:rPr>
                          <m:nor/>
                        </m:rPr>
                        <a:rPr lang="en-US" sz="3600" b="0" i="0" smtClean="0">
                          <a:latin typeface="KG Ten Thousand Reasons" panose="02000000000000000000" pitchFamily="2" charset="77"/>
                        </a:rPr>
                        <m:t> </m:t>
                      </m:r>
                      <m:sSub>
                        <m:sSubPr>
                          <m:ctrlPr>
                            <a:rPr lang="en-US" sz="36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nor/>
                            </m:rPr>
                            <a:rPr lang="en-US" sz="3600" b="0" i="0" smtClean="0">
                              <a:latin typeface="KG Ten Thousand Reasons" panose="02000000000000000000" pitchFamily="2" charset="77"/>
                            </a:rPr>
                            <m:t>F</m:t>
                          </m:r>
                        </m:e>
                        <m:sub>
                          <m:r>
                            <m:rPr>
                              <m:nor/>
                            </m:rPr>
                            <a:rPr lang="en-US" sz="3600" b="0" i="0" smtClean="0">
                              <a:latin typeface="KG Ten Thousand Reasons" panose="02000000000000000000" pitchFamily="2" charset="77"/>
                            </a:rPr>
                            <m:t>N</m:t>
                          </m:r>
                          <m:r>
                            <m:rPr>
                              <m:nor/>
                            </m:rPr>
                            <a:rPr lang="en-US" sz="3600" b="0" i="0" smtClean="0">
                              <a:latin typeface="KG Ten Thousand Reasons" panose="02000000000000000000" pitchFamily="2" charset="77"/>
                            </a:rPr>
                            <m:t> </m:t>
                          </m:r>
                        </m:sub>
                      </m:sSub>
                    </m:oMath>
                  </m:oMathPara>
                </a14:m>
                <a:endParaRPr lang="en-US" sz="3600" dirty="0">
                  <a:latin typeface="KG Ten Thousand Reasons" panose="02000000000000000000" pitchFamily="2" charset="77"/>
                </a:endParaRPr>
              </a:p>
            </p:txBody>
          </p:sp>
        </mc:Choice>
        <mc:Fallback xmlns="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1B53077F-091F-936C-2B49-9B7CB04C6A8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80364" y="5633408"/>
                <a:ext cx="4446474" cy="972061"/>
              </a:xfrm>
              <a:prstGeom prst="rect">
                <a:avLst/>
              </a:prstGeom>
              <a:blipFill>
                <a:blip r:embed="rId2"/>
                <a:stretch>
                  <a:fillRect l="-284" t="-3846" r="-2841" b="-4230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" name="Rectangle 6">
            <a:extLst>
              <a:ext uri="{FF2B5EF4-FFF2-40B4-BE49-F238E27FC236}">
                <a16:creationId xmlns:a16="http://schemas.microsoft.com/office/drawing/2014/main" id="{65CE7DF7-F532-69E8-6A0B-A0305E1F4929}"/>
              </a:ext>
            </a:extLst>
          </p:cNvPr>
          <p:cNvSpPr/>
          <p:nvPr/>
        </p:nvSpPr>
        <p:spPr>
          <a:xfrm>
            <a:off x="1101423" y="3712874"/>
            <a:ext cx="1116107" cy="1105348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Q1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94F2CEE3-4F1D-B2D1-4DB0-38F9AD7897AF}"/>
              </a:ext>
            </a:extLst>
          </p:cNvPr>
          <p:cNvSpPr/>
          <p:nvPr/>
        </p:nvSpPr>
        <p:spPr>
          <a:xfrm>
            <a:off x="2964289" y="3712874"/>
            <a:ext cx="1116107" cy="1105348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ST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FA138500-D129-5174-5D80-605DC2DA3F87}"/>
              </a:ext>
            </a:extLst>
          </p:cNvPr>
          <p:cNvSpPr/>
          <p:nvPr/>
        </p:nvSpPr>
        <p:spPr>
          <a:xfrm>
            <a:off x="4827155" y="3712874"/>
            <a:ext cx="1116107" cy="1105348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Q2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307960C5-BD29-5310-C789-002A470AA624}"/>
              </a:ext>
            </a:extLst>
          </p:cNvPr>
          <p:cNvSpPr/>
          <p:nvPr/>
        </p:nvSpPr>
        <p:spPr>
          <a:xfrm>
            <a:off x="9188268" y="5301710"/>
            <a:ext cx="1116107" cy="1105348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N</a:t>
            </a:r>
          </a:p>
        </p:txBody>
      </p: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186ED1BE-7FF7-CDF6-37FB-8D3B5E7957D4}"/>
              </a:ext>
            </a:extLst>
          </p:cNvPr>
          <p:cNvCxnSpPr>
            <a:cxnSpLocks/>
          </p:cNvCxnSpPr>
          <p:nvPr/>
        </p:nvCxnSpPr>
        <p:spPr>
          <a:xfrm>
            <a:off x="2194668" y="4044571"/>
            <a:ext cx="839546" cy="0"/>
          </a:xfrm>
          <a:prstGeom prst="straightConnector1">
            <a:avLst/>
          </a:prstGeom>
          <a:ln w="25400" cap="flat">
            <a:solidFill>
              <a:schemeClr val="tx1"/>
            </a:solidFill>
            <a:headEnd type="none" w="lg" len="sm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rapezoid 11">
            <a:extLst>
              <a:ext uri="{FF2B5EF4-FFF2-40B4-BE49-F238E27FC236}">
                <a16:creationId xmlns:a16="http://schemas.microsoft.com/office/drawing/2014/main" id="{6CD78A15-8573-115D-00A2-71638B8AFC12}"/>
              </a:ext>
            </a:extLst>
          </p:cNvPr>
          <p:cNvSpPr/>
          <p:nvPr/>
        </p:nvSpPr>
        <p:spPr>
          <a:xfrm>
            <a:off x="8111606" y="3438848"/>
            <a:ext cx="3079377" cy="1089212"/>
          </a:xfrm>
          <a:prstGeom prst="trapezoid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T</a:t>
            </a:r>
          </a:p>
        </p:txBody>
      </p: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DD85909B-0BD6-50E3-F6A9-39726CC982ED}"/>
              </a:ext>
            </a:extLst>
          </p:cNvPr>
          <p:cNvCxnSpPr>
            <a:cxnSpLocks/>
          </p:cNvCxnSpPr>
          <p:nvPr/>
        </p:nvCxnSpPr>
        <p:spPr>
          <a:xfrm>
            <a:off x="8290453" y="5585588"/>
            <a:ext cx="1012563" cy="0"/>
          </a:xfrm>
          <a:prstGeom prst="straightConnector1">
            <a:avLst/>
          </a:prstGeom>
          <a:ln w="25400" cap="flat">
            <a:solidFill>
              <a:schemeClr val="tx1"/>
            </a:solidFill>
            <a:headEnd type="none" w="lg" len="sm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4BB1AC37-32F3-C1F6-0256-DB122BCB6403}"/>
              </a:ext>
            </a:extLst>
          </p:cNvPr>
          <p:cNvCxnSpPr>
            <a:cxnSpLocks/>
          </p:cNvCxnSpPr>
          <p:nvPr/>
        </p:nvCxnSpPr>
        <p:spPr>
          <a:xfrm>
            <a:off x="10319507" y="5633407"/>
            <a:ext cx="871476" cy="0"/>
          </a:xfrm>
          <a:prstGeom prst="straightConnector1">
            <a:avLst/>
          </a:prstGeom>
          <a:ln w="25400" cap="flat">
            <a:solidFill>
              <a:schemeClr val="tx1"/>
            </a:solidFill>
            <a:headEnd type="none" w="lg" len="sm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6E0CFD14-376B-8737-CA6F-17157E903A30}"/>
              </a:ext>
            </a:extLst>
          </p:cNvPr>
          <p:cNvCxnSpPr>
            <a:cxnSpLocks/>
          </p:cNvCxnSpPr>
          <p:nvPr/>
        </p:nvCxnSpPr>
        <p:spPr>
          <a:xfrm flipH="1">
            <a:off x="8290453" y="6157841"/>
            <a:ext cx="1023768" cy="0"/>
          </a:xfrm>
          <a:prstGeom prst="straightConnector1">
            <a:avLst/>
          </a:prstGeom>
          <a:ln w="25400" cap="flat">
            <a:solidFill>
              <a:schemeClr val="tx1"/>
            </a:solidFill>
            <a:headEnd type="none" w="lg" len="sm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DACC9B30-B378-18B9-10DC-ACC59A4B0AD4}"/>
              </a:ext>
            </a:extLst>
          </p:cNvPr>
          <p:cNvCxnSpPr>
            <a:cxnSpLocks/>
          </p:cNvCxnSpPr>
          <p:nvPr/>
        </p:nvCxnSpPr>
        <p:spPr>
          <a:xfrm flipH="1">
            <a:off x="10167215" y="6157841"/>
            <a:ext cx="1023768" cy="0"/>
          </a:xfrm>
          <a:prstGeom prst="straightConnector1">
            <a:avLst/>
          </a:prstGeom>
          <a:ln w="25400" cap="flat">
            <a:solidFill>
              <a:schemeClr val="tx1"/>
            </a:solidFill>
            <a:headEnd type="none" w="lg" len="sm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C32964EF-6F35-3906-0E95-D47B5C4E9B98}"/>
              </a:ext>
            </a:extLst>
          </p:cNvPr>
          <p:cNvCxnSpPr>
            <a:cxnSpLocks/>
          </p:cNvCxnSpPr>
          <p:nvPr/>
        </p:nvCxnSpPr>
        <p:spPr>
          <a:xfrm>
            <a:off x="4075573" y="4102843"/>
            <a:ext cx="846608" cy="0"/>
          </a:xfrm>
          <a:prstGeom prst="straightConnector1">
            <a:avLst/>
          </a:prstGeom>
          <a:ln w="25400" cap="flat">
            <a:solidFill>
              <a:schemeClr val="tx1"/>
            </a:solidFill>
            <a:headEnd type="none" w="lg" len="sm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D425A887-CA21-85BA-B152-2A75D21D5F06}"/>
              </a:ext>
            </a:extLst>
          </p:cNvPr>
          <p:cNvCxnSpPr>
            <a:cxnSpLocks/>
          </p:cNvCxnSpPr>
          <p:nvPr/>
        </p:nvCxnSpPr>
        <p:spPr>
          <a:xfrm>
            <a:off x="5787275" y="4044571"/>
            <a:ext cx="923364" cy="0"/>
          </a:xfrm>
          <a:prstGeom prst="straightConnector1">
            <a:avLst/>
          </a:prstGeom>
          <a:ln w="25400" cap="flat">
            <a:solidFill>
              <a:schemeClr val="tx1"/>
            </a:solidFill>
            <a:headEnd type="none" w="lg" len="sm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9683695F-89AF-1538-8732-399E20F0F550}"/>
              </a:ext>
            </a:extLst>
          </p:cNvPr>
          <p:cNvCxnSpPr>
            <a:cxnSpLocks/>
          </p:cNvCxnSpPr>
          <p:nvPr/>
        </p:nvCxnSpPr>
        <p:spPr>
          <a:xfrm>
            <a:off x="471204" y="4044571"/>
            <a:ext cx="894229" cy="0"/>
          </a:xfrm>
          <a:prstGeom prst="straightConnector1">
            <a:avLst/>
          </a:prstGeom>
          <a:ln w="25400" cap="flat">
            <a:solidFill>
              <a:schemeClr val="tx1"/>
            </a:solidFill>
            <a:headEnd type="none" w="lg" len="sm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EA71B995-CCB4-D9C2-BD2A-487EAC1FA3D5}"/>
              </a:ext>
            </a:extLst>
          </p:cNvPr>
          <p:cNvCxnSpPr>
            <a:cxnSpLocks/>
          </p:cNvCxnSpPr>
          <p:nvPr/>
        </p:nvCxnSpPr>
        <p:spPr>
          <a:xfrm flipV="1">
            <a:off x="8549531" y="2921581"/>
            <a:ext cx="0" cy="566574"/>
          </a:xfrm>
          <a:prstGeom prst="straightConnector1">
            <a:avLst/>
          </a:prstGeom>
          <a:ln w="25400" cap="flat">
            <a:solidFill>
              <a:schemeClr val="tx1"/>
            </a:solidFill>
            <a:headEnd type="none" w="lg" len="sm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476C6916-8C30-D407-33EB-C762636B327C}"/>
              </a:ext>
            </a:extLst>
          </p:cNvPr>
          <p:cNvCxnSpPr>
            <a:cxnSpLocks/>
          </p:cNvCxnSpPr>
          <p:nvPr/>
        </p:nvCxnSpPr>
        <p:spPr>
          <a:xfrm>
            <a:off x="8954736" y="2921581"/>
            <a:ext cx="0" cy="566574"/>
          </a:xfrm>
          <a:prstGeom prst="straightConnector1">
            <a:avLst/>
          </a:prstGeom>
          <a:ln w="25400" cap="flat">
            <a:solidFill>
              <a:schemeClr val="tx1"/>
            </a:solidFill>
            <a:headEnd type="none" w="lg" len="sm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B0BDA428-A172-2ED2-B310-C8F0013B5231}"/>
              </a:ext>
            </a:extLst>
          </p:cNvPr>
          <p:cNvCxnSpPr>
            <a:cxnSpLocks/>
          </p:cNvCxnSpPr>
          <p:nvPr/>
        </p:nvCxnSpPr>
        <p:spPr>
          <a:xfrm flipV="1">
            <a:off x="9374284" y="2420471"/>
            <a:ext cx="0" cy="1067684"/>
          </a:xfrm>
          <a:prstGeom prst="straightConnector1">
            <a:avLst/>
          </a:prstGeom>
          <a:ln w="25400" cap="flat">
            <a:solidFill>
              <a:schemeClr val="tx1"/>
            </a:solidFill>
            <a:headEnd type="none" w="lg" len="sm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BF5E20F0-74CD-70C7-564B-5D16C54CB2C6}"/>
              </a:ext>
            </a:extLst>
          </p:cNvPr>
          <p:cNvCxnSpPr>
            <a:cxnSpLocks/>
          </p:cNvCxnSpPr>
          <p:nvPr/>
        </p:nvCxnSpPr>
        <p:spPr>
          <a:xfrm>
            <a:off x="9779489" y="2420471"/>
            <a:ext cx="0" cy="1067684"/>
          </a:xfrm>
          <a:prstGeom prst="straightConnector1">
            <a:avLst/>
          </a:prstGeom>
          <a:ln w="25400" cap="flat">
            <a:solidFill>
              <a:schemeClr val="tx1"/>
            </a:solidFill>
            <a:headEnd type="none" w="lg" len="sm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Straight Arrow Connector 23">
            <a:extLst>
              <a:ext uri="{FF2B5EF4-FFF2-40B4-BE49-F238E27FC236}">
                <a16:creationId xmlns:a16="http://schemas.microsoft.com/office/drawing/2014/main" id="{69B296A3-3CB4-8FC6-D8FF-070DF3EC026D}"/>
              </a:ext>
            </a:extLst>
          </p:cNvPr>
          <p:cNvCxnSpPr>
            <a:cxnSpLocks/>
          </p:cNvCxnSpPr>
          <p:nvPr/>
        </p:nvCxnSpPr>
        <p:spPr>
          <a:xfrm flipV="1">
            <a:off x="10208002" y="2921581"/>
            <a:ext cx="0" cy="566574"/>
          </a:xfrm>
          <a:prstGeom prst="straightConnector1">
            <a:avLst/>
          </a:prstGeom>
          <a:ln w="25400" cap="flat">
            <a:solidFill>
              <a:schemeClr val="tx1"/>
            </a:solidFill>
            <a:headEnd type="none" w="lg" len="sm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CD3579AE-B926-0496-EDA6-3574CCEFB08E}"/>
              </a:ext>
            </a:extLst>
          </p:cNvPr>
          <p:cNvCxnSpPr>
            <a:cxnSpLocks/>
          </p:cNvCxnSpPr>
          <p:nvPr/>
        </p:nvCxnSpPr>
        <p:spPr>
          <a:xfrm>
            <a:off x="10613207" y="2921581"/>
            <a:ext cx="0" cy="566574"/>
          </a:xfrm>
          <a:prstGeom prst="straightConnector1">
            <a:avLst/>
          </a:prstGeom>
          <a:ln w="25400" cap="flat">
            <a:solidFill>
              <a:schemeClr val="tx1"/>
            </a:solidFill>
            <a:headEnd type="none" w="lg" len="sm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Straight Arrow Connector 25">
            <a:extLst>
              <a:ext uri="{FF2B5EF4-FFF2-40B4-BE49-F238E27FC236}">
                <a16:creationId xmlns:a16="http://schemas.microsoft.com/office/drawing/2014/main" id="{2D60777C-B557-034B-8EC8-D970830C1786}"/>
              </a:ext>
            </a:extLst>
          </p:cNvPr>
          <p:cNvCxnSpPr>
            <a:cxnSpLocks/>
          </p:cNvCxnSpPr>
          <p:nvPr/>
        </p:nvCxnSpPr>
        <p:spPr>
          <a:xfrm flipV="1">
            <a:off x="1483765" y="3146300"/>
            <a:ext cx="0" cy="566574"/>
          </a:xfrm>
          <a:prstGeom prst="straightConnector1">
            <a:avLst/>
          </a:prstGeom>
          <a:ln w="25400" cap="flat">
            <a:solidFill>
              <a:schemeClr val="tx1"/>
            </a:solidFill>
            <a:headEnd type="none" w="lg" len="sm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BDFE5CEC-5798-A4E9-382F-875C7D1901A2}"/>
              </a:ext>
            </a:extLst>
          </p:cNvPr>
          <p:cNvCxnSpPr>
            <a:cxnSpLocks/>
          </p:cNvCxnSpPr>
          <p:nvPr/>
        </p:nvCxnSpPr>
        <p:spPr>
          <a:xfrm>
            <a:off x="1888970" y="3146300"/>
            <a:ext cx="0" cy="566574"/>
          </a:xfrm>
          <a:prstGeom prst="straightConnector1">
            <a:avLst/>
          </a:prstGeom>
          <a:ln w="25400" cap="flat">
            <a:solidFill>
              <a:schemeClr val="tx1"/>
            </a:solidFill>
            <a:headEnd type="none" w="lg" len="sm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Straight Arrow Connector 27">
            <a:extLst>
              <a:ext uri="{FF2B5EF4-FFF2-40B4-BE49-F238E27FC236}">
                <a16:creationId xmlns:a16="http://schemas.microsoft.com/office/drawing/2014/main" id="{1A93F39D-509C-D325-0B4B-B24B6B83E7A3}"/>
              </a:ext>
            </a:extLst>
          </p:cNvPr>
          <p:cNvCxnSpPr>
            <a:cxnSpLocks/>
          </p:cNvCxnSpPr>
          <p:nvPr/>
        </p:nvCxnSpPr>
        <p:spPr>
          <a:xfrm flipV="1">
            <a:off x="3303601" y="2756647"/>
            <a:ext cx="0" cy="956227"/>
          </a:xfrm>
          <a:prstGeom prst="straightConnector1">
            <a:avLst/>
          </a:prstGeom>
          <a:ln w="25400" cap="flat">
            <a:solidFill>
              <a:schemeClr val="tx1"/>
            </a:solidFill>
            <a:headEnd type="none" w="lg" len="sm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Straight Arrow Connector 28">
            <a:extLst>
              <a:ext uri="{FF2B5EF4-FFF2-40B4-BE49-F238E27FC236}">
                <a16:creationId xmlns:a16="http://schemas.microsoft.com/office/drawing/2014/main" id="{24784EC2-57FC-E2C1-0964-3FABCB0D6C8B}"/>
              </a:ext>
            </a:extLst>
          </p:cNvPr>
          <p:cNvCxnSpPr>
            <a:cxnSpLocks/>
          </p:cNvCxnSpPr>
          <p:nvPr/>
        </p:nvCxnSpPr>
        <p:spPr>
          <a:xfrm>
            <a:off x="3708806" y="2756647"/>
            <a:ext cx="0" cy="956227"/>
          </a:xfrm>
          <a:prstGeom prst="straightConnector1">
            <a:avLst/>
          </a:prstGeom>
          <a:ln w="25400" cap="flat">
            <a:solidFill>
              <a:schemeClr val="tx1"/>
            </a:solidFill>
            <a:headEnd type="none" w="lg" len="sm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Straight Arrow Connector 29">
            <a:extLst>
              <a:ext uri="{FF2B5EF4-FFF2-40B4-BE49-F238E27FC236}">
                <a16:creationId xmlns:a16="http://schemas.microsoft.com/office/drawing/2014/main" id="{6EC7C53D-E9D8-B198-7A81-B9DD51CED5DC}"/>
              </a:ext>
            </a:extLst>
          </p:cNvPr>
          <p:cNvCxnSpPr>
            <a:cxnSpLocks/>
          </p:cNvCxnSpPr>
          <p:nvPr/>
        </p:nvCxnSpPr>
        <p:spPr>
          <a:xfrm flipV="1">
            <a:off x="5159295" y="3146300"/>
            <a:ext cx="0" cy="566574"/>
          </a:xfrm>
          <a:prstGeom prst="straightConnector1">
            <a:avLst/>
          </a:prstGeom>
          <a:ln w="25400" cap="flat">
            <a:solidFill>
              <a:schemeClr val="tx1"/>
            </a:solidFill>
            <a:headEnd type="none" w="lg" len="sm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Straight Arrow Connector 30">
            <a:extLst>
              <a:ext uri="{FF2B5EF4-FFF2-40B4-BE49-F238E27FC236}">
                <a16:creationId xmlns:a16="http://schemas.microsoft.com/office/drawing/2014/main" id="{6F200F61-2BCF-8D9B-4A46-A10D8C5E637F}"/>
              </a:ext>
            </a:extLst>
          </p:cNvPr>
          <p:cNvCxnSpPr>
            <a:cxnSpLocks/>
          </p:cNvCxnSpPr>
          <p:nvPr/>
        </p:nvCxnSpPr>
        <p:spPr>
          <a:xfrm>
            <a:off x="5564500" y="3146300"/>
            <a:ext cx="0" cy="566574"/>
          </a:xfrm>
          <a:prstGeom prst="straightConnector1">
            <a:avLst/>
          </a:prstGeom>
          <a:ln w="25400" cap="flat">
            <a:solidFill>
              <a:schemeClr val="tx1"/>
            </a:solidFill>
            <a:headEnd type="none" w="lg" len="sm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Straight Arrow Connector 31">
            <a:extLst>
              <a:ext uri="{FF2B5EF4-FFF2-40B4-BE49-F238E27FC236}">
                <a16:creationId xmlns:a16="http://schemas.microsoft.com/office/drawing/2014/main" id="{78CD8AA0-595E-52CF-020C-44DAF8006F6A}"/>
              </a:ext>
            </a:extLst>
          </p:cNvPr>
          <p:cNvCxnSpPr>
            <a:cxnSpLocks/>
          </p:cNvCxnSpPr>
          <p:nvPr/>
        </p:nvCxnSpPr>
        <p:spPr>
          <a:xfrm flipH="1" flipV="1">
            <a:off x="400608" y="4569005"/>
            <a:ext cx="894229" cy="13444"/>
          </a:xfrm>
          <a:prstGeom prst="straightConnector1">
            <a:avLst/>
          </a:prstGeom>
          <a:ln w="25400" cap="flat">
            <a:solidFill>
              <a:schemeClr val="tx1"/>
            </a:solidFill>
            <a:headEnd type="none" w="lg" len="sm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Straight Arrow Connector 33">
            <a:extLst>
              <a:ext uri="{FF2B5EF4-FFF2-40B4-BE49-F238E27FC236}">
                <a16:creationId xmlns:a16="http://schemas.microsoft.com/office/drawing/2014/main" id="{9F6C6C67-20E4-0DAA-D7A9-440A12475DC1}"/>
              </a:ext>
            </a:extLst>
          </p:cNvPr>
          <p:cNvCxnSpPr>
            <a:cxnSpLocks/>
          </p:cNvCxnSpPr>
          <p:nvPr/>
        </p:nvCxnSpPr>
        <p:spPr>
          <a:xfrm flipH="1" flipV="1">
            <a:off x="2072408" y="4575727"/>
            <a:ext cx="894229" cy="13444"/>
          </a:xfrm>
          <a:prstGeom prst="straightConnector1">
            <a:avLst/>
          </a:prstGeom>
          <a:ln w="25400" cap="flat">
            <a:solidFill>
              <a:schemeClr val="tx1"/>
            </a:solidFill>
            <a:headEnd type="none" w="lg" len="sm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Straight Arrow Connector 37">
            <a:extLst>
              <a:ext uri="{FF2B5EF4-FFF2-40B4-BE49-F238E27FC236}">
                <a16:creationId xmlns:a16="http://schemas.microsoft.com/office/drawing/2014/main" id="{220ADE84-3968-5F17-FCB2-A1AD464E5C9B}"/>
              </a:ext>
            </a:extLst>
          </p:cNvPr>
          <p:cNvCxnSpPr>
            <a:cxnSpLocks/>
          </p:cNvCxnSpPr>
          <p:nvPr/>
        </p:nvCxnSpPr>
        <p:spPr>
          <a:xfrm flipH="1" flipV="1">
            <a:off x="4004081" y="4528060"/>
            <a:ext cx="894229" cy="13444"/>
          </a:xfrm>
          <a:prstGeom prst="straightConnector1">
            <a:avLst/>
          </a:prstGeom>
          <a:ln w="25400" cap="flat">
            <a:solidFill>
              <a:schemeClr val="tx1"/>
            </a:solidFill>
            <a:headEnd type="none" w="lg" len="sm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Straight Arrow Connector 38">
            <a:extLst>
              <a:ext uri="{FF2B5EF4-FFF2-40B4-BE49-F238E27FC236}">
                <a16:creationId xmlns:a16="http://schemas.microsoft.com/office/drawing/2014/main" id="{DF455D50-89EE-F508-AB9E-148CC6B07048}"/>
              </a:ext>
            </a:extLst>
          </p:cNvPr>
          <p:cNvCxnSpPr>
            <a:cxnSpLocks/>
          </p:cNvCxnSpPr>
          <p:nvPr/>
        </p:nvCxnSpPr>
        <p:spPr>
          <a:xfrm flipH="1" flipV="1">
            <a:off x="5816410" y="4534782"/>
            <a:ext cx="894229" cy="13444"/>
          </a:xfrm>
          <a:prstGeom prst="straightConnector1">
            <a:avLst/>
          </a:prstGeom>
          <a:ln w="25400" cap="flat">
            <a:solidFill>
              <a:schemeClr val="tx1"/>
            </a:solidFill>
            <a:headEnd type="none" w="lg" len="sm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Straight Arrow Connector 39">
            <a:extLst>
              <a:ext uri="{FF2B5EF4-FFF2-40B4-BE49-F238E27FC236}">
                <a16:creationId xmlns:a16="http://schemas.microsoft.com/office/drawing/2014/main" id="{51567B39-BDDC-7ACB-D7ED-550AE4563936}"/>
              </a:ext>
            </a:extLst>
          </p:cNvPr>
          <p:cNvCxnSpPr>
            <a:cxnSpLocks/>
          </p:cNvCxnSpPr>
          <p:nvPr/>
        </p:nvCxnSpPr>
        <p:spPr>
          <a:xfrm flipV="1">
            <a:off x="9525897" y="4387916"/>
            <a:ext cx="0" cy="913794"/>
          </a:xfrm>
          <a:prstGeom prst="straightConnector1">
            <a:avLst/>
          </a:prstGeom>
          <a:ln w="25400" cap="flat">
            <a:solidFill>
              <a:schemeClr val="tx1"/>
            </a:solidFill>
            <a:headEnd type="none" w="lg" len="sm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Straight Arrow Connector 40">
            <a:extLst>
              <a:ext uri="{FF2B5EF4-FFF2-40B4-BE49-F238E27FC236}">
                <a16:creationId xmlns:a16="http://schemas.microsoft.com/office/drawing/2014/main" id="{0D75E17A-0CFB-3D1E-E668-1677E91E2B82}"/>
              </a:ext>
            </a:extLst>
          </p:cNvPr>
          <p:cNvCxnSpPr>
            <a:cxnSpLocks/>
          </p:cNvCxnSpPr>
          <p:nvPr/>
        </p:nvCxnSpPr>
        <p:spPr>
          <a:xfrm>
            <a:off x="9931102" y="4528059"/>
            <a:ext cx="0" cy="773651"/>
          </a:xfrm>
          <a:prstGeom prst="straightConnector1">
            <a:avLst/>
          </a:prstGeom>
          <a:ln w="25400" cap="flat">
            <a:solidFill>
              <a:schemeClr val="tx1"/>
            </a:solidFill>
            <a:headEnd type="none" w="lg" len="sm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69" name="Group 68">
            <a:extLst>
              <a:ext uri="{FF2B5EF4-FFF2-40B4-BE49-F238E27FC236}">
                <a16:creationId xmlns:a16="http://schemas.microsoft.com/office/drawing/2014/main" id="{502593BC-7F65-CD25-4B5E-32F14BFD045B}"/>
              </a:ext>
            </a:extLst>
          </p:cNvPr>
          <p:cNvGrpSpPr/>
          <p:nvPr/>
        </p:nvGrpSpPr>
        <p:grpSpPr>
          <a:xfrm>
            <a:off x="1922480" y="790669"/>
            <a:ext cx="9268503" cy="1963286"/>
            <a:chOff x="1922480" y="790669"/>
            <a:chExt cx="9268503" cy="1963286"/>
          </a:xfrm>
        </p:grpSpPr>
        <p:sp>
          <p:nvSpPr>
            <p:cNvPr id="48" name="Trapezoid 47">
              <a:extLst>
                <a:ext uri="{FF2B5EF4-FFF2-40B4-BE49-F238E27FC236}">
                  <a16:creationId xmlns:a16="http://schemas.microsoft.com/office/drawing/2014/main" id="{EE4CF0D6-3BD4-65FB-BD8B-E2C4FECAAAA8}"/>
                </a:ext>
              </a:extLst>
            </p:cNvPr>
            <p:cNvSpPr/>
            <p:nvPr/>
          </p:nvSpPr>
          <p:spPr>
            <a:xfrm>
              <a:off x="1922480" y="1664743"/>
              <a:ext cx="3079377" cy="1089212"/>
            </a:xfrm>
            <a:prstGeom prst="trapezoid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S</a:t>
              </a:r>
            </a:p>
          </p:txBody>
        </p:sp>
        <p:cxnSp>
          <p:nvCxnSpPr>
            <p:cNvPr id="49" name="Straight Arrow Connector 48">
              <a:extLst>
                <a:ext uri="{FF2B5EF4-FFF2-40B4-BE49-F238E27FC236}">
                  <a16:creationId xmlns:a16="http://schemas.microsoft.com/office/drawing/2014/main" id="{4189B63C-D8A5-5905-1605-A01B42D25E8B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360405" y="1147476"/>
              <a:ext cx="0" cy="566574"/>
            </a:xfrm>
            <a:prstGeom prst="straightConnector1">
              <a:avLst/>
            </a:prstGeom>
            <a:ln w="25400" cap="flat">
              <a:solidFill>
                <a:schemeClr val="tx1"/>
              </a:solidFill>
              <a:headEnd type="none" w="lg" len="sm"/>
              <a:tailEnd type="arrow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0" name="Straight Arrow Connector 49">
              <a:extLst>
                <a:ext uri="{FF2B5EF4-FFF2-40B4-BE49-F238E27FC236}">
                  <a16:creationId xmlns:a16="http://schemas.microsoft.com/office/drawing/2014/main" id="{D08D8CBE-0253-B420-96F2-D6213E3BD779}"/>
                </a:ext>
              </a:extLst>
            </p:cNvPr>
            <p:cNvCxnSpPr>
              <a:cxnSpLocks/>
            </p:cNvCxnSpPr>
            <p:nvPr/>
          </p:nvCxnSpPr>
          <p:spPr>
            <a:xfrm>
              <a:off x="2765610" y="1147476"/>
              <a:ext cx="0" cy="566574"/>
            </a:xfrm>
            <a:prstGeom prst="straightConnector1">
              <a:avLst/>
            </a:prstGeom>
            <a:ln w="25400" cap="flat">
              <a:solidFill>
                <a:schemeClr val="tx1"/>
              </a:solidFill>
              <a:headEnd type="none" w="lg" len="sm"/>
              <a:tailEnd type="arrow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1" name="Straight Arrow Connector 50">
              <a:extLst>
                <a:ext uri="{FF2B5EF4-FFF2-40B4-BE49-F238E27FC236}">
                  <a16:creationId xmlns:a16="http://schemas.microsoft.com/office/drawing/2014/main" id="{7F1E0B68-4C3D-64B0-6304-AA478920ECC2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185158" y="1147476"/>
              <a:ext cx="0" cy="566574"/>
            </a:xfrm>
            <a:prstGeom prst="straightConnector1">
              <a:avLst/>
            </a:prstGeom>
            <a:ln w="25400" cap="flat">
              <a:solidFill>
                <a:schemeClr val="tx1"/>
              </a:solidFill>
              <a:headEnd type="none" w="lg" len="sm"/>
              <a:tailEnd type="arrow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2" name="Straight Arrow Connector 51">
              <a:extLst>
                <a:ext uri="{FF2B5EF4-FFF2-40B4-BE49-F238E27FC236}">
                  <a16:creationId xmlns:a16="http://schemas.microsoft.com/office/drawing/2014/main" id="{33292EDF-604E-6F87-630D-5740D976C8DD}"/>
                </a:ext>
              </a:extLst>
            </p:cNvPr>
            <p:cNvCxnSpPr>
              <a:cxnSpLocks/>
            </p:cNvCxnSpPr>
            <p:nvPr/>
          </p:nvCxnSpPr>
          <p:spPr>
            <a:xfrm>
              <a:off x="3590363" y="1147476"/>
              <a:ext cx="0" cy="566574"/>
            </a:xfrm>
            <a:prstGeom prst="straightConnector1">
              <a:avLst/>
            </a:prstGeom>
            <a:ln w="25400" cap="flat">
              <a:solidFill>
                <a:schemeClr val="tx1"/>
              </a:solidFill>
              <a:headEnd type="none" w="lg" len="sm"/>
              <a:tailEnd type="arrow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3" name="Straight Arrow Connector 52">
              <a:extLst>
                <a:ext uri="{FF2B5EF4-FFF2-40B4-BE49-F238E27FC236}">
                  <a16:creationId xmlns:a16="http://schemas.microsoft.com/office/drawing/2014/main" id="{43254AE6-AB9F-9A77-B20E-D77E3B25F8D4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018876" y="1147476"/>
              <a:ext cx="0" cy="566574"/>
            </a:xfrm>
            <a:prstGeom prst="straightConnector1">
              <a:avLst/>
            </a:prstGeom>
            <a:ln w="25400" cap="flat">
              <a:solidFill>
                <a:schemeClr val="tx1"/>
              </a:solidFill>
              <a:headEnd type="none" w="lg" len="sm"/>
              <a:tailEnd type="arrow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4" name="Straight Arrow Connector 53">
              <a:extLst>
                <a:ext uri="{FF2B5EF4-FFF2-40B4-BE49-F238E27FC236}">
                  <a16:creationId xmlns:a16="http://schemas.microsoft.com/office/drawing/2014/main" id="{FC7A5447-9DA3-BD7B-5855-2786D83E753D}"/>
                </a:ext>
              </a:extLst>
            </p:cNvPr>
            <p:cNvCxnSpPr>
              <a:cxnSpLocks/>
            </p:cNvCxnSpPr>
            <p:nvPr/>
          </p:nvCxnSpPr>
          <p:spPr>
            <a:xfrm>
              <a:off x="4424081" y="1147476"/>
              <a:ext cx="0" cy="566574"/>
            </a:xfrm>
            <a:prstGeom prst="straightConnector1">
              <a:avLst/>
            </a:prstGeom>
            <a:ln w="25400" cap="flat">
              <a:solidFill>
                <a:schemeClr val="tx1"/>
              </a:solidFill>
              <a:headEnd type="none" w="lg" len="sm"/>
              <a:tailEnd type="arrow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62" name="Trapezoid 61">
              <a:extLst>
                <a:ext uri="{FF2B5EF4-FFF2-40B4-BE49-F238E27FC236}">
                  <a16:creationId xmlns:a16="http://schemas.microsoft.com/office/drawing/2014/main" id="{2F12B288-8380-2C17-3471-CCC1CC9B3A78}"/>
                </a:ext>
              </a:extLst>
            </p:cNvPr>
            <p:cNvSpPr/>
            <p:nvPr/>
          </p:nvSpPr>
          <p:spPr>
            <a:xfrm>
              <a:off x="8111606" y="1307936"/>
              <a:ext cx="3079377" cy="1089212"/>
            </a:xfrm>
            <a:prstGeom prst="trapezoid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S</a:t>
              </a:r>
            </a:p>
          </p:txBody>
        </p:sp>
        <p:cxnSp>
          <p:nvCxnSpPr>
            <p:cNvPr id="63" name="Straight Arrow Connector 62">
              <a:extLst>
                <a:ext uri="{FF2B5EF4-FFF2-40B4-BE49-F238E27FC236}">
                  <a16:creationId xmlns:a16="http://schemas.microsoft.com/office/drawing/2014/main" id="{37B48C5D-1A29-5394-3002-3C5BCBFD33E3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8549531" y="790669"/>
              <a:ext cx="0" cy="566574"/>
            </a:xfrm>
            <a:prstGeom prst="straightConnector1">
              <a:avLst/>
            </a:prstGeom>
            <a:ln w="25400" cap="flat">
              <a:solidFill>
                <a:schemeClr val="tx1"/>
              </a:solidFill>
              <a:headEnd type="none" w="lg" len="sm"/>
              <a:tailEnd type="arrow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4" name="Straight Arrow Connector 63">
              <a:extLst>
                <a:ext uri="{FF2B5EF4-FFF2-40B4-BE49-F238E27FC236}">
                  <a16:creationId xmlns:a16="http://schemas.microsoft.com/office/drawing/2014/main" id="{B27AE6FB-8785-5800-84C6-499905A8BCA4}"/>
                </a:ext>
              </a:extLst>
            </p:cNvPr>
            <p:cNvCxnSpPr>
              <a:cxnSpLocks/>
            </p:cNvCxnSpPr>
            <p:nvPr/>
          </p:nvCxnSpPr>
          <p:spPr>
            <a:xfrm>
              <a:off x="8954736" y="790669"/>
              <a:ext cx="0" cy="566574"/>
            </a:xfrm>
            <a:prstGeom prst="straightConnector1">
              <a:avLst/>
            </a:prstGeom>
            <a:ln w="25400" cap="flat">
              <a:solidFill>
                <a:schemeClr val="tx1"/>
              </a:solidFill>
              <a:headEnd type="none" w="lg" len="sm"/>
              <a:tailEnd type="arrow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5" name="Straight Arrow Connector 64">
              <a:extLst>
                <a:ext uri="{FF2B5EF4-FFF2-40B4-BE49-F238E27FC236}">
                  <a16:creationId xmlns:a16="http://schemas.microsoft.com/office/drawing/2014/main" id="{87236628-58D9-701F-DE72-B2A7DE873496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9374284" y="790669"/>
              <a:ext cx="0" cy="566574"/>
            </a:xfrm>
            <a:prstGeom prst="straightConnector1">
              <a:avLst/>
            </a:prstGeom>
            <a:ln w="25400" cap="flat">
              <a:solidFill>
                <a:schemeClr val="tx1"/>
              </a:solidFill>
              <a:headEnd type="none" w="lg" len="sm"/>
              <a:tailEnd type="arrow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6" name="Straight Arrow Connector 65">
              <a:extLst>
                <a:ext uri="{FF2B5EF4-FFF2-40B4-BE49-F238E27FC236}">
                  <a16:creationId xmlns:a16="http://schemas.microsoft.com/office/drawing/2014/main" id="{3E98A420-1308-E057-07A1-165C47323687}"/>
                </a:ext>
              </a:extLst>
            </p:cNvPr>
            <p:cNvCxnSpPr>
              <a:cxnSpLocks/>
            </p:cNvCxnSpPr>
            <p:nvPr/>
          </p:nvCxnSpPr>
          <p:spPr>
            <a:xfrm>
              <a:off x="9779489" y="790669"/>
              <a:ext cx="0" cy="566574"/>
            </a:xfrm>
            <a:prstGeom prst="straightConnector1">
              <a:avLst/>
            </a:prstGeom>
            <a:ln w="25400" cap="flat">
              <a:solidFill>
                <a:schemeClr val="tx1"/>
              </a:solidFill>
              <a:headEnd type="none" w="lg" len="sm"/>
              <a:tailEnd type="arrow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7" name="Straight Arrow Connector 66">
              <a:extLst>
                <a:ext uri="{FF2B5EF4-FFF2-40B4-BE49-F238E27FC236}">
                  <a16:creationId xmlns:a16="http://schemas.microsoft.com/office/drawing/2014/main" id="{5AD08B89-A926-280C-6D96-A9B27ADF30D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0208002" y="790669"/>
              <a:ext cx="0" cy="566574"/>
            </a:xfrm>
            <a:prstGeom prst="straightConnector1">
              <a:avLst/>
            </a:prstGeom>
            <a:ln w="25400" cap="flat">
              <a:solidFill>
                <a:schemeClr val="tx1"/>
              </a:solidFill>
              <a:headEnd type="none" w="lg" len="sm"/>
              <a:tailEnd type="arrow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8" name="Straight Arrow Connector 67">
              <a:extLst>
                <a:ext uri="{FF2B5EF4-FFF2-40B4-BE49-F238E27FC236}">
                  <a16:creationId xmlns:a16="http://schemas.microsoft.com/office/drawing/2014/main" id="{307C09AB-FC1A-5549-DCF4-E54A5C9C96F5}"/>
                </a:ext>
              </a:extLst>
            </p:cNvPr>
            <p:cNvCxnSpPr>
              <a:cxnSpLocks/>
            </p:cNvCxnSpPr>
            <p:nvPr/>
          </p:nvCxnSpPr>
          <p:spPr>
            <a:xfrm>
              <a:off x="10613207" y="790669"/>
              <a:ext cx="0" cy="566574"/>
            </a:xfrm>
            <a:prstGeom prst="straightConnector1">
              <a:avLst/>
            </a:prstGeom>
            <a:ln w="25400" cap="flat">
              <a:solidFill>
                <a:schemeClr val="tx1"/>
              </a:solidFill>
              <a:headEnd type="none" w="lg" len="sm"/>
              <a:tailEnd type="arrow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73548975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33068BE1-5281-0C0B-C608-9D0C6C563023}"/>
              </a:ext>
            </a:extLst>
          </p:cNvPr>
          <p:cNvSpPr txBox="1"/>
          <p:nvPr/>
        </p:nvSpPr>
        <p:spPr>
          <a:xfrm>
            <a:off x="749674" y="2568388"/>
            <a:ext cx="16226977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en-US" sz="3200" dirty="0">
              <a:latin typeface="Christmas Chalk" panose="02000500000000000000" pitchFamily="2" charset="0"/>
            </a:endParaRPr>
          </a:p>
          <a:p>
            <a:r>
              <a:rPr lang="en-US" sz="3200" dirty="0">
                <a:latin typeface="Christmas Chalk" panose="02000500000000000000" pitchFamily="2" charset="0"/>
              </a:rPr>
              <a:t>From the transitivity property, we have: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66461A5-402C-2B3F-5BEB-3AF050150D1B}"/>
              </a:ext>
            </a:extLst>
          </p:cNvPr>
          <p:cNvSpPr txBox="1"/>
          <p:nvPr/>
        </p:nvSpPr>
        <p:spPr>
          <a:xfrm>
            <a:off x="3868270" y="3659053"/>
            <a:ext cx="7789208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3200" dirty="0">
                <a:latin typeface="Christmas Chalk" panose="02000500000000000000" pitchFamily="2" charset="0"/>
              </a:rPr>
              <a:t>IS0 cannot be told apart from IS2</a:t>
            </a:r>
            <a:endParaRPr lang="en-US" sz="3200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2C4F7563-D3FD-5AF4-966D-3F050EE02091}"/>
              </a:ext>
            </a:extLst>
          </p:cNvPr>
          <p:cNvSpPr txBox="1"/>
          <p:nvPr/>
        </p:nvSpPr>
        <p:spPr>
          <a:xfrm>
            <a:off x="763121" y="1584982"/>
            <a:ext cx="7420924" cy="107721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 lang="en-US" sz="3200" dirty="0">
              <a:latin typeface="Christmas Chalk" panose="02000500000000000000" pitchFamily="2" charset="0"/>
            </a:endParaRPr>
          </a:p>
          <a:p>
            <a:r>
              <a:rPr lang="en-US" sz="3200" dirty="0">
                <a:latin typeface="Christmas Chalk" panose="02000500000000000000" pitchFamily="2" charset="0"/>
              </a:rPr>
              <a:t>IS1 cannot be told apart from IS2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69F13A9F-118C-122A-5994-23776096D78A}"/>
              </a:ext>
            </a:extLst>
          </p:cNvPr>
          <p:cNvSpPr txBox="1"/>
          <p:nvPr/>
        </p:nvSpPr>
        <p:spPr>
          <a:xfrm>
            <a:off x="763121" y="1060085"/>
            <a:ext cx="7789208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3200" dirty="0">
                <a:latin typeface="Christmas Chalk" panose="02000500000000000000" pitchFamily="2" charset="0"/>
              </a:rPr>
              <a:t>IS0 cannot be told apart from IS1</a:t>
            </a:r>
          </a:p>
        </p:txBody>
      </p:sp>
    </p:spTree>
    <p:extLst>
      <p:ext uri="{BB962C8B-B14F-4D97-AF65-F5344CB8AC3E}">
        <p14:creationId xmlns:p14="http://schemas.microsoft.com/office/powerpoint/2010/main" val="3167234999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A696D1FE-B8EF-2B22-039C-6611A817CF65}"/>
              </a:ext>
            </a:extLst>
          </p:cNvPr>
          <p:cNvSpPr/>
          <p:nvPr/>
        </p:nvSpPr>
        <p:spPr>
          <a:xfrm>
            <a:off x="3529524" y="205286"/>
            <a:ext cx="1116107" cy="1105348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P1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0A59262F-8820-D3DC-8768-FC82E8CAD9EC}"/>
              </a:ext>
            </a:extLst>
          </p:cNvPr>
          <p:cNvSpPr/>
          <p:nvPr/>
        </p:nvSpPr>
        <p:spPr>
          <a:xfrm>
            <a:off x="5392390" y="205286"/>
            <a:ext cx="1116107" cy="1105348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AT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99743EC9-91A1-6197-FEC4-8959D901CE8F}"/>
              </a:ext>
            </a:extLst>
          </p:cNvPr>
          <p:cNvSpPr/>
          <p:nvPr/>
        </p:nvSpPr>
        <p:spPr>
          <a:xfrm>
            <a:off x="7255256" y="205286"/>
            <a:ext cx="1116107" cy="1105348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P2</a:t>
            </a:r>
          </a:p>
        </p:txBody>
      </p:sp>
      <p:cxnSp>
        <p:nvCxnSpPr>
          <p:cNvPr id="5" name="Straight Arrow Connector 4">
            <a:extLst>
              <a:ext uri="{FF2B5EF4-FFF2-40B4-BE49-F238E27FC236}">
                <a16:creationId xmlns:a16="http://schemas.microsoft.com/office/drawing/2014/main" id="{4DC51C3F-477E-074F-EEB3-1CFF040669FC}"/>
              </a:ext>
            </a:extLst>
          </p:cNvPr>
          <p:cNvCxnSpPr>
            <a:cxnSpLocks/>
          </p:cNvCxnSpPr>
          <p:nvPr/>
        </p:nvCxnSpPr>
        <p:spPr>
          <a:xfrm>
            <a:off x="4645631" y="599734"/>
            <a:ext cx="913227" cy="0"/>
          </a:xfrm>
          <a:prstGeom prst="straightConnector1">
            <a:avLst/>
          </a:prstGeom>
          <a:ln w="25400" cap="flat">
            <a:solidFill>
              <a:schemeClr val="tx1"/>
            </a:solidFill>
            <a:headEnd type="none" w="lg" len="sm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EA6EE4D6-B38B-8BF2-B32B-6E8D03D346E2}"/>
              </a:ext>
            </a:extLst>
          </p:cNvPr>
          <p:cNvCxnSpPr>
            <a:cxnSpLocks/>
          </p:cNvCxnSpPr>
          <p:nvPr/>
        </p:nvCxnSpPr>
        <p:spPr>
          <a:xfrm>
            <a:off x="6515669" y="577323"/>
            <a:ext cx="928741" cy="0"/>
          </a:xfrm>
          <a:prstGeom prst="straightConnector1">
            <a:avLst/>
          </a:prstGeom>
          <a:ln w="25400" cap="flat">
            <a:solidFill>
              <a:schemeClr val="tx1"/>
            </a:solidFill>
            <a:headEnd type="none" w="lg" len="sm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7E7E79F5-24F2-1DB3-44DB-445C38257C40}"/>
              </a:ext>
            </a:extLst>
          </p:cNvPr>
          <p:cNvCxnSpPr>
            <a:cxnSpLocks/>
          </p:cNvCxnSpPr>
          <p:nvPr/>
        </p:nvCxnSpPr>
        <p:spPr>
          <a:xfrm>
            <a:off x="8215376" y="536983"/>
            <a:ext cx="923364" cy="0"/>
          </a:xfrm>
          <a:prstGeom prst="straightConnector1">
            <a:avLst/>
          </a:prstGeom>
          <a:ln w="25400" cap="flat">
            <a:solidFill>
              <a:schemeClr val="tx1"/>
            </a:solidFill>
            <a:headEnd type="none" w="lg" len="sm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50B84B72-4AD6-7F6C-B8EF-F4430E96B54B}"/>
              </a:ext>
            </a:extLst>
          </p:cNvPr>
          <p:cNvCxnSpPr>
            <a:cxnSpLocks/>
          </p:cNvCxnSpPr>
          <p:nvPr/>
        </p:nvCxnSpPr>
        <p:spPr>
          <a:xfrm>
            <a:off x="2899305" y="536983"/>
            <a:ext cx="894229" cy="0"/>
          </a:xfrm>
          <a:prstGeom prst="straightConnector1">
            <a:avLst/>
          </a:prstGeom>
          <a:ln w="25400" cap="flat">
            <a:solidFill>
              <a:schemeClr val="tx1"/>
            </a:solidFill>
            <a:headEnd type="none" w="lg" len="sm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4B3864F0-85EF-74CB-753E-41E9F46EE846}"/>
              </a:ext>
            </a:extLst>
          </p:cNvPr>
          <p:cNvCxnSpPr>
            <a:cxnSpLocks/>
          </p:cNvCxnSpPr>
          <p:nvPr/>
        </p:nvCxnSpPr>
        <p:spPr>
          <a:xfrm flipH="1" flipV="1">
            <a:off x="2828709" y="1061417"/>
            <a:ext cx="894229" cy="13444"/>
          </a:xfrm>
          <a:prstGeom prst="straightConnector1">
            <a:avLst/>
          </a:prstGeom>
          <a:ln w="25400" cap="flat">
            <a:solidFill>
              <a:schemeClr val="tx1"/>
            </a:solidFill>
            <a:headEnd type="none" w="lg" len="sm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7754C93D-27A7-1C3D-4311-6C6455DBAD31}"/>
              </a:ext>
            </a:extLst>
          </p:cNvPr>
          <p:cNvCxnSpPr>
            <a:cxnSpLocks/>
          </p:cNvCxnSpPr>
          <p:nvPr/>
        </p:nvCxnSpPr>
        <p:spPr>
          <a:xfrm flipH="1">
            <a:off x="4483820" y="1000904"/>
            <a:ext cx="908570" cy="0"/>
          </a:xfrm>
          <a:prstGeom prst="straightConnector1">
            <a:avLst/>
          </a:prstGeom>
          <a:ln w="25400" cap="flat">
            <a:solidFill>
              <a:schemeClr val="tx1"/>
            </a:solidFill>
            <a:headEnd type="none" w="lg" len="sm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EBFB2548-C3E6-1521-B0C9-2B717147FA65}"/>
              </a:ext>
            </a:extLst>
          </p:cNvPr>
          <p:cNvCxnSpPr>
            <a:cxnSpLocks/>
          </p:cNvCxnSpPr>
          <p:nvPr/>
        </p:nvCxnSpPr>
        <p:spPr>
          <a:xfrm flipH="1">
            <a:off x="6419296" y="972442"/>
            <a:ext cx="835960" cy="0"/>
          </a:xfrm>
          <a:prstGeom prst="straightConnector1">
            <a:avLst/>
          </a:prstGeom>
          <a:ln w="25400" cap="flat">
            <a:solidFill>
              <a:schemeClr val="tx1"/>
            </a:solidFill>
            <a:headEnd type="none" w="lg" len="sm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5BB58453-C9CE-8032-A033-738A02396DB5}"/>
              </a:ext>
            </a:extLst>
          </p:cNvPr>
          <p:cNvCxnSpPr>
            <a:cxnSpLocks/>
          </p:cNvCxnSpPr>
          <p:nvPr/>
        </p:nvCxnSpPr>
        <p:spPr>
          <a:xfrm flipH="1">
            <a:off x="8215376" y="932103"/>
            <a:ext cx="923366" cy="0"/>
          </a:xfrm>
          <a:prstGeom prst="straightConnector1">
            <a:avLst/>
          </a:prstGeom>
          <a:ln w="25400" cap="flat">
            <a:solidFill>
              <a:schemeClr val="tx1"/>
            </a:solidFill>
            <a:headEnd type="none" w="lg" len="sm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13" name="Group 12">
            <a:extLst>
              <a:ext uri="{FF2B5EF4-FFF2-40B4-BE49-F238E27FC236}">
                <a16:creationId xmlns:a16="http://schemas.microsoft.com/office/drawing/2014/main" id="{31CF6C9E-5762-252A-05B5-9248A593D936}"/>
              </a:ext>
            </a:extLst>
          </p:cNvPr>
          <p:cNvGrpSpPr/>
          <p:nvPr/>
        </p:nvGrpSpPr>
        <p:grpSpPr>
          <a:xfrm>
            <a:off x="780942" y="205286"/>
            <a:ext cx="10397271" cy="1105348"/>
            <a:chOff x="577322" y="1118345"/>
            <a:chExt cx="10397271" cy="1105348"/>
          </a:xfrm>
        </p:grpSpPr>
        <p:sp>
          <p:nvSpPr>
            <p:cNvPr id="14" name="Rectangle 13">
              <a:extLst>
                <a:ext uri="{FF2B5EF4-FFF2-40B4-BE49-F238E27FC236}">
                  <a16:creationId xmlns:a16="http://schemas.microsoft.com/office/drawing/2014/main" id="{ABF51F85-FEE8-A428-EB5C-E4F3BF9486C2}"/>
                </a:ext>
              </a:extLst>
            </p:cNvPr>
            <p:cNvSpPr/>
            <p:nvPr/>
          </p:nvSpPr>
          <p:spPr>
            <a:xfrm>
              <a:off x="8935120" y="1118345"/>
              <a:ext cx="1116107" cy="1105348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Q2</a:t>
              </a:r>
            </a:p>
          </p:txBody>
        </p:sp>
        <p:cxnSp>
          <p:nvCxnSpPr>
            <p:cNvPr id="15" name="Straight Arrow Connector 14">
              <a:extLst>
                <a:ext uri="{FF2B5EF4-FFF2-40B4-BE49-F238E27FC236}">
                  <a16:creationId xmlns:a16="http://schemas.microsoft.com/office/drawing/2014/main" id="{3AD06581-9C37-8996-1951-6F6239F2CCEB}"/>
                </a:ext>
              </a:extLst>
            </p:cNvPr>
            <p:cNvCxnSpPr>
              <a:cxnSpLocks/>
            </p:cNvCxnSpPr>
            <p:nvPr/>
          </p:nvCxnSpPr>
          <p:spPr>
            <a:xfrm>
              <a:off x="10051227" y="1490381"/>
              <a:ext cx="923364" cy="0"/>
            </a:xfrm>
            <a:prstGeom prst="straightConnector1">
              <a:avLst/>
            </a:prstGeom>
            <a:ln w="25400" cap="flat">
              <a:solidFill>
                <a:schemeClr val="tx1"/>
              </a:solidFill>
              <a:headEnd type="none" w="lg" len="sm"/>
              <a:tailEnd type="arrow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Straight Arrow Connector 15">
              <a:extLst>
                <a:ext uri="{FF2B5EF4-FFF2-40B4-BE49-F238E27FC236}">
                  <a16:creationId xmlns:a16="http://schemas.microsoft.com/office/drawing/2014/main" id="{29826909-77AC-D47F-BB50-5859FB7ABD4F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0051227" y="1885501"/>
              <a:ext cx="923366" cy="0"/>
            </a:xfrm>
            <a:prstGeom prst="straightConnector1">
              <a:avLst/>
            </a:prstGeom>
            <a:ln w="25400" cap="flat">
              <a:solidFill>
                <a:schemeClr val="tx1"/>
              </a:solidFill>
              <a:headEnd type="none" w="lg" len="sm"/>
              <a:tailEnd type="arrow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Straight Arrow Connector 16">
              <a:extLst>
                <a:ext uri="{FF2B5EF4-FFF2-40B4-BE49-F238E27FC236}">
                  <a16:creationId xmlns:a16="http://schemas.microsoft.com/office/drawing/2014/main" id="{5390FF81-6FB8-0984-F89A-CA653BDF56F6}"/>
                </a:ext>
              </a:extLst>
            </p:cNvPr>
            <p:cNvCxnSpPr>
              <a:cxnSpLocks/>
            </p:cNvCxnSpPr>
            <p:nvPr/>
          </p:nvCxnSpPr>
          <p:spPr>
            <a:xfrm>
              <a:off x="577322" y="1450042"/>
              <a:ext cx="923364" cy="0"/>
            </a:xfrm>
            <a:prstGeom prst="straightConnector1">
              <a:avLst/>
            </a:prstGeom>
            <a:ln w="25400" cap="flat">
              <a:solidFill>
                <a:schemeClr val="tx1"/>
              </a:solidFill>
              <a:headEnd type="none" w="lg" len="sm"/>
              <a:tailEnd type="arrow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" name="Straight Arrow Connector 17">
              <a:extLst>
                <a:ext uri="{FF2B5EF4-FFF2-40B4-BE49-F238E27FC236}">
                  <a16:creationId xmlns:a16="http://schemas.microsoft.com/office/drawing/2014/main" id="{F95FE706-D399-731A-4C8D-273366E13C12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577322" y="1845162"/>
              <a:ext cx="923366" cy="0"/>
            </a:xfrm>
            <a:prstGeom prst="straightConnector1">
              <a:avLst/>
            </a:prstGeom>
            <a:ln w="25400" cap="flat">
              <a:solidFill>
                <a:schemeClr val="tx1"/>
              </a:solidFill>
              <a:headEnd type="none" w="lg" len="sm"/>
              <a:tailEnd type="arrow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9" name="Rectangle 18">
              <a:extLst>
                <a:ext uri="{FF2B5EF4-FFF2-40B4-BE49-F238E27FC236}">
                  <a16:creationId xmlns:a16="http://schemas.microsoft.com/office/drawing/2014/main" id="{C26B2D99-28C7-1FD1-CCE4-B0CBF9483C14}"/>
                </a:ext>
              </a:extLst>
            </p:cNvPr>
            <p:cNvSpPr/>
            <p:nvPr/>
          </p:nvSpPr>
          <p:spPr>
            <a:xfrm>
              <a:off x="1500686" y="1118345"/>
              <a:ext cx="1116107" cy="1105348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Q1</a:t>
              </a:r>
            </a:p>
          </p:txBody>
        </p:sp>
      </p:grpSp>
      <p:sp>
        <p:nvSpPr>
          <p:cNvPr id="20" name="Rectangle 19">
            <a:extLst>
              <a:ext uri="{FF2B5EF4-FFF2-40B4-BE49-F238E27FC236}">
                <a16:creationId xmlns:a16="http://schemas.microsoft.com/office/drawing/2014/main" id="{BD1C5ABF-2ACA-D2FF-C68B-68375E231A98}"/>
              </a:ext>
            </a:extLst>
          </p:cNvPr>
          <p:cNvSpPr/>
          <p:nvPr/>
        </p:nvSpPr>
        <p:spPr>
          <a:xfrm>
            <a:off x="5537946" y="5583723"/>
            <a:ext cx="1116107" cy="1105348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N</a:t>
            </a:r>
          </a:p>
        </p:txBody>
      </p:sp>
      <p:sp>
        <p:nvSpPr>
          <p:cNvPr id="21" name="Trapezoid 20">
            <a:extLst>
              <a:ext uri="{FF2B5EF4-FFF2-40B4-BE49-F238E27FC236}">
                <a16:creationId xmlns:a16="http://schemas.microsoft.com/office/drawing/2014/main" id="{3A690520-A54D-9099-9E24-D057C6363687}"/>
              </a:ext>
            </a:extLst>
          </p:cNvPr>
          <p:cNvSpPr/>
          <p:nvPr/>
        </p:nvSpPr>
        <p:spPr>
          <a:xfrm>
            <a:off x="4461284" y="3720861"/>
            <a:ext cx="3079377" cy="1089212"/>
          </a:xfrm>
          <a:prstGeom prst="trapezoid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T</a:t>
            </a:r>
          </a:p>
        </p:txBody>
      </p: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0ABED6E5-ACDF-99F7-A574-8486BE0CEA4B}"/>
              </a:ext>
            </a:extLst>
          </p:cNvPr>
          <p:cNvCxnSpPr>
            <a:cxnSpLocks/>
          </p:cNvCxnSpPr>
          <p:nvPr/>
        </p:nvCxnSpPr>
        <p:spPr>
          <a:xfrm>
            <a:off x="4640131" y="5867601"/>
            <a:ext cx="1012563" cy="0"/>
          </a:xfrm>
          <a:prstGeom prst="straightConnector1">
            <a:avLst/>
          </a:prstGeom>
          <a:ln w="25400" cap="flat">
            <a:solidFill>
              <a:schemeClr val="tx1"/>
            </a:solidFill>
            <a:headEnd type="none" w="lg" len="sm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DF7B9CF4-BFD0-3C0D-4B2C-BA0172ED5C36}"/>
              </a:ext>
            </a:extLst>
          </p:cNvPr>
          <p:cNvCxnSpPr>
            <a:cxnSpLocks/>
          </p:cNvCxnSpPr>
          <p:nvPr/>
        </p:nvCxnSpPr>
        <p:spPr>
          <a:xfrm>
            <a:off x="6669185" y="5915420"/>
            <a:ext cx="871476" cy="0"/>
          </a:xfrm>
          <a:prstGeom prst="straightConnector1">
            <a:avLst/>
          </a:prstGeom>
          <a:ln w="25400" cap="flat">
            <a:solidFill>
              <a:schemeClr val="tx1"/>
            </a:solidFill>
            <a:headEnd type="none" w="lg" len="sm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Straight Arrow Connector 23">
            <a:extLst>
              <a:ext uri="{FF2B5EF4-FFF2-40B4-BE49-F238E27FC236}">
                <a16:creationId xmlns:a16="http://schemas.microsoft.com/office/drawing/2014/main" id="{0E5C6211-E4F4-18F4-CAB6-ED3BCAD0C0CC}"/>
              </a:ext>
            </a:extLst>
          </p:cNvPr>
          <p:cNvCxnSpPr>
            <a:cxnSpLocks/>
          </p:cNvCxnSpPr>
          <p:nvPr/>
        </p:nvCxnSpPr>
        <p:spPr>
          <a:xfrm flipH="1">
            <a:off x="4640131" y="6439854"/>
            <a:ext cx="1023768" cy="0"/>
          </a:xfrm>
          <a:prstGeom prst="straightConnector1">
            <a:avLst/>
          </a:prstGeom>
          <a:ln w="25400" cap="flat">
            <a:solidFill>
              <a:schemeClr val="tx1"/>
            </a:solidFill>
            <a:headEnd type="none" w="lg" len="sm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9DB9ECE0-F8EA-295F-35BC-3F0E8630584C}"/>
              </a:ext>
            </a:extLst>
          </p:cNvPr>
          <p:cNvCxnSpPr>
            <a:cxnSpLocks/>
          </p:cNvCxnSpPr>
          <p:nvPr/>
        </p:nvCxnSpPr>
        <p:spPr>
          <a:xfrm flipH="1">
            <a:off x="6516893" y="6439854"/>
            <a:ext cx="1023768" cy="0"/>
          </a:xfrm>
          <a:prstGeom prst="straightConnector1">
            <a:avLst/>
          </a:prstGeom>
          <a:ln w="25400" cap="flat">
            <a:solidFill>
              <a:schemeClr val="tx1"/>
            </a:solidFill>
            <a:headEnd type="none" w="lg" len="sm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Straight Arrow Connector 25">
            <a:extLst>
              <a:ext uri="{FF2B5EF4-FFF2-40B4-BE49-F238E27FC236}">
                <a16:creationId xmlns:a16="http://schemas.microsoft.com/office/drawing/2014/main" id="{D319AA79-856C-BA72-DB42-11AC0DC8F324}"/>
              </a:ext>
            </a:extLst>
          </p:cNvPr>
          <p:cNvCxnSpPr>
            <a:cxnSpLocks/>
          </p:cNvCxnSpPr>
          <p:nvPr/>
        </p:nvCxnSpPr>
        <p:spPr>
          <a:xfrm flipV="1">
            <a:off x="4899209" y="3203594"/>
            <a:ext cx="0" cy="566574"/>
          </a:xfrm>
          <a:prstGeom prst="straightConnector1">
            <a:avLst/>
          </a:prstGeom>
          <a:ln w="25400" cap="flat">
            <a:solidFill>
              <a:schemeClr val="tx1"/>
            </a:solidFill>
            <a:headEnd type="none" w="lg" len="sm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852AC88F-4D53-DC34-8202-5C3E15DDE923}"/>
              </a:ext>
            </a:extLst>
          </p:cNvPr>
          <p:cNvCxnSpPr>
            <a:cxnSpLocks/>
          </p:cNvCxnSpPr>
          <p:nvPr/>
        </p:nvCxnSpPr>
        <p:spPr>
          <a:xfrm>
            <a:off x="5304414" y="3203594"/>
            <a:ext cx="0" cy="566574"/>
          </a:xfrm>
          <a:prstGeom prst="straightConnector1">
            <a:avLst/>
          </a:prstGeom>
          <a:ln w="25400" cap="flat">
            <a:solidFill>
              <a:schemeClr val="tx1"/>
            </a:solidFill>
            <a:headEnd type="none" w="lg" len="sm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Straight Arrow Connector 27">
            <a:extLst>
              <a:ext uri="{FF2B5EF4-FFF2-40B4-BE49-F238E27FC236}">
                <a16:creationId xmlns:a16="http://schemas.microsoft.com/office/drawing/2014/main" id="{67081F89-96DF-3D04-3BCB-88CEA7BAF40F}"/>
              </a:ext>
            </a:extLst>
          </p:cNvPr>
          <p:cNvCxnSpPr>
            <a:cxnSpLocks/>
          </p:cNvCxnSpPr>
          <p:nvPr/>
        </p:nvCxnSpPr>
        <p:spPr>
          <a:xfrm flipV="1">
            <a:off x="5723962" y="2869667"/>
            <a:ext cx="0" cy="900501"/>
          </a:xfrm>
          <a:prstGeom prst="straightConnector1">
            <a:avLst/>
          </a:prstGeom>
          <a:ln w="25400" cap="flat">
            <a:solidFill>
              <a:schemeClr val="tx1"/>
            </a:solidFill>
            <a:headEnd type="none" w="lg" len="sm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Straight Arrow Connector 28">
            <a:extLst>
              <a:ext uri="{FF2B5EF4-FFF2-40B4-BE49-F238E27FC236}">
                <a16:creationId xmlns:a16="http://schemas.microsoft.com/office/drawing/2014/main" id="{EFB31DE4-EE19-9217-B6FF-4F18FD8902C6}"/>
              </a:ext>
            </a:extLst>
          </p:cNvPr>
          <p:cNvCxnSpPr>
            <a:cxnSpLocks/>
          </p:cNvCxnSpPr>
          <p:nvPr/>
        </p:nvCxnSpPr>
        <p:spPr>
          <a:xfrm>
            <a:off x="6129167" y="2869667"/>
            <a:ext cx="0" cy="900501"/>
          </a:xfrm>
          <a:prstGeom prst="straightConnector1">
            <a:avLst/>
          </a:prstGeom>
          <a:ln w="25400" cap="flat">
            <a:solidFill>
              <a:schemeClr val="tx1"/>
            </a:solidFill>
            <a:headEnd type="none" w="lg" len="sm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Straight Arrow Connector 29">
            <a:extLst>
              <a:ext uri="{FF2B5EF4-FFF2-40B4-BE49-F238E27FC236}">
                <a16:creationId xmlns:a16="http://schemas.microsoft.com/office/drawing/2014/main" id="{106616B9-FE81-EE2C-1D77-AD2CF0134BCB}"/>
              </a:ext>
            </a:extLst>
          </p:cNvPr>
          <p:cNvCxnSpPr>
            <a:cxnSpLocks/>
          </p:cNvCxnSpPr>
          <p:nvPr/>
        </p:nvCxnSpPr>
        <p:spPr>
          <a:xfrm flipV="1">
            <a:off x="6557680" y="3203594"/>
            <a:ext cx="0" cy="566574"/>
          </a:xfrm>
          <a:prstGeom prst="straightConnector1">
            <a:avLst/>
          </a:prstGeom>
          <a:ln w="25400" cap="flat">
            <a:solidFill>
              <a:schemeClr val="tx1"/>
            </a:solidFill>
            <a:headEnd type="none" w="lg" len="sm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Straight Arrow Connector 30">
            <a:extLst>
              <a:ext uri="{FF2B5EF4-FFF2-40B4-BE49-F238E27FC236}">
                <a16:creationId xmlns:a16="http://schemas.microsoft.com/office/drawing/2014/main" id="{782C2613-49C5-6877-C6ED-7C715701E6E8}"/>
              </a:ext>
            </a:extLst>
          </p:cNvPr>
          <p:cNvCxnSpPr>
            <a:cxnSpLocks/>
          </p:cNvCxnSpPr>
          <p:nvPr/>
        </p:nvCxnSpPr>
        <p:spPr>
          <a:xfrm>
            <a:off x="6962885" y="3203594"/>
            <a:ext cx="0" cy="566574"/>
          </a:xfrm>
          <a:prstGeom prst="straightConnector1">
            <a:avLst/>
          </a:prstGeom>
          <a:ln w="25400" cap="flat">
            <a:solidFill>
              <a:schemeClr val="tx1"/>
            </a:solidFill>
            <a:headEnd type="none" w="lg" len="sm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Straight Arrow Connector 31">
            <a:extLst>
              <a:ext uri="{FF2B5EF4-FFF2-40B4-BE49-F238E27FC236}">
                <a16:creationId xmlns:a16="http://schemas.microsoft.com/office/drawing/2014/main" id="{EFCACF21-5D2A-E770-97AC-9F10C1C8B3FF}"/>
              </a:ext>
            </a:extLst>
          </p:cNvPr>
          <p:cNvCxnSpPr>
            <a:cxnSpLocks/>
          </p:cNvCxnSpPr>
          <p:nvPr/>
        </p:nvCxnSpPr>
        <p:spPr>
          <a:xfrm flipV="1">
            <a:off x="5875575" y="4669929"/>
            <a:ext cx="0" cy="913794"/>
          </a:xfrm>
          <a:prstGeom prst="straightConnector1">
            <a:avLst/>
          </a:prstGeom>
          <a:ln w="25400" cap="flat">
            <a:solidFill>
              <a:schemeClr val="tx1"/>
            </a:solidFill>
            <a:headEnd type="none" w="lg" len="sm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Straight Arrow Connector 32">
            <a:extLst>
              <a:ext uri="{FF2B5EF4-FFF2-40B4-BE49-F238E27FC236}">
                <a16:creationId xmlns:a16="http://schemas.microsoft.com/office/drawing/2014/main" id="{1C9E26D5-D9A1-2D2F-AF43-D3E708E24048}"/>
              </a:ext>
            </a:extLst>
          </p:cNvPr>
          <p:cNvCxnSpPr>
            <a:cxnSpLocks/>
          </p:cNvCxnSpPr>
          <p:nvPr/>
        </p:nvCxnSpPr>
        <p:spPr>
          <a:xfrm>
            <a:off x="6280780" y="4810072"/>
            <a:ext cx="0" cy="773651"/>
          </a:xfrm>
          <a:prstGeom prst="straightConnector1">
            <a:avLst/>
          </a:prstGeom>
          <a:ln w="25400" cap="flat">
            <a:solidFill>
              <a:schemeClr val="tx1"/>
            </a:solidFill>
            <a:headEnd type="none" w="lg" len="sm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49" name="Group 48">
            <a:extLst>
              <a:ext uri="{FF2B5EF4-FFF2-40B4-BE49-F238E27FC236}">
                <a16:creationId xmlns:a16="http://schemas.microsoft.com/office/drawing/2014/main" id="{9804F07E-3B09-276D-BDC7-649380F6EEF2}"/>
              </a:ext>
            </a:extLst>
          </p:cNvPr>
          <p:cNvGrpSpPr/>
          <p:nvPr/>
        </p:nvGrpSpPr>
        <p:grpSpPr>
          <a:xfrm>
            <a:off x="4532107" y="1711803"/>
            <a:ext cx="2968886" cy="1160841"/>
            <a:chOff x="8138500" y="1242050"/>
            <a:chExt cx="3079377" cy="1606479"/>
          </a:xfrm>
        </p:grpSpPr>
        <p:sp>
          <p:nvSpPr>
            <p:cNvPr id="42" name="Trapezoid 41">
              <a:extLst>
                <a:ext uri="{FF2B5EF4-FFF2-40B4-BE49-F238E27FC236}">
                  <a16:creationId xmlns:a16="http://schemas.microsoft.com/office/drawing/2014/main" id="{B62E7C18-09C9-1ACB-2147-C2C5011AA195}"/>
                </a:ext>
              </a:extLst>
            </p:cNvPr>
            <p:cNvSpPr/>
            <p:nvPr/>
          </p:nvSpPr>
          <p:spPr>
            <a:xfrm>
              <a:off x="8138500" y="1759317"/>
              <a:ext cx="3079377" cy="1089212"/>
            </a:xfrm>
            <a:prstGeom prst="trapezoid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S</a:t>
              </a:r>
            </a:p>
          </p:txBody>
        </p:sp>
        <p:cxnSp>
          <p:nvCxnSpPr>
            <p:cNvPr id="43" name="Straight Arrow Connector 42">
              <a:extLst>
                <a:ext uri="{FF2B5EF4-FFF2-40B4-BE49-F238E27FC236}">
                  <a16:creationId xmlns:a16="http://schemas.microsoft.com/office/drawing/2014/main" id="{A25F548D-AF54-8C70-F95F-F53289B50E19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8576425" y="1242050"/>
              <a:ext cx="0" cy="566574"/>
            </a:xfrm>
            <a:prstGeom prst="straightConnector1">
              <a:avLst/>
            </a:prstGeom>
            <a:ln w="25400" cap="flat">
              <a:solidFill>
                <a:schemeClr val="tx1"/>
              </a:solidFill>
              <a:headEnd type="none" w="lg" len="sm"/>
              <a:tailEnd type="arrow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4" name="Straight Arrow Connector 43">
              <a:extLst>
                <a:ext uri="{FF2B5EF4-FFF2-40B4-BE49-F238E27FC236}">
                  <a16:creationId xmlns:a16="http://schemas.microsoft.com/office/drawing/2014/main" id="{44191DAE-14DF-BB6F-C912-8C0534C94E2A}"/>
                </a:ext>
              </a:extLst>
            </p:cNvPr>
            <p:cNvCxnSpPr>
              <a:cxnSpLocks/>
            </p:cNvCxnSpPr>
            <p:nvPr/>
          </p:nvCxnSpPr>
          <p:spPr>
            <a:xfrm>
              <a:off x="8981630" y="1242050"/>
              <a:ext cx="0" cy="566574"/>
            </a:xfrm>
            <a:prstGeom prst="straightConnector1">
              <a:avLst/>
            </a:prstGeom>
            <a:ln w="25400" cap="flat">
              <a:solidFill>
                <a:schemeClr val="tx1"/>
              </a:solidFill>
              <a:headEnd type="none" w="lg" len="sm"/>
              <a:tailEnd type="arrow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5" name="Straight Arrow Connector 44">
              <a:extLst>
                <a:ext uri="{FF2B5EF4-FFF2-40B4-BE49-F238E27FC236}">
                  <a16:creationId xmlns:a16="http://schemas.microsoft.com/office/drawing/2014/main" id="{B2D256F5-533D-7BD7-8F25-DBF33092A35B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9401178" y="1242050"/>
              <a:ext cx="0" cy="566574"/>
            </a:xfrm>
            <a:prstGeom prst="straightConnector1">
              <a:avLst/>
            </a:prstGeom>
            <a:ln w="25400" cap="flat">
              <a:solidFill>
                <a:schemeClr val="tx1"/>
              </a:solidFill>
              <a:headEnd type="none" w="lg" len="sm"/>
              <a:tailEnd type="arrow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6" name="Straight Arrow Connector 45">
              <a:extLst>
                <a:ext uri="{FF2B5EF4-FFF2-40B4-BE49-F238E27FC236}">
                  <a16:creationId xmlns:a16="http://schemas.microsoft.com/office/drawing/2014/main" id="{5522C49D-A6B7-CC43-2882-C7B84096EE44}"/>
                </a:ext>
              </a:extLst>
            </p:cNvPr>
            <p:cNvCxnSpPr>
              <a:cxnSpLocks/>
            </p:cNvCxnSpPr>
            <p:nvPr/>
          </p:nvCxnSpPr>
          <p:spPr>
            <a:xfrm>
              <a:off x="9806383" y="1242050"/>
              <a:ext cx="0" cy="566574"/>
            </a:xfrm>
            <a:prstGeom prst="straightConnector1">
              <a:avLst/>
            </a:prstGeom>
            <a:ln w="25400" cap="flat">
              <a:solidFill>
                <a:schemeClr val="tx1"/>
              </a:solidFill>
              <a:headEnd type="none" w="lg" len="sm"/>
              <a:tailEnd type="arrow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7" name="Straight Arrow Connector 46">
              <a:extLst>
                <a:ext uri="{FF2B5EF4-FFF2-40B4-BE49-F238E27FC236}">
                  <a16:creationId xmlns:a16="http://schemas.microsoft.com/office/drawing/2014/main" id="{BDC951B0-CBB2-7F16-9C94-0DD18814E3F3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0234896" y="1242050"/>
              <a:ext cx="0" cy="566574"/>
            </a:xfrm>
            <a:prstGeom prst="straightConnector1">
              <a:avLst/>
            </a:prstGeom>
            <a:ln w="25400" cap="flat">
              <a:solidFill>
                <a:schemeClr val="tx1"/>
              </a:solidFill>
              <a:headEnd type="none" w="lg" len="sm"/>
              <a:tailEnd type="arrow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8" name="Straight Arrow Connector 47">
              <a:extLst>
                <a:ext uri="{FF2B5EF4-FFF2-40B4-BE49-F238E27FC236}">
                  <a16:creationId xmlns:a16="http://schemas.microsoft.com/office/drawing/2014/main" id="{88835B69-42BA-FEFF-3B62-A3BBA251C73D}"/>
                </a:ext>
              </a:extLst>
            </p:cNvPr>
            <p:cNvCxnSpPr>
              <a:cxnSpLocks/>
            </p:cNvCxnSpPr>
            <p:nvPr/>
          </p:nvCxnSpPr>
          <p:spPr>
            <a:xfrm>
              <a:off x="10640101" y="1242050"/>
              <a:ext cx="0" cy="566574"/>
            </a:xfrm>
            <a:prstGeom prst="straightConnector1">
              <a:avLst/>
            </a:prstGeom>
            <a:ln w="25400" cap="flat">
              <a:solidFill>
                <a:schemeClr val="tx1"/>
              </a:solidFill>
              <a:headEnd type="none" w="lg" len="sm"/>
              <a:tailEnd type="arrow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52" name="Double Brace 51">
            <a:extLst>
              <a:ext uri="{FF2B5EF4-FFF2-40B4-BE49-F238E27FC236}">
                <a16:creationId xmlns:a16="http://schemas.microsoft.com/office/drawing/2014/main" id="{047448C8-FE96-E1E5-F217-A932E49CCC6B}"/>
              </a:ext>
            </a:extLst>
          </p:cNvPr>
          <p:cNvSpPr/>
          <p:nvPr/>
        </p:nvSpPr>
        <p:spPr>
          <a:xfrm>
            <a:off x="3859992" y="1711779"/>
            <a:ext cx="4372191" cy="3401267"/>
          </a:xfrm>
          <a:prstGeom prst="bracePair">
            <a:avLst/>
          </a:pr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4082E21B-DFD0-CE41-DD82-7682A7CB0391}"/>
              </a:ext>
            </a:extLst>
          </p:cNvPr>
          <p:cNvSpPr txBox="1"/>
          <p:nvPr/>
        </p:nvSpPr>
        <p:spPr>
          <a:xfrm>
            <a:off x="8904298" y="2655965"/>
            <a:ext cx="825544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7200" dirty="0">
                <a:latin typeface="Bradley Hand" pitchFamily="2" charset="77"/>
                <a:cs typeface="Calibri" panose="020F0502020204030204" pitchFamily="34" charset="0"/>
              </a:rPr>
              <a:t>U</a:t>
            </a:r>
            <a:endParaRPr lang="en-US" sz="7200" dirty="0"/>
          </a:p>
        </p:txBody>
      </p:sp>
      <p:cxnSp>
        <p:nvCxnSpPr>
          <p:cNvPr id="54" name="Straight Arrow Connector 53">
            <a:extLst>
              <a:ext uri="{FF2B5EF4-FFF2-40B4-BE49-F238E27FC236}">
                <a16:creationId xmlns:a16="http://schemas.microsoft.com/office/drawing/2014/main" id="{7B0EADC6-1159-188A-302A-627BA531C9AD}"/>
              </a:ext>
            </a:extLst>
          </p:cNvPr>
          <p:cNvCxnSpPr>
            <a:cxnSpLocks/>
            <a:endCxn id="53" idx="1"/>
          </p:cNvCxnSpPr>
          <p:nvPr/>
        </p:nvCxnSpPr>
        <p:spPr>
          <a:xfrm>
            <a:off x="7840739" y="2634410"/>
            <a:ext cx="1063559" cy="621720"/>
          </a:xfrm>
          <a:prstGeom prst="straightConnector1">
            <a:avLst/>
          </a:prstGeom>
          <a:ln w="25400" cap="flat" cmpd="thickThin">
            <a:solidFill>
              <a:schemeClr val="tx1"/>
            </a:solidFill>
            <a:prstDash val="dash"/>
            <a:headEnd type="none" w="lg" len="sm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57" name="TextBox 56">
                <a:extLst>
                  <a:ext uri="{FF2B5EF4-FFF2-40B4-BE49-F238E27FC236}">
                    <a16:creationId xmlns:a16="http://schemas.microsoft.com/office/drawing/2014/main" id="{E8EAE285-D1C6-A678-31D5-0A2F2FE1A234}"/>
                  </a:ext>
                </a:extLst>
              </p:cNvPr>
              <p:cNvSpPr txBox="1"/>
              <p:nvPr/>
            </p:nvSpPr>
            <p:spPr>
              <a:xfrm rot="19683513">
                <a:off x="-457062" y="3008457"/>
                <a:ext cx="4933358" cy="757836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nor/>
                            </m:rPr>
                            <a:rPr lang="en-US" sz="2800" b="0" i="0" smtClean="0">
                              <a:latin typeface="KG Ten Thousand Reasons" panose="02000000000000000000" pitchFamily="2" charset="77"/>
                            </a:rPr>
                            <m:t>π</m:t>
                          </m:r>
                        </m:e>
                        <m:sub>
                          <m:r>
                            <m:rPr>
                              <m:nor/>
                            </m:rPr>
                            <a:rPr lang="en-US" sz="2800" b="0" i="0" smtClean="0">
                              <a:latin typeface="KG Ten Thousand Reasons" panose="02000000000000000000" pitchFamily="2" charset="77"/>
                            </a:rPr>
                            <m:t>N</m:t>
                          </m:r>
                        </m:sub>
                      </m:sSub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m:rPr>
                          <m:nor/>
                        </m:rPr>
                        <a:rPr lang="en-US" sz="2800" b="0" i="0" smtClean="0">
                          <a:latin typeface="Cambria Math" panose="02040503050406030204" pitchFamily="18" charset="0"/>
                        </a:rPr>
                        <m:t>+</m:t>
                      </m:r>
                      <m:r>
                        <m:rPr>
                          <m:nor/>
                        </m:rPr>
                        <a:rPr lang="en-US" sz="2800" b="0" i="0" smtClean="0">
                          <a:latin typeface="KG Ten Thousand Reasons" panose="02000000000000000000" pitchFamily="2" charset="77"/>
                        </a:rPr>
                        <m:t> </m:t>
                      </m:r>
                      <m:sSub>
                        <m:sSubPr>
                          <m:ctrlPr>
                            <a:rPr lang="en-US" sz="28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nor/>
                            </m:rPr>
                            <a:rPr lang="en-US" sz="2800" b="0" i="0" smtClean="0">
                              <a:latin typeface="KG Ten Thousand Reasons" panose="02000000000000000000" pitchFamily="2" charset="77"/>
                            </a:rPr>
                            <m:t>π</m:t>
                          </m:r>
                        </m:e>
                        <m:sub>
                          <m:r>
                            <m:rPr>
                              <m:nor/>
                            </m:rPr>
                            <a:rPr lang="en-US" sz="2800" b="0" i="0" smtClean="0">
                              <a:latin typeface="KG Ten Thousand Reasons" panose="02000000000000000000" pitchFamily="2" charset="77"/>
                            </a:rPr>
                            <m:t>ST</m:t>
                          </m:r>
                        </m:sub>
                      </m:sSub>
                      <m:r>
                        <m:rPr>
                          <m:nor/>
                        </m:rPr>
                        <a:rPr lang="en-US" sz="2800" b="0" i="0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+ </m:t>
                      </m:r>
                      <m:sSub>
                        <m:sSubPr>
                          <m:ctrlPr>
                            <a:rPr lang="en-US" sz="28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nor/>
                            </m:rPr>
                            <a:rPr lang="en-US" sz="2800" b="0" i="0" smtClean="0">
                              <a:latin typeface="KG Ten Thousand Reasons" panose="02000000000000000000" pitchFamily="2" charset="77"/>
                            </a:rPr>
                            <m:t>F</m:t>
                          </m:r>
                        </m:e>
                        <m:sub>
                          <m:r>
                            <m:rPr>
                              <m:nor/>
                            </m:rPr>
                            <a:rPr lang="en-US" sz="2800" b="0" i="0" smtClean="0">
                              <a:latin typeface="KG Ten Thousand Reasons" panose="02000000000000000000" pitchFamily="2" charset="77"/>
                            </a:rPr>
                            <m:t>AT</m:t>
                          </m:r>
                        </m:sub>
                      </m:sSub>
                      <m:sSup>
                        <m:sSupPr>
                          <m:ctrlPr>
                            <a:rPr lang="en-US" sz="2800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m:rPr>
                              <m:nor/>
                            </m:rPr>
                            <a:rPr lang="en-US" sz="2800" b="0" i="0" smtClean="0">
                              <a:latin typeface="KG Ten Thousand Reasons" panose="02000000000000000000" pitchFamily="2" charset="77"/>
                            </a:rPr>
                            <m:t>≥</m:t>
                          </m:r>
                        </m:e>
                        <m:sup>
                          <m:r>
                            <m:rPr>
                              <m:nor/>
                            </m:rPr>
                            <a:rPr lang="en-US" sz="2800" b="0" i="0" smtClean="0">
                              <a:latin typeface="KG Ten Thousand Reasons" panose="02000000000000000000" pitchFamily="2" charset="77"/>
                            </a:rPr>
                            <m:t>Env</m:t>
                          </m:r>
                        </m:sup>
                      </m:sSup>
                      <m:r>
                        <m:rPr>
                          <m:nor/>
                        </m:rPr>
                        <a:rPr lang="en-US" sz="2800" b="0" i="0" smtClean="0">
                          <a:latin typeface="KG Ten Thousand Reasons" panose="02000000000000000000" pitchFamily="2" charset="77"/>
                        </a:rPr>
                        <m:t> </m:t>
                      </m:r>
                      <m:sSub>
                        <m:sSubPr>
                          <m:ctrlPr>
                            <a:rPr lang="en-US" sz="28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nor/>
                            </m:rPr>
                            <a:rPr lang="en-US" sz="2800" b="0" i="0" smtClean="0">
                              <a:latin typeface="KG Ten Thousand Reasons" panose="02000000000000000000" pitchFamily="2" charset="77"/>
                            </a:rPr>
                            <m:t>F</m:t>
                          </m:r>
                        </m:e>
                        <m:sub>
                          <m:r>
                            <m:rPr>
                              <m:nor/>
                            </m:rPr>
                            <a:rPr lang="en-US" sz="2800" b="0" i="0" smtClean="0">
                              <a:latin typeface="KG Ten Thousand Reasons" panose="02000000000000000000" pitchFamily="2" charset="77"/>
                            </a:rPr>
                            <m:t>N</m:t>
                          </m:r>
                          <m:r>
                            <m:rPr>
                              <m:nor/>
                            </m:rPr>
                            <a:rPr lang="en-US" sz="2800" b="0" i="0" smtClean="0">
                              <a:latin typeface="KG Ten Thousand Reasons" panose="02000000000000000000" pitchFamily="2" charset="77"/>
                            </a:rPr>
                            <m:t> </m:t>
                          </m:r>
                        </m:sub>
                      </m:sSub>
                    </m:oMath>
                  </m:oMathPara>
                </a14:m>
                <a:endParaRPr lang="en-US" sz="2800" dirty="0">
                  <a:latin typeface="KG Ten Thousand Reasons" panose="02000000000000000000" pitchFamily="2" charset="77"/>
                </a:endParaRPr>
              </a:p>
            </p:txBody>
          </p:sp>
        </mc:Choice>
        <mc:Fallback xmlns="">
          <p:sp>
            <p:nvSpPr>
              <p:cNvPr id="57" name="TextBox 56">
                <a:extLst>
                  <a:ext uri="{FF2B5EF4-FFF2-40B4-BE49-F238E27FC236}">
                    <a16:creationId xmlns:a16="http://schemas.microsoft.com/office/drawing/2014/main" id="{E8EAE285-D1C6-A678-31D5-0A2F2FE1A23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 rot="19683513">
                <a:off x="-457062" y="3008457"/>
                <a:ext cx="4933358" cy="757836"/>
              </a:xfrm>
              <a:prstGeom prst="rect">
                <a:avLst/>
              </a:prstGeom>
              <a:blipFill>
                <a:blip r:embed="rId2"/>
                <a:stretch>
                  <a:fillRect r="-4696" b="-116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05987586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11E643E2-9FA5-9381-6562-E22F85231D94}"/>
              </a:ext>
            </a:extLst>
          </p:cNvPr>
          <p:cNvSpPr txBox="1"/>
          <p:nvPr/>
        </p:nvSpPr>
        <p:spPr>
          <a:xfrm>
            <a:off x="242045" y="1100888"/>
            <a:ext cx="10609731" cy="15696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4800" dirty="0">
                <a:solidFill>
                  <a:srgbClr val="C00000"/>
                </a:solidFill>
                <a:latin typeface="Christmas Chalk" panose="02000500000000000000" pitchFamily="2" charset="0"/>
              </a:rPr>
              <a:t>Is there any problem with the proof that we presented?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E6D70E6-38A2-6C23-C307-9A1433E35441}"/>
              </a:ext>
            </a:extLst>
          </p:cNvPr>
          <p:cNvSpPr txBox="1"/>
          <p:nvPr/>
        </p:nvSpPr>
        <p:spPr>
          <a:xfrm>
            <a:off x="623770" y="3429000"/>
            <a:ext cx="3393878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 dirty="0">
                <a:latin typeface="Chalk Board" panose="02000500000000000000" pitchFamily="2" charset="0"/>
              </a:rPr>
              <a:t>We are assuming that: 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A2847C58-E03D-E9CC-725E-5FD06E30C7A7}"/>
                  </a:ext>
                </a:extLst>
              </p:cNvPr>
              <p:cNvSpPr txBox="1"/>
              <p:nvPr/>
            </p:nvSpPr>
            <p:spPr>
              <a:xfrm>
                <a:off x="4017648" y="3290433"/>
                <a:ext cx="1455398" cy="803361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48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nor/>
                            </m:rPr>
                            <a:rPr lang="en-US" sz="4800" b="0" i="0" smtClean="0">
                              <a:latin typeface="Chalk Board" panose="02000500000000000000" pitchFamily="2" charset="0"/>
                            </a:rPr>
                            <m:t>Π</m:t>
                          </m:r>
                        </m:e>
                        <m:sub>
                          <m:r>
                            <m:rPr>
                              <m:nor/>
                            </m:rPr>
                            <a:rPr lang="en-US" sz="4800" b="0" i="0" smtClean="0">
                              <a:latin typeface="Chalk Board" panose="02000500000000000000" pitchFamily="2" charset="0"/>
                            </a:rPr>
                            <m:t>N</m:t>
                          </m:r>
                        </m:sub>
                      </m:sSub>
                      <m:r>
                        <m:rPr>
                          <m:nor/>
                        </m:rPr>
                        <a:rPr lang="en-US" sz="4800" b="0" i="0" smtClean="0">
                          <a:latin typeface="Chalk Board" panose="02000500000000000000" pitchFamily="2" charset="0"/>
                        </a:rPr>
                        <m:t>⋄</m:t>
                      </m:r>
                      <m:r>
                        <m:rPr>
                          <m:nor/>
                        </m:rPr>
                        <a:rPr lang="en-US" sz="4800" b="0" i="0" smtClean="0">
                          <a:latin typeface="Chalk Board" panose="02000500000000000000" pitchFamily="2" charset="0"/>
                        </a:rPr>
                        <m:t>Z</m:t>
                      </m:r>
                    </m:oMath>
                  </m:oMathPara>
                </a14:m>
                <a:endParaRPr lang="en-US" sz="4800" dirty="0">
                  <a:latin typeface="Chalk Board" panose="02000500000000000000" pitchFamily="2" charset="0"/>
                </a:endParaRPr>
              </a:p>
            </p:txBody>
          </p:sp>
        </mc:Choice>
        <mc:Fallback xmlns="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A2847C58-E03D-E9CC-725E-5FD06E30C7A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017648" y="3290433"/>
                <a:ext cx="1455398" cy="803361"/>
              </a:xfrm>
              <a:prstGeom prst="rect">
                <a:avLst/>
              </a:prstGeom>
              <a:blipFill>
                <a:blip r:embed="rId2"/>
                <a:stretch>
                  <a:fillRect l="-8621" r="-9483" b="-2343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TextBox 4">
            <a:extLst>
              <a:ext uri="{FF2B5EF4-FFF2-40B4-BE49-F238E27FC236}">
                <a16:creationId xmlns:a16="http://schemas.microsoft.com/office/drawing/2014/main" id="{7686FDF9-CB0C-022D-A0BB-FA69C68D8EE8}"/>
              </a:ext>
            </a:extLst>
          </p:cNvPr>
          <p:cNvSpPr txBox="1"/>
          <p:nvPr/>
        </p:nvSpPr>
        <p:spPr>
          <a:xfrm>
            <a:off x="5681863" y="3368947"/>
            <a:ext cx="2523448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 dirty="0">
                <a:latin typeface="Chalk Board" panose="02000500000000000000" pitchFamily="2" charset="0"/>
              </a:rPr>
              <a:t>is an environment</a:t>
            </a:r>
          </a:p>
        </p:txBody>
      </p:sp>
    </p:spTree>
    <p:extLst>
      <p:ext uri="{BB962C8B-B14F-4D97-AF65-F5344CB8AC3E}">
        <p14:creationId xmlns:p14="http://schemas.microsoft.com/office/powerpoint/2010/main" val="3826595060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3863DA14-5255-5A85-14CB-ACCE29200D22}"/>
              </a:ext>
            </a:extLst>
          </p:cNvPr>
          <p:cNvSpPr txBox="1"/>
          <p:nvPr/>
        </p:nvSpPr>
        <p:spPr>
          <a:xfrm>
            <a:off x="206188" y="1102658"/>
            <a:ext cx="11779623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dirty="0">
                <a:latin typeface="Christmas Chalk" panose="02000500000000000000" pitchFamily="2" charset="0"/>
                <a:ea typeface="Ayuthaya" pitchFamily="2" charset="-34"/>
                <a:cs typeface="Ayuthaya" pitchFamily="2" charset="-34"/>
              </a:rPr>
              <a:t>We let </a:t>
            </a:r>
            <a:r>
              <a:rPr lang="en-US" sz="3200" b="1" dirty="0">
                <a:solidFill>
                  <a:srgbClr val="FF0000"/>
                </a:solidFill>
                <a:latin typeface="Christmas Chalk" panose="02000500000000000000" pitchFamily="2" charset="0"/>
                <a:ea typeface="Ayuthaya" pitchFamily="2" charset="-34"/>
                <a:cs typeface="Ayuthaya" pitchFamily="2" charset="-34"/>
              </a:rPr>
              <a:t>Pro</a:t>
            </a:r>
            <a:r>
              <a:rPr lang="en-US" sz="3200" dirty="0">
                <a:latin typeface="Christmas Chalk" panose="02000500000000000000" pitchFamily="2" charset="0"/>
                <a:ea typeface="Ayuthaya" pitchFamily="2" charset="-34"/>
                <a:cs typeface="Ayuthaya" pitchFamily="2" charset="-34"/>
              </a:rPr>
              <a:t> be the set of simple and composed protocols in which all simple parties follow the rules for clocked entities and are recursive in polytime.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CB2B610E-A7F6-D49F-63B0-3828F6AC5D8F}"/>
                  </a:ext>
                </a:extLst>
              </p:cNvPr>
              <p:cNvSpPr txBox="1"/>
              <p:nvPr/>
            </p:nvSpPr>
            <p:spPr>
              <a:xfrm>
                <a:off x="567184" y="3384484"/>
                <a:ext cx="1874937" cy="658514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32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nor/>
                            </m:rPr>
                            <a:rPr lang="en-US" sz="3200" b="0" i="0" smtClean="0">
                              <a:latin typeface="Christmas Chalk" panose="02000500000000000000" pitchFamily="2" charset="0"/>
                            </a:rPr>
                            <m:t>π</m:t>
                          </m:r>
                        </m:e>
                        <m:sub>
                          <m:r>
                            <m:rPr>
                              <m:nor/>
                            </m:rPr>
                            <a:rPr lang="en-US" sz="3200" b="0" i="0" smtClean="0">
                              <a:latin typeface="Christmas Chalk" panose="02000500000000000000" pitchFamily="2" charset="0"/>
                            </a:rPr>
                            <m:t>F</m:t>
                          </m:r>
                        </m:sub>
                      </m:sSub>
                      <m:r>
                        <m:rPr>
                          <m:nor/>
                        </m:rPr>
                        <a:rPr lang="en-US" sz="3200" b="0" i="0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m:rPr>
                          <m:nor/>
                        </m:rPr>
                        <a:rPr lang="en-US" sz="3200" b="0" i="0" smtClean="0">
                          <a:latin typeface="Christmas Chalk" panose="02000500000000000000" pitchFamily="2" charset="0"/>
                        </a:rPr>
                        <m:t>∈ </m:t>
                      </m:r>
                      <m:r>
                        <m:rPr>
                          <m:nor/>
                        </m:rPr>
                        <a:rPr lang="en-US" sz="3200" b="0" i="0" smtClean="0">
                          <a:latin typeface="Christmas Chalk" panose="02000500000000000000" pitchFamily="2" charset="0"/>
                        </a:rPr>
                        <m:t>Pro</m:t>
                      </m:r>
                    </m:oMath>
                  </m:oMathPara>
                </a14:m>
                <a:endParaRPr lang="en-US" sz="3200" dirty="0">
                  <a:latin typeface="Christmas Chalk" panose="02000500000000000000" pitchFamily="2" charset="0"/>
                </a:endParaRPr>
              </a:p>
            </p:txBody>
          </p:sp>
        </mc:Choice>
        <mc:Fallback xmlns="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CB2B610E-A7F6-D49F-63B0-3828F6AC5D8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67184" y="3384484"/>
                <a:ext cx="1874937" cy="658514"/>
              </a:xfrm>
              <a:prstGeom prst="rect">
                <a:avLst/>
              </a:prstGeom>
              <a:blipFill>
                <a:blip r:embed="rId2"/>
                <a:stretch>
                  <a:fillRect l="-671" t="-24528" r="-6711" b="-3018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B1DC310F-500A-8CBA-0FB9-F08777EA0464}"/>
                  </a:ext>
                </a:extLst>
              </p:cNvPr>
              <p:cNvSpPr txBox="1"/>
              <p:nvPr/>
            </p:nvSpPr>
            <p:spPr>
              <a:xfrm>
                <a:off x="1045592" y="4066589"/>
                <a:ext cx="1648335" cy="569451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nor/>
                            </m:rPr>
                            <a:rPr lang="en-US" sz="2800" b="0" i="0" smtClean="0">
                              <a:latin typeface="Christmas Chalk" panose="02000500000000000000" pitchFamily="2" charset="0"/>
                            </a:rPr>
                            <m:t>π</m:t>
                          </m:r>
                        </m:e>
                        <m:sub>
                          <m:r>
                            <m:rPr>
                              <m:nor/>
                            </m:rPr>
                            <a:rPr lang="en-US" sz="2800" b="0" i="0" smtClean="0">
                              <a:latin typeface="Christmas Chalk" panose="02000500000000000000" pitchFamily="2" charset="0"/>
                            </a:rPr>
                            <m:t>R</m:t>
                          </m:r>
                        </m:sub>
                      </m:sSub>
                      <m:r>
                        <m:rPr>
                          <m:nor/>
                        </m:rPr>
                        <a:rPr lang="en-US" sz="2800" b="0" i="0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m:rPr>
                          <m:nor/>
                        </m:rPr>
                        <a:rPr lang="en-US" sz="2800" b="0" i="0" smtClean="0">
                          <a:latin typeface="Christmas Chalk" panose="02000500000000000000" pitchFamily="2" charset="0"/>
                        </a:rPr>
                        <m:t>∈ </m:t>
                      </m:r>
                      <m:r>
                        <m:rPr>
                          <m:nor/>
                        </m:rPr>
                        <a:rPr lang="en-US" sz="2800" b="0" i="0" smtClean="0">
                          <a:latin typeface="Christmas Chalk" panose="02000500000000000000" pitchFamily="2" charset="0"/>
                        </a:rPr>
                        <m:t>Pro</m:t>
                      </m:r>
                    </m:oMath>
                  </m:oMathPara>
                </a14:m>
                <a:endParaRPr lang="en-US" sz="2800" dirty="0">
                  <a:latin typeface="Christmas Chalk" panose="02000500000000000000" pitchFamily="2" charset="0"/>
                </a:endParaRPr>
              </a:p>
            </p:txBody>
          </p:sp>
        </mc:Choice>
        <mc:Fallback xmlns="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B1DC310F-500A-8CBA-0FB9-F08777EA046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45592" y="4066589"/>
                <a:ext cx="1648335" cy="569451"/>
              </a:xfrm>
              <a:prstGeom prst="rect">
                <a:avLst/>
              </a:prstGeom>
              <a:blipFill>
                <a:blip r:embed="rId3"/>
                <a:stretch>
                  <a:fillRect l="-763" t="-26087" r="-6107" b="-2826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2C260AEE-B4AD-396B-D307-DFB6AD454F52}"/>
                  </a:ext>
                </a:extLst>
              </p:cNvPr>
              <p:cNvSpPr txBox="1"/>
              <p:nvPr/>
            </p:nvSpPr>
            <p:spPr>
              <a:xfrm>
                <a:off x="9428055" y="4689151"/>
                <a:ext cx="2403800" cy="57612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nor/>
                            </m:rPr>
                            <a:rPr lang="en-US" sz="2800" b="0" i="0" smtClean="0">
                              <a:latin typeface="Christmas Chalk" panose="02000500000000000000" pitchFamily="2" charset="0"/>
                            </a:rPr>
                            <m:t>π</m:t>
                          </m:r>
                        </m:e>
                        <m:sub>
                          <m:r>
                            <m:rPr>
                              <m:nor/>
                            </m:rPr>
                            <a:rPr lang="en-US" sz="2800" b="0" i="0" smtClean="0">
                              <a:latin typeface="Christmas Chalk" panose="02000500000000000000" pitchFamily="2" charset="0"/>
                            </a:rPr>
                            <m:t>F</m:t>
                          </m:r>
                        </m:sub>
                      </m:sSub>
                      <m:r>
                        <m:rPr>
                          <m:nor/>
                        </m:rPr>
                        <a:rPr lang="en-US" sz="2800" b="0" i="0" smtClean="0">
                          <a:latin typeface="Christmas Chalk" panose="02000500000000000000" pitchFamily="2" charset="0"/>
                        </a:rPr>
                        <m:t> ⋄</m:t>
                      </m:r>
                      <m:sSub>
                        <m:sSubPr>
                          <m:ctrlPr>
                            <a:rPr lang="en-US" sz="28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nor/>
                            </m:rPr>
                            <a:rPr lang="en-US" sz="2800" b="0" i="0" smtClean="0">
                              <a:latin typeface="Christmas Chalk" panose="02000500000000000000" pitchFamily="2" charset="0"/>
                            </a:rPr>
                            <m:t>π</m:t>
                          </m:r>
                        </m:e>
                        <m:sub>
                          <m:r>
                            <m:rPr>
                              <m:nor/>
                            </m:rPr>
                            <a:rPr lang="en-US" sz="2800" b="0" i="0" smtClean="0">
                              <a:latin typeface="Christmas Chalk" panose="02000500000000000000" pitchFamily="2" charset="0"/>
                            </a:rPr>
                            <m:t>R</m:t>
                          </m:r>
                        </m:sub>
                      </m:sSub>
                      <m:r>
                        <m:rPr>
                          <m:nor/>
                        </m:rPr>
                        <a:rPr lang="en-US" sz="2800" b="0" i="0" smtClean="0">
                          <a:latin typeface="Christmas Chalk" panose="02000500000000000000" pitchFamily="2" charset="0"/>
                        </a:rPr>
                        <m:t> ∈ </m:t>
                      </m:r>
                      <m:r>
                        <m:rPr>
                          <m:nor/>
                        </m:rPr>
                        <a:rPr lang="en-US" sz="2800" b="0" i="0" smtClean="0">
                          <a:latin typeface="Christmas Chalk" panose="02000500000000000000" pitchFamily="2" charset="0"/>
                        </a:rPr>
                        <m:t>Pro</m:t>
                      </m:r>
                    </m:oMath>
                  </m:oMathPara>
                </a14:m>
                <a:endParaRPr lang="en-US" sz="2800" dirty="0">
                  <a:latin typeface="Christmas Chalk" panose="02000500000000000000" pitchFamily="2" charset="0"/>
                </a:endParaRPr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2C260AEE-B4AD-396B-D307-DFB6AD454F5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428055" y="4689151"/>
                <a:ext cx="2403800" cy="576120"/>
              </a:xfrm>
              <a:prstGeom prst="rect">
                <a:avLst/>
              </a:prstGeom>
              <a:blipFill>
                <a:blip r:embed="rId4"/>
                <a:stretch>
                  <a:fillRect l="-526" t="-23913" r="-4737" b="-2826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FB41DCBC-2A07-A722-D1EF-5CE4A6B2343E}"/>
                  </a:ext>
                </a:extLst>
              </p:cNvPr>
              <p:cNvSpPr txBox="1"/>
              <p:nvPr/>
            </p:nvSpPr>
            <p:spPr>
              <a:xfrm>
                <a:off x="9876513" y="3955922"/>
                <a:ext cx="1955342" cy="546688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nor/>
                            </m:rPr>
                            <a:rPr lang="en-US" sz="2800" b="0" i="0" smtClean="0">
                              <a:latin typeface="Christmas Chalk" panose="02000500000000000000" pitchFamily="2" charset="0"/>
                            </a:rPr>
                            <m:t>π</m:t>
                          </m:r>
                        </m:e>
                        <m:sub>
                          <m:r>
                            <m:rPr>
                              <m:nor/>
                            </m:rPr>
                            <a:rPr lang="en-US" sz="2800" b="0" i="0" smtClean="0">
                              <a:latin typeface="Christmas Chalk" panose="02000500000000000000" pitchFamily="2" charset="0"/>
                            </a:rPr>
                            <m:t>F</m:t>
                          </m:r>
                        </m:sub>
                      </m:sSub>
                      <m:r>
                        <m:rPr>
                          <m:nor/>
                        </m:rPr>
                        <a:rPr lang="en-US" sz="2800" b="0" i="0" smtClean="0">
                          <a:latin typeface="Christmas Chalk" panose="02000500000000000000" pitchFamily="2" charset="0"/>
                        </a:rPr>
                        <m:t> ⋄</m:t>
                      </m:r>
                      <m:sSub>
                        <m:sSubPr>
                          <m:ctrlPr>
                            <a:rPr lang="en-US" sz="28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nor/>
                            </m:rPr>
                            <a:rPr lang="en-US" sz="2800" b="0" i="0" smtClean="0">
                              <a:latin typeface="Christmas Chalk" panose="02000500000000000000" pitchFamily="2" charset="0"/>
                            </a:rPr>
                            <m:t>π</m:t>
                          </m:r>
                        </m:e>
                        <m:sub>
                          <m:r>
                            <m:rPr>
                              <m:nor/>
                            </m:rPr>
                            <a:rPr lang="en-US" sz="2800" b="0" i="0" smtClean="0">
                              <a:latin typeface="Christmas Chalk" panose="02000500000000000000" pitchFamily="2" charset="0"/>
                            </a:rPr>
                            <m:t>R</m:t>
                          </m:r>
                        </m:sub>
                      </m:sSub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≠ ⊥</m:t>
                      </m:r>
                    </m:oMath>
                  </m:oMathPara>
                </a14:m>
                <a:endParaRPr lang="en-US" sz="4800" dirty="0">
                  <a:latin typeface="Christmas Chalk" panose="02000500000000000000" pitchFamily="2" charset="0"/>
                </a:endParaRPr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FB41DCBC-2A07-A722-D1EF-5CE4A6B2343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876513" y="3955922"/>
                <a:ext cx="1955342" cy="546688"/>
              </a:xfrm>
              <a:prstGeom prst="rect">
                <a:avLst/>
              </a:prstGeom>
              <a:blipFill>
                <a:blip r:embed="rId5"/>
                <a:stretch>
                  <a:fillRect l="-645" t="-29545" r="-2581" b="-3181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" name="TextBox 6">
            <a:extLst>
              <a:ext uri="{FF2B5EF4-FFF2-40B4-BE49-F238E27FC236}">
                <a16:creationId xmlns:a16="http://schemas.microsoft.com/office/drawing/2014/main" id="{E14ED067-780C-DDC5-6265-0EA948FB6314}"/>
              </a:ext>
            </a:extLst>
          </p:cNvPr>
          <p:cNvSpPr txBox="1"/>
          <p:nvPr/>
        </p:nvSpPr>
        <p:spPr>
          <a:xfrm>
            <a:off x="206188" y="3429000"/>
            <a:ext cx="360996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000" dirty="0">
                <a:latin typeface="Chalk Board" panose="02000500000000000000" pitchFamily="2" charset="0"/>
              </a:rPr>
              <a:t>If</a:t>
            </a:r>
            <a:endParaRPr lang="en-US" sz="7200" dirty="0">
              <a:latin typeface="Chalk Board" panose="02000500000000000000" pitchFamily="2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A272B6C2-EB63-3E54-D7BE-EFC88604AFB1}"/>
              </a:ext>
            </a:extLst>
          </p:cNvPr>
          <p:cNvSpPr txBox="1"/>
          <p:nvPr/>
        </p:nvSpPr>
        <p:spPr>
          <a:xfrm>
            <a:off x="2408802" y="3408593"/>
            <a:ext cx="9783198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dirty="0">
                <a:latin typeface="Christmas Chalk" panose="02000500000000000000" pitchFamily="2" charset="0"/>
              </a:rPr>
              <a:t>is a protocol with the name F and resource name R 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22E7BDB4-9D6E-624D-8771-1D9052825504}"/>
              </a:ext>
            </a:extLst>
          </p:cNvPr>
          <p:cNvSpPr txBox="1"/>
          <p:nvPr/>
        </p:nvSpPr>
        <p:spPr>
          <a:xfrm>
            <a:off x="206188" y="4091794"/>
            <a:ext cx="1024639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000" dirty="0">
                <a:latin typeface="Chalk Board" panose="02000500000000000000" pitchFamily="2" charset="0"/>
              </a:rPr>
              <a:t>And  </a:t>
            </a:r>
            <a:endParaRPr lang="en-US" sz="7200" dirty="0">
              <a:latin typeface="Chalk Board" panose="02000500000000000000" pitchFamily="2" charset="0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B7F75496-0993-3A09-C6F7-326A839C202E}"/>
              </a:ext>
            </a:extLst>
          </p:cNvPr>
          <p:cNvSpPr txBox="1"/>
          <p:nvPr/>
        </p:nvSpPr>
        <p:spPr>
          <a:xfrm>
            <a:off x="2693927" y="4028782"/>
            <a:ext cx="7391367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dirty="0">
                <a:latin typeface="Christmas Chalk" panose="02000500000000000000" pitchFamily="2" charset="0"/>
              </a:rPr>
              <a:t>Is a protocol with protocol name R and 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D898881-9D09-C419-5718-86A5B0146096}"/>
              </a:ext>
            </a:extLst>
          </p:cNvPr>
          <p:cNvSpPr txBox="1"/>
          <p:nvPr/>
        </p:nvSpPr>
        <p:spPr>
          <a:xfrm>
            <a:off x="7898102" y="4756089"/>
            <a:ext cx="1529953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3600" dirty="0">
                <a:latin typeface="Christmas Chalk" panose="02000500000000000000" pitchFamily="2" charset="0"/>
              </a:rPr>
              <a:t>Then:</a:t>
            </a:r>
          </a:p>
        </p:txBody>
      </p:sp>
    </p:spTree>
    <p:extLst>
      <p:ext uri="{BB962C8B-B14F-4D97-AF65-F5344CB8AC3E}">
        <p14:creationId xmlns:p14="http://schemas.microsoft.com/office/powerpoint/2010/main" val="3044629531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83B49DB2-7CED-8500-8446-87BA455F3E41}"/>
              </a:ext>
            </a:extLst>
          </p:cNvPr>
          <p:cNvSpPr txBox="1"/>
          <p:nvPr/>
        </p:nvSpPr>
        <p:spPr>
          <a:xfrm>
            <a:off x="419664" y="5800313"/>
            <a:ext cx="1074420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Christmas Chalk" panose="02000500000000000000" pitchFamily="2" charset="0"/>
              </a:rPr>
              <a:t>and T has two open special ports that connect it to the ideal functionality ports of S and 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2378B17C-E193-4040-9175-E6B1A5E81FA5}"/>
                  </a:ext>
                </a:extLst>
              </p:cNvPr>
              <p:cNvSpPr txBox="1"/>
              <p:nvPr/>
            </p:nvSpPr>
            <p:spPr>
              <a:xfrm>
                <a:off x="419664" y="5382153"/>
                <a:ext cx="1132914" cy="379848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nor/>
                        </m:rPr>
                        <a:rPr lang="en-US" b="0" i="0" smtClean="0">
                          <a:latin typeface="Christmas Chalk" panose="02000500000000000000" pitchFamily="2" charset="0"/>
                        </a:rPr>
                        <m:t>S</m:t>
                      </m:r>
                      <m:r>
                        <m:rPr>
                          <m:nor/>
                        </m:rPr>
                        <a:rPr lang="en-US" b="0" i="0" smtClean="0">
                          <a:latin typeface="Christmas Chalk" panose="02000500000000000000" pitchFamily="2" charset="0"/>
                        </a:rPr>
                        <m:t> ∈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m:rPr>
                          <m:nor/>
                        </m:rPr>
                        <a:rPr lang="en-US" b="0" i="0" smtClean="0">
                          <a:latin typeface="Christmas Chalk" panose="02000500000000000000" pitchFamily="2" charset="0"/>
                        </a:rPr>
                        <m:t>Sim</m:t>
                      </m:r>
                    </m:oMath>
                  </m:oMathPara>
                </a14:m>
                <a:endParaRPr lang="en-US" dirty="0">
                  <a:latin typeface="Christmas Chalk" panose="02000500000000000000" pitchFamily="2" charset="0"/>
                </a:endParaRPr>
              </a:p>
            </p:txBody>
          </p:sp>
        </mc:Choice>
        <mc:Fallback xmlns="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2378B17C-E193-4040-9175-E6B1A5E81FA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19664" y="5382153"/>
                <a:ext cx="1132914" cy="379848"/>
              </a:xfrm>
              <a:prstGeom prst="rect">
                <a:avLst/>
              </a:prstGeom>
              <a:blipFill>
                <a:blip r:embed="rId2"/>
                <a:stretch>
                  <a:fillRect t="-19355" b="-2903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5B657DED-1466-B61F-E5D3-67CC882148D3}"/>
                  </a:ext>
                </a:extLst>
              </p:cNvPr>
              <p:cNvSpPr txBox="1"/>
              <p:nvPr/>
            </p:nvSpPr>
            <p:spPr>
              <a:xfrm>
                <a:off x="1989866" y="5371637"/>
                <a:ext cx="1132914" cy="379848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en-US" b="0" dirty="0">
                    <a:latin typeface="Christmas Chalk" panose="02000500000000000000" pitchFamily="2" charset="0"/>
                  </a:rPr>
                  <a:t>T </a:t>
                </a:r>
                <a14:m>
                  <m:oMath xmlns:m="http://schemas.openxmlformats.org/officeDocument/2006/math">
                    <m:r>
                      <m:rPr>
                        <m:nor/>
                      </m:rPr>
                      <a:rPr lang="en-US" b="0" i="0" smtClean="0">
                        <a:latin typeface="Christmas Chalk" panose="02000500000000000000" pitchFamily="2" charset="0"/>
                      </a:rPr>
                      <m:t>∈ </m:t>
                    </m:r>
                    <m:r>
                      <m:rPr>
                        <m:nor/>
                      </m:rPr>
                      <a:rPr lang="en-US" b="0" i="0" smtClean="0">
                        <a:latin typeface="Christmas Chalk" panose="02000500000000000000" pitchFamily="2" charset="0"/>
                      </a:rPr>
                      <m:t>Sim</m:t>
                    </m:r>
                  </m:oMath>
                </a14:m>
                <a:endParaRPr lang="en-US" dirty="0">
                  <a:latin typeface="Christmas Chalk" panose="02000500000000000000" pitchFamily="2" charset="0"/>
                </a:endParaRPr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5B657DED-1466-B61F-E5D3-67CC882148D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989866" y="5371637"/>
                <a:ext cx="1132914" cy="379848"/>
              </a:xfrm>
              <a:prstGeom prst="rect">
                <a:avLst/>
              </a:prstGeom>
              <a:blipFill>
                <a:blip r:embed="rId3"/>
                <a:stretch>
                  <a:fillRect l="-4444" t="-19355" b="-2903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8B78C825-7506-2416-6940-2973954BAD9F}"/>
                  </a:ext>
                </a:extLst>
              </p:cNvPr>
              <p:cNvSpPr txBox="1"/>
              <p:nvPr/>
            </p:nvSpPr>
            <p:spPr>
              <a:xfrm>
                <a:off x="10912143" y="5841221"/>
                <a:ext cx="743793" cy="287515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nor/>
                        </m:rPr>
                        <a:rPr lang="en-US" b="0" i="0" smtClean="0">
                          <a:latin typeface="Christmas Chalk" panose="02000500000000000000" pitchFamily="2" charset="0"/>
                        </a:rPr>
                        <m:t>S</m:t>
                      </m:r>
                      <m:r>
                        <m:rPr>
                          <m:nor/>
                        </m:rPr>
                        <a:rPr lang="en-US" b="0" i="0" smtClean="0">
                          <a:latin typeface="Christmas Chalk" panose="02000500000000000000" pitchFamily="2" charset="0"/>
                        </a:rPr>
                        <m:t>⋄</m:t>
                      </m:r>
                      <m:r>
                        <m:rPr>
                          <m:nor/>
                        </m:rPr>
                        <a:rPr lang="en-US" b="0" i="0" smtClean="0">
                          <a:latin typeface="Christmas Chalk" panose="02000500000000000000" pitchFamily="2" charset="0"/>
                        </a:rPr>
                        <m:t>T</m:t>
                      </m:r>
                      <m:r>
                        <m:rPr>
                          <m:nor/>
                        </m:rPr>
                        <a:rPr lang="en-US" b="0" i="0" smtClean="0">
                          <a:latin typeface="Christmas Chalk" panose="02000500000000000000" pitchFamily="2" charset="0"/>
                        </a:rPr>
                        <m:t>≠⊥</m:t>
                      </m:r>
                    </m:oMath>
                  </m:oMathPara>
                </a14:m>
                <a:endParaRPr lang="en-US" dirty="0">
                  <a:latin typeface="Christmas Chalk" panose="02000500000000000000" pitchFamily="2" charset="0"/>
                </a:endParaRPr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8B78C825-7506-2416-6940-2973954BAD9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912143" y="5841221"/>
                <a:ext cx="743793" cy="287515"/>
              </a:xfrm>
              <a:prstGeom prst="rect">
                <a:avLst/>
              </a:prstGeom>
              <a:blipFill>
                <a:blip r:embed="rId4"/>
                <a:stretch>
                  <a:fillRect l="-10169" t="-16667" r="-5085" b="-125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4702F23C-6FCF-AB69-F6AD-715915EA76E5}"/>
                  </a:ext>
                </a:extLst>
              </p:cNvPr>
              <p:cNvSpPr txBox="1"/>
              <p:nvPr/>
            </p:nvSpPr>
            <p:spPr>
              <a:xfrm>
                <a:off x="10478065" y="6419434"/>
                <a:ext cx="1115690" cy="287515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nor/>
                        </m:rPr>
                        <a:rPr lang="en-US" b="0" i="0" smtClean="0">
                          <a:latin typeface="Christmas Chalk" panose="02000500000000000000" pitchFamily="2" charset="0"/>
                        </a:rPr>
                        <m:t>S</m:t>
                      </m:r>
                      <m:r>
                        <m:rPr>
                          <m:nor/>
                        </m:rPr>
                        <a:rPr lang="en-US" b="0" i="0" smtClean="0">
                          <a:latin typeface="Christmas Chalk" panose="02000500000000000000" pitchFamily="2" charset="0"/>
                        </a:rPr>
                        <m:t>⋄</m:t>
                      </m:r>
                      <m:r>
                        <m:rPr>
                          <m:nor/>
                        </m:rPr>
                        <a:rPr lang="en-US" b="0" i="0" smtClean="0">
                          <a:latin typeface="Christmas Chalk" panose="02000500000000000000" pitchFamily="2" charset="0"/>
                        </a:rPr>
                        <m:t>T</m:t>
                      </m:r>
                      <m:r>
                        <m:rPr>
                          <m:nor/>
                        </m:rPr>
                        <a:rPr lang="en-US" b="0" i="0" smtClean="0">
                          <a:latin typeface="Christmas Chalk" panose="02000500000000000000" pitchFamily="2" charset="0"/>
                        </a:rPr>
                        <m:t> ∈ </m:t>
                      </m:r>
                      <m:r>
                        <m:rPr>
                          <m:nor/>
                        </m:rPr>
                        <a:rPr lang="en-US" b="0" i="0" smtClean="0">
                          <a:latin typeface="Christmas Chalk" panose="02000500000000000000" pitchFamily="2" charset="0"/>
                        </a:rPr>
                        <m:t>Sim</m:t>
                      </m:r>
                    </m:oMath>
                  </m:oMathPara>
                </a14:m>
                <a:endParaRPr lang="en-US" dirty="0">
                  <a:latin typeface="Christmas Chalk" panose="02000500000000000000" pitchFamily="2" charset="0"/>
                </a:endParaRPr>
              </a:p>
            </p:txBody>
          </p:sp>
        </mc:Choice>
        <mc:Fallback xmlns="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4702F23C-6FCF-AB69-F6AD-715915EA76E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478065" y="6419434"/>
                <a:ext cx="1115690" cy="287515"/>
              </a:xfrm>
              <a:prstGeom prst="rect">
                <a:avLst/>
              </a:prstGeom>
              <a:blipFill>
                <a:blip r:embed="rId5"/>
                <a:stretch>
                  <a:fillRect l="-6818" t="-43478" r="-6818" b="-5652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9" name="TextBox 8">
            <a:extLst>
              <a:ext uri="{FF2B5EF4-FFF2-40B4-BE49-F238E27FC236}">
                <a16:creationId xmlns:a16="http://schemas.microsoft.com/office/drawing/2014/main" id="{11C4FD4E-F671-9DCA-1AB4-F3BC7B64A0A4}"/>
              </a:ext>
            </a:extLst>
          </p:cNvPr>
          <p:cNvSpPr txBox="1"/>
          <p:nvPr/>
        </p:nvSpPr>
        <p:spPr>
          <a:xfrm>
            <a:off x="105489" y="5382153"/>
            <a:ext cx="37863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Christmas Chalk" panose="02000500000000000000" pitchFamily="2" charset="0"/>
              </a:rPr>
              <a:t>If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6C517B9F-FF2F-8A18-774F-081C863C535A}"/>
              </a:ext>
            </a:extLst>
          </p:cNvPr>
          <p:cNvSpPr txBox="1"/>
          <p:nvPr/>
        </p:nvSpPr>
        <p:spPr>
          <a:xfrm>
            <a:off x="1416002" y="5371637"/>
            <a:ext cx="61587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Christmas Chalk" panose="02000500000000000000" pitchFamily="2" charset="0"/>
              </a:rPr>
              <a:t>and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8E7B9E3C-E544-A282-936A-5AD25C720CA1}"/>
              </a:ext>
            </a:extLst>
          </p:cNvPr>
          <p:cNvSpPr txBox="1"/>
          <p:nvPr/>
        </p:nvSpPr>
        <p:spPr>
          <a:xfrm>
            <a:off x="9604006" y="6392300"/>
            <a:ext cx="87405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Christmas Chalk" panose="02000500000000000000" pitchFamily="2" charset="0"/>
              </a:rPr>
              <a:t>then: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0D250467-B47B-A570-F0CA-4EA55F712B1D}"/>
              </a:ext>
            </a:extLst>
          </p:cNvPr>
          <p:cNvSpPr txBox="1"/>
          <p:nvPr/>
        </p:nvSpPr>
        <p:spPr>
          <a:xfrm>
            <a:off x="183478" y="1248069"/>
            <a:ext cx="1074420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Christmas Chalk" panose="02000500000000000000" pitchFamily="2" charset="0"/>
              </a:rPr>
              <a:t>We let SIM be the set of interactive systems S that are a simulator for some protocol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EFB79EEF-1EE0-D6DA-AEF7-A6CBABDF868F}"/>
              </a:ext>
            </a:extLst>
          </p:cNvPr>
          <p:cNvSpPr txBox="1"/>
          <p:nvPr/>
        </p:nvSpPr>
        <p:spPr>
          <a:xfrm>
            <a:off x="372794" y="3560649"/>
            <a:ext cx="304170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Christmas Chalk" panose="02000500000000000000" pitchFamily="2" charset="0"/>
              </a:rPr>
              <a:t>S is clock preserving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BA2E650F-C8D3-EB36-5F57-347BBE9B3ADE}"/>
              </a:ext>
            </a:extLst>
          </p:cNvPr>
          <p:cNvSpPr txBox="1"/>
          <p:nvPr/>
        </p:nvSpPr>
        <p:spPr>
          <a:xfrm>
            <a:off x="372794" y="3126194"/>
            <a:ext cx="347200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Christmas Chalk" panose="02000500000000000000" pitchFamily="2" charset="0"/>
              </a:rPr>
              <a:t>S is corruption preserving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75D24DA1-7A88-CDFA-032A-9ECFEC888816}"/>
              </a:ext>
            </a:extLst>
          </p:cNvPr>
          <p:cNvSpPr txBox="1"/>
          <p:nvPr/>
        </p:nvSpPr>
        <p:spPr>
          <a:xfrm>
            <a:off x="372793" y="2708034"/>
            <a:ext cx="893162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Christmas Chalk" panose="02000500000000000000" pitchFamily="2" charset="0"/>
              </a:rPr>
              <a:t>S follows the rules for clocked entities and is recursive polytime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F9157DEA-3A43-0524-4504-ECFB765AAFA6}"/>
              </a:ext>
            </a:extLst>
          </p:cNvPr>
          <p:cNvSpPr txBox="1"/>
          <p:nvPr/>
        </p:nvSpPr>
        <p:spPr>
          <a:xfrm>
            <a:off x="372793" y="1848152"/>
            <a:ext cx="304170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Christmas Chalk" panose="02000500000000000000" pitchFamily="2" charset="0"/>
              </a:rPr>
              <a:t>There exists a protocol 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202282FC-84CE-8EB4-0F45-C5037AAF8765}"/>
                  </a:ext>
                </a:extLst>
              </p:cNvPr>
              <p:cNvSpPr txBox="1"/>
              <p:nvPr/>
            </p:nvSpPr>
            <p:spPr>
              <a:xfrm>
                <a:off x="3271050" y="1877358"/>
                <a:ext cx="494759" cy="276999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b="0" i="0" smtClean="0">
                              <a:latin typeface="Cambria Math" panose="02040503050406030204" pitchFamily="18" charset="0"/>
                            </a:rPr>
                            <m:t>Π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𝐹</m:t>
                          </m:r>
                        </m:sub>
                      </m:sSub>
                    </m:oMath>
                  </m:oMathPara>
                </a14:m>
                <a:endParaRPr lang="en-US" dirty="0">
                  <a:latin typeface="Christmas Chalk" panose="02000500000000000000" pitchFamily="2" charset="0"/>
                </a:endParaRPr>
              </a:p>
            </p:txBody>
          </p:sp>
        </mc:Choice>
        <mc:Fallback xmlns="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202282FC-84CE-8EB4-0F45-C5037AAF876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271050" y="1877358"/>
                <a:ext cx="494759" cy="276999"/>
              </a:xfrm>
              <a:prstGeom prst="rect">
                <a:avLst/>
              </a:prstGeom>
              <a:blipFill>
                <a:blip r:embed="rId6"/>
                <a:stretch>
                  <a:fillRect b="-434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0" name="TextBox 19">
            <a:extLst>
              <a:ext uri="{FF2B5EF4-FFF2-40B4-BE49-F238E27FC236}">
                <a16:creationId xmlns:a16="http://schemas.microsoft.com/office/drawing/2014/main" id="{0681EF82-75A4-57A6-49E5-2174DC1BC0A8}"/>
              </a:ext>
            </a:extLst>
          </p:cNvPr>
          <p:cNvSpPr txBox="1"/>
          <p:nvPr/>
        </p:nvSpPr>
        <p:spPr>
          <a:xfrm>
            <a:off x="3615270" y="1874984"/>
            <a:ext cx="850132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Christmas Chalk" panose="02000500000000000000" pitchFamily="2" charset="0"/>
              </a:rPr>
              <a:t>(composed or simple) with protocol name F and an ideal functionality 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6A5E9E3B-8C80-CEF0-513F-DEEA8C6CAAED}"/>
                  </a:ext>
                </a:extLst>
              </p:cNvPr>
              <p:cNvSpPr txBox="1"/>
              <p:nvPr/>
            </p:nvSpPr>
            <p:spPr>
              <a:xfrm>
                <a:off x="11765282" y="1894318"/>
                <a:ext cx="494759" cy="276999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b="0" i="0" smtClean="0">
                              <a:latin typeface="Cambria Math" panose="02040503050406030204" pitchFamily="18" charset="0"/>
                            </a:rPr>
                            <m:t>F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𝐹</m:t>
                          </m:r>
                        </m:sub>
                      </m:sSub>
                    </m:oMath>
                  </m:oMathPara>
                </a14:m>
                <a:endParaRPr lang="en-US" dirty="0">
                  <a:latin typeface="Christmas Chalk" panose="02000500000000000000" pitchFamily="2" charset="0"/>
                </a:endParaRPr>
              </a:p>
            </p:txBody>
          </p:sp>
        </mc:Choice>
        <mc:Fallback xmlns=""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6A5E9E3B-8C80-CEF0-513F-DEEA8C6CAAE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765282" y="1894318"/>
                <a:ext cx="494759" cy="276999"/>
              </a:xfrm>
              <a:prstGeom prst="rect">
                <a:avLst/>
              </a:prstGeom>
              <a:blipFill>
                <a:blip r:embed="rId7"/>
                <a:stretch>
                  <a:fillRect t="-4545" b="-454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DA83258B-EABD-0643-BBB6-B9123C22AD6E}"/>
                  </a:ext>
                </a:extLst>
              </p:cNvPr>
              <p:cNvSpPr txBox="1"/>
              <p:nvPr/>
            </p:nvSpPr>
            <p:spPr>
              <a:xfrm>
                <a:off x="7693958" y="2320626"/>
                <a:ext cx="750795" cy="276999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b="0" i="0" smtClean="0">
                              <a:latin typeface="Cambria Math" panose="02040503050406030204" pitchFamily="18" charset="0"/>
                            </a:rPr>
                            <m:t>F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𝐹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⋄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𝑆</m:t>
                      </m:r>
                    </m:oMath>
                  </m:oMathPara>
                </a14:m>
                <a:endParaRPr lang="en-US" dirty="0">
                  <a:latin typeface="Christmas Chalk" panose="02000500000000000000" pitchFamily="2" charset="0"/>
                </a:endParaRPr>
              </a:p>
            </p:txBody>
          </p:sp>
        </mc:Choice>
        <mc:Fallback xmlns=""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DA83258B-EABD-0643-BBB6-B9123C22AD6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693958" y="2320626"/>
                <a:ext cx="750795" cy="276999"/>
              </a:xfrm>
              <a:prstGeom prst="rect">
                <a:avLst/>
              </a:prstGeom>
              <a:blipFill>
                <a:blip r:embed="rId8"/>
                <a:stretch>
                  <a:fillRect b="-434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3" name="TextBox 22">
            <a:extLst>
              <a:ext uri="{FF2B5EF4-FFF2-40B4-BE49-F238E27FC236}">
                <a16:creationId xmlns:a16="http://schemas.microsoft.com/office/drawing/2014/main" id="{9729B33F-4066-CC78-5397-E8F71CABC131}"/>
              </a:ext>
            </a:extLst>
          </p:cNvPr>
          <p:cNvSpPr txBox="1"/>
          <p:nvPr/>
        </p:nvSpPr>
        <p:spPr>
          <a:xfrm>
            <a:off x="8444753" y="2301291"/>
            <a:ext cx="357718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Christmas Chalk" panose="02000500000000000000" pitchFamily="2" charset="0"/>
              </a:rPr>
              <a:t>have the same special ports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AA62A3F1-E0AF-48ED-C0AE-649723BE8BBD}"/>
              </a:ext>
            </a:extLst>
          </p:cNvPr>
          <p:cNvSpPr txBox="1"/>
          <p:nvPr/>
        </p:nvSpPr>
        <p:spPr>
          <a:xfrm>
            <a:off x="4492166" y="2292451"/>
            <a:ext cx="357718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Christmas Chalk" panose="02000500000000000000" pitchFamily="2" charset="0"/>
              </a:rPr>
              <a:t>With the name F such that</a:t>
            </a:r>
          </a:p>
        </p:txBody>
      </p:sp>
      <p:sp>
        <p:nvSpPr>
          <p:cNvPr id="25" name="Rounded Rectangle 24">
            <a:extLst>
              <a:ext uri="{FF2B5EF4-FFF2-40B4-BE49-F238E27FC236}">
                <a16:creationId xmlns:a16="http://schemas.microsoft.com/office/drawing/2014/main" id="{D5CE052B-B50B-FAF7-D1A2-CDCBA6A0D3E5}"/>
              </a:ext>
            </a:extLst>
          </p:cNvPr>
          <p:cNvSpPr/>
          <p:nvPr/>
        </p:nvSpPr>
        <p:spPr>
          <a:xfrm>
            <a:off x="183478" y="900953"/>
            <a:ext cx="12008522" cy="3388659"/>
          </a:xfrm>
          <a:prstGeom prst="round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Rounded Rectangle 25">
            <a:extLst>
              <a:ext uri="{FF2B5EF4-FFF2-40B4-BE49-F238E27FC236}">
                <a16:creationId xmlns:a16="http://schemas.microsoft.com/office/drawing/2014/main" id="{EACFDE0D-DBF0-F781-3A2E-3428711BD196}"/>
              </a:ext>
            </a:extLst>
          </p:cNvPr>
          <p:cNvSpPr/>
          <p:nvPr/>
        </p:nvSpPr>
        <p:spPr>
          <a:xfrm>
            <a:off x="91739" y="5176133"/>
            <a:ext cx="12008522" cy="1561827"/>
          </a:xfrm>
          <a:prstGeom prst="round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11124F40-0FC0-E2C4-770D-C2A14AB70E41}"/>
              </a:ext>
            </a:extLst>
          </p:cNvPr>
          <p:cNvSpPr txBox="1"/>
          <p:nvPr/>
        </p:nvSpPr>
        <p:spPr>
          <a:xfrm rot="20612624">
            <a:off x="1335731" y="383655"/>
            <a:ext cx="1408847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000" dirty="0" err="1">
                <a:solidFill>
                  <a:srgbClr val="C00000"/>
                </a:solidFill>
                <a:latin typeface="KG Ten Thousand Reasons" panose="02000000000000000000" pitchFamily="2" charset="77"/>
              </a:rPr>
              <a:t>Defn</a:t>
            </a:r>
            <a:endParaRPr lang="en-US" dirty="0">
              <a:solidFill>
                <a:srgbClr val="C00000"/>
              </a:solidFill>
              <a:latin typeface="KG Ten Thousand Reasons" panose="02000000000000000000" pitchFamily="2" charset="77"/>
            </a:endParaRP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6C49044F-DF6E-A830-A7D2-A103A20C70A6}"/>
              </a:ext>
            </a:extLst>
          </p:cNvPr>
          <p:cNvSpPr txBox="1"/>
          <p:nvPr/>
        </p:nvSpPr>
        <p:spPr>
          <a:xfrm rot="20179600">
            <a:off x="4441137" y="4832132"/>
            <a:ext cx="2228880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000" dirty="0">
                <a:solidFill>
                  <a:srgbClr val="C00000"/>
                </a:solidFill>
                <a:latin typeface="KG Ten Thousand Reasons" panose="02000000000000000000" pitchFamily="2" charset="77"/>
              </a:rPr>
              <a:t>Lemma</a:t>
            </a:r>
            <a:endParaRPr lang="en-US" dirty="0">
              <a:solidFill>
                <a:srgbClr val="C00000"/>
              </a:solidFill>
              <a:latin typeface="KG Ten Thousand Reasons" panose="02000000000000000000" pitchFamily="2" charset="77"/>
            </a:endParaRPr>
          </a:p>
        </p:txBody>
      </p:sp>
    </p:spTree>
    <p:extLst>
      <p:ext uri="{BB962C8B-B14F-4D97-AF65-F5344CB8AC3E}">
        <p14:creationId xmlns:p14="http://schemas.microsoft.com/office/powerpoint/2010/main" val="3297623529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B3B1869-6A69-CD90-0357-CA630041682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Box 11">
            <a:extLst>
              <a:ext uri="{FF2B5EF4-FFF2-40B4-BE49-F238E27FC236}">
                <a16:creationId xmlns:a16="http://schemas.microsoft.com/office/drawing/2014/main" id="{AB40659B-92BF-22D8-2A88-CFC55FA66B40}"/>
              </a:ext>
            </a:extLst>
          </p:cNvPr>
          <p:cNvSpPr txBox="1"/>
          <p:nvPr/>
        </p:nvSpPr>
        <p:spPr>
          <a:xfrm>
            <a:off x="370895" y="1426835"/>
            <a:ext cx="822959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Christmas Chalk" panose="02000500000000000000" pitchFamily="2" charset="0"/>
              </a:rPr>
              <a:t>We say that ENV is an environment class if the following hold true: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0749E321-C3EA-799F-A0B6-9D7FB41DFA8D}"/>
              </a:ext>
            </a:extLst>
          </p:cNvPr>
          <p:cNvSpPr txBox="1"/>
          <p:nvPr/>
        </p:nvSpPr>
        <p:spPr>
          <a:xfrm>
            <a:off x="702958" y="2120541"/>
            <a:ext cx="75854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>
                <a:latin typeface="Chalk Board" panose="02000500000000000000" pitchFamily="2" charset="0"/>
              </a:rPr>
              <a:t>Each 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A55CEC4C-5D61-10FB-E831-88648719608F}"/>
              </a:ext>
            </a:extLst>
          </p:cNvPr>
          <p:cNvSpPr txBox="1"/>
          <p:nvPr/>
        </p:nvSpPr>
        <p:spPr>
          <a:xfrm>
            <a:off x="2396684" y="2129312"/>
            <a:ext cx="8999580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>
                <a:latin typeface="Chalk Board" panose="02000500000000000000" pitchFamily="2" charset="0"/>
              </a:rPr>
              <a:t>has the open port structure of the environment for some simple or complex protocol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7F482815-1095-08E2-F091-BB4427A5A3F7}"/>
                  </a:ext>
                </a:extLst>
              </p:cNvPr>
              <p:cNvSpPr txBox="1"/>
              <p:nvPr/>
            </p:nvSpPr>
            <p:spPr>
              <a:xfrm>
                <a:off x="1455115" y="2175478"/>
                <a:ext cx="1019510" cy="43088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nor/>
                        </m:rPr>
                        <a:rPr lang="en-US" sz="2800" b="0" i="0" smtClean="0">
                          <a:latin typeface="Chalk Board" panose="02000500000000000000" pitchFamily="2" charset="0"/>
                        </a:rPr>
                        <m:t>Z</m:t>
                      </m:r>
                      <m:r>
                        <m:rPr>
                          <m:nor/>
                        </m:rPr>
                        <a:rPr lang="en-US" sz="2800" b="0" i="0" smtClean="0">
                          <a:latin typeface="Chalk Board" panose="02000500000000000000" pitchFamily="2" charset="0"/>
                        </a:rPr>
                        <m:t>∈ </m:t>
                      </m:r>
                      <m:r>
                        <m:rPr>
                          <m:nor/>
                        </m:rPr>
                        <a:rPr lang="en-US" sz="2800" b="0" i="0" smtClean="0">
                          <a:latin typeface="Chalk Board" panose="02000500000000000000" pitchFamily="2" charset="0"/>
                        </a:rPr>
                        <m:t>Env</m:t>
                      </m:r>
                      <m:r>
                        <m:rPr>
                          <m:nor/>
                        </m:rPr>
                        <a:rPr lang="en-US" sz="2800" b="0" i="0" smtClean="0">
                          <a:latin typeface="Chalk Board" panose="02000500000000000000" pitchFamily="2" charset="0"/>
                        </a:rPr>
                        <m:t> </m:t>
                      </m:r>
                    </m:oMath>
                  </m:oMathPara>
                </a14:m>
                <a:endParaRPr lang="en-US" sz="2800" dirty="0">
                  <a:latin typeface="Chalk Board" panose="02000500000000000000" pitchFamily="2" charset="0"/>
                </a:endParaRPr>
              </a:p>
            </p:txBody>
          </p:sp>
        </mc:Choice>
        <mc:Fallback xmlns="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7F482815-1095-08E2-F091-BB4427A5A3F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455115" y="2175478"/>
                <a:ext cx="1019510" cy="430887"/>
              </a:xfrm>
              <a:prstGeom prst="rect">
                <a:avLst/>
              </a:prstGeom>
              <a:blipFill>
                <a:blip r:embed="rId2"/>
                <a:stretch>
                  <a:fillRect l="-8642" t="-25714" r="-12346" b="-5142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4" name="TextBox 13">
            <a:extLst>
              <a:ext uri="{FF2B5EF4-FFF2-40B4-BE49-F238E27FC236}">
                <a16:creationId xmlns:a16="http://schemas.microsoft.com/office/drawing/2014/main" id="{D75FF864-324B-9D1E-88AB-CDB10BE9794D}"/>
              </a:ext>
            </a:extLst>
          </p:cNvPr>
          <p:cNvSpPr txBox="1"/>
          <p:nvPr/>
        </p:nvSpPr>
        <p:spPr>
          <a:xfrm>
            <a:off x="702958" y="2975450"/>
            <a:ext cx="930063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>
                <a:latin typeface="Chalk Board" panose="02000500000000000000" pitchFamily="2" charset="0"/>
              </a:rPr>
              <a:t>For all 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833DB35F-E9DA-E544-13F4-A61DB82BCD23}"/>
                  </a:ext>
                </a:extLst>
              </p:cNvPr>
              <p:cNvSpPr txBox="1"/>
              <p:nvPr/>
            </p:nvSpPr>
            <p:spPr>
              <a:xfrm>
                <a:off x="1537594" y="2976906"/>
                <a:ext cx="929742" cy="43088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nor/>
                        </m:rPr>
                        <a:rPr lang="en-US" sz="2800" b="0" i="0" smtClean="0">
                          <a:latin typeface="Chalk Board" panose="02000500000000000000" pitchFamily="2" charset="0"/>
                        </a:rPr>
                        <m:t>Z</m:t>
                      </m:r>
                      <m:r>
                        <m:rPr>
                          <m:nor/>
                        </m:rPr>
                        <a:rPr lang="en-US" sz="2800" b="0" i="0" smtClean="0">
                          <a:latin typeface="Chalk Board" panose="02000500000000000000" pitchFamily="2" charset="0"/>
                        </a:rPr>
                        <m:t>∈</m:t>
                      </m:r>
                      <m:r>
                        <m:rPr>
                          <m:nor/>
                        </m:rPr>
                        <a:rPr lang="en-US" sz="2800" b="0" i="0" smtClean="0">
                          <a:latin typeface="Chalk Board" panose="02000500000000000000" pitchFamily="2" charset="0"/>
                        </a:rPr>
                        <m:t>Env</m:t>
                      </m:r>
                      <m:r>
                        <m:rPr>
                          <m:nor/>
                        </m:rPr>
                        <a:rPr lang="en-US" sz="2800" b="0" i="0" smtClean="0">
                          <a:latin typeface="Chalk Board" panose="02000500000000000000" pitchFamily="2" charset="0"/>
                        </a:rPr>
                        <m:t> </m:t>
                      </m:r>
                    </m:oMath>
                  </m:oMathPara>
                </a14:m>
                <a:endParaRPr lang="en-US" sz="2800" dirty="0">
                  <a:latin typeface="Chalk Board" panose="02000500000000000000" pitchFamily="2" charset="0"/>
                </a:endParaRPr>
              </a:p>
            </p:txBody>
          </p:sp>
        </mc:Choice>
        <mc:Fallback xmlns="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833DB35F-E9DA-E544-13F4-A61DB82BCD2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537594" y="2976906"/>
                <a:ext cx="929742" cy="430887"/>
              </a:xfrm>
              <a:prstGeom prst="rect">
                <a:avLst/>
              </a:prstGeom>
              <a:blipFill>
                <a:blip r:embed="rId3"/>
                <a:stretch>
                  <a:fillRect l="-8000" t="-25714" r="-13333" b="-5142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6" name="TextBox 15">
            <a:extLst>
              <a:ext uri="{FF2B5EF4-FFF2-40B4-BE49-F238E27FC236}">
                <a16:creationId xmlns:a16="http://schemas.microsoft.com/office/drawing/2014/main" id="{01C64B85-1B2E-ADE9-981C-C877F5022D13}"/>
              </a:ext>
            </a:extLst>
          </p:cNvPr>
          <p:cNvSpPr txBox="1"/>
          <p:nvPr/>
        </p:nvSpPr>
        <p:spPr>
          <a:xfrm>
            <a:off x="2396685" y="2975450"/>
            <a:ext cx="864339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>
                <a:latin typeface="Chalk Board" panose="02000500000000000000" pitchFamily="2" charset="0"/>
              </a:rPr>
              <a:t>and all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FD92B279-8350-2EA1-63AB-3BDEB0C4E703}"/>
                  </a:ext>
                </a:extLst>
              </p:cNvPr>
              <p:cNvSpPr txBox="1"/>
              <p:nvPr/>
            </p:nvSpPr>
            <p:spPr>
              <a:xfrm>
                <a:off x="3268828" y="3021616"/>
                <a:ext cx="1006686" cy="43088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nor/>
                        </m:rPr>
                        <a:rPr lang="en-US" sz="2800" b="0" i="0" smtClean="0">
                          <a:latin typeface="Chalk Board" panose="02000500000000000000" pitchFamily="2" charset="0"/>
                        </a:rPr>
                        <m:t>Π</m:t>
                      </m:r>
                      <m:r>
                        <m:rPr>
                          <m:nor/>
                        </m:rPr>
                        <a:rPr lang="en-US" sz="2800" b="0" i="0" smtClean="0">
                          <a:latin typeface="Chalk Board" panose="02000500000000000000" pitchFamily="2" charset="0"/>
                        </a:rPr>
                        <m:t>∈</m:t>
                      </m:r>
                      <m:r>
                        <m:rPr>
                          <m:nor/>
                        </m:rPr>
                        <a:rPr lang="en-US" sz="2800" b="0" i="0" smtClean="0">
                          <a:latin typeface="Chalk Board" panose="02000500000000000000" pitchFamily="2" charset="0"/>
                        </a:rPr>
                        <m:t>Pro</m:t>
                      </m:r>
                      <m:r>
                        <m:rPr>
                          <m:nor/>
                        </m:rPr>
                        <a:rPr lang="en-US" sz="2800" b="0" i="0" smtClean="0">
                          <a:latin typeface="Chalk Board" panose="02000500000000000000" pitchFamily="2" charset="0"/>
                        </a:rPr>
                        <m:t> </m:t>
                      </m:r>
                    </m:oMath>
                  </m:oMathPara>
                </a14:m>
                <a:endParaRPr lang="en-US" sz="2800" dirty="0">
                  <a:latin typeface="Chalk Board" panose="02000500000000000000" pitchFamily="2" charset="0"/>
                </a:endParaRPr>
              </a:p>
            </p:txBody>
          </p:sp>
        </mc:Choice>
        <mc:Fallback xmlns="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FD92B279-8350-2EA1-63AB-3BDEB0C4E70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268828" y="3021616"/>
                <a:ext cx="1006686" cy="430887"/>
              </a:xfrm>
              <a:prstGeom prst="rect">
                <a:avLst/>
              </a:prstGeom>
              <a:blipFill>
                <a:blip r:embed="rId4"/>
                <a:stretch>
                  <a:fillRect l="-7500" t="-29412" r="-13750" b="-5294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7DC48282-85B1-DF2E-A95B-988C9C93C1FF}"/>
                  </a:ext>
                </a:extLst>
              </p:cNvPr>
              <p:cNvSpPr txBox="1"/>
              <p:nvPr/>
            </p:nvSpPr>
            <p:spPr>
              <a:xfrm>
                <a:off x="5014401" y="3012189"/>
                <a:ext cx="1271182" cy="43088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nor/>
                        </m:rPr>
                        <a:rPr lang="en-US" sz="2800" b="0" i="0" smtClean="0">
                          <a:latin typeface="Chalk Board" panose="02000500000000000000" pitchFamily="2" charset="0"/>
                        </a:rPr>
                        <m:t>Π</m:t>
                      </m:r>
                      <m:r>
                        <m:rPr>
                          <m:nor/>
                        </m:rPr>
                        <a:rPr lang="en-US" sz="2800" b="0" i="0" smtClean="0">
                          <a:latin typeface="Chalk Board" panose="02000500000000000000" pitchFamily="2" charset="0"/>
                        </a:rPr>
                        <m:t>⋄</m:t>
                      </m:r>
                      <m:r>
                        <m:rPr>
                          <m:nor/>
                        </m:rPr>
                        <a:rPr lang="en-US" sz="2800" b="0" i="0" smtClean="0">
                          <a:latin typeface="Chalk Board" panose="02000500000000000000" pitchFamily="2" charset="0"/>
                        </a:rPr>
                        <m:t>Z</m:t>
                      </m:r>
                      <m:r>
                        <m:rPr>
                          <m:nor/>
                        </m:rPr>
                        <a:rPr lang="en-US" sz="2800" b="0" i="0" smtClean="0">
                          <a:latin typeface="Chalk Board" panose="02000500000000000000" pitchFamily="2" charset="0"/>
                        </a:rPr>
                        <m:t>≠⊥ </m:t>
                      </m:r>
                    </m:oMath>
                  </m:oMathPara>
                </a14:m>
                <a:endParaRPr lang="en-US" sz="2800" dirty="0">
                  <a:latin typeface="Chalk Board" panose="02000500000000000000" pitchFamily="2" charset="0"/>
                </a:endParaRPr>
              </a:p>
            </p:txBody>
          </p:sp>
        </mc:Choice>
        <mc:Fallback xmlns="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7DC48282-85B1-DF2E-A95B-988C9C93C1F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014401" y="3012189"/>
                <a:ext cx="1271182" cy="430887"/>
              </a:xfrm>
              <a:prstGeom prst="rect">
                <a:avLst/>
              </a:prstGeom>
              <a:blipFill>
                <a:blip r:embed="rId5"/>
                <a:stretch>
                  <a:fillRect l="-7000" t="-25714" r="-11000" b="-4857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0" name="TextBox 19">
            <a:extLst>
              <a:ext uri="{FF2B5EF4-FFF2-40B4-BE49-F238E27FC236}">
                <a16:creationId xmlns:a16="http://schemas.microsoft.com/office/drawing/2014/main" id="{B881BEC2-E1B3-E1DC-21DD-F6FA056991A6}"/>
              </a:ext>
            </a:extLst>
          </p:cNvPr>
          <p:cNvSpPr txBox="1"/>
          <p:nvPr/>
        </p:nvSpPr>
        <p:spPr>
          <a:xfrm>
            <a:off x="6136342" y="2964574"/>
            <a:ext cx="286488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>
                <a:latin typeface="Chalk Board" panose="02000500000000000000" pitchFamily="2" charset="0"/>
              </a:rPr>
              <a:t> and the protocol ports of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30075113-4C71-C674-A5AC-4A229E5DDD1A}"/>
              </a:ext>
            </a:extLst>
          </p:cNvPr>
          <p:cNvSpPr txBox="1"/>
          <p:nvPr/>
        </p:nvSpPr>
        <p:spPr>
          <a:xfrm>
            <a:off x="7564510" y="3407793"/>
            <a:ext cx="3950120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>
                <a:latin typeface="Chalk Board" panose="02000500000000000000" pitchFamily="2" charset="0"/>
              </a:rPr>
              <a:t> connect to the protocol ports of  Z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389C0A25-F914-0C0E-560D-1D6EF0F3B8D3}"/>
              </a:ext>
            </a:extLst>
          </p:cNvPr>
          <p:cNvSpPr txBox="1"/>
          <p:nvPr/>
        </p:nvSpPr>
        <p:spPr>
          <a:xfrm>
            <a:off x="7612992" y="3883399"/>
            <a:ext cx="1609736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>
                <a:latin typeface="Chalk Board" panose="02000500000000000000" pitchFamily="2" charset="0"/>
              </a:rPr>
              <a:t> it holds that: 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A3A9E1F2-EE79-8BC2-55AE-0E320F5A9CC5}"/>
                  </a:ext>
                </a:extLst>
              </p:cNvPr>
              <p:cNvSpPr txBox="1"/>
              <p:nvPr/>
            </p:nvSpPr>
            <p:spPr>
              <a:xfrm>
                <a:off x="9222728" y="3893113"/>
                <a:ext cx="1333698" cy="43088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nor/>
                        </m:rPr>
                        <a:rPr lang="en-US" sz="2800" b="0" i="0" smtClean="0">
                          <a:latin typeface="Chalk Board" panose="02000500000000000000" pitchFamily="2" charset="0"/>
                        </a:rPr>
                        <m:t>Π</m:t>
                      </m:r>
                      <m:r>
                        <m:rPr>
                          <m:nor/>
                        </m:rPr>
                        <a:rPr lang="en-US" sz="2800" b="0" i="0" smtClean="0">
                          <a:latin typeface="Chalk Board" panose="02000500000000000000" pitchFamily="2" charset="0"/>
                        </a:rPr>
                        <m:t>⋄</m:t>
                      </m:r>
                      <m:r>
                        <m:rPr>
                          <m:nor/>
                        </m:rPr>
                        <a:rPr lang="en-US" sz="2800" b="0" i="0" smtClean="0">
                          <a:latin typeface="Chalk Board" panose="02000500000000000000" pitchFamily="2" charset="0"/>
                        </a:rPr>
                        <m:t>Z</m:t>
                      </m:r>
                      <m:r>
                        <m:rPr>
                          <m:nor/>
                        </m:rPr>
                        <a:rPr lang="en-US" sz="2800" b="0" i="0" smtClean="0">
                          <a:latin typeface="Chalk Board" panose="02000500000000000000" pitchFamily="2" charset="0"/>
                        </a:rPr>
                        <m:t>∈</m:t>
                      </m:r>
                      <m:r>
                        <m:rPr>
                          <m:nor/>
                        </m:rPr>
                        <a:rPr lang="en-US" sz="2800" b="0" i="0" smtClean="0">
                          <a:latin typeface="Chalk Board" panose="02000500000000000000" pitchFamily="2" charset="0"/>
                        </a:rPr>
                        <m:t>Env</m:t>
                      </m:r>
                      <m:r>
                        <m:rPr>
                          <m:nor/>
                        </m:rPr>
                        <a:rPr lang="en-US" sz="2800" b="0" i="0" smtClean="0">
                          <a:latin typeface="Chalk Board" panose="02000500000000000000" pitchFamily="2" charset="0"/>
                        </a:rPr>
                        <m:t> </m:t>
                      </m:r>
                    </m:oMath>
                  </m:oMathPara>
                </a14:m>
                <a:endParaRPr lang="en-US" sz="2800" dirty="0">
                  <a:latin typeface="Chalk Board" panose="02000500000000000000" pitchFamily="2" charset="0"/>
                </a:endParaRPr>
              </a:p>
            </p:txBody>
          </p:sp>
        </mc:Choice>
        <mc:Fallback xmlns=""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A3A9E1F2-EE79-8BC2-55AE-0E320F5A9CC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222728" y="3893113"/>
                <a:ext cx="1333698" cy="430887"/>
              </a:xfrm>
              <a:prstGeom prst="rect">
                <a:avLst/>
              </a:prstGeom>
              <a:blipFill>
                <a:blip r:embed="rId6"/>
                <a:stretch>
                  <a:fillRect l="-5660" t="-25714" r="-9434" b="-5142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4" name="TextBox 23">
            <a:extLst>
              <a:ext uri="{FF2B5EF4-FFF2-40B4-BE49-F238E27FC236}">
                <a16:creationId xmlns:a16="http://schemas.microsoft.com/office/drawing/2014/main" id="{BB05E8BF-5C62-C73F-F0A0-A4606175213D}"/>
              </a:ext>
            </a:extLst>
          </p:cNvPr>
          <p:cNvSpPr txBox="1"/>
          <p:nvPr/>
        </p:nvSpPr>
        <p:spPr>
          <a:xfrm>
            <a:off x="4193890" y="2966613"/>
            <a:ext cx="849913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>
                <a:latin typeface="Chalk Board" panose="02000500000000000000" pitchFamily="2" charset="0"/>
              </a:rPr>
              <a:t>where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BDB1E68D-AF2B-BD97-F581-FF909379EBED}"/>
                  </a:ext>
                </a:extLst>
              </p:cNvPr>
              <p:cNvSpPr txBox="1"/>
              <p:nvPr/>
            </p:nvSpPr>
            <p:spPr>
              <a:xfrm>
                <a:off x="9019062" y="3012188"/>
                <a:ext cx="331821" cy="43088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sz="2800" b="0" i="0" smtClean="0">
                          <a:latin typeface="Cambria Math" panose="02040503050406030204" pitchFamily="18" charset="0"/>
                        </a:rPr>
                        <m:t>Π</m:t>
                      </m:r>
                    </m:oMath>
                  </m:oMathPara>
                </a14:m>
                <a:endParaRPr lang="en-US" sz="2800" dirty="0">
                  <a:latin typeface="Chalk Board" panose="02000500000000000000" pitchFamily="2" charset="0"/>
                </a:endParaRPr>
              </a:p>
            </p:txBody>
          </p:sp>
        </mc:Choice>
        <mc:Fallback xmlns=""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BDB1E68D-AF2B-BD97-F581-FF909379EBE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019062" y="3012188"/>
                <a:ext cx="331821" cy="430887"/>
              </a:xfrm>
              <a:prstGeom prst="rect">
                <a:avLst/>
              </a:prstGeom>
              <a:blipFill>
                <a:blip r:embed="rId7"/>
                <a:stretch>
                  <a:fillRect l="-22222" t="-2857" r="-2222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6" name="TextBox 25">
            <a:extLst>
              <a:ext uri="{FF2B5EF4-FFF2-40B4-BE49-F238E27FC236}">
                <a16:creationId xmlns:a16="http://schemas.microsoft.com/office/drawing/2014/main" id="{DF79F286-31AE-6046-6E3C-8B5CDFB3DBC6}"/>
              </a:ext>
            </a:extLst>
          </p:cNvPr>
          <p:cNvSpPr txBox="1"/>
          <p:nvPr/>
        </p:nvSpPr>
        <p:spPr>
          <a:xfrm>
            <a:off x="885592" y="4672939"/>
            <a:ext cx="930063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>
                <a:latin typeface="Chalk Board" panose="02000500000000000000" pitchFamily="2" charset="0"/>
              </a:rPr>
              <a:t>For all 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7" name="TextBox 26">
                <a:extLst>
                  <a:ext uri="{FF2B5EF4-FFF2-40B4-BE49-F238E27FC236}">
                    <a16:creationId xmlns:a16="http://schemas.microsoft.com/office/drawing/2014/main" id="{7520ADCE-3C9C-8FE7-6D85-F305297B6AF9}"/>
                  </a:ext>
                </a:extLst>
              </p:cNvPr>
              <p:cNvSpPr txBox="1"/>
              <p:nvPr/>
            </p:nvSpPr>
            <p:spPr>
              <a:xfrm>
                <a:off x="1720228" y="4674395"/>
                <a:ext cx="929742" cy="43088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nor/>
                        </m:rPr>
                        <a:rPr lang="en-US" sz="2800" b="0" i="0" smtClean="0">
                          <a:latin typeface="Chalk Board" panose="02000500000000000000" pitchFamily="2" charset="0"/>
                        </a:rPr>
                        <m:t>Z</m:t>
                      </m:r>
                      <m:r>
                        <m:rPr>
                          <m:nor/>
                        </m:rPr>
                        <a:rPr lang="en-US" sz="2800" b="0" i="0" smtClean="0">
                          <a:latin typeface="Chalk Board" panose="02000500000000000000" pitchFamily="2" charset="0"/>
                        </a:rPr>
                        <m:t>∈</m:t>
                      </m:r>
                      <m:r>
                        <m:rPr>
                          <m:nor/>
                        </m:rPr>
                        <a:rPr lang="en-US" sz="2800" b="0" i="0" smtClean="0">
                          <a:latin typeface="Chalk Board" panose="02000500000000000000" pitchFamily="2" charset="0"/>
                        </a:rPr>
                        <m:t>Env</m:t>
                      </m:r>
                      <m:r>
                        <m:rPr>
                          <m:nor/>
                        </m:rPr>
                        <a:rPr lang="en-US" sz="2800" b="0" i="0" smtClean="0">
                          <a:latin typeface="Chalk Board" panose="02000500000000000000" pitchFamily="2" charset="0"/>
                        </a:rPr>
                        <m:t> </m:t>
                      </m:r>
                    </m:oMath>
                  </m:oMathPara>
                </a14:m>
                <a:endParaRPr lang="en-US" sz="2800" dirty="0">
                  <a:latin typeface="Chalk Board" panose="02000500000000000000" pitchFamily="2" charset="0"/>
                </a:endParaRPr>
              </a:p>
            </p:txBody>
          </p:sp>
        </mc:Choice>
        <mc:Fallback xmlns="">
          <p:sp>
            <p:nvSpPr>
              <p:cNvPr id="27" name="TextBox 26">
                <a:extLst>
                  <a:ext uri="{FF2B5EF4-FFF2-40B4-BE49-F238E27FC236}">
                    <a16:creationId xmlns:a16="http://schemas.microsoft.com/office/drawing/2014/main" id="{7520ADCE-3C9C-8FE7-6D85-F305297B6AF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720228" y="4674395"/>
                <a:ext cx="929742" cy="430887"/>
              </a:xfrm>
              <a:prstGeom prst="rect">
                <a:avLst/>
              </a:prstGeom>
              <a:blipFill>
                <a:blip r:embed="rId8"/>
                <a:stretch>
                  <a:fillRect l="-9459" t="-26471" r="-13514" b="-5588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8" name="TextBox 27">
            <a:extLst>
              <a:ext uri="{FF2B5EF4-FFF2-40B4-BE49-F238E27FC236}">
                <a16:creationId xmlns:a16="http://schemas.microsoft.com/office/drawing/2014/main" id="{0ADE156C-CBFE-7137-D0E2-0C2C1B7E8DE5}"/>
              </a:ext>
            </a:extLst>
          </p:cNvPr>
          <p:cNvSpPr txBox="1"/>
          <p:nvPr/>
        </p:nvSpPr>
        <p:spPr>
          <a:xfrm>
            <a:off x="2579319" y="4672939"/>
            <a:ext cx="864339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>
                <a:latin typeface="Chalk Board" panose="02000500000000000000" pitchFamily="2" charset="0"/>
              </a:rPr>
              <a:t>and all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9" name="TextBox 28">
                <a:extLst>
                  <a:ext uri="{FF2B5EF4-FFF2-40B4-BE49-F238E27FC236}">
                    <a16:creationId xmlns:a16="http://schemas.microsoft.com/office/drawing/2014/main" id="{9540D311-DEE8-A54A-5289-7253F737B9E2}"/>
                  </a:ext>
                </a:extLst>
              </p:cNvPr>
              <p:cNvSpPr txBox="1"/>
              <p:nvPr/>
            </p:nvSpPr>
            <p:spPr>
              <a:xfrm>
                <a:off x="3451462" y="4719105"/>
                <a:ext cx="888064" cy="43088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nor/>
                        </m:rPr>
                        <a:rPr lang="en-US" sz="2800" b="0" i="0" smtClean="0">
                          <a:latin typeface="Chalk Board" panose="02000500000000000000" pitchFamily="2" charset="0"/>
                        </a:rPr>
                        <m:t>S</m:t>
                      </m:r>
                      <m:r>
                        <m:rPr>
                          <m:nor/>
                        </m:rPr>
                        <a:rPr lang="en-US" sz="2800" b="0" i="0" smtClean="0">
                          <a:latin typeface="Chalk Board" panose="02000500000000000000" pitchFamily="2" charset="0"/>
                        </a:rPr>
                        <m:t>∈</m:t>
                      </m:r>
                      <m:r>
                        <m:rPr>
                          <m:nor/>
                        </m:rPr>
                        <a:rPr lang="en-US" sz="2800" b="0" i="0" smtClean="0">
                          <a:latin typeface="Chalk Board" panose="02000500000000000000" pitchFamily="2" charset="0"/>
                        </a:rPr>
                        <m:t>Sim</m:t>
                      </m:r>
                      <m:r>
                        <m:rPr>
                          <m:nor/>
                        </m:rPr>
                        <a:rPr lang="en-US" sz="2800" b="0" i="0" smtClean="0">
                          <a:latin typeface="Chalk Board" panose="02000500000000000000" pitchFamily="2" charset="0"/>
                        </a:rPr>
                        <m:t> </m:t>
                      </m:r>
                    </m:oMath>
                  </m:oMathPara>
                </a14:m>
                <a:endParaRPr lang="en-US" sz="2800" dirty="0">
                  <a:latin typeface="Chalk Board" panose="02000500000000000000" pitchFamily="2" charset="0"/>
                </a:endParaRPr>
              </a:p>
            </p:txBody>
          </p:sp>
        </mc:Choice>
        <mc:Fallback xmlns="">
          <p:sp>
            <p:nvSpPr>
              <p:cNvPr id="29" name="TextBox 28">
                <a:extLst>
                  <a:ext uri="{FF2B5EF4-FFF2-40B4-BE49-F238E27FC236}">
                    <a16:creationId xmlns:a16="http://schemas.microsoft.com/office/drawing/2014/main" id="{9540D311-DEE8-A54A-5289-7253F737B9E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451462" y="4719105"/>
                <a:ext cx="888064" cy="430887"/>
              </a:xfrm>
              <a:prstGeom prst="rect">
                <a:avLst/>
              </a:prstGeom>
              <a:blipFill>
                <a:blip r:embed="rId9"/>
                <a:stretch>
                  <a:fillRect l="-9859" t="-25714" r="-14085" b="-5142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0" name="TextBox 29">
                <a:extLst>
                  <a:ext uri="{FF2B5EF4-FFF2-40B4-BE49-F238E27FC236}">
                    <a16:creationId xmlns:a16="http://schemas.microsoft.com/office/drawing/2014/main" id="{A03CA7E8-6B31-5CF4-BF9C-249B067E610D}"/>
                  </a:ext>
                </a:extLst>
              </p:cNvPr>
              <p:cNvSpPr txBox="1"/>
              <p:nvPr/>
            </p:nvSpPr>
            <p:spPr>
              <a:xfrm>
                <a:off x="5197035" y="4709678"/>
                <a:ext cx="1165383" cy="43088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nor/>
                        </m:rPr>
                        <a:rPr lang="en-US" sz="2800" b="0" i="0" smtClean="0">
                          <a:latin typeface="Chalk Board" panose="02000500000000000000" pitchFamily="2" charset="0"/>
                        </a:rPr>
                        <m:t>S</m:t>
                      </m:r>
                      <m:r>
                        <m:rPr>
                          <m:nor/>
                        </m:rPr>
                        <a:rPr lang="en-US" sz="2800" b="0" i="0" smtClean="0">
                          <a:latin typeface="Chalk Board" panose="02000500000000000000" pitchFamily="2" charset="0"/>
                        </a:rPr>
                        <m:t>⋄</m:t>
                      </m:r>
                      <m:r>
                        <m:rPr>
                          <m:nor/>
                        </m:rPr>
                        <a:rPr lang="en-US" sz="2800" b="0" i="0" smtClean="0">
                          <a:latin typeface="Chalk Board" panose="02000500000000000000" pitchFamily="2" charset="0"/>
                        </a:rPr>
                        <m:t>Z</m:t>
                      </m:r>
                      <m:r>
                        <m:rPr>
                          <m:nor/>
                        </m:rPr>
                        <a:rPr lang="en-US" sz="2800" b="0" i="0" smtClean="0">
                          <a:latin typeface="Chalk Board" panose="02000500000000000000" pitchFamily="2" charset="0"/>
                        </a:rPr>
                        <m:t>≠⊥ </m:t>
                      </m:r>
                    </m:oMath>
                  </m:oMathPara>
                </a14:m>
                <a:endParaRPr lang="en-US" sz="2800" dirty="0">
                  <a:latin typeface="Chalk Board" panose="02000500000000000000" pitchFamily="2" charset="0"/>
                </a:endParaRPr>
              </a:p>
            </p:txBody>
          </p:sp>
        </mc:Choice>
        <mc:Fallback xmlns="">
          <p:sp>
            <p:nvSpPr>
              <p:cNvPr id="30" name="TextBox 29">
                <a:extLst>
                  <a:ext uri="{FF2B5EF4-FFF2-40B4-BE49-F238E27FC236}">
                    <a16:creationId xmlns:a16="http://schemas.microsoft.com/office/drawing/2014/main" id="{A03CA7E8-6B31-5CF4-BF9C-249B067E610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197035" y="4709678"/>
                <a:ext cx="1165383" cy="430887"/>
              </a:xfrm>
              <a:prstGeom prst="rect">
                <a:avLst/>
              </a:prstGeom>
              <a:blipFill>
                <a:blip r:embed="rId10"/>
                <a:stretch>
                  <a:fillRect l="-7527" t="-29412" r="-10753" b="-5294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1" name="TextBox 30">
            <a:extLst>
              <a:ext uri="{FF2B5EF4-FFF2-40B4-BE49-F238E27FC236}">
                <a16:creationId xmlns:a16="http://schemas.microsoft.com/office/drawing/2014/main" id="{99EF8212-3808-0B7F-1E7B-C05816BAC376}"/>
              </a:ext>
            </a:extLst>
          </p:cNvPr>
          <p:cNvSpPr txBox="1"/>
          <p:nvPr/>
        </p:nvSpPr>
        <p:spPr>
          <a:xfrm>
            <a:off x="6318976" y="4662063"/>
            <a:ext cx="3241593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>
                <a:latin typeface="Chalk Board" panose="02000500000000000000" pitchFamily="2" charset="0"/>
              </a:rPr>
              <a:t> and the simulation ports of S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C82D24A4-D9C4-7EB9-A9D8-F3EF8DE2DEC5}"/>
              </a:ext>
            </a:extLst>
          </p:cNvPr>
          <p:cNvSpPr txBox="1"/>
          <p:nvPr/>
        </p:nvSpPr>
        <p:spPr>
          <a:xfrm>
            <a:off x="7747144" y="5105282"/>
            <a:ext cx="3810659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>
                <a:latin typeface="Chalk Board" panose="02000500000000000000" pitchFamily="2" charset="0"/>
              </a:rPr>
              <a:t> connect to the special ports of  Z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4A20061C-2433-0552-E461-9373E94460F3}"/>
              </a:ext>
            </a:extLst>
          </p:cNvPr>
          <p:cNvSpPr txBox="1"/>
          <p:nvPr/>
        </p:nvSpPr>
        <p:spPr>
          <a:xfrm>
            <a:off x="7795626" y="5580888"/>
            <a:ext cx="1609736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>
                <a:latin typeface="Chalk Board" panose="02000500000000000000" pitchFamily="2" charset="0"/>
              </a:rPr>
              <a:t> it holds that: 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4" name="TextBox 33">
                <a:extLst>
                  <a:ext uri="{FF2B5EF4-FFF2-40B4-BE49-F238E27FC236}">
                    <a16:creationId xmlns:a16="http://schemas.microsoft.com/office/drawing/2014/main" id="{9DEC7042-FB17-7A3D-B621-273D613FF028}"/>
                  </a:ext>
                </a:extLst>
              </p:cNvPr>
              <p:cNvSpPr txBox="1"/>
              <p:nvPr/>
            </p:nvSpPr>
            <p:spPr>
              <a:xfrm>
                <a:off x="9405362" y="5590602"/>
                <a:ext cx="1218282" cy="43088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nor/>
                        </m:rPr>
                        <a:rPr lang="en-US" sz="2800" b="0" i="0" smtClean="0">
                          <a:latin typeface="Chalk Board" panose="02000500000000000000" pitchFamily="2" charset="0"/>
                        </a:rPr>
                        <m:t>S</m:t>
                      </m:r>
                      <m:r>
                        <m:rPr>
                          <m:nor/>
                        </m:rPr>
                        <a:rPr lang="en-US" sz="2800" b="0" i="0" smtClean="0">
                          <a:latin typeface="Chalk Board" panose="02000500000000000000" pitchFamily="2" charset="0"/>
                        </a:rPr>
                        <m:t>⋄</m:t>
                      </m:r>
                      <m:r>
                        <m:rPr>
                          <m:nor/>
                        </m:rPr>
                        <a:rPr lang="en-US" sz="2800" b="0" i="0" smtClean="0">
                          <a:latin typeface="Chalk Board" panose="02000500000000000000" pitchFamily="2" charset="0"/>
                        </a:rPr>
                        <m:t>Z</m:t>
                      </m:r>
                      <m:r>
                        <m:rPr>
                          <m:nor/>
                        </m:rPr>
                        <a:rPr lang="en-US" sz="2800" b="0" i="0" smtClean="0">
                          <a:latin typeface="Chalk Board" panose="02000500000000000000" pitchFamily="2" charset="0"/>
                        </a:rPr>
                        <m:t>∈</m:t>
                      </m:r>
                      <m:r>
                        <m:rPr>
                          <m:nor/>
                        </m:rPr>
                        <a:rPr lang="en-US" sz="2800" b="0" i="0" smtClean="0">
                          <a:latin typeface="Chalk Board" panose="02000500000000000000" pitchFamily="2" charset="0"/>
                        </a:rPr>
                        <m:t>Env</m:t>
                      </m:r>
                      <m:r>
                        <m:rPr>
                          <m:nor/>
                        </m:rPr>
                        <a:rPr lang="en-US" sz="2800" b="0" i="0" smtClean="0">
                          <a:latin typeface="Chalk Board" panose="02000500000000000000" pitchFamily="2" charset="0"/>
                        </a:rPr>
                        <m:t> </m:t>
                      </m:r>
                    </m:oMath>
                  </m:oMathPara>
                </a14:m>
                <a:endParaRPr lang="en-US" sz="2800" dirty="0">
                  <a:latin typeface="Chalk Board" panose="02000500000000000000" pitchFamily="2" charset="0"/>
                </a:endParaRPr>
              </a:p>
            </p:txBody>
          </p:sp>
        </mc:Choice>
        <mc:Fallback xmlns="">
          <p:sp>
            <p:nvSpPr>
              <p:cNvPr id="34" name="TextBox 33">
                <a:extLst>
                  <a:ext uri="{FF2B5EF4-FFF2-40B4-BE49-F238E27FC236}">
                    <a16:creationId xmlns:a16="http://schemas.microsoft.com/office/drawing/2014/main" id="{9DEC7042-FB17-7A3D-B621-273D613FF02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405362" y="5590602"/>
                <a:ext cx="1218282" cy="430887"/>
              </a:xfrm>
              <a:prstGeom prst="rect">
                <a:avLst/>
              </a:prstGeom>
              <a:blipFill>
                <a:blip r:embed="rId11"/>
                <a:stretch>
                  <a:fillRect l="-7216" t="-25714" r="-10309" b="-5142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5" name="TextBox 34">
            <a:extLst>
              <a:ext uri="{FF2B5EF4-FFF2-40B4-BE49-F238E27FC236}">
                <a16:creationId xmlns:a16="http://schemas.microsoft.com/office/drawing/2014/main" id="{2692E089-A5F4-331F-AD8F-B55D3E1372E7}"/>
              </a:ext>
            </a:extLst>
          </p:cNvPr>
          <p:cNvSpPr txBox="1"/>
          <p:nvPr/>
        </p:nvSpPr>
        <p:spPr>
          <a:xfrm>
            <a:off x="4376524" y="4664102"/>
            <a:ext cx="849913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>
                <a:latin typeface="Chalk Board" panose="02000500000000000000" pitchFamily="2" charset="0"/>
              </a:rPr>
              <a:t>where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91C01C84-85AB-1DA3-B201-87AF17B11047}"/>
              </a:ext>
            </a:extLst>
          </p:cNvPr>
          <p:cNvSpPr txBox="1"/>
          <p:nvPr/>
        </p:nvSpPr>
        <p:spPr>
          <a:xfrm>
            <a:off x="9262228" y="4684109"/>
            <a:ext cx="89768" cy="430887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r>
              <a:rPr lang="en-US" sz="2800" dirty="0">
                <a:latin typeface="Chalk Board" panose="02000500000000000000" pitchFamily="2" charset="0"/>
              </a:rPr>
              <a:t> </a:t>
            </a:r>
          </a:p>
        </p:txBody>
      </p:sp>
      <p:sp>
        <p:nvSpPr>
          <p:cNvPr id="37" name="Rounded Rectangle 36">
            <a:extLst>
              <a:ext uri="{FF2B5EF4-FFF2-40B4-BE49-F238E27FC236}">
                <a16:creationId xmlns:a16="http://schemas.microsoft.com/office/drawing/2014/main" id="{BB9CA098-8150-C784-B8E4-CFCE2E500B6C}"/>
              </a:ext>
            </a:extLst>
          </p:cNvPr>
          <p:cNvSpPr/>
          <p:nvPr/>
        </p:nvSpPr>
        <p:spPr>
          <a:xfrm>
            <a:off x="188260" y="682603"/>
            <a:ext cx="11658599" cy="5889812"/>
          </a:xfrm>
          <a:prstGeom prst="round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76E120FB-765A-DD34-9481-B187C36C7B92}"/>
              </a:ext>
            </a:extLst>
          </p:cNvPr>
          <p:cNvSpPr txBox="1"/>
          <p:nvPr/>
        </p:nvSpPr>
        <p:spPr>
          <a:xfrm rot="20612624">
            <a:off x="1335731" y="383655"/>
            <a:ext cx="1408847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000" dirty="0" err="1">
                <a:solidFill>
                  <a:srgbClr val="C00000"/>
                </a:solidFill>
                <a:latin typeface="KG Ten Thousand Reasons" panose="02000000000000000000" pitchFamily="2" charset="77"/>
              </a:rPr>
              <a:t>Defn</a:t>
            </a:r>
            <a:endParaRPr lang="en-US" dirty="0">
              <a:solidFill>
                <a:srgbClr val="C00000"/>
              </a:solidFill>
              <a:latin typeface="KG Ten Thousand Reasons" panose="02000000000000000000" pitchFamily="2" charset="77"/>
            </a:endParaRPr>
          </a:p>
        </p:txBody>
      </p:sp>
    </p:spTree>
    <p:extLst>
      <p:ext uri="{BB962C8B-B14F-4D97-AF65-F5344CB8AC3E}">
        <p14:creationId xmlns:p14="http://schemas.microsoft.com/office/powerpoint/2010/main" val="1936145404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7922786D-B580-C810-FDD4-A20FFD951FCC}"/>
              </a:ext>
            </a:extLst>
          </p:cNvPr>
          <p:cNvSpPr txBox="1"/>
          <p:nvPr/>
        </p:nvSpPr>
        <p:spPr>
          <a:xfrm>
            <a:off x="640529" y="192993"/>
            <a:ext cx="5945858" cy="110799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6600" dirty="0">
                <a:latin typeface="Chalk Board" panose="02000500000000000000" pitchFamily="2" charset="0"/>
              </a:rPr>
              <a:t>UC Theorem (on Board)</a:t>
            </a:r>
          </a:p>
        </p:txBody>
      </p:sp>
    </p:spTree>
    <p:extLst>
      <p:ext uri="{BB962C8B-B14F-4D97-AF65-F5344CB8AC3E}">
        <p14:creationId xmlns:p14="http://schemas.microsoft.com/office/powerpoint/2010/main" val="2994731957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115B8EF7-77D9-D892-D9B4-4447D6BF4F95}"/>
              </a:ext>
            </a:extLst>
          </p:cNvPr>
          <p:cNvSpPr txBox="1"/>
          <p:nvPr/>
        </p:nvSpPr>
        <p:spPr>
          <a:xfrm>
            <a:off x="512616" y="1690254"/>
            <a:ext cx="10751129" cy="286232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 dirty="0"/>
              <a:t>Revision of Chapter 4 on Saturday, 10:30 AM, KD 101</a:t>
            </a:r>
          </a:p>
          <a:p>
            <a:r>
              <a:rPr lang="en-US" sz="3600" dirty="0"/>
              <a:t>(This is optional; no new material)</a:t>
            </a:r>
          </a:p>
          <a:p>
            <a:endParaRPr lang="en-US" sz="3600" dirty="0"/>
          </a:p>
          <a:p>
            <a:r>
              <a:rPr lang="en-US" sz="3600" dirty="0"/>
              <a:t>Quiz 2 will be on Tuesday, 7-April-2026, Syllabus: Chapter 4</a:t>
            </a:r>
          </a:p>
        </p:txBody>
      </p:sp>
    </p:spTree>
    <p:extLst>
      <p:ext uri="{BB962C8B-B14F-4D97-AF65-F5344CB8AC3E}">
        <p14:creationId xmlns:p14="http://schemas.microsoft.com/office/powerpoint/2010/main" val="2698153141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07B61F60-2EE3-4C42-CDA1-05195F9EE69D}"/>
              </a:ext>
            </a:extLst>
          </p:cNvPr>
          <p:cNvSpPr txBox="1"/>
          <p:nvPr/>
        </p:nvSpPr>
        <p:spPr>
          <a:xfrm>
            <a:off x="632012" y="692757"/>
            <a:ext cx="8355172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7200" dirty="0">
                <a:latin typeface="Chalk Board" panose="02000500000000000000" pitchFamily="2" charset="0"/>
              </a:rPr>
              <a:t>Adversaries and Their Powers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09590CA7-0BF7-0264-8E4B-33B3D0EE739D}"/>
              </a:ext>
            </a:extLst>
          </p:cNvPr>
          <p:cNvSpPr txBox="1"/>
          <p:nvPr/>
        </p:nvSpPr>
        <p:spPr>
          <a:xfrm>
            <a:off x="1580763" y="2354751"/>
            <a:ext cx="3427541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800" dirty="0">
                <a:latin typeface="Chalk Board" panose="02000500000000000000" pitchFamily="2" charset="0"/>
              </a:rPr>
              <a:t>Threshold Security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5D3D0BD-F1C9-61C4-BD64-585C2BEBDD42}"/>
              </a:ext>
            </a:extLst>
          </p:cNvPr>
          <p:cNvSpPr txBox="1"/>
          <p:nvPr/>
        </p:nvSpPr>
        <p:spPr>
          <a:xfrm>
            <a:off x="1493598" y="3185748"/>
            <a:ext cx="6649577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800" dirty="0">
                <a:latin typeface="Chalk Board" panose="02000500000000000000" pitchFamily="2" charset="0"/>
              </a:rPr>
              <a:t>Adaptive Security vs. Static Security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998A8135-F9BA-A115-E6F8-9A229F7A5884}"/>
              </a:ext>
            </a:extLst>
          </p:cNvPr>
          <p:cNvSpPr txBox="1"/>
          <p:nvPr/>
        </p:nvSpPr>
        <p:spPr>
          <a:xfrm>
            <a:off x="1493598" y="3928729"/>
            <a:ext cx="6505307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800" dirty="0">
                <a:latin typeface="Chalk Board" panose="02000500000000000000" pitchFamily="2" charset="0"/>
              </a:rPr>
              <a:t>Active Security vs. Passive Security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9951C1EF-25EB-81CE-246B-5DF39771CC37}"/>
              </a:ext>
            </a:extLst>
          </p:cNvPr>
          <p:cNvSpPr txBox="1"/>
          <p:nvPr/>
        </p:nvSpPr>
        <p:spPr>
          <a:xfrm>
            <a:off x="1493598" y="4775542"/>
            <a:ext cx="8786380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800" dirty="0">
                <a:latin typeface="Chalk Board" panose="02000500000000000000" pitchFamily="2" charset="0"/>
              </a:rPr>
              <a:t>Unconditional Security vs. Computational Security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CB00CA46-E8DC-0FA4-A2C4-062DCF79BC57}"/>
              </a:ext>
            </a:extLst>
          </p:cNvPr>
          <p:cNvSpPr txBox="1"/>
          <p:nvPr/>
        </p:nvSpPr>
        <p:spPr>
          <a:xfrm>
            <a:off x="1493598" y="5639592"/>
            <a:ext cx="5718232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800" dirty="0">
                <a:latin typeface="Chalk Board" panose="02000500000000000000" pitchFamily="2" charset="0"/>
              </a:rPr>
              <a:t>Synchronous vs. Asynchronous </a:t>
            </a:r>
          </a:p>
        </p:txBody>
      </p:sp>
    </p:spTree>
    <p:extLst>
      <p:ext uri="{BB962C8B-B14F-4D97-AF65-F5344CB8AC3E}">
        <p14:creationId xmlns:p14="http://schemas.microsoft.com/office/powerpoint/2010/main" val="2368844083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2B9D1F0-BA02-E570-EE2E-0ED9ED3C3D7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858610DD-5FA9-8B47-0E34-9190BB926E35}"/>
              </a:ext>
            </a:extLst>
          </p:cNvPr>
          <p:cNvSpPr txBox="1"/>
          <p:nvPr/>
        </p:nvSpPr>
        <p:spPr>
          <a:xfrm>
            <a:off x="383974" y="1373116"/>
            <a:ext cx="6130204" cy="144655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8800" dirty="0">
                <a:latin typeface="Chalk Board" panose="02000500000000000000" pitchFamily="2" charset="0"/>
              </a:rPr>
              <a:t>Threshold Security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273F190B-6BBB-BBCD-030E-20BC5D567FC5}"/>
              </a:ext>
            </a:extLst>
          </p:cNvPr>
          <p:cNvSpPr txBox="1"/>
          <p:nvPr/>
        </p:nvSpPr>
        <p:spPr>
          <a:xfrm>
            <a:off x="383974" y="2948562"/>
            <a:ext cx="367761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dirty="0">
                <a:latin typeface="Chalk Board" panose="02000500000000000000" pitchFamily="2" charset="0"/>
              </a:rPr>
              <a:t>Remember the CEPS Protocol: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75A6B74F-98D4-600B-8A13-8A54DFD79733}"/>
              </a:ext>
            </a:extLst>
          </p:cNvPr>
          <p:cNvSpPr txBox="1"/>
          <p:nvPr/>
        </p:nvSpPr>
        <p:spPr>
          <a:xfrm>
            <a:off x="871264" y="3825806"/>
            <a:ext cx="373050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dirty="0">
                <a:latin typeface="Chalk Board" panose="02000500000000000000" pitchFamily="2" charset="0"/>
              </a:rPr>
              <a:t>The protocol is secure against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D246102D-4D4A-4851-F5F0-6C2FFFA19F80}"/>
              </a:ext>
            </a:extLst>
          </p:cNvPr>
          <p:cNvSpPr txBox="1"/>
          <p:nvPr/>
        </p:nvSpPr>
        <p:spPr>
          <a:xfrm>
            <a:off x="5926598" y="3805425"/>
            <a:ext cx="230063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dirty="0">
                <a:latin typeface="Chalk Board" panose="02000500000000000000" pitchFamily="2" charset="0"/>
              </a:rPr>
              <a:t>corrupted parties.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60893E9A-D9B4-48DC-6327-E4CAFE08A314}"/>
              </a:ext>
            </a:extLst>
          </p:cNvPr>
          <p:cNvSpPr txBox="1"/>
          <p:nvPr/>
        </p:nvSpPr>
        <p:spPr>
          <a:xfrm>
            <a:off x="4706179" y="3825806"/>
            <a:ext cx="1116011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dirty="0">
                <a:solidFill>
                  <a:srgbClr val="C00000"/>
                </a:solidFill>
                <a:latin typeface="Chalk Board" panose="02000500000000000000" pitchFamily="2" charset="0"/>
              </a:rPr>
              <a:t>t &lt; n/2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7EF28216-21F3-2066-F6E4-FE1C535A0912}"/>
              </a:ext>
            </a:extLst>
          </p:cNvPr>
          <p:cNvSpPr txBox="1"/>
          <p:nvPr/>
        </p:nvSpPr>
        <p:spPr>
          <a:xfrm>
            <a:off x="871264" y="4539313"/>
            <a:ext cx="3962944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dirty="0">
                <a:latin typeface="Chalk Board" panose="02000500000000000000" pitchFamily="2" charset="0"/>
              </a:rPr>
              <a:t>This is called Threshold Security!</a:t>
            </a:r>
          </a:p>
        </p:txBody>
      </p:sp>
    </p:spTree>
    <p:extLst>
      <p:ext uri="{BB962C8B-B14F-4D97-AF65-F5344CB8AC3E}">
        <p14:creationId xmlns:p14="http://schemas.microsoft.com/office/powerpoint/2010/main" val="207735135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/>
      <p:bldP spid="12" grpId="0"/>
    </p:bld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B51D152-B16C-485C-47BA-4DA6E8848DA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5DDED98E-2A39-2D1D-7EE5-F8FD2F6C6A3F}"/>
              </a:ext>
            </a:extLst>
          </p:cNvPr>
          <p:cNvSpPr txBox="1"/>
          <p:nvPr/>
        </p:nvSpPr>
        <p:spPr>
          <a:xfrm>
            <a:off x="579198" y="953536"/>
            <a:ext cx="9879628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7200" dirty="0">
                <a:latin typeface="Chalk Board" panose="02000500000000000000" pitchFamily="2" charset="0"/>
              </a:rPr>
              <a:t>Adaptive Security vs. Static Security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03380BC1-D9E5-129B-AC44-EE8965895EB6}"/>
              </a:ext>
            </a:extLst>
          </p:cNvPr>
          <p:cNvSpPr txBox="1"/>
          <p:nvPr/>
        </p:nvSpPr>
        <p:spPr>
          <a:xfrm>
            <a:off x="712694" y="2339788"/>
            <a:ext cx="4585447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dirty="0">
                <a:latin typeface="Chalk Board" panose="02000500000000000000" pitchFamily="2" charset="0"/>
              </a:rPr>
              <a:t>Environments in Env are allowed to corrupt the parties whenever they desire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01609E0B-AE5B-16AE-A5B7-63BB048346FC}"/>
              </a:ext>
            </a:extLst>
          </p:cNvPr>
          <p:cNvSpPr txBox="1"/>
          <p:nvPr/>
        </p:nvSpPr>
        <p:spPr>
          <a:xfrm>
            <a:off x="6217023" y="2339787"/>
            <a:ext cx="4585447" cy="138499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dirty="0">
                <a:latin typeface="Chalk Board" panose="02000500000000000000" pitchFamily="2" charset="0"/>
              </a:rPr>
              <a:t>Environments in Env are allowed to corrupt the parties before the protocol begins</a:t>
            </a:r>
          </a:p>
        </p:txBody>
      </p:sp>
    </p:spTree>
    <p:extLst>
      <p:ext uri="{BB962C8B-B14F-4D97-AF65-F5344CB8AC3E}">
        <p14:creationId xmlns:p14="http://schemas.microsoft.com/office/powerpoint/2010/main" val="161705843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710620FA-E9F6-024E-5414-02EB302F4C8D}"/>
              </a:ext>
            </a:extLst>
          </p:cNvPr>
          <p:cNvSpPr txBox="1"/>
          <p:nvPr/>
        </p:nvSpPr>
        <p:spPr>
          <a:xfrm>
            <a:off x="464457" y="899886"/>
            <a:ext cx="4275529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6000" dirty="0">
                <a:latin typeface="Chalk Board" panose="02000500000000000000" pitchFamily="2" charset="0"/>
              </a:rPr>
              <a:t>Regular Encryption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414A833E-32B2-2C5C-FC22-F2ED940237C1}"/>
                  </a:ext>
                </a:extLst>
              </p:cNvPr>
              <p:cNvSpPr txBox="1"/>
              <p:nvPr/>
            </p:nvSpPr>
            <p:spPr>
              <a:xfrm>
                <a:off x="1607457" y="2025597"/>
                <a:ext cx="5290231" cy="192757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nor/>
                        </m:rPr>
                        <a:rPr lang="en-US" sz="8800" b="0" i="0" smtClean="0">
                          <a:solidFill>
                            <a:srgbClr val="C00000"/>
                          </a:solidFill>
                          <a:latin typeface="Chalk Board" panose="02000500000000000000" pitchFamily="2" charset="0"/>
                        </a:rPr>
                        <m:t>c</m:t>
                      </m:r>
                      <m:r>
                        <m:rPr>
                          <m:nor/>
                        </m:rPr>
                        <a:rPr lang="en-US" sz="8800" b="0" i="0" smtClean="0">
                          <a:latin typeface="Chalk Board" panose="02000500000000000000" pitchFamily="2" charset="0"/>
                        </a:rPr>
                        <m:t> = </m:t>
                      </m:r>
                      <m:r>
                        <m:rPr>
                          <m:nor/>
                        </m:rPr>
                        <a:rPr lang="en-US" sz="8800" b="0" i="0" smtClean="0">
                          <a:latin typeface="Chalk Board" panose="02000500000000000000" pitchFamily="2" charset="0"/>
                        </a:rPr>
                        <m:t>En</m:t>
                      </m:r>
                      <m:sSub>
                        <m:sSubPr>
                          <m:ctrlPr>
                            <a:rPr lang="en-US" sz="88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nor/>
                            </m:rPr>
                            <a:rPr lang="en-US" sz="8800" b="0" i="0" smtClean="0">
                              <a:latin typeface="Chalk Board" panose="02000500000000000000" pitchFamily="2" charset="0"/>
                            </a:rPr>
                            <m:t>c</m:t>
                          </m:r>
                        </m:e>
                        <m:sub>
                          <m:r>
                            <m:rPr>
                              <m:nor/>
                            </m:rPr>
                            <a:rPr lang="en-US" sz="8800" b="0" i="0" smtClean="0">
                              <a:latin typeface="Chalk Board" panose="02000500000000000000" pitchFamily="2" charset="0"/>
                            </a:rPr>
                            <m:t>pk</m:t>
                          </m:r>
                        </m:sub>
                      </m:sSub>
                      <m:r>
                        <m:rPr>
                          <m:nor/>
                        </m:rPr>
                        <a:rPr lang="en-US" sz="8800" b="0" i="0" smtClean="0">
                          <a:latin typeface="Chalk Board" panose="02000500000000000000" pitchFamily="2" charset="0"/>
                        </a:rPr>
                        <m:t>(</m:t>
                      </m:r>
                      <m:r>
                        <m:rPr>
                          <m:nor/>
                        </m:rPr>
                        <a:rPr lang="en-US" sz="8800" b="0" i="0" smtClean="0">
                          <a:solidFill>
                            <a:schemeClr val="accent6">
                              <a:lumMod val="75000"/>
                            </a:schemeClr>
                          </a:solidFill>
                          <a:latin typeface="Chalk Board" panose="02000500000000000000" pitchFamily="2" charset="0"/>
                        </a:rPr>
                        <m:t>m</m:t>
                      </m:r>
                      <m:r>
                        <m:rPr>
                          <m:nor/>
                        </m:rPr>
                        <a:rPr lang="en-US" sz="8800" b="0" i="0" smtClean="0">
                          <a:latin typeface="Chalk Board" panose="02000500000000000000" pitchFamily="2" charset="0"/>
                        </a:rPr>
                        <m:t>; </m:t>
                      </m:r>
                      <m:r>
                        <m:rPr>
                          <m:nor/>
                        </m:rPr>
                        <a:rPr lang="en-US" sz="8800" b="0" i="0" smtClean="0">
                          <a:latin typeface="Chalk Board" panose="02000500000000000000" pitchFamily="2" charset="0"/>
                        </a:rPr>
                        <m:t>r</m:t>
                      </m:r>
                      <m:r>
                        <m:rPr>
                          <m:nor/>
                        </m:rPr>
                        <a:rPr lang="en-US" sz="8800" b="0" i="0" smtClean="0">
                          <a:latin typeface="Chalk Board" panose="02000500000000000000" pitchFamily="2" charset="0"/>
                        </a:rPr>
                        <m:t>)</m:t>
                      </m:r>
                    </m:oMath>
                  </m:oMathPara>
                </a14:m>
                <a:endParaRPr lang="en-US" sz="8800" dirty="0">
                  <a:latin typeface="Chalk Board" panose="02000500000000000000" pitchFamily="2" charset="0"/>
                </a:endParaRPr>
              </a:p>
            </p:txBody>
          </p:sp>
        </mc:Choice>
        <mc:Fallback xmlns="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414A833E-32B2-2C5C-FC22-F2ED940237C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607457" y="2025597"/>
                <a:ext cx="5290231" cy="1927579"/>
              </a:xfrm>
              <a:prstGeom prst="rect">
                <a:avLst/>
              </a:prstGeom>
              <a:blipFill>
                <a:blip r:embed="rId2"/>
                <a:stretch>
                  <a:fillRect l="-1914" t="-10458" r="-5981" b="-3137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TextBox 3">
            <a:extLst>
              <a:ext uri="{FF2B5EF4-FFF2-40B4-BE49-F238E27FC236}">
                <a16:creationId xmlns:a16="http://schemas.microsoft.com/office/drawing/2014/main" id="{9F3EEB5A-6654-7C84-2A6E-BCCB1EBDC9BA}"/>
              </a:ext>
            </a:extLst>
          </p:cNvPr>
          <p:cNvSpPr txBox="1"/>
          <p:nvPr/>
        </p:nvSpPr>
        <p:spPr>
          <a:xfrm>
            <a:off x="1607457" y="4063224"/>
            <a:ext cx="7678705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6000" dirty="0">
                <a:solidFill>
                  <a:srgbClr val="C00000"/>
                </a:solidFill>
                <a:latin typeface="Chalk Board" panose="02000500000000000000" pitchFamily="2" charset="0"/>
              </a:rPr>
              <a:t>c</a:t>
            </a:r>
            <a:r>
              <a:rPr lang="en-US" sz="6000" dirty="0">
                <a:latin typeface="Chalk Board" panose="02000500000000000000" pitchFamily="2" charset="0"/>
              </a:rPr>
              <a:t> is bound to a unique message </a:t>
            </a:r>
            <a:r>
              <a:rPr lang="en-US" sz="6000" dirty="0">
                <a:solidFill>
                  <a:schemeClr val="accent6">
                    <a:lumMod val="75000"/>
                  </a:schemeClr>
                </a:solidFill>
                <a:latin typeface="Chalk Board" panose="02000500000000000000" pitchFamily="2" charset="0"/>
              </a:rPr>
              <a:t>m</a:t>
            </a:r>
          </a:p>
        </p:txBody>
      </p:sp>
    </p:spTree>
    <p:extLst>
      <p:ext uri="{BB962C8B-B14F-4D97-AF65-F5344CB8AC3E}">
        <p14:creationId xmlns:p14="http://schemas.microsoft.com/office/powerpoint/2010/main" val="470385982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4ABDB45-7F22-9C69-18BB-EF7378C3FC9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F6209A09-28CB-1638-F69D-3CB74EF2F307}"/>
                  </a:ext>
                </a:extLst>
              </p:cNvPr>
              <p:cNvSpPr txBox="1"/>
              <p:nvPr/>
            </p:nvSpPr>
            <p:spPr>
              <a:xfrm>
                <a:off x="7721600" y="4830347"/>
                <a:ext cx="3968907" cy="144565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nor/>
                        </m:rPr>
                        <a:rPr lang="en-US" sz="6600" b="0" i="0" smtClean="0">
                          <a:solidFill>
                            <a:srgbClr val="C00000"/>
                          </a:solidFill>
                          <a:latin typeface="Chalk Board" panose="02000500000000000000" pitchFamily="2" charset="0"/>
                        </a:rPr>
                        <m:t>c</m:t>
                      </m:r>
                      <m:r>
                        <m:rPr>
                          <m:nor/>
                        </m:rPr>
                        <a:rPr lang="en-US" sz="6600" b="0" i="0" smtClean="0">
                          <a:latin typeface="Chalk Board" panose="02000500000000000000" pitchFamily="2" charset="0"/>
                        </a:rPr>
                        <m:t> = </m:t>
                      </m:r>
                      <m:r>
                        <m:rPr>
                          <m:nor/>
                        </m:rPr>
                        <a:rPr lang="en-US" sz="6600" b="0" i="0" smtClean="0">
                          <a:latin typeface="Chalk Board" panose="02000500000000000000" pitchFamily="2" charset="0"/>
                        </a:rPr>
                        <m:t>En</m:t>
                      </m:r>
                      <m:sSub>
                        <m:sSubPr>
                          <m:ctrlPr>
                            <a:rPr lang="en-US" sz="66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nor/>
                            </m:rPr>
                            <a:rPr lang="en-US" sz="6600" b="0" i="0" smtClean="0">
                              <a:latin typeface="Chalk Board" panose="02000500000000000000" pitchFamily="2" charset="0"/>
                            </a:rPr>
                            <m:t>c</m:t>
                          </m:r>
                        </m:e>
                        <m:sub>
                          <m:r>
                            <m:rPr>
                              <m:nor/>
                            </m:rPr>
                            <a:rPr lang="en-US" sz="6600" b="0" i="0" smtClean="0">
                              <a:latin typeface="Chalk Board" panose="02000500000000000000" pitchFamily="2" charset="0"/>
                            </a:rPr>
                            <m:t>pk</m:t>
                          </m:r>
                        </m:sub>
                      </m:sSub>
                      <m:r>
                        <m:rPr>
                          <m:nor/>
                        </m:rPr>
                        <a:rPr lang="en-US" sz="6600" b="0" i="0" smtClean="0">
                          <a:latin typeface="Chalk Board" panose="02000500000000000000" pitchFamily="2" charset="0"/>
                        </a:rPr>
                        <m:t>(</m:t>
                      </m:r>
                      <m:r>
                        <m:rPr>
                          <m:nor/>
                        </m:rPr>
                        <a:rPr lang="en-US" sz="6600" b="0" i="0" smtClean="0">
                          <a:solidFill>
                            <a:schemeClr val="accent6">
                              <a:lumMod val="75000"/>
                            </a:schemeClr>
                          </a:solidFill>
                          <a:latin typeface="Chalk Board" panose="02000500000000000000" pitchFamily="2" charset="0"/>
                        </a:rPr>
                        <m:t>m</m:t>
                      </m:r>
                      <m:r>
                        <m:rPr>
                          <m:nor/>
                        </m:rPr>
                        <a:rPr lang="en-US" sz="6600" b="0" i="0" smtClean="0">
                          <a:latin typeface="Chalk Board" panose="02000500000000000000" pitchFamily="2" charset="0"/>
                        </a:rPr>
                        <m:t>; </m:t>
                      </m:r>
                      <m:r>
                        <m:rPr>
                          <m:nor/>
                        </m:rPr>
                        <a:rPr lang="en-US" sz="6600" b="0" i="0" smtClean="0">
                          <a:latin typeface="Chalk Board" panose="02000500000000000000" pitchFamily="2" charset="0"/>
                        </a:rPr>
                        <m:t>r</m:t>
                      </m:r>
                      <m:r>
                        <m:rPr>
                          <m:nor/>
                        </m:rPr>
                        <a:rPr lang="en-US" sz="6600" b="0" i="0" smtClean="0">
                          <a:latin typeface="Chalk Board" panose="02000500000000000000" pitchFamily="2" charset="0"/>
                        </a:rPr>
                        <m:t>)</m:t>
                      </m:r>
                    </m:oMath>
                  </m:oMathPara>
                </a14:m>
                <a:endParaRPr lang="en-US" sz="6600" dirty="0">
                  <a:latin typeface="Chalk Board" panose="02000500000000000000" pitchFamily="2" charset="0"/>
                </a:endParaRPr>
              </a:p>
            </p:txBody>
          </p:sp>
        </mc:Choice>
        <mc:Fallback xmlns="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F6209A09-28CB-1638-F69D-3CB74EF2F30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721600" y="4830347"/>
                <a:ext cx="3968907" cy="1445652"/>
              </a:xfrm>
              <a:prstGeom prst="rect">
                <a:avLst/>
              </a:prstGeom>
              <a:blipFill>
                <a:blip r:embed="rId2"/>
                <a:stretch>
                  <a:fillRect l="-2236" t="-10435" r="-6070" b="-3217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8" name="TextBox 7">
            <a:extLst>
              <a:ext uri="{FF2B5EF4-FFF2-40B4-BE49-F238E27FC236}">
                <a16:creationId xmlns:a16="http://schemas.microsoft.com/office/drawing/2014/main" id="{98C08A41-6284-4387-2E7F-E86AEEC77217}"/>
              </a:ext>
            </a:extLst>
          </p:cNvPr>
          <p:cNvSpPr txBox="1"/>
          <p:nvPr/>
        </p:nvSpPr>
        <p:spPr>
          <a:xfrm>
            <a:off x="261906" y="2254371"/>
            <a:ext cx="4992266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4000" dirty="0">
                <a:latin typeface="Chalk Board" panose="02000500000000000000" pitchFamily="2" charset="0"/>
              </a:rPr>
              <a:t>Generate a fake public key pk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B7AA5D47-C4B2-7245-0C84-EBD7EB82041F}"/>
              </a:ext>
            </a:extLst>
          </p:cNvPr>
          <p:cNvSpPr txBox="1"/>
          <p:nvPr/>
        </p:nvSpPr>
        <p:spPr>
          <a:xfrm>
            <a:off x="306199" y="3188416"/>
            <a:ext cx="8416887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4000" dirty="0">
                <a:latin typeface="Chalk Board" panose="02000500000000000000" pitchFamily="2" charset="0"/>
              </a:rPr>
              <a:t>Generate a ciphertext c </a:t>
            </a:r>
            <a:r>
              <a:rPr lang="en-US" sz="4000" i="1" dirty="0">
                <a:latin typeface="Chalk Board" panose="02000500000000000000" pitchFamily="2" charset="0"/>
              </a:rPr>
              <a:t>without knowing the message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181B1D9E-6E0E-FB36-2974-34B16457C4C7}"/>
              </a:ext>
            </a:extLst>
          </p:cNvPr>
          <p:cNvSpPr txBox="1"/>
          <p:nvPr/>
        </p:nvSpPr>
        <p:spPr>
          <a:xfrm>
            <a:off x="306199" y="4122461"/>
            <a:ext cx="11057088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4000" dirty="0">
                <a:latin typeface="Chalk Board" panose="02000500000000000000" pitchFamily="2" charset="0"/>
              </a:rPr>
              <a:t>Later, when given any message m, produce randomness r such that: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0232C9F9-C5CA-C36C-B66F-DA2E7869DF6A}"/>
              </a:ext>
            </a:extLst>
          </p:cNvPr>
          <p:cNvSpPr txBox="1"/>
          <p:nvPr/>
        </p:nvSpPr>
        <p:spPr>
          <a:xfrm>
            <a:off x="464457" y="899886"/>
            <a:ext cx="6006773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6000" dirty="0">
                <a:latin typeface="Chalk Board" panose="02000500000000000000" pitchFamily="2" charset="0"/>
              </a:rPr>
              <a:t>Non-Committing Encryption</a:t>
            </a:r>
          </a:p>
        </p:txBody>
      </p:sp>
    </p:spTree>
    <p:extLst>
      <p:ext uri="{BB962C8B-B14F-4D97-AF65-F5344CB8AC3E}">
        <p14:creationId xmlns:p14="http://schemas.microsoft.com/office/powerpoint/2010/main" val="1759131595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7E25F206-CB6E-DBF6-B49D-F6AC36895DB4}"/>
              </a:ext>
            </a:extLst>
          </p:cNvPr>
          <p:cNvSpPr/>
          <p:nvPr/>
        </p:nvSpPr>
        <p:spPr>
          <a:xfrm>
            <a:off x="5247060" y="1313531"/>
            <a:ext cx="981623" cy="914395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B8334A3D-CA5E-CD7F-E3FA-224BCB07956A}"/>
              </a:ext>
            </a:extLst>
          </p:cNvPr>
          <p:cNvSpPr/>
          <p:nvPr/>
        </p:nvSpPr>
        <p:spPr>
          <a:xfrm>
            <a:off x="3543766" y="1313531"/>
            <a:ext cx="981623" cy="914395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6306410E-5D4B-19CC-856F-9C80F9471E53}"/>
              </a:ext>
            </a:extLst>
          </p:cNvPr>
          <p:cNvSpPr/>
          <p:nvPr/>
        </p:nvSpPr>
        <p:spPr>
          <a:xfrm>
            <a:off x="6950354" y="1340425"/>
            <a:ext cx="981623" cy="914395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24949836-ABE0-1F85-276F-4673B7A16D12}"/>
              </a:ext>
            </a:extLst>
          </p:cNvPr>
          <p:cNvSpPr/>
          <p:nvPr/>
        </p:nvSpPr>
        <p:spPr>
          <a:xfrm>
            <a:off x="4993339" y="5419164"/>
            <a:ext cx="1264024" cy="1183341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Trapezoid 5">
            <a:extLst>
              <a:ext uri="{FF2B5EF4-FFF2-40B4-BE49-F238E27FC236}">
                <a16:creationId xmlns:a16="http://schemas.microsoft.com/office/drawing/2014/main" id="{0C1F325C-E657-D34E-80F2-CE992F33FB9E}"/>
              </a:ext>
            </a:extLst>
          </p:cNvPr>
          <p:cNvSpPr/>
          <p:nvPr/>
        </p:nvSpPr>
        <p:spPr>
          <a:xfrm rot="10800000">
            <a:off x="2888874" y="4428565"/>
            <a:ext cx="5472954" cy="632012"/>
          </a:xfrm>
          <a:prstGeom prst="trapezoid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277C85E4-7BF6-E4A1-D750-0C59D25666D7}"/>
              </a:ext>
            </a:extLst>
          </p:cNvPr>
          <p:cNvCxnSpPr/>
          <p:nvPr/>
        </p:nvCxnSpPr>
        <p:spPr>
          <a:xfrm>
            <a:off x="2533769" y="581546"/>
            <a:ext cx="0" cy="2501153"/>
          </a:xfrm>
          <a:prstGeom prst="line">
            <a:avLst/>
          </a:prstGeom>
          <a:ln w="2921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2EB9B6AD-00B6-A049-B9A5-8A7370CE8A95}"/>
              </a:ext>
            </a:extLst>
          </p:cNvPr>
          <p:cNvCxnSpPr/>
          <p:nvPr/>
        </p:nvCxnSpPr>
        <p:spPr>
          <a:xfrm>
            <a:off x="9288675" y="572582"/>
            <a:ext cx="0" cy="2501153"/>
          </a:xfrm>
          <a:prstGeom prst="line">
            <a:avLst/>
          </a:prstGeom>
          <a:ln w="2921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CE85F328-378D-4167-05EF-73C4F63B2BCC}"/>
              </a:ext>
            </a:extLst>
          </p:cNvPr>
          <p:cNvCxnSpPr>
            <a:cxnSpLocks/>
          </p:cNvCxnSpPr>
          <p:nvPr/>
        </p:nvCxnSpPr>
        <p:spPr>
          <a:xfrm flipH="1">
            <a:off x="2661514" y="729466"/>
            <a:ext cx="6488208" cy="0"/>
          </a:xfrm>
          <a:prstGeom prst="line">
            <a:avLst/>
          </a:prstGeom>
          <a:ln w="2921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C1E80844-ABDD-8EAF-6EAA-494B8015446E}"/>
              </a:ext>
            </a:extLst>
          </p:cNvPr>
          <p:cNvCxnSpPr/>
          <p:nvPr/>
        </p:nvCxnSpPr>
        <p:spPr>
          <a:xfrm>
            <a:off x="2414857" y="3810001"/>
            <a:ext cx="0" cy="2501153"/>
          </a:xfrm>
          <a:prstGeom prst="line">
            <a:avLst/>
          </a:prstGeom>
          <a:ln w="2921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371E02FD-4731-AE22-B0A0-6E55382C1331}"/>
              </a:ext>
            </a:extLst>
          </p:cNvPr>
          <p:cNvCxnSpPr/>
          <p:nvPr/>
        </p:nvCxnSpPr>
        <p:spPr>
          <a:xfrm>
            <a:off x="9196657" y="3801037"/>
            <a:ext cx="0" cy="2501153"/>
          </a:xfrm>
          <a:prstGeom prst="line">
            <a:avLst/>
          </a:prstGeom>
          <a:ln w="2921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4A011BB1-6B92-157C-25FF-84838EBA3146}"/>
              </a:ext>
            </a:extLst>
          </p:cNvPr>
          <p:cNvCxnSpPr>
            <a:cxnSpLocks/>
          </p:cNvCxnSpPr>
          <p:nvPr/>
        </p:nvCxnSpPr>
        <p:spPr>
          <a:xfrm flipH="1">
            <a:off x="2569496" y="3957921"/>
            <a:ext cx="6488208" cy="0"/>
          </a:xfrm>
          <a:prstGeom prst="line">
            <a:avLst/>
          </a:prstGeom>
          <a:ln w="2921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3" name="TextBox 12">
            <a:extLst>
              <a:ext uri="{FF2B5EF4-FFF2-40B4-BE49-F238E27FC236}">
                <a16:creationId xmlns:a16="http://schemas.microsoft.com/office/drawing/2014/main" id="{55730DEB-FDA4-D977-7A18-F31996B0E822}"/>
              </a:ext>
            </a:extLst>
          </p:cNvPr>
          <p:cNvSpPr txBox="1"/>
          <p:nvPr/>
        </p:nvSpPr>
        <p:spPr>
          <a:xfrm>
            <a:off x="5444296" y="1536012"/>
            <a:ext cx="564772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dirty="0"/>
              <a:t>AT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DBFFFFEC-5B46-CAA5-8E74-0ED9CAB7A832}"/>
              </a:ext>
            </a:extLst>
          </p:cNvPr>
          <p:cNvSpPr txBox="1"/>
          <p:nvPr/>
        </p:nvSpPr>
        <p:spPr>
          <a:xfrm>
            <a:off x="3790668" y="1612956"/>
            <a:ext cx="44114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P1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0E0BFB52-492F-A36A-1F7B-6AFA544F0A45}"/>
              </a:ext>
            </a:extLst>
          </p:cNvPr>
          <p:cNvSpPr txBox="1"/>
          <p:nvPr/>
        </p:nvSpPr>
        <p:spPr>
          <a:xfrm>
            <a:off x="7220592" y="1638961"/>
            <a:ext cx="44114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P2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8E002903-BEF9-12F5-B115-C008C7FF2E72}"/>
              </a:ext>
            </a:extLst>
          </p:cNvPr>
          <p:cNvSpPr txBox="1"/>
          <p:nvPr/>
        </p:nvSpPr>
        <p:spPr>
          <a:xfrm>
            <a:off x="5433728" y="4567986"/>
            <a:ext cx="31451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S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BA7CD586-E9DA-0FB5-4D9E-D2C04D58C853}"/>
              </a:ext>
            </a:extLst>
          </p:cNvPr>
          <p:cNvSpPr txBox="1"/>
          <p:nvPr/>
        </p:nvSpPr>
        <p:spPr>
          <a:xfrm>
            <a:off x="5415003" y="5894293"/>
            <a:ext cx="42069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ST</a:t>
            </a:r>
          </a:p>
        </p:txBody>
      </p: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14E7B144-AFF5-7F4E-B028-024F6058A66F}"/>
              </a:ext>
            </a:extLst>
          </p:cNvPr>
          <p:cNvCxnSpPr>
            <a:cxnSpLocks/>
          </p:cNvCxnSpPr>
          <p:nvPr/>
        </p:nvCxnSpPr>
        <p:spPr>
          <a:xfrm>
            <a:off x="6096000" y="5739205"/>
            <a:ext cx="2961704" cy="0"/>
          </a:xfrm>
          <a:prstGeom prst="straightConnector1">
            <a:avLst/>
          </a:prstGeom>
          <a:ln w="25400" cap="flat">
            <a:solidFill>
              <a:schemeClr val="tx1"/>
            </a:solidFill>
            <a:headEnd type="none" w="lg" len="sm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BE6CCD56-FB89-C679-641B-6F1F8F513211}"/>
              </a:ext>
            </a:extLst>
          </p:cNvPr>
          <p:cNvCxnSpPr>
            <a:cxnSpLocks/>
          </p:cNvCxnSpPr>
          <p:nvPr/>
        </p:nvCxnSpPr>
        <p:spPr>
          <a:xfrm flipH="1">
            <a:off x="5986183" y="6093311"/>
            <a:ext cx="3071521" cy="0"/>
          </a:xfrm>
          <a:prstGeom prst="straightConnector1">
            <a:avLst/>
          </a:prstGeom>
          <a:ln w="25400" cap="flat">
            <a:solidFill>
              <a:schemeClr val="tx1"/>
            </a:solidFill>
            <a:headEnd type="none" w="lg" len="sm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5EE72B96-0D47-F877-80C4-63711C7AC2ED}"/>
              </a:ext>
            </a:extLst>
          </p:cNvPr>
          <p:cNvCxnSpPr>
            <a:cxnSpLocks/>
          </p:cNvCxnSpPr>
          <p:nvPr/>
        </p:nvCxnSpPr>
        <p:spPr>
          <a:xfrm>
            <a:off x="2632281" y="5718587"/>
            <a:ext cx="2517943" cy="20618"/>
          </a:xfrm>
          <a:prstGeom prst="straightConnector1">
            <a:avLst/>
          </a:prstGeom>
          <a:ln w="25400" cap="flat">
            <a:solidFill>
              <a:schemeClr val="tx1"/>
            </a:solidFill>
            <a:headEnd type="none" w="lg" len="sm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A89DDF61-F053-DFB8-FC54-D269EFBE9923}"/>
              </a:ext>
            </a:extLst>
          </p:cNvPr>
          <p:cNvCxnSpPr>
            <a:cxnSpLocks/>
          </p:cNvCxnSpPr>
          <p:nvPr/>
        </p:nvCxnSpPr>
        <p:spPr>
          <a:xfrm flipH="1">
            <a:off x="2522464" y="6072693"/>
            <a:ext cx="2614312" cy="0"/>
          </a:xfrm>
          <a:prstGeom prst="straightConnector1">
            <a:avLst/>
          </a:prstGeom>
          <a:ln w="25400" cap="flat">
            <a:solidFill>
              <a:schemeClr val="tx1"/>
            </a:solidFill>
            <a:headEnd type="none" w="lg" len="sm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E2B76FD4-B2AE-1C06-6BAB-BC40FEFE9CCA}"/>
              </a:ext>
            </a:extLst>
          </p:cNvPr>
          <p:cNvCxnSpPr>
            <a:cxnSpLocks/>
          </p:cNvCxnSpPr>
          <p:nvPr/>
        </p:nvCxnSpPr>
        <p:spPr>
          <a:xfrm flipV="1">
            <a:off x="3349831" y="4116163"/>
            <a:ext cx="0" cy="451823"/>
          </a:xfrm>
          <a:prstGeom prst="straightConnector1">
            <a:avLst/>
          </a:prstGeom>
          <a:ln w="25400" cap="flat">
            <a:solidFill>
              <a:schemeClr val="tx1"/>
            </a:solidFill>
            <a:headEnd type="none" w="lg" len="sm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97D06E1D-0420-66F2-BD19-D216DB83359F}"/>
              </a:ext>
            </a:extLst>
          </p:cNvPr>
          <p:cNvCxnSpPr>
            <a:cxnSpLocks/>
          </p:cNvCxnSpPr>
          <p:nvPr/>
        </p:nvCxnSpPr>
        <p:spPr>
          <a:xfrm>
            <a:off x="3636702" y="4116163"/>
            <a:ext cx="0" cy="563413"/>
          </a:xfrm>
          <a:prstGeom prst="straightConnector1">
            <a:avLst/>
          </a:prstGeom>
          <a:ln w="25400" cap="flat">
            <a:solidFill>
              <a:schemeClr val="tx1"/>
            </a:solidFill>
            <a:headEnd type="none" w="lg" len="sm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Straight Arrow Connector 23">
            <a:extLst>
              <a:ext uri="{FF2B5EF4-FFF2-40B4-BE49-F238E27FC236}">
                <a16:creationId xmlns:a16="http://schemas.microsoft.com/office/drawing/2014/main" id="{FE50E305-89FE-D818-4A19-94849F55BB56}"/>
              </a:ext>
            </a:extLst>
          </p:cNvPr>
          <p:cNvCxnSpPr>
            <a:cxnSpLocks/>
          </p:cNvCxnSpPr>
          <p:nvPr/>
        </p:nvCxnSpPr>
        <p:spPr>
          <a:xfrm flipV="1">
            <a:off x="5431504" y="4116163"/>
            <a:ext cx="0" cy="451823"/>
          </a:xfrm>
          <a:prstGeom prst="straightConnector1">
            <a:avLst/>
          </a:prstGeom>
          <a:ln w="25400" cap="flat">
            <a:solidFill>
              <a:schemeClr val="tx1"/>
            </a:solidFill>
            <a:headEnd type="none" w="lg" len="sm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3989ED56-E046-868B-5A00-C0166D86611E}"/>
              </a:ext>
            </a:extLst>
          </p:cNvPr>
          <p:cNvCxnSpPr>
            <a:cxnSpLocks/>
          </p:cNvCxnSpPr>
          <p:nvPr/>
        </p:nvCxnSpPr>
        <p:spPr>
          <a:xfrm>
            <a:off x="5718375" y="4116163"/>
            <a:ext cx="0" cy="563413"/>
          </a:xfrm>
          <a:prstGeom prst="straightConnector1">
            <a:avLst/>
          </a:prstGeom>
          <a:ln w="25400" cap="flat">
            <a:solidFill>
              <a:schemeClr val="tx1"/>
            </a:solidFill>
            <a:headEnd type="none" w="lg" len="sm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Straight Arrow Connector 25">
            <a:extLst>
              <a:ext uri="{FF2B5EF4-FFF2-40B4-BE49-F238E27FC236}">
                <a16:creationId xmlns:a16="http://schemas.microsoft.com/office/drawing/2014/main" id="{69206417-E0D7-E571-B48C-70BBF88EE23A}"/>
              </a:ext>
            </a:extLst>
          </p:cNvPr>
          <p:cNvCxnSpPr>
            <a:cxnSpLocks/>
          </p:cNvCxnSpPr>
          <p:nvPr/>
        </p:nvCxnSpPr>
        <p:spPr>
          <a:xfrm flipV="1">
            <a:off x="7536349" y="4146858"/>
            <a:ext cx="0" cy="451823"/>
          </a:xfrm>
          <a:prstGeom prst="straightConnector1">
            <a:avLst/>
          </a:prstGeom>
          <a:ln w="25400" cap="flat">
            <a:solidFill>
              <a:schemeClr val="tx1"/>
            </a:solidFill>
            <a:headEnd type="none" w="lg" len="sm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8FE12A22-07B5-B49C-1E26-0ABF197387D3}"/>
              </a:ext>
            </a:extLst>
          </p:cNvPr>
          <p:cNvCxnSpPr>
            <a:cxnSpLocks/>
          </p:cNvCxnSpPr>
          <p:nvPr/>
        </p:nvCxnSpPr>
        <p:spPr>
          <a:xfrm>
            <a:off x="7823220" y="4146858"/>
            <a:ext cx="0" cy="563413"/>
          </a:xfrm>
          <a:prstGeom prst="straightConnector1">
            <a:avLst/>
          </a:prstGeom>
          <a:ln w="25400" cap="flat">
            <a:solidFill>
              <a:schemeClr val="tx1"/>
            </a:solidFill>
            <a:headEnd type="none" w="lg" len="sm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Straight Arrow Connector 27">
            <a:extLst>
              <a:ext uri="{FF2B5EF4-FFF2-40B4-BE49-F238E27FC236}">
                <a16:creationId xmlns:a16="http://schemas.microsoft.com/office/drawing/2014/main" id="{A56D545D-AD40-36A0-2147-BE1577CA4D2E}"/>
              </a:ext>
            </a:extLst>
          </p:cNvPr>
          <p:cNvCxnSpPr>
            <a:cxnSpLocks/>
          </p:cNvCxnSpPr>
          <p:nvPr/>
        </p:nvCxnSpPr>
        <p:spPr>
          <a:xfrm flipV="1">
            <a:off x="5431504" y="5060578"/>
            <a:ext cx="0" cy="451823"/>
          </a:xfrm>
          <a:prstGeom prst="straightConnector1">
            <a:avLst/>
          </a:prstGeom>
          <a:ln w="25400" cap="flat">
            <a:solidFill>
              <a:schemeClr val="tx1"/>
            </a:solidFill>
            <a:headEnd type="none" w="lg" len="sm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Straight Arrow Connector 28">
            <a:extLst>
              <a:ext uri="{FF2B5EF4-FFF2-40B4-BE49-F238E27FC236}">
                <a16:creationId xmlns:a16="http://schemas.microsoft.com/office/drawing/2014/main" id="{2048BEDA-3CEF-4A6D-63AD-5AF4FAE28861}"/>
              </a:ext>
            </a:extLst>
          </p:cNvPr>
          <p:cNvCxnSpPr>
            <a:cxnSpLocks/>
          </p:cNvCxnSpPr>
          <p:nvPr/>
        </p:nvCxnSpPr>
        <p:spPr>
          <a:xfrm>
            <a:off x="5718375" y="5060578"/>
            <a:ext cx="0" cy="563413"/>
          </a:xfrm>
          <a:prstGeom prst="straightConnector1">
            <a:avLst/>
          </a:prstGeom>
          <a:ln w="25400" cap="flat">
            <a:solidFill>
              <a:schemeClr val="tx1"/>
            </a:solidFill>
            <a:headEnd type="none" w="lg" len="sm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Straight Arrow Connector 29">
            <a:extLst>
              <a:ext uri="{FF2B5EF4-FFF2-40B4-BE49-F238E27FC236}">
                <a16:creationId xmlns:a16="http://schemas.microsoft.com/office/drawing/2014/main" id="{8BC26AD9-501C-AE43-0FAB-5BA0AE468FF6}"/>
              </a:ext>
            </a:extLst>
          </p:cNvPr>
          <p:cNvCxnSpPr>
            <a:cxnSpLocks/>
          </p:cNvCxnSpPr>
          <p:nvPr/>
        </p:nvCxnSpPr>
        <p:spPr>
          <a:xfrm flipV="1">
            <a:off x="3863573" y="937014"/>
            <a:ext cx="0" cy="451823"/>
          </a:xfrm>
          <a:prstGeom prst="straightConnector1">
            <a:avLst/>
          </a:prstGeom>
          <a:ln w="25400" cap="flat">
            <a:solidFill>
              <a:schemeClr val="tx1"/>
            </a:solidFill>
            <a:headEnd type="none" w="lg" len="sm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Straight Arrow Connector 30">
            <a:extLst>
              <a:ext uri="{FF2B5EF4-FFF2-40B4-BE49-F238E27FC236}">
                <a16:creationId xmlns:a16="http://schemas.microsoft.com/office/drawing/2014/main" id="{A42C4221-E50B-2047-FAFD-9BD64DB52A47}"/>
              </a:ext>
            </a:extLst>
          </p:cNvPr>
          <p:cNvCxnSpPr>
            <a:cxnSpLocks/>
          </p:cNvCxnSpPr>
          <p:nvPr/>
        </p:nvCxnSpPr>
        <p:spPr>
          <a:xfrm>
            <a:off x="4150444" y="937014"/>
            <a:ext cx="0" cy="563413"/>
          </a:xfrm>
          <a:prstGeom prst="straightConnector1">
            <a:avLst/>
          </a:prstGeom>
          <a:ln w="25400" cap="flat">
            <a:solidFill>
              <a:schemeClr val="tx1"/>
            </a:solidFill>
            <a:headEnd type="none" w="lg" len="sm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Straight Arrow Connector 31">
            <a:extLst>
              <a:ext uri="{FF2B5EF4-FFF2-40B4-BE49-F238E27FC236}">
                <a16:creationId xmlns:a16="http://schemas.microsoft.com/office/drawing/2014/main" id="{B01EE3C7-913E-B1FD-E78B-76DF16CAAD58}"/>
              </a:ext>
            </a:extLst>
          </p:cNvPr>
          <p:cNvCxnSpPr>
            <a:cxnSpLocks/>
          </p:cNvCxnSpPr>
          <p:nvPr/>
        </p:nvCxnSpPr>
        <p:spPr>
          <a:xfrm flipV="1">
            <a:off x="5621002" y="937014"/>
            <a:ext cx="0" cy="451823"/>
          </a:xfrm>
          <a:prstGeom prst="straightConnector1">
            <a:avLst/>
          </a:prstGeom>
          <a:ln w="25400" cap="flat">
            <a:solidFill>
              <a:schemeClr val="tx1"/>
            </a:solidFill>
            <a:headEnd type="none" w="lg" len="sm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Straight Arrow Connector 32">
            <a:extLst>
              <a:ext uri="{FF2B5EF4-FFF2-40B4-BE49-F238E27FC236}">
                <a16:creationId xmlns:a16="http://schemas.microsoft.com/office/drawing/2014/main" id="{2DE13A5A-54C7-371A-B3D5-A85AA1510884}"/>
              </a:ext>
            </a:extLst>
          </p:cNvPr>
          <p:cNvCxnSpPr>
            <a:cxnSpLocks/>
          </p:cNvCxnSpPr>
          <p:nvPr/>
        </p:nvCxnSpPr>
        <p:spPr>
          <a:xfrm>
            <a:off x="5907873" y="937014"/>
            <a:ext cx="0" cy="563413"/>
          </a:xfrm>
          <a:prstGeom prst="straightConnector1">
            <a:avLst/>
          </a:prstGeom>
          <a:ln w="25400" cap="flat">
            <a:solidFill>
              <a:schemeClr val="tx1"/>
            </a:solidFill>
            <a:headEnd type="none" w="lg" len="sm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Straight Arrow Connector 33">
            <a:extLst>
              <a:ext uri="{FF2B5EF4-FFF2-40B4-BE49-F238E27FC236}">
                <a16:creationId xmlns:a16="http://schemas.microsoft.com/office/drawing/2014/main" id="{1836A160-B4D2-7AA9-8B74-9F0F631EA1F4}"/>
              </a:ext>
            </a:extLst>
          </p:cNvPr>
          <p:cNvCxnSpPr>
            <a:cxnSpLocks/>
          </p:cNvCxnSpPr>
          <p:nvPr/>
        </p:nvCxnSpPr>
        <p:spPr>
          <a:xfrm flipV="1">
            <a:off x="7340365" y="937014"/>
            <a:ext cx="0" cy="451823"/>
          </a:xfrm>
          <a:prstGeom prst="straightConnector1">
            <a:avLst/>
          </a:prstGeom>
          <a:ln w="25400" cap="flat">
            <a:solidFill>
              <a:schemeClr val="tx1"/>
            </a:solidFill>
            <a:headEnd type="none" w="lg" len="sm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Straight Arrow Connector 34">
            <a:extLst>
              <a:ext uri="{FF2B5EF4-FFF2-40B4-BE49-F238E27FC236}">
                <a16:creationId xmlns:a16="http://schemas.microsoft.com/office/drawing/2014/main" id="{5F93DC3E-0945-DB20-9C28-73F9E385AED9}"/>
              </a:ext>
            </a:extLst>
          </p:cNvPr>
          <p:cNvCxnSpPr>
            <a:cxnSpLocks/>
          </p:cNvCxnSpPr>
          <p:nvPr/>
        </p:nvCxnSpPr>
        <p:spPr>
          <a:xfrm>
            <a:off x="7627236" y="937014"/>
            <a:ext cx="0" cy="563413"/>
          </a:xfrm>
          <a:prstGeom prst="straightConnector1">
            <a:avLst/>
          </a:prstGeom>
          <a:ln w="25400" cap="flat">
            <a:solidFill>
              <a:schemeClr val="tx1"/>
            </a:solidFill>
            <a:headEnd type="none" w="lg" len="sm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Straight Arrow Connector 35">
            <a:extLst>
              <a:ext uri="{FF2B5EF4-FFF2-40B4-BE49-F238E27FC236}">
                <a16:creationId xmlns:a16="http://schemas.microsoft.com/office/drawing/2014/main" id="{9630AE4D-9DCE-EFF0-A205-4F77F84599AF}"/>
              </a:ext>
            </a:extLst>
          </p:cNvPr>
          <p:cNvCxnSpPr>
            <a:cxnSpLocks/>
          </p:cNvCxnSpPr>
          <p:nvPr/>
        </p:nvCxnSpPr>
        <p:spPr>
          <a:xfrm>
            <a:off x="2669461" y="1660418"/>
            <a:ext cx="1121207" cy="5426"/>
          </a:xfrm>
          <a:prstGeom prst="straightConnector1">
            <a:avLst/>
          </a:prstGeom>
          <a:ln w="25400" cap="flat">
            <a:solidFill>
              <a:schemeClr val="tx1"/>
            </a:solidFill>
            <a:headEnd type="none" w="lg" len="sm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Straight Arrow Connector 36">
            <a:extLst>
              <a:ext uri="{FF2B5EF4-FFF2-40B4-BE49-F238E27FC236}">
                <a16:creationId xmlns:a16="http://schemas.microsoft.com/office/drawing/2014/main" id="{29D76D6E-25A8-343E-09FA-CCCD42DDD383}"/>
              </a:ext>
            </a:extLst>
          </p:cNvPr>
          <p:cNvCxnSpPr>
            <a:cxnSpLocks/>
          </p:cNvCxnSpPr>
          <p:nvPr/>
        </p:nvCxnSpPr>
        <p:spPr>
          <a:xfrm flipH="1" flipV="1">
            <a:off x="2632281" y="2019334"/>
            <a:ext cx="1050348" cy="10416"/>
          </a:xfrm>
          <a:prstGeom prst="straightConnector1">
            <a:avLst/>
          </a:prstGeom>
          <a:ln w="25400" cap="flat">
            <a:solidFill>
              <a:schemeClr val="tx1"/>
            </a:solidFill>
            <a:headEnd type="none" w="lg" len="sm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Straight Arrow Connector 37">
            <a:extLst>
              <a:ext uri="{FF2B5EF4-FFF2-40B4-BE49-F238E27FC236}">
                <a16:creationId xmlns:a16="http://schemas.microsoft.com/office/drawing/2014/main" id="{B0825AE4-9B4A-EA3B-9CA8-787E73CD9BFB}"/>
              </a:ext>
            </a:extLst>
          </p:cNvPr>
          <p:cNvCxnSpPr>
            <a:cxnSpLocks/>
          </p:cNvCxnSpPr>
          <p:nvPr/>
        </p:nvCxnSpPr>
        <p:spPr>
          <a:xfrm>
            <a:off x="4381607" y="1623372"/>
            <a:ext cx="1121207" cy="5426"/>
          </a:xfrm>
          <a:prstGeom prst="straightConnector1">
            <a:avLst/>
          </a:prstGeom>
          <a:ln w="25400" cap="flat">
            <a:solidFill>
              <a:schemeClr val="tx1"/>
            </a:solidFill>
            <a:headEnd type="none" w="lg" len="sm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Straight Arrow Connector 38">
            <a:extLst>
              <a:ext uri="{FF2B5EF4-FFF2-40B4-BE49-F238E27FC236}">
                <a16:creationId xmlns:a16="http://schemas.microsoft.com/office/drawing/2014/main" id="{C4135281-D03C-DFDC-6800-B437BB284482}"/>
              </a:ext>
            </a:extLst>
          </p:cNvPr>
          <p:cNvCxnSpPr>
            <a:cxnSpLocks/>
          </p:cNvCxnSpPr>
          <p:nvPr/>
        </p:nvCxnSpPr>
        <p:spPr>
          <a:xfrm flipH="1" flipV="1">
            <a:off x="4344427" y="1982288"/>
            <a:ext cx="1050348" cy="10416"/>
          </a:xfrm>
          <a:prstGeom prst="straightConnector1">
            <a:avLst/>
          </a:prstGeom>
          <a:ln w="25400" cap="flat">
            <a:solidFill>
              <a:schemeClr val="tx1"/>
            </a:solidFill>
            <a:headEnd type="none" w="lg" len="sm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Straight Arrow Connector 39">
            <a:extLst>
              <a:ext uri="{FF2B5EF4-FFF2-40B4-BE49-F238E27FC236}">
                <a16:creationId xmlns:a16="http://schemas.microsoft.com/office/drawing/2014/main" id="{DC2E9697-0CCD-F73A-D7BB-92F510BDF88E}"/>
              </a:ext>
            </a:extLst>
          </p:cNvPr>
          <p:cNvCxnSpPr>
            <a:cxnSpLocks/>
          </p:cNvCxnSpPr>
          <p:nvPr/>
        </p:nvCxnSpPr>
        <p:spPr>
          <a:xfrm>
            <a:off x="6082380" y="1638961"/>
            <a:ext cx="1121207" cy="5426"/>
          </a:xfrm>
          <a:prstGeom prst="straightConnector1">
            <a:avLst/>
          </a:prstGeom>
          <a:ln w="25400" cap="flat">
            <a:solidFill>
              <a:schemeClr val="tx1"/>
            </a:solidFill>
            <a:headEnd type="none" w="lg" len="sm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Straight Arrow Connector 40">
            <a:extLst>
              <a:ext uri="{FF2B5EF4-FFF2-40B4-BE49-F238E27FC236}">
                <a16:creationId xmlns:a16="http://schemas.microsoft.com/office/drawing/2014/main" id="{2ED400E0-0E51-7CD9-E708-0461536D0ED0}"/>
              </a:ext>
            </a:extLst>
          </p:cNvPr>
          <p:cNvCxnSpPr>
            <a:cxnSpLocks/>
          </p:cNvCxnSpPr>
          <p:nvPr/>
        </p:nvCxnSpPr>
        <p:spPr>
          <a:xfrm flipH="1" flipV="1">
            <a:off x="6045200" y="1997877"/>
            <a:ext cx="1050348" cy="10416"/>
          </a:xfrm>
          <a:prstGeom prst="straightConnector1">
            <a:avLst/>
          </a:prstGeom>
          <a:ln w="25400" cap="flat">
            <a:solidFill>
              <a:schemeClr val="tx1"/>
            </a:solidFill>
            <a:headEnd type="none" w="lg" len="sm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Straight Arrow Connector 41">
            <a:extLst>
              <a:ext uri="{FF2B5EF4-FFF2-40B4-BE49-F238E27FC236}">
                <a16:creationId xmlns:a16="http://schemas.microsoft.com/office/drawing/2014/main" id="{6C0A5E5B-880A-2FF1-1CDE-4D13E62EF29A}"/>
              </a:ext>
            </a:extLst>
          </p:cNvPr>
          <p:cNvCxnSpPr>
            <a:cxnSpLocks/>
          </p:cNvCxnSpPr>
          <p:nvPr/>
        </p:nvCxnSpPr>
        <p:spPr>
          <a:xfrm>
            <a:off x="7955699" y="1638961"/>
            <a:ext cx="1121207" cy="5426"/>
          </a:xfrm>
          <a:prstGeom prst="straightConnector1">
            <a:avLst/>
          </a:prstGeom>
          <a:ln w="25400" cap="flat">
            <a:solidFill>
              <a:schemeClr val="tx1"/>
            </a:solidFill>
            <a:headEnd type="none" w="lg" len="sm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Straight Arrow Connector 42">
            <a:extLst>
              <a:ext uri="{FF2B5EF4-FFF2-40B4-BE49-F238E27FC236}">
                <a16:creationId xmlns:a16="http://schemas.microsoft.com/office/drawing/2014/main" id="{50E86E11-083F-AEE7-8A7E-A5AD6902D8D0}"/>
              </a:ext>
            </a:extLst>
          </p:cNvPr>
          <p:cNvCxnSpPr>
            <a:cxnSpLocks/>
          </p:cNvCxnSpPr>
          <p:nvPr/>
        </p:nvCxnSpPr>
        <p:spPr>
          <a:xfrm flipH="1" flipV="1">
            <a:off x="7918519" y="1997877"/>
            <a:ext cx="1050348" cy="10416"/>
          </a:xfrm>
          <a:prstGeom prst="straightConnector1">
            <a:avLst/>
          </a:prstGeom>
          <a:ln w="25400" cap="flat">
            <a:solidFill>
              <a:schemeClr val="tx1"/>
            </a:solidFill>
            <a:headEnd type="none" w="lg" len="sm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" name="TextBox 43">
            <a:extLst>
              <a:ext uri="{FF2B5EF4-FFF2-40B4-BE49-F238E27FC236}">
                <a16:creationId xmlns:a16="http://schemas.microsoft.com/office/drawing/2014/main" id="{24645CC6-164D-EC31-AB20-60CA508754AD}"/>
              </a:ext>
            </a:extLst>
          </p:cNvPr>
          <p:cNvSpPr txBox="1"/>
          <p:nvPr/>
        </p:nvSpPr>
        <p:spPr>
          <a:xfrm>
            <a:off x="10564004" y="1234009"/>
            <a:ext cx="825544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7200" dirty="0">
                <a:latin typeface="Bradley Hand" pitchFamily="2" charset="77"/>
                <a:cs typeface="Calibri" panose="020F0502020204030204" pitchFamily="34" charset="0"/>
              </a:rPr>
              <a:t>Z</a:t>
            </a:r>
            <a:endParaRPr lang="en-US" sz="7200" dirty="0"/>
          </a:p>
        </p:txBody>
      </p:sp>
      <p:cxnSp>
        <p:nvCxnSpPr>
          <p:cNvPr id="45" name="Straight Arrow Connector 44">
            <a:extLst>
              <a:ext uri="{FF2B5EF4-FFF2-40B4-BE49-F238E27FC236}">
                <a16:creationId xmlns:a16="http://schemas.microsoft.com/office/drawing/2014/main" id="{C6B5CCBF-8EA0-416F-10E2-B6EC2C572BE3}"/>
              </a:ext>
            </a:extLst>
          </p:cNvPr>
          <p:cNvCxnSpPr>
            <a:cxnSpLocks/>
            <a:endCxn id="44" idx="1"/>
          </p:cNvCxnSpPr>
          <p:nvPr/>
        </p:nvCxnSpPr>
        <p:spPr>
          <a:xfrm>
            <a:off x="9500445" y="1212454"/>
            <a:ext cx="1063559" cy="621720"/>
          </a:xfrm>
          <a:prstGeom prst="straightConnector1">
            <a:avLst/>
          </a:prstGeom>
          <a:ln w="25400" cap="flat" cmpd="thickThin">
            <a:solidFill>
              <a:schemeClr val="tx1"/>
            </a:solidFill>
            <a:prstDash val="dash"/>
            <a:headEnd type="none" w="lg" len="sm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6" name="TextBox 45">
            <a:extLst>
              <a:ext uri="{FF2B5EF4-FFF2-40B4-BE49-F238E27FC236}">
                <a16:creationId xmlns:a16="http://schemas.microsoft.com/office/drawing/2014/main" id="{8323BAD3-9F56-3DAF-5AC1-3719E6ADDE0E}"/>
              </a:ext>
            </a:extLst>
          </p:cNvPr>
          <p:cNvSpPr txBox="1"/>
          <p:nvPr/>
        </p:nvSpPr>
        <p:spPr>
          <a:xfrm>
            <a:off x="10444193" y="5023826"/>
            <a:ext cx="825544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7200" dirty="0">
                <a:latin typeface="Bradley Hand" pitchFamily="2" charset="77"/>
                <a:cs typeface="Calibri" panose="020F0502020204030204" pitchFamily="34" charset="0"/>
              </a:rPr>
              <a:t>Z</a:t>
            </a:r>
            <a:endParaRPr lang="en-US" sz="7200" dirty="0"/>
          </a:p>
        </p:txBody>
      </p:sp>
      <p:cxnSp>
        <p:nvCxnSpPr>
          <p:cNvPr id="47" name="Straight Arrow Connector 46">
            <a:extLst>
              <a:ext uri="{FF2B5EF4-FFF2-40B4-BE49-F238E27FC236}">
                <a16:creationId xmlns:a16="http://schemas.microsoft.com/office/drawing/2014/main" id="{868EEC82-AE3D-83C7-6204-219676C9587E}"/>
              </a:ext>
            </a:extLst>
          </p:cNvPr>
          <p:cNvCxnSpPr>
            <a:cxnSpLocks/>
            <a:endCxn id="46" idx="1"/>
          </p:cNvCxnSpPr>
          <p:nvPr/>
        </p:nvCxnSpPr>
        <p:spPr>
          <a:xfrm>
            <a:off x="9380634" y="5002271"/>
            <a:ext cx="1063559" cy="621720"/>
          </a:xfrm>
          <a:prstGeom prst="straightConnector1">
            <a:avLst/>
          </a:prstGeom>
          <a:ln w="25400" cap="flat" cmpd="thickThin">
            <a:solidFill>
              <a:schemeClr val="tx1"/>
            </a:solidFill>
            <a:prstDash val="dash"/>
            <a:headEnd type="none" w="lg" len="sm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8" name="TextBox 47">
            <a:extLst>
              <a:ext uri="{FF2B5EF4-FFF2-40B4-BE49-F238E27FC236}">
                <a16:creationId xmlns:a16="http://schemas.microsoft.com/office/drawing/2014/main" id="{2222C1AE-46B1-576E-576F-BC04F1582249}"/>
              </a:ext>
            </a:extLst>
          </p:cNvPr>
          <p:cNvSpPr txBox="1"/>
          <p:nvPr/>
        </p:nvSpPr>
        <p:spPr>
          <a:xfrm rot="20463174">
            <a:off x="673839" y="412248"/>
            <a:ext cx="203940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American Typewriter" panose="02090604020004020304" pitchFamily="18" charset="77"/>
              </a:rPr>
              <a:t>(active, corrupt)</a:t>
            </a:r>
          </a:p>
        </p:txBody>
      </p:sp>
      <p:cxnSp>
        <p:nvCxnSpPr>
          <p:cNvPr id="50" name="Straight Connector 49">
            <a:extLst>
              <a:ext uri="{FF2B5EF4-FFF2-40B4-BE49-F238E27FC236}">
                <a16:creationId xmlns:a16="http://schemas.microsoft.com/office/drawing/2014/main" id="{B305379A-AECB-9A06-377A-F54D02904020}"/>
              </a:ext>
            </a:extLst>
          </p:cNvPr>
          <p:cNvCxnSpPr>
            <a:cxnSpLocks/>
            <a:stCxn id="48" idx="3"/>
          </p:cNvCxnSpPr>
          <p:nvPr/>
        </p:nvCxnSpPr>
        <p:spPr>
          <a:xfrm>
            <a:off x="2657994" y="265822"/>
            <a:ext cx="1435831" cy="794201"/>
          </a:xfrm>
          <a:prstGeom prst="line">
            <a:avLst/>
          </a:prstGeom>
          <a:ln>
            <a:prstDash val="dash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5" name="TextBox 54">
            <a:extLst>
              <a:ext uri="{FF2B5EF4-FFF2-40B4-BE49-F238E27FC236}">
                <a16:creationId xmlns:a16="http://schemas.microsoft.com/office/drawing/2014/main" id="{24DF2FFE-5E71-B184-B6D4-78CFF5232F02}"/>
              </a:ext>
            </a:extLst>
          </p:cNvPr>
          <p:cNvSpPr txBox="1"/>
          <p:nvPr/>
        </p:nvSpPr>
        <p:spPr>
          <a:xfrm>
            <a:off x="7203587" y="6029"/>
            <a:ext cx="230710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American Typewriter" panose="02090604020004020304" pitchFamily="18" charset="77"/>
              </a:rPr>
              <a:t>(active, corrupt, 1)</a:t>
            </a:r>
          </a:p>
        </p:txBody>
      </p:sp>
      <p:cxnSp>
        <p:nvCxnSpPr>
          <p:cNvPr id="56" name="Straight Connector 55">
            <a:extLst>
              <a:ext uri="{FF2B5EF4-FFF2-40B4-BE49-F238E27FC236}">
                <a16:creationId xmlns:a16="http://schemas.microsoft.com/office/drawing/2014/main" id="{435C7E0D-10EE-08CA-DF0C-9E4C706DDDBC}"/>
              </a:ext>
            </a:extLst>
          </p:cNvPr>
          <p:cNvCxnSpPr>
            <a:cxnSpLocks/>
          </p:cNvCxnSpPr>
          <p:nvPr/>
        </p:nvCxnSpPr>
        <p:spPr>
          <a:xfrm flipH="1">
            <a:off x="5913035" y="346658"/>
            <a:ext cx="1815585" cy="786221"/>
          </a:xfrm>
          <a:prstGeom prst="line">
            <a:avLst/>
          </a:prstGeom>
          <a:ln>
            <a:prstDash val="dash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9" name="Straight Connector 58">
            <a:extLst>
              <a:ext uri="{FF2B5EF4-FFF2-40B4-BE49-F238E27FC236}">
                <a16:creationId xmlns:a16="http://schemas.microsoft.com/office/drawing/2014/main" id="{C3DC412D-BD37-9F96-8C9E-A5530861ABF6}"/>
              </a:ext>
            </a:extLst>
          </p:cNvPr>
          <p:cNvCxnSpPr>
            <a:cxnSpLocks/>
          </p:cNvCxnSpPr>
          <p:nvPr/>
        </p:nvCxnSpPr>
        <p:spPr>
          <a:xfrm flipH="1">
            <a:off x="5726682" y="3580714"/>
            <a:ext cx="1779805" cy="1761570"/>
          </a:xfrm>
          <a:prstGeom prst="line">
            <a:avLst/>
          </a:prstGeom>
          <a:ln>
            <a:prstDash val="dash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0" name="TextBox 59">
            <a:extLst>
              <a:ext uri="{FF2B5EF4-FFF2-40B4-BE49-F238E27FC236}">
                <a16:creationId xmlns:a16="http://schemas.microsoft.com/office/drawing/2014/main" id="{EABE3010-C1F8-E72E-CD7E-C7886DBF0610}"/>
              </a:ext>
            </a:extLst>
          </p:cNvPr>
          <p:cNvSpPr txBox="1"/>
          <p:nvPr/>
        </p:nvSpPr>
        <p:spPr>
          <a:xfrm>
            <a:off x="6324281" y="3200593"/>
            <a:ext cx="230710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American Typewriter" panose="02090604020004020304" pitchFamily="18" charset="77"/>
              </a:rPr>
              <a:t>(active, corrupt, 1)</a:t>
            </a:r>
          </a:p>
        </p:txBody>
      </p:sp>
    </p:spTree>
    <p:extLst>
      <p:ext uri="{BB962C8B-B14F-4D97-AF65-F5344CB8AC3E}">
        <p14:creationId xmlns:p14="http://schemas.microsoft.com/office/powerpoint/2010/main" val="423736821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8" grpId="0"/>
      <p:bldP spid="55" grpId="0"/>
      <p:bldP spid="60" grpId="0"/>
    </p:bldLst>
  </p:timing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7171750F-621B-0CA5-4EAB-69CB7183FED4}"/>
              </a:ext>
            </a:extLst>
          </p:cNvPr>
          <p:cNvSpPr txBox="1"/>
          <p:nvPr/>
        </p:nvSpPr>
        <p:spPr>
          <a:xfrm>
            <a:off x="348463" y="1117672"/>
            <a:ext cx="3517310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 dirty="0">
                <a:latin typeface="Chalk Board" panose="02000500000000000000" pitchFamily="2" charset="0"/>
              </a:rPr>
              <a:t>S is now allowed to send: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D49B549-2C93-65E0-8693-FB5971A548C8}"/>
              </a:ext>
            </a:extLst>
          </p:cNvPr>
          <p:cNvSpPr txBox="1"/>
          <p:nvPr/>
        </p:nvSpPr>
        <p:spPr>
          <a:xfrm>
            <a:off x="3755701" y="1176453"/>
            <a:ext cx="2607830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dirty="0">
                <a:latin typeface="American Typewriter" panose="02090604020004020304" pitchFamily="18" charset="77"/>
              </a:rPr>
              <a:t>(send, 1, 2, mid, m')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BB482E0-BDFB-4253-DA79-4EAD68B9D665}"/>
              </a:ext>
            </a:extLst>
          </p:cNvPr>
          <p:cNvSpPr txBox="1"/>
          <p:nvPr/>
        </p:nvSpPr>
        <p:spPr>
          <a:xfrm>
            <a:off x="6363531" y="1080249"/>
            <a:ext cx="309065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 dirty="0">
                <a:latin typeface="Chalk Board" panose="02000500000000000000" pitchFamily="2" charset="0"/>
              </a:rPr>
              <a:t>on </a:t>
            </a:r>
            <a:r>
              <a:rPr lang="en-US" sz="2000" dirty="0" err="1">
                <a:latin typeface="American Typewriter" panose="02090604020004020304" pitchFamily="18" charset="77"/>
              </a:rPr>
              <a:t>ST.infl</a:t>
            </a:r>
            <a:r>
              <a:rPr lang="en-US" sz="3600" dirty="0">
                <a:latin typeface="American Typewriter" panose="02090604020004020304" pitchFamily="18" charset="77"/>
              </a:rPr>
              <a:t> </a:t>
            </a:r>
            <a:r>
              <a:rPr lang="en-US" sz="3600" dirty="0">
                <a:latin typeface="Chalk Board" panose="02000500000000000000" pitchFamily="2" charset="0"/>
              </a:rPr>
              <a:t>at any point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2BFE2F1B-7EA1-B2E4-0814-A96675D08F2D}"/>
              </a:ext>
            </a:extLst>
          </p:cNvPr>
          <p:cNvSpPr txBox="1"/>
          <p:nvPr/>
        </p:nvSpPr>
        <p:spPr>
          <a:xfrm>
            <a:off x="348463" y="2113180"/>
            <a:ext cx="1840568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000" dirty="0">
                <a:latin typeface="Chalk Board" panose="02000500000000000000" pitchFamily="2" charset="0"/>
              </a:rPr>
              <a:t>In response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9A2C3CAB-9B8F-5FD4-32A2-69D082DA9A77}"/>
                  </a:ext>
                </a:extLst>
              </p:cNvPr>
              <p:cNvSpPr txBox="1"/>
              <p:nvPr/>
            </p:nvSpPr>
            <p:spPr>
              <a:xfrm>
                <a:off x="2239167" y="2113180"/>
                <a:ext cx="584371" cy="553998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36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3600" b="0" i="1" smtClean="0">
                              <a:latin typeface="Cambria Math" panose="02040503050406030204" pitchFamily="18" charset="0"/>
                            </a:rPr>
                            <m:t>𝐹</m:t>
                          </m:r>
                        </m:e>
                        <m:sub>
                          <m:r>
                            <a:rPr lang="en-US" sz="3600" b="0" i="1" smtClean="0">
                              <a:latin typeface="Cambria Math" panose="02040503050406030204" pitchFamily="18" charset="0"/>
                            </a:rPr>
                            <m:t>𝑆𝑇</m:t>
                          </m:r>
                        </m:sub>
                      </m:sSub>
                    </m:oMath>
                  </m:oMathPara>
                </a14:m>
                <a:endParaRPr lang="en-US" sz="3600" dirty="0"/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9A2C3CAB-9B8F-5FD4-32A2-69D082DA9A7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239167" y="2113180"/>
                <a:ext cx="584371" cy="553998"/>
              </a:xfrm>
              <a:prstGeom prst="rect">
                <a:avLst/>
              </a:prstGeom>
              <a:blipFill>
                <a:blip r:embed="rId2"/>
                <a:stretch>
                  <a:fillRect l="-25532" r="-21277" b="-1111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8" name="TextBox 7">
            <a:extLst>
              <a:ext uri="{FF2B5EF4-FFF2-40B4-BE49-F238E27FC236}">
                <a16:creationId xmlns:a16="http://schemas.microsoft.com/office/drawing/2014/main" id="{755198B5-BC90-1AC8-71C9-CE7350CAF425}"/>
              </a:ext>
            </a:extLst>
          </p:cNvPr>
          <p:cNvSpPr txBox="1"/>
          <p:nvPr/>
        </p:nvSpPr>
        <p:spPr>
          <a:xfrm>
            <a:off x="3124476" y="2168129"/>
            <a:ext cx="1218603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000" dirty="0">
                <a:latin typeface="Chalk Board" panose="02000500000000000000" pitchFamily="2" charset="0"/>
              </a:rPr>
              <a:t>stores 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855B3DF2-4C74-FE9B-5416-1067B1D82524}"/>
              </a:ext>
            </a:extLst>
          </p:cNvPr>
          <p:cNvSpPr txBox="1"/>
          <p:nvPr/>
        </p:nvSpPr>
        <p:spPr>
          <a:xfrm>
            <a:off x="4251149" y="2274763"/>
            <a:ext cx="166160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American Typewriter" panose="02090604020004020304" pitchFamily="18" charset="77"/>
              </a:rPr>
              <a:t>(mid, 1, 2 m')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4C0ECE54-357A-2529-1FE1-34420353CE69}"/>
              </a:ext>
            </a:extLst>
          </p:cNvPr>
          <p:cNvSpPr txBox="1"/>
          <p:nvPr/>
        </p:nvSpPr>
        <p:spPr>
          <a:xfrm>
            <a:off x="6055612" y="2151039"/>
            <a:ext cx="3878178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000" dirty="0">
                <a:latin typeface="Chalk Board" panose="02000500000000000000" pitchFamily="2" charset="0"/>
              </a:rPr>
              <a:t>as if it came from </a:t>
            </a:r>
            <a:r>
              <a:rPr lang="en-US" sz="2000" dirty="0">
                <a:latin typeface="American Typewriter" panose="02090604020004020304" pitchFamily="18" charset="77"/>
              </a:rPr>
              <a:t>ST.in1 </a:t>
            </a:r>
            <a:endParaRPr lang="en-US" sz="4000" dirty="0">
              <a:latin typeface="American Typewriter" panose="02090604020004020304" pitchFamily="18" charset="77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CE46DBED-3474-8CB1-09AA-40E5566CE54C}"/>
              </a:ext>
            </a:extLst>
          </p:cNvPr>
          <p:cNvSpPr txBox="1"/>
          <p:nvPr/>
        </p:nvSpPr>
        <p:spPr>
          <a:xfrm>
            <a:off x="348463" y="2902434"/>
            <a:ext cx="6495368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000" dirty="0">
                <a:latin typeface="Chalk Board" panose="02000500000000000000" pitchFamily="2" charset="0"/>
              </a:rPr>
              <a:t>Then, S can send </a:t>
            </a:r>
            <a:r>
              <a:rPr lang="en-US" sz="2000" dirty="0">
                <a:latin typeface="American Typewriter" panose="02090604020004020304" pitchFamily="18" charset="77"/>
              </a:rPr>
              <a:t>(deliver, mid, 1, 2)</a:t>
            </a:r>
            <a:r>
              <a:rPr lang="en-US" sz="4000" dirty="0">
                <a:latin typeface="Chalk Board" panose="02000500000000000000" pitchFamily="2" charset="0"/>
              </a:rPr>
              <a:t> on </a:t>
            </a:r>
            <a:r>
              <a:rPr lang="en-US" sz="2000" dirty="0" err="1">
                <a:latin typeface="American Typewriter" panose="02090604020004020304" pitchFamily="18" charset="77"/>
              </a:rPr>
              <a:t>ST.infl</a:t>
            </a:r>
            <a:r>
              <a:rPr lang="en-US" sz="2000" dirty="0">
                <a:latin typeface="American Typewriter" panose="02090604020004020304" pitchFamily="18" charset="77"/>
              </a:rPr>
              <a:t> </a:t>
            </a:r>
            <a:endParaRPr lang="en-US" sz="4000" dirty="0">
              <a:latin typeface="American Typewriter" panose="02090604020004020304" pitchFamily="18" charset="77"/>
            </a:endParaRPr>
          </a:p>
        </p:txBody>
      </p:sp>
      <p:grpSp>
        <p:nvGrpSpPr>
          <p:cNvPr id="17" name="Group 16">
            <a:extLst>
              <a:ext uri="{FF2B5EF4-FFF2-40B4-BE49-F238E27FC236}">
                <a16:creationId xmlns:a16="http://schemas.microsoft.com/office/drawing/2014/main" id="{18EAB7C9-95FA-2975-E611-B99087567439}"/>
              </a:ext>
            </a:extLst>
          </p:cNvPr>
          <p:cNvGrpSpPr/>
          <p:nvPr/>
        </p:nvGrpSpPr>
        <p:grpSpPr>
          <a:xfrm>
            <a:off x="430376" y="3817030"/>
            <a:ext cx="2568860" cy="707886"/>
            <a:chOff x="430376" y="3817030"/>
            <a:chExt cx="2568860" cy="707886"/>
          </a:xfrm>
        </p:grpSpPr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4FD95850-E819-FFFB-E4D0-1CDC0440CEC2}"/>
                </a:ext>
              </a:extLst>
            </p:cNvPr>
            <p:cNvSpPr txBox="1"/>
            <p:nvPr/>
          </p:nvSpPr>
          <p:spPr>
            <a:xfrm>
              <a:off x="430376" y="3817030"/>
              <a:ext cx="1840568" cy="707886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4000" dirty="0">
                  <a:latin typeface="Chalk Board" panose="02000500000000000000" pitchFamily="2" charset="0"/>
                </a:rPr>
                <a:t>In response</a:t>
              </a: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3" name="TextBox 12">
                  <a:extLst>
                    <a:ext uri="{FF2B5EF4-FFF2-40B4-BE49-F238E27FC236}">
                      <a16:creationId xmlns:a16="http://schemas.microsoft.com/office/drawing/2014/main" id="{7658D3E1-6018-FD99-FD51-A5025223B3E4}"/>
                    </a:ext>
                  </a:extLst>
                </p:cNvPr>
                <p:cNvSpPr txBox="1"/>
                <p:nvPr/>
              </p:nvSpPr>
              <p:spPr>
                <a:xfrm>
                  <a:off x="2475795" y="3820838"/>
                  <a:ext cx="523441" cy="492443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32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3200" b="0" i="1" smtClean="0">
                                <a:latin typeface="Cambria Math" panose="02040503050406030204" pitchFamily="18" charset="0"/>
                              </a:rPr>
                              <m:t>𝐹</m:t>
                            </m:r>
                          </m:e>
                          <m:sub>
                            <m:r>
                              <a:rPr lang="en-US" sz="3200" b="0" i="1" smtClean="0">
                                <a:latin typeface="Cambria Math" panose="02040503050406030204" pitchFamily="18" charset="0"/>
                              </a:rPr>
                              <m:t>𝑆𝑇</m:t>
                            </m:r>
                          </m:sub>
                        </m:sSub>
                      </m:oMath>
                    </m:oMathPara>
                  </a14:m>
                  <a:endParaRPr lang="en-US" sz="3200" dirty="0"/>
                </a:p>
              </p:txBody>
            </p:sp>
          </mc:Choice>
          <mc:Fallback xmlns="">
            <p:sp>
              <p:nvSpPr>
                <p:cNvPr id="13" name="TextBox 12">
                  <a:extLst>
                    <a:ext uri="{FF2B5EF4-FFF2-40B4-BE49-F238E27FC236}">
                      <a16:creationId xmlns:a16="http://schemas.microsoft.com/office/drawing/2014/main" id="{7658D3E1-6018-FD99-FD51-A5025223B3E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475795" y="3820838"/>
                  <a:ext cx="523441" cy="492443"/>
                </a:xfrm>
                <a:prstGeom prst="rect">
                  <a:avLst/>
                </a:prstGeom>
                <a:blipFill>
                  <a:blip r:embed="rId3"/>
                  <a:stretch>
                    <a:fillRect l="-23256" r="-20930" b="-175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sp>
        <p:nvSpPr>
          <p:cNvPr id="14" name="TextBox 13">
            <a:extLst>
              <a:ext uri="{FF2B5EF4-FFF2-40B4-BE49-F238E27FC236}">
                <a16:creationId xmlns:a16="http://schemas.microsoft.com/office/drawing/2014/main" id="{C788D99C-9BE6-DC5C-516A-91E277023F54}"/>
              </a:ext>
            </a:extLst>
          </p:cNvPr>
          <p:cNvSpPr txBox="1"/>
          <p:nvPr/>
        </p:nvSpPr>
        <p:spPr>
          <a:xfrm>
            <a:off x="3206389" y="3839261"/>
            <a:ext cx="4227055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000" dirty="0">
                <a:latin typeface="Chalk Board" panose="02000500000000000000" pitchFamily="2" charset="0"/>
              </a:rPr>
              <a:t>outputs </a:t>
            </a:r>
            <a:r>
              <a:rPr lang="en-US" sz="2000" dirty="0">
                <a:latin typeface="American Typewriter" panose="02090604020004020304" pitchFamily="18" charset="77"/>
              </a:rPr>
              <a:t>(mid, 1, m’) </a:t>
            </a:r>
            <a:r>
              <a:rPr lang="en-US" sz="4000" dirty="0">
                <a:latin typeface="Chalk Board" panose="02000500000000000000" pitchFamily="2" charset="0"/>
              </a:rPr>
              <a:t>on </a:t>
            </a:r>
            <a:r>
              <a:rPr lang="en-US" sz="2000" dirty="0">
                <a:latin typeface="American Typewriter" panose="02090604020004020304" pitchFamily="18" charset="77"/>
              </a:rPr>
              <a:t>ST.out2</a:t>
            </a:r>
            <a:endParaRPr lang="en-US" sz="4000" dirty="0">
              <a:latin typeface="American Typewriter" panose="02090604020004020304" pitchFamily="18" charset="77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460C4761-64CA-02EB-B8DE-81682A2D5390}"/>
              </a:ext>
            </a:extLst>
          </p:cNvPr>
          <p:cNvSpPr txBox="1"/>
          <p:nvPr/>
        </p:nvSpPr>
        <p:spPr>
          <a:xfrm>
            <a:off x="348463" y="4786174"/>
            <a:ext cx="9418348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000" dirty="0">
                <a:latin typeface="Chalk Board" panose="02000500000000000000" pitchFamily="2" charset="0"/>
              </a:rPr>
              <a:t>Thus, S can output any message of his choice on </a:t>
            </a:r>
            <a:r>
              <a:rPr lang="en-US" sz="2000" dirty="0">
                <a:latin typeface="American Typewriter" panose="02090604020004020304" pitchFamily="18" charset="77"/>
              </a:rPr>
              <a:t>ST.out1/ST.out2</a:t>
            </a:r>
            <a:endParaRPr lang="en-US" sz="4000" dirty="0">
              <a:latin typeface="American Typewriter" panose="02090604020004020304" pitchFamily="18" charset="77"/>
            </a:endParaRPr>
          </a:p>
        </p:txBody>
      </p:sp>
    </p:spTree>
    <p:extLst>
      <p:ext uri="{BB962C8B-B14F-4D97-AF65-F5344CB8AC3E}">
        <p14:creationId xmlns:p14="http://schemas.microsoft.com/office/powerpoint/2010/main" val="312828170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/>
      <p:bldP spid="9" grpId="0"/>
      <p:bldP spid="11" grpId="0"/>
      <p:bldP spid="14" grpId="0"/>
      <p:bldP spid="16" grpId="0"/>
    </p:bldLst>
  </p:timing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A78EA2B8-4692-1F04-1E91-16F655A9241C}"/>
              </a:ext>
            </a:extLst>
          </p:cNvPr>
          <p:cNvSpPr txBox="1"/>
          <p:nvPr/>
        </p:nvSpPr>
        <p:spPr>
          <a:xfrm>
            <a:off x="348463" y="1117672"/>
            <a:ext cx="467307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 dirty="0">
                <a:latin typeface="Chalk Board" panose="02000500000000000000" pitchFamily="2" charset="0"/>
              </a:rPr>
              <a:t>So, how will the Simulation work?</a:t>
            </a:r>
          </a:p>
        </p:txBody>
      </p:sp>
    </p:spTree>
    <p:extLst>
      <p:ext uri="{BB962C8B-B14F-4D97-AF65-F5344CB8AC3E}">
        <p14:creationId xmlns:p14="http://schemas.microsoft.com/office/powerpoint/2010/main" val="409938796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D70745AB-0EE7-FDC2-EB58-283F5C6B03A7}"/>
              </a:ext>
            </a:extLst>
          </p:cNvPr>
          <p:cNvSpPr txBox="1"/>
          <p:nvPr/>
        </p:nvSpPr>
        <p:spPr>
          <a:xfrm>
            <a:off x="348463" y="1117672"/>
            <a:ext cx="3581430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 dirty="0">
                <a:latin typeface="Chalk Board" panose="02000500000000000000" pitchFamily="2" charset="0"/>
              </a:rPr>
              <a:t>What if P2 is corrupted?</a:t>
            </a:r>
          </a:p>
        </p:txBody>
      </p:sp>
      <p:grpSp>
        <p:nvGrpSpPr>
          <p:cNvPr id="11" name="Group 10">
            <a:extLst>
              <a:ext uri="{FF2B5EF4-FFF2-40B4-BE49-F238E27FC236}">
                <a16:creationId xmlns:a16="http://schemas.microsoft.com/office/drawing/2014/main" id="{99094C7E-68E8-AFC9-4032-9C98124E7EB8}"/>
              </a:ext>
            </a:extLst>
          </p:cNvPr>
          <p:cNvGrpSpPr/>
          <p:nvPr/>
        </p:nvGrpSpPr>
        <p:grpSpPr>
          <a:xfrm>
            <a:off x="348463" y="2144131"/>
            <a:ext cx="10793752" cy="1284869"/>
            <a:chOff x="348463" y="2144131"/>
            <a:chExt cx="10793752" cy="1284869"/>
          </a:xfrm>
        </p:grpSpPr>
        <p:sp>
          <p:nvSpPr>
            <p:cNvPr id="3" name="TextBox 2">
              <a:extLst>
                <a:ext uri="{FF2B5EF4-FFF2-40B4-BE49-F238E27FC236}">
                  <a16:creationId xmlns:a16="http://schemas.microsoft.com/office/drawing/2014/main" id="{4B6B172D-902D-212E-B383-D5E3B1ADE481}"/>
                </a:ext>
              </a:extLst>
            </p:cNvPr>
            <p:cNvSpPr txBox="1"/>
            <p:nvPr/>
          </p:nvSpPr>
          <p:spPr>
            <a:xfrm>
              <a:off x="348463" y="2144131"/>
              <a:ext cx="8477001" cy="64633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3600" dirty="0">
                  <a:latin typeface="Chalk Board" panose="02000500000000000000" pitchFamily="2" charset="0"/>
                </a:rPr>
                <a:t>Whenever S is activated, it checks whether it received some </a:t>
              </a:r>
            </a:p>
          </p:txBody>
        </p:sp>
        <p:sp>
          <p:nvSpPr>
            <p:cNvPr id="4" name="TextBox 3">
              <a:extLst>
                <a:ext uri="{FF2B5EF4-FFF2-40B4-BE49-F238E27FC236}">
                  <a16:creationId xmlns:a16="http://schemas.microsoft.com/office/drawing/2014/main" id="{5AA12EA3-F353-813E-3BC5-5F7DA2578947}"/>
                </a:ext>
              </a:extLst>
            </p:cNvPr>
            <p:cNvSpPr txBox="1"/>
            <p:nvPr/>
          </p:nvSpPr>
          <p:spPr>
            <a:xfrm>
              <a:off x="8650431" y="2144131"/>
              <a:ext cx="2102883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000" dirty="0">
                  <a:latin typeface="American Typewriter" panose="02090604020004020304" pitchFamily="18" charset="77"/>
                </a:rPr>
                <a:t>(mid, 1, 2, |m|)</a:t>
              </a:r>
            </a:p>
          </p:txBody>
        </p:sp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5FD6320A-2AB8-1E58-B628-DF6F7E00CACE}"/>
                </a:ext>
              </a:extLst>
            </p:cNvPr>
            <p:cNvSpPr txBox="1"/>
            <p:nvPr/>
          </p:nvSpPr>
          <p:spPr>
            <a:xfrm>
              <a:off x="9537288" y="2782669"/>
              <a:ext cx="1604927" cy="64633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3600" dirty="0">
                  <a:latin typeface="Chalk Board" panose="02000500000000000000" pitchFamily="2" charset="0"/>
                </a:rPr>
                <a:t>on </a:t>
              </a:r>
              <a:r>
                <a:rPr lang="en-US" sz="3600" dirty="0" err="1">
                  <a:latin typeface="Chalk Board" panose="02000500000000000000" pitchFamily="2" charset="0"/>
                </a:rPr>
                <a:t>ST.leak</a:t>
              </a:r>
              <a:r>
                <a:rPr lang="en-US" sz="3600" dirty="0">
                  <a:latin typeface="Chalk Board" panose="02000500000000000000" pitchFamily="2" charset="0"/>
                </a:rPr>
                <a:t> </a:t>
              </a:r>
            </a:p>
          </p:txBody>
        </p:sp>
      </p:grpSp>
      <p:sp>
        <p:nvSpPr>
          <p:cNvPr id="6" name="TextBox 5">
            <a:extLst>
              <a:ext uri="{FF2B5EF4-FFF2-40B4-BE49-F238E27FC236}">
                <a16:creationId xmlns:a16="http://schemas.microsoft.com/office/drawing/2014/main" id="{D5C44F19-9BA7-F2B2-2CED-DB7F25841980}"/>
              </a:ext>
            </a:extLst>
          </p:cNvPr>
          <p:cNvSpPr txBox="1"/>
          <p:nvPr/>
        </p:nvSpPr>
        <p:spPr>
          <a:xfrm>
            <a:off x="348463" y="3744373"/>
            <a:ext cx="5679760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 dirty="0">
                <a:latin typeface="Chalk Board" panose="02000500000000000000" pitchFamily="2" charset="0"/>
              </a:rPr>
              <a:t>If yes: It inputs (deliver, mid, 1,2) on </a:t>
            </a:r>
            <a:r>
              <a:rPr lang="en-US" sz="3600" dirty="0" err="1">
                <a:latin typeface="Chalk Board" panose="02000500000000000000" pitchFamily="2" charset="0"/>
              </a:rPr>
              <a:t>ST.infl</a:t>
            </a:r>
            <a:r>
              <a:rPr lang="en-US" sz="3600" dirty="0">
                <a:latin typeface="Chalk Board" panose="02000500000000000000" pitchFamily="2" charset="0"/>
              </a:rPr>
              <a:t> </a:t>
            </a:r>
          </a:p>
        </p:txBody>
      </p:sp>
      <p:grpSp>
        <p:nvGrpSpPr>
          <p:cNvPr id="12" name="Group 11">
            <a:extLst>
              <a:ext uri="{FF2B5EF4-FFF2-40B4-BE49-F238E27FC236}">
                <a16:creationId xmlns:a16="http://schemas.microsoft.com/office/drawing/2014/main" id="{25C4D6BD-B1C4-56ED-F21C-5EBF112B674B}"/>
              </a:ext>
            </a:extLst>
          </p:cNvPr>
          <p:cNvGrpSpPr/>
          <p:nvPr/>
        </p:nvGrpSpPr>
        <p:grpSpPr>
          <a:xfrm>
            <a:off x="348462" y="4596020"/>
            <a:ext cx="6993632" cy="646331"/>
            <a:chOff x="348462" y="4596020"/>
            <a:chExt cx="6993632" cy="646331"/>
          </a:xfrm>
        </p:grpSpPr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06D831CF-4B06-9BD8-DB27-AFE2CA8DD7A3}"/>
                </a:ext>
              </a:extLst>
            </p:cNvPr>
            <p:cNvSpPr txBox="1"/>
            <p:nvPr/>
          </p:nvSpPr>
          <p:spPr>
            <a:xfrm>
              <a:off x="348462" y="4596020"/>
              <a:ext cx="1790715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3600" dirty="0">
                  <a:latin typeface="Chalk Board" panose="02000500000000000000" pitchFamily="2" charset="0"/>
                </a:rPr>
                <a:t>In response, </a:t>
              </a: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" name="TextBox 7">
                  <a:extLst>
                    <a:ext uri="{FF2B5EF4-FFF2-40B4-BE49-F238E27FC236}">
                      <a16:creationId xmlns:a16="http://schemas.microsoft.com/office/drawing/2014/main" id="{18A48697-41B6-6D02-7A69-BD4B27B59C26}"/>
                    </a:ext>
                  </a:extLst>
                </p:cNvPr>
                <p:cNvSpPr txBox="1"/>
                <p:nvPr/>
              </p:nvSpPr>
              <p:spPr>
                <a:xfrm>
                  <a:off x="2139178" y="4596020"/>
                  <a:ext cx="523441" cy="492443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32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3200" b="0" i="1" smtClean="0">
                                <a:latin typeface="Cambria Math" panose="02040503050406030204" pitchFamily="18" charset="0"/>
                              </a:rPr>
                              <m:t>𝐹</m:t>
                            </m:r>
                          </m:e>
                          <m:sub>
                            <m:r>
                              <a:rPr lang="en-US" sz="3200" b="0" i="1" smtClean="0">
                                <a:latin typeface="Cambria Math" panose="02040503050406030204" pitchFamily="18" charset="0"/>
                              </a:rPr>
                              <m:t>𝑆𝑇</m:t>
                            </m:r>
                          </m:sub>
                        </m:sSub>
                      </m:oMath>
                    </m:oMathPara>
                  </a14:m>
                  <a:endParaRPr lang="en-US" sz="3200" dirty="0"/>
                </a:p>
              </p:txBody>
            </p:sp>
          </mc:Choice>
          <mc:Fallback xmlns="">
            <p:sp>
              <p:nvSpPr>
                <p:cNvPr id="8" name="TextBox 7">
                  <a:extLst>
                    <a:ext uri="{FF2B5EF4-FFF2-40B4-BE49-F238E27FC236}">
                      <a16:creationId xmlns:a16="http://schemas.microsoft.com/office/drawing/2014/main" id="{18A48697-41B6-6D02-7A69-BD4B27B59C2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139178" y="4596020"/>
                  <a:ext cx="523441" cy="492443"/>
                </a:xfrm>
                <a:prstGeom prst="rect">
                  <a:avLst/>
                </a:prstGeom>
                <a:blipFill>
                  <a:blip r:embed="rId2"/>
                  <a:stretch>
                    <a:fillRect l="-26190" r="-21429" b="-175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BBC1C862-A130-CA97-8FCE-F1BEEB301967}"/>
                </a:ext>
              </a:extLst>
            </p:cNvPr>
            <p:cNvSpPr txBox="1"/>
            <p:nvPr/>
          </p:nvSpPr>
          <p:spPr>
            <a:xfrm>
              <a:off x="2796248" y="4596020"/>
              <a:ext cx="4545846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3600" dirty="0">
                  <a:latin typeface="Chalk Board" panose="02000500000000000000" pitchFamily="2" charset="0"/>
                </a:rPr>
                <a:t>outputs (mid, 1, m) on </a:t>
              </a:r>
              <a:r>
                <a:rPr lang="en-US" sz="3600" dirty="0" err="1">
                  <a:latin typeface="Chalk Board" panose="02000500000000000000" pitchFamily="2" charset="0"/>
                </a:rPr>
                <a:t>ST.leak</a:t>
              </a:r>
              <a:r>
                <a:rPr lang="en-US" sz="3600" dirty="0">
                  <a:latin typeface="Chalk Board" panose="02000500000000000000" pitchFamily="2" charset="0"/>
                </a:rPr>
                <a:t>! </a:t>
              </a:r>
            </a:p>
          </p:txBody>
        </p:sp>
      </p:grpSp>
      <p:sp>
        <p:nvSpPr>
          <p:cNvPr id="10" name="TextBox 9">
            <a:extLst>
              <a:ext uri="{FF2B5EF4-FFF2-40B4-BE49-F238E27FC236}">
                <a16:creationId xmlns:a16="http://schemas.microsoft.com/office/drawing/2014/main" id="{C5BDE739-D01F-D787-4879-29E5B35D833E}"/>
              </a:ext>
            </a:extLst>
          </p:cNvPr>
          <p:cNvSpPr txBox="1"/>
          <p:nvPr/>
        </p:nvSpPr>
        <p:spPr>
          <a:xfrm>
            <a:off x="3728157" y="5485134"/>
            <a:ext cx="1111202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 dirty="0">
                <a:solidFill>
                  <a:srgbClr val="C00000"/>
                </a:solidFill>
                <a:latin typeface="Chalk Board" panose="02000500000000000000" pitchFamily="2" charset="0"/>
              </a:rPr>
              <a:t>WHY?</a:t>
            </a:r>
          </a:p>
        </p:txBody>
      </p:sp>
    </p:spTree>
    <p:extLst>
      <p:ext uri="{BB962C8B-B14F-4D97-AF65-F5344CB8AC3E}">
        <p14:creationId xmlns:p14="http://schemas.microsoft.com/office/powerpoint/2010/main" val="118373548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  <p:bldP spid="10" grpId="0"/>
    </p:bldLst>
  </p:timing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E03ACF1F-C231-02CE-92D0-356A91CE6850}"/>
              </a:ext>
            </a:extLst>
          </p:cNvPr>
          <p:cNvSpPr txBox="1"/>
          <p:nvPr/>
        </p:nvSpPr>
        <p:spPr>
          <a:xfrm>
            <a:off x="258754" y="874467"/>
            <a:ext cx="10686337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dirty="0">
                <a:latin typeface="Chalk Board" panose="02000500000000000000" pitchFamily="2" charset="0"/>
              </a:rPr>
              <a:t>The argument here was straightforward because we considered only two parties.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ABC1B993-C078-D181-5F15-BF33B2BAC8BA}"/>
              </a:ext>
            </a:extLst>
          </p:cNvPr>
          <p:cNvSpPr txBox="1"/>
          <p:nvPr/>
        </p:nvSpPr>
        <p:spPr>
          <a:xfrm>
            <a:off x="258754" y="2767280"/>
            <a:ext cx="7638337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dirty="0">
                <a:latin typeface="Chalk Board" panose="02000500000000000000" pitchFamily="2" charset="0"/>
              </a:rPr>
              <a:t>What can go wrong in a three-party setting?</a:t>
            </a:r>
          </a:p>
        </p:txBody>
      </p:sp>
    </p:spTree>
    <p:extLst>
      <p:ext uri="{BB962C8B-B14F-4D97-AF65-F5344CB8AC3E}">
        <p14:creationId xmlns:p14="http://schemas.microsoft.com/office/powerpoint/2010/main" val="3387908609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59A2F3EA-0E64-AD65-7155-9D9029D849C1}"/>
              </a:ext>
            </a:extLst>
          </p:cNvPr>
          <p:cNvSpPr txBox="1"/>
          <p:nvPr/>
        </p:nvSpPr>
        <p:spPr>
          <a:xfrm>
            <a:off x="955961" y="163730"/>
            <a:ext cx="11236037" cy="255454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lang="en-US" sz="3200" b="1" i="0" u="none" strike="noStrike" dirty="0">
                <a:solidFill>
                  <a:srgbClr val="000000"/>
                </a:solidFill>
                <a:effectLst/>
                <a:latin typeface="Chalk Board" panose="02000500000000000000" pitchFamily="2" charset="0"/>
              </a:rPr>
              <a:t>Setting:</a:t>
            </a:r>
            <a:endParaRPr lang="en-US" sz="3200" b="0" i="0" u="none" strike="noStrike" dirty="0">
              <a:solidFill>
                <a:srgbClr val="000000"/>
              </a:solidFill>
              <a:effectLst/>
              <a:latin typeface="Chalk Board" panose="02000500000000000000" pitchFamily="2" charset="0"/>
            </a:endParaRPr>
          </a:p>
          <a:p>
            <a:pPr algn="l"/>
            <a:endParaRPr lang="en-US" sz="3200" b="0" i="0" u="none" strike="noStrike" dirty="0">
              <a:solidFill>
                <a:srgbClr val="000000"/>
              </a:solidFill>
              <a:effectLst/>
              <a:latin typeface="Chalk Board" panose="02000500000000000000" pitchFamily="2" charset="0"/>
            </a:endParaRPr>
          </a:p>
          <a:p>
            <a:pPr algn="l"/>
            <a:r>
              <a:rPr lang="en-US" sz="3200" b="0" i="0" u="none" strike="noStrike" dirty="0">
                <a:solidFill>
                  <a:srgbClr val="000000"/>
                </a:solidFill>
                <a:effectLst/>
                <a:latin typeface="Chalk Board" panose="02000500000000000000" pitchFamily="2" charset="0"/>
              </a:rPr>
              <a:t>P1​: Sender</a:t>
            </a:r>
          </a:p>
          <a:p>
            <a:r>
              <a:rPr lang="en-US" sz="3200" b="0" i="0" u="none" strike="noStrike" dirty="0">
                <a:solidFill>
                  <a:srgbClr val="000000"/>
                </a:solidFill>
                <a:effectLst/>
                <a:latin typeface="Chalk Board" panose="02000500000000000000" pitchFamily="2" charset="0"/>
              </a:rPr>
              <a:t>P2​: Receiver (corrupted/controlled</a:t>
            </a:r>
            <a:r>
              <a:rPr lang="en-US" sz="3200" b="1" i="0" u="none" strike="noStrike" dirty="0">
                <a:solidFill>
                  <a:srgbClr val="000000"/>
                </a:solidFill>
                <a:effectLst/>
                <a:latin typeface="Chalk Board" panose="02000500000000000000" pitchFamily="2" charset="0"/>
              </a:rPr>
              <a:t> by adversary Z</a:t>
            </a:r>
            <a:r>
              <a:rPr lang="en-US" sz="3200" b="0" i="0" u="none" strike="noStrike" dirty="0">
                <a:solidFill>
                  <a:srgbClr val="000000"/>
                </a:solidFill>
                <a:effectLst/>
                <a:latin typeface="Chalk Board" panose="02000500000000000000" pitchFamily="2" charset="0"/>
              </a:rPr>
              <a:t>)</a:t>
            </a:r>
          </a:p>
          <a:p>
            <a:pPr algn="l"/>
            <a:r>
              <a:rPr lang="en-US" sz="3200" b="0" i="0" u="none" strike="noStrike" dirty="0">
                <a:solidFill>
                  <a:srgbClr val="000000"/>
                </a:solidFill>
                <a:effectLst/>
                <a:latin typeface="Chalk Board" panose="02000500000000000000" pitchFamily="2" charset="0"/>
              </a:rPr>
              <a:t>P3​: Honest party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9DD7E14A-E994-56FA-AD61-A1FC90025BAA}"/>
              </a:ext>
            </a:extLst>
          </p:cNvPr>
          <p:cNvSpPr txBox="1"/>
          <p:nvPr/>
        </p:nvSpPr>
        <p:spPr>
          <a:xfrm>
            <a:off x="831269" y="2890391"/>
            <a:ext cx="11236037" cy="206210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lang="en-US" sz="3200" b="1" i="0" u="none" strike="noStrike" dirty="0">
                <a:solidFill>
                  <a:srgbClr val="000000"/>
                </a:solidFill>
                <a:effectLst/>
                <a:latin typeface="Chalk Board" panose="02000500000000000000" pitchFamily="2" charset="0"/>
              </a:rPr>
              <a:t>Adversary’s Goal</a:t>
            </a:r>
          </a:p>
          <a:p>
            <a:pPr algn="l">
              <a:buNone/>
            </a:pPr>
            <a:r>
              <a:rPr lang="en-US" sz="3200" b="0" i="0" u="none" strike="noStrike" dirty="0">
                <a:solidFill>
                  <a:srgbClr val="000000"/>
                </a:solidFill>
                <a:effectLst/>
                <a:latin typeface="Chalk Board" panose="02000500000000000000" pitchFamily="2" charset="0"/>
              </a:rPr>
              <a:t>The environment Z tries to create a </a:t>
            </a:r>
            <a:r>
              <a:rPr lang="en-US" sz="3200" b="1" i="0" u="none" strike="noStrike" dirty="0">
                <a:solidFill>
                  <a:srgbClr val="000000"/>
                </a:solidFill>
                <a:effectLst/>
                <a:latin typeface="Chalk Board" panose="02000500000000000000" pitchFamily="2" charset="0"/>
              </a:rPr>
              <a:t>fake execution history</a:t>
            </a:r>
            <a:r>
              <a:rPr lang="en-US" sz="3200" b="0" i="0" u="none" strike="noStrike" dirty="0">
                <a:solidFill>
                  <a:srgbClr val="000000"/>
                </a:solidFill>
                <a:effectLst/>
                <a:latin typeface="Chalk Board" panose="02000500000000000000" pitchFamily="2" charset="0"/>
              </a:rPr>
              <a:t>.</a:t>
            </a:r>
          </a:p>
          <a:p>
            <a:pPr algn="l"/>
            <a:r>
              <a:rPr lang="en-US" sz="3200" b="0" i="0" u="none" strike="noStrike" dirty="0">
                <a:solidFill>
                  <a:srgbClr val="000000"/>
                </a:solidFill>
                <a:effectLst/>
                <a:latin typeface="Chalk Board" panose="02000500000000000000" pitchFamily="2" charset="0"/>
              </a:rPr>
              <a:t>It makes P2 output: (mid,3,m′)</a:t>
            </a:r>
          </a:p>
          <a:p>
            <a:pPr algn="l"/>
            <a:r>
              <a:rPr lang="en-US" sz="3200" b="0" i="0" u="none" strike="noStrike" dirty="0">
                <a:solidFill>
                  <a:srgbClr val="000000"/>
                </a:solidFill>
                <a:effectLst/>
                <a:latin typeface="Chalk Board" panose="02000500000000000000" pitchFamily="2" charset="0"/>
              </a:rPr>
              <a:t>Interpreted as: “P2P received message m′ from P3​”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B204661E-0EE8-E22C-DE38-3DCC4C8DE587}"/>
              </a:ext>
            </a:extLst>
          </p:cNvPr>
          <p:cNvSpPr txBox="1"/>
          <p:nvPr/>
        </p:nvSpPr>
        <p:spPr>
          <a:xfrm>
            <a:off x="831269" y="5124610"/>
            <a:ext cx="11236037" cy="15696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lang="en-US" sz="3200" b="1" i="0" u="none" strike="noStrike" dirty="0">
                <a:solidFill>
                  <a:srgbClr val="000000"/>
                </a:solidFill>
                <a:effectLst/>
                <a:latin typeface="Chalk Board" panose="02000500000000000000" pitchFamily="2" charset="0"/>
              </a:rPr>
              <a:t>But in Reality</a:t>
            </a:r>
          </a:p>
          <a:p>
            <a:pPr algn="l"/>
            <a:r>
              <a:rPr lang="en-US" sz="3200" b="0" i="0" u="none" strike="noStrike" dirty="0">
                <a:solidFill>
                  <a:srgbClr val="000000"/>
                </a:solidFill>
                <a:effectLst/>
                <a:latin typeface="Chalk Board" panose="02000500000000000000" pitchFamily="2" charset="0"/>
              </a:rPr>
              <a:t>  P3​ </a:t>
            </a:r>
            <a:r>
              <a:rPr lang="en-US" sz="3200" b="1" i="0" u="none" strike="noStrike" dirty="0">
                <a:solidFill>
                  <a:srgbClr val="000000"/>
                </a:solidFill>
                <a:effectLst/>
                <a:latin typeface="Chalk Board" panose="02000500000000000000" pitchFamily="2" charset="0"/>
              </a:rPr>
              <a:t>never sent</a:t>
            </a:r>
            <a:r>
              <a:rPr lang="en-US" sz="3200" b="0" i="0" u="none" strike="noStrike" dirty="0">
                <a:solidFill>
                  <a:srgbClr val="000000"/>
                </a:solidFill>
                <a:effectLst/>
                <a:latin typeface="Chalk Board" panose="02000500000000000000" pitchFamily="2" charset="0"/>
              </a:rPr>
              <a:t> any such message</a:t>
            </a:r>
          </a:p>
          <a:p>
            <a:pPr algn="l"/>
            <a:r>
              <a:rPr lang="en-US" sz="3200" b="0" i="0" u="none" strike="noStrike" dirty="0">
                <a:solidFill>
                  <a:srgbClr val="000000"/>
                </a:solidFill>
                <a:effectLst/>
                <a:latin typeface="Chalk Board" panose="02000500000000000000" pitchFamily="2" charset="0"/>
              </a:rPr>
              <a:t>  No corresponding input:(mid,2,m′) on ST.in3(mid,2,m′) on ST.in3​</a:t>
            </a:r>
          </a:p>
        </p:txBody>
      </p:sp>
    </p:spTree>
    <p:extLst>
      <p:ext uri="{BB962C8B-B14F-4D97-AF65-F5344CB8AC3E}">
        <p14:creationId xmlns:p14="http://schemas.microsoft.com/office/powerpoint/2010/main" val="179240355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  <p:bldP spid="7" grpId="0"/>
    </p:bldLst>
  </p:timing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58E4E928-4C63-FA22-8940-DF9822BD581D}"/>
              </a:ext>
            </a:extLst>
          </p:cNvPr>
          <p:cNvSpPr txBox="1"/>
          <p:nvPr/>
        </p:nvSpPr>
        <p:spPr>
          <a:xfrm>
            <a:off x="678872" y="4671859"/>
            <a:ext cx="9010422" cy="15696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lang="en-US" sz="3200" b="1" i="0" u="none" strike="noStrike" dirty="0">
                <a:solidFill>
                  <a:srgbClr val="000000"/>
                </a:solidFill>
                <a:effectLst/>
                <a:latin typeface="Chalk Board" panose="02000500000000000000" pitchFamily="2" charset="0"/>
              </a:rPr>
              <a:t>Conclusion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US" sz="3200" b="1" i="0" u="none" strike="noStrike" dirty="0">
                <a:solidFill>
                  <a:srgbClr val="000000"/>
                </a:solidFill>
                <a:effectLst/>
                <a:latin typeface="Chalk Board" panose="02000500000000000000" pitchFamily="2" charset="0"/>
              </a:rPr>
              <a:t>Real world:</a:t>
            </a:r>
            <a:r>
              <a:rPr lang="en-US" sz="3200" b="0" i="0" u="none" strike="noStrike" dirty="0">
                <a:solidFill>
                  <a:srgbClr val="000000"/>
                </a:solidFill>
                <a:effectLst/>
                <a:latin typeface="Chalk Board" panose="02000500000000000000" pitchFamily="2" charset="0"/>
              </a:rPr>
              <a:t> Fake message appears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US" sz="3200" b="1" i="0" u="none" strike="noStrike" dirty="0">
                <a:solidFill>
                  <a:srgbClr val="000000"/>
                </a:solidFill>
                <a:effectLst/>
                <a:latin typeface="Chalk Board" panose="02000500000000000000" pitchFamily="2" charset="0"/>
              </a:rPr>
              <a:t>Ideal world:</a:t>
            </a:r>
            <a:r>
              <a:rPr lang="en-US" sz="3200" b="0" i="0" u="none" strike="noStrike" dirty="0">
                <a:solidFill>
                  <a:srgbClr val="000000"/>
                </a:solidFill>
                <a:effectLst/>
                <a:latin typeface="Chalk Board" panose="02000500000000000000" pitchFamily="2" charset="0"/>
              </a:rPr>
              <a:t> Such a message cannot be generated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0300227-AC64-CEFA-08DB-FD54EC83AFF6}"/>
              </a:ext>
            </a:extLst>
          </p:cNvPr>
          <p:cNvSpPr txBox="1"/>
          <p:nvPr/>
        </p:nvSpPr>
        <p:spPr>
          <a:xfrm>
            <a:off x="678872" y="279599"/>
            <a:ext cx="10280074" cy="15696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lang="en-US" sz="3200" b="1" i="0" u="none" strike="noStrike" dirty="0">
                <a:solidFill>
                  <a:srgbClr val="000000"/>
                </a:solidFill>
                <a:effectLst/>
                <a:latin typeface="Chalk Board" panose="02000500000000000000" pitchFamily="2" charset="0"/>
              </a:rPr>
              <a:t>Why This Breaks Simulation</a:t>
            </a:r>
          </a:p>
          <a:p>
            <a:pPr algn="l">
              <a:buNone/>
            </a:pPr>
            <a:r>
              <a:rPr lang="en-US" sz="3200" b="1" i="0" u="none" strike="noStrike" dirty="0">
                <a:solidFill>
                  <a:srgbClr val="000000"/>
                </a:solidFill>
                <a:effectLst/>
                <a:latin typeface="Chalk Board" panose="02000500000000000000" pitchFamily="2" charset="0"/>
              </a:rPr>
              <a:t>Ideal functionality FST​ enforces:</a:t>
            </a:r>
            <a:endParaRPr lang="en-US" sz="3200" b="0" i="0" u="none" strike="noStrike" dirty="0">
              <a:solidFill>
                <a:srgbClr val="000000"/>
              </a:solidFill>
              <a:effectLst/>
              <a:latin typeface="Chalk Board" panose="02000500000000000000" pitchFamily="2" charset="0"/>
            </a:endParaRPr>
          </a:p>
          <a:p>
            <a:pPr algn="l"/>
            <a:r>
              <a:rPr lang="en-US" sz="3200" b="0" i="0" u="none" strike="noStrike" dirty="0">
                <a:solidFill>
                  <a:srgbClr val="000000"/>
                </a:solidFill>
                <a:effectLst/>
                <a:latin typeface="Chalk Board" panose="02000500000000000000" pitchFamily="2" charset="0"/>
              </a:rPr>
              <a:t>A message from P3​ can be delivered </a:t>
            </a:r>
            <a:r>
              <a:rPr lang="en-US" sz="3200" b="1" i="0" u="none" strike="noStrike" dirty="0">
                <a:solidFill>
                  <a:srgbClr val="000000"/>
                </a:solidFill>
                <a:effectLst/>
                <a:latin typeface="Chalk Board" panose="02000500000000000000" pitchFamily="2" charset="0"/>
              </a:rPr>
              <a:t>only if P3​ actually sent it</a:t>
            </a:r>
            <a:endParaRPr lang="en-US" sz="3200" b="0" i="0" u="none" strike="noStrike" dirty="0">
              <a:solidFill>
                <a:srgbClr val="000000"/>
              </a:solidFill>
              <a:effectLst/>
              <a:latin typeface="Chalk Board" panose="02000500000000000000" pitchFamily="2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A28E92E-5879-2F9F-4C36-74F6F78DAEAA}"/>
              </a:ext>
            </a:extLst>
          </p:cNvPr>
          <p:cNvSpPr txBox="1"/>
          <p:nvPr/>
        </p:nvSpPr>
        <p:spPr>
          <a:xfrm>
            <a:off x="554181" y="2475729"/>
            <a:ext cx="14867196" cy="15696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lang="en-US" sz="3200" b="1" i="0" u="none" strike="noStrike" dirty="0">
                <a:solidFill>
                  <a:srgbClr val="000000"/>
                </a:solidFill>
                <a:effectLst/>
                <a:latin typeface="Chalk Board" panose="02000500000000000000" pitchFamily="2" charset="0"/>
              </a:rPr>
              <a:t>Simulator’s Problem</a:t>
            </a:r>
          </a:p>
          <a:p>
            <a:pPr algn="l">
              <a:buNone/>
            </a:pPr>
            <a:r>
              <a:rPr lang="en-US" sz="3200" b="0" i="0" u="none" strike="noStrike" dirty="0">
                <a:solidFill>
                  <a:srgbClr val="000000"/>
                </a:solidFill>
                <a:effectLst/>
                <a:latin typeface="Chalk Board" panose="02000500000000000000" pitchFamily="2" charset="0"/>
              </a:rPr>
              <a:t>To match the real-world view, the simulator must make: FST→(mid,3,m)</a:t>
            </a:r>
            <a:endParaRPr lang="en-US" sz="3200" dirty="0">
              <a:solidFill>
                <a:srgbClr val="000000"/>
              </a:solidFill>
              <a:latin typeface="Chalk Board" panose="02000500000000000000" pitchFamily="2" charset="0"/>
            </a:endParaRPr>
          </a:p>
          <a:p>
            <a:r>
              <a:rPr lang="en-US" sz="3200" b="0" i="0" u="none" strike="noStrike" dirty="0">
                <a:solidFill>
                  <a:srgbClr val="000000"/>
                </a:solidFill>
                <a:effectLst/>
                <a:latin typeface="Chalk Board" panose="02000500000000000000" pitchFamily="2" charset="0"/>
              </a:rPr>
              <a:t>But this is impossible because FST​ never received input from P3P3​</a:t>
            </a:r>
          </a:p>
        </p:txBody>
      </p:sp>
    </p:spTree>
    <p:extLst>
      <p:ext uri="{BB962C8B-B14F-4D97-AF65-F5344CB8AC3E}">
        <p14:creationId xmlns:p14="http://schemas.microsoft.com/office/powerpoint/2010/main" val="113205512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/>
      <p:bldP spid="7" grpId="0"/>
    </p:bldLst>
  </p:timing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E81CF9F6-25AF-4F47-6BC4-C57D7EAA4AD0}"/>
              </a:ext>
            </a:extLst>
          </p:cNvPr>
          <p:cNvSpPr txBox="1"/>
          <p:nvPr/>
        </p:nvSpPr>
        <p:spPr>
          <a:xfrm>
            <a:off x="1094509" y="3407935"/>
            <a:ext cx="7994073" cy="107721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3200" b="1" dirty="0">
                <a:solidFill>
                  <a:schemeClr val="accent6">
                    <a:lumMod val="50000"/>
                  </a:schemeClr>
                </a:solidFill>
                <a:latin typeface="Chalk Board" panose="02000500000000000000" pitchFamily="2" charset="0"/>
              </a:rPr>
              <a:t>Authenticated communication</a:t>
            </a:r>
            <a:br>
              <a:rPr lang="en-US" sz="3200" dirty="0">
                <a:solidFill>
                  <a:schemeClr val="accent6">
                    <a:lumMod val="50000"/>
                  </a:schemeClr>
                </a:solidFill>
                <a:latin typeface="Chalk Board" panose="02000500000000000000" pitchFamily="2" charset="0"/>
              </a:rPr>
            </a:br>
            <a:r>
              <a:rPr lang="en-US" sz="3200" dirty="0">
                <a:solidFill>
                  <a:schemeClr val="accent6">
                    <a:lumMod val="50000"/>
                  </a:schemeClr>
                </a:solidFill>
                <a:latin typeface="Chalk Board" panose="02000500000000000000" pitchFamily="2" charset="0"/>
              </a:rPr>
              <a:t>(i.e., messages cannot be forged as coming from another party)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6B95ABA-C4CE-015B-DCFA-A1EF3075058E}"/>
              </a:ext>
            </a:extLst>
          </p:cNvPr>
          <p:cNvSpPr txBox="1"/>
          <p:nvPr/>
        </p:nvSpPr>
        <p:spPr>
          <a:xfrm>
            <a:off x="1094509" y="1789653"/>
            <a:ext cx="7606146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lang="en-US" sz="4800" b="1" i="0" u="none" strike="noStrike" dirty="0">
                <a:solidFill>
                  <a:srgbClr val="C00000"/>
                </a:solidFill>
                <a:effectLst/>
                <a:latin typeface="Chalk Board" panose="02000500000000000000" pitchFamily="2" charset="0"/>
              </a:rPr>
              <a:t>How is this attack prevented?</a:t>
            </a:r>
            <a:endParaRPr lang="en-US" sz="4800" b="0" i="0" u="none" strike="noStrike" dirty="0">
              <a:solidFill>
                <a:srgbClr val="C00000"/>
              </a:solidFill>
              <a:effectLst/>
              <a:latin typeface="Chalk Board" panose="020005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89465232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</p:bldLst>
  </p:timing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95DB4584-5C7D-D4FA-FF3B-1765B4DE0AA9}"/>
              </a:ext>
            </a:extLst>
          </p:cNvPr>
          <p:cNvSpPr txBox="1"/>
          <p:nvPr/>
        </p:nvSpPr>
        <p:spPr>
          <a:xfrm>
            <a:off x="348463" y="1117672"/>
            <a:ext cx="5104282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 dirty="0">
                <a:latin typeface="Chalk Board" panose="02000500000000000000" pitchFamily="2" charset="0"/>
              </a:rPr>
              <a:t>What changes in Adaptive Security?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E2B36D1A-99FB-BF5A-B7A9-0E4597C0EB84}"/>
              </a:ext>
            </a:extLst>
          </p:cNvPr>
          <p:cNvSpPr txBox="1"/>
          <p:nvPr/>
        </p:nvSpPr>
        <p:spPr>
          <a:xfrm>
            <a:off x="677957" y="1723714"/>
            <a:ext cx="9375961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3600" dirty="0">
                <a:latin typeface="Chalk Board" panose="02000500000000000000" pitchFamily="2" charset="0"/>
              </a:rPr>
              <a:t>Two parties P1, P2, using an encryption scheme like RSA​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D20958D2-6A0C-7C82-E834-F7512F62AD3B}"/>
                  </a:ext>
                </a:extLst>
              </p:cNvPr>
              <p:cNvSpPr txBox="1"/>
              <p:nvPr/>
            </p:nvSpPr>
            <p:spPr>
              <a:xfrm>
                <a:off x="2232775" y="3016376"/>
                <a:ext cx="3133162" cy="963725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nor/>
                        </m:rPr>
                        <a:rPr lang="en-US" sz="4400" b="0" i="0" smtClean="0">
                          <a:solidFill>
                            <a:srgbClr val="C00000"/>
                          </a:solidFill>
                          <a:latin typeface="Chalk Board" panose="02000500000000000000" pitchFamily="2" charset="0"/>
                        </a:rPr>
                        <m:t>c</m:t>
                      </m:r>
                      <m:r>
                        <m:rPr>
                          <m:nor/>
                        </m:rPr>
                        <a:rPr lang="en-US" sz="4400" b="0" i="0" smtClean="0">
                          <a:latin typeface="Chalk Board" panose="02000500000000000000" pitchFamily="2" charset="0"/>
                        </a:rPr>
                        <m:t> = </m:t>
                      </m:r>
                      <m:r>
                        <m:rPr>
                          <m:nor/>
                        </m:rPr>
                        <a:rPr lang="en-US" sz="4400" b="0" i="0" smtClean="0">
                          <a:latin typeface="Chalk Board" panose="02000500000000000000" pitchFamily="2" charset="0"/>
                        </a:rPr>
                        <m:t>En</m:t>
                      </m:r>
                      <m:sSub>
                        <m:sSubPr>
                          <m:ctrlPr>
                            <a:rPr lang="en-US" sz="4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nor/>
                            </m:rPr>
                            <a:rPr lang="en-US" sz="4400" b="0" i="0" smtClean="0">
                              <a:latin typeface="Chalk Board" panose="02000500000000000000" pitchFamily="2" charset="0"/>
                            </a:rPr>
                            <m:t>c</m:t>
                          </m:r>
                        </m:e>
                        <m:sub>
                          <m:r>
                            <m:rPr>
                              <m:nor/>
                            </m:rPr>
                            <a:rPr lang="en-US" sz="4400" b="0" i="0" smtClean="0">
                              <a:latin typeface="Chalk Board" panose="02000500000000000000" pitchFamily="2" charset="0"/>
                            </a:rPr>
                            <m:t>pk</m:t>
                          </m:r>
                        </m:sub>
                      </m:sSub>
                      <m:r>
                        <m:rPr>
                          <m:nor/>
                        </m:rPr>
                        <a:rPr lang="en-US" sz="4400" b="0" i="0" smtClean="0">
                          <a:latin typeface="Chalk Board" panose="02000500000000000000" pitchFamily="2" charset="0"/>
                        </a:rPr>
                        <m:t>(</m:t>
                      </m:r>
                      <m:r>
                        <m:rPr>
                          <m:nor/>
                        </m:rPr>
                        <a:rPr lang="en-US" sz="4400" b="0" i="0" smtClean="0">
                          <a:solidFill>
                            <a:schemeClr val="accent6">
                              <a:lumMod val="75000"/>
                            </a:schemeClr>
                          </a:solidFill>
                          <a:latin typeface="Chalk Board" panose="02000500000000000000" pitchFamily="2" charset="0"/>
                        </a:rPr>
                        <m:t>m</m:t>
                      </m:r>
                      <m:r>
                        <m:rPr>
                          <m:nor/>
                        </m:rPr>
                        <a:rPr lang="en-US" sz="4400" b="0" i="0" smtClean="0">
                          <a:latin typeface="Chalk Board" panose="02000500000000000000" pitchFamily="2" charset="0"/>
                        </a:rPr>
                        <m:t>; </m:t>
                      </m:r>
                      <m:r>
                        <m:rPr>
                          <m:nor/>
                        </m:rPr>
                        <a:rPr lang="en-US" sz="4400" b="0" i="0" smtClean="0">
                          <a:latin typeface="Chalk Board" panose="02000500000000000000" pitchFamily="2" charset="0"/>
                        </a:rPr>
                        <m:t>r</m:t>
                      </m:r>
                      <m:r>
                        <m:rPr>
                          <m:nor/>
                        </m:rPr>
                        <a:rPr lang="en-US" sz="4400" b="0" i="0" smtClean="0">
                          <a:latin typeface="Chalk Board" panose="02000500000000000000" pitchFamily="2" charset="0"/>
                        </a:rPr>
                        <m:t>)</m:t>
                      </m:r>
                    </m:oMath>
                  </m:oMathPara>
                </a14:m>
                <a:endParaRPr lang="en-US" sz="4400" dirty="0">
                  <a:latin typeface="Chalk Board" panose="02000500000000000000" pitchFamily="2" charset="0"/>
                </a:endParaRPr>
              </a:p>
            </p:txBody>
          </p:sp>
        </mc:Choice>
        <mc:Fallback xmlns="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D20958D2-6A0C-7C82-E834-F7512F62AD3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232775" y="3016376"/>
                <a:ext cx="3133162" cy="963725"/>
              </a:xfrm>
              <a:prstGeom prst="rect">
                <a:avLst/>
              </a:prstGeom>
              <a:blipFill>
                <a:blip r:embed="rId2"/>
                <a:stretch>
                  <a:fillRect t="-10390" b="-3116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0" name="TextBox 9">
            <a:extLst>
              <a:ext uri="{FF2B5EF4-FFF2-40B4-BE49-F238E27FC236}">
                <a16:creationId xmlns:a16="http://schemas.microsoft.com/office/drawing/2014/main" id="{90CD4F81-1BC0-A3FE-2D89-C5086B166612}"/>
              </a:ext>
            </a:extLst>
          </p:cNvPr>
          <p:cNvSpPr txBox="1"/>
          <p:nvPr/>
        </p:nvSpPr>
        <p:spPr>
          <a:xfrm>
            <a:off x="758641" y="3136612"/>
            <a:ext cx="2208678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3200" dirty="0">
                <a:latin typeface="Chalk Board" panose="02000500000000000000" pitchFamily="2" charset="0"/>
              </a:rPr>
              <a:t>P1 encrypts: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D5486DB4-1BC9-B934-0DA9-003735DF8406}"/>
              </a:ext>
            </a:extLst>
          </p:cNvPr>
          <p:cNvSpPr txBox="1"/>
          <p:nvPr/>
        </p:nvSpPr>
        <p:spPr>
          <a:xfrm>
            <a:off x="758641" y="2370045"/>
            <a:ext cx="5794562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3600" dirty="0">
                <a:latin typeface="Chalk Board" panose="02000500000000000000" pitchFamily="2" charset="0"/>
              </a:rPr>
              <a:t>Environment Z sends a random message</a:t>
            </a:r>
            <a:r>
              <a:rPr lang="en-US" sz="1600" dirty="0"/>
              <a:t>, 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0166BD3F-FA13-E937-87E5-78151050E5CA}"/>
                  </a:ext>
                </a:extLst>
              </p:cNvPr>
              <p:cNvSpPr txBox="1"/>
              <p:nvPr/>
            </p:nvSpPr>
            <p:spPr>
              <a:xfrm>
                <a:off x="6411217" y="2370045"/>
                <a:ext cx="1736694" cy="439095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𝑚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∈</m:t>
                      </m:r>
                      <m:r>
                        <m:rPr>
                          <m:lit/>
                        </m:rPr>
                        <a:rPr lang="en-US" sz="2800" b="0" i="1" smtClean="0">
                          <a:latin typeface="Cambria Math" panose="02040503050406030204" pitchFamily="18" charset="0"/>
                        </a:rPr>
                        <m:t>{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0,1</m:t>
                      </m:r>
                      <m:sSup>
                        <m:sSupPr>
                          <m:ctrlPr>
                            <a:rPr lang="en-US" sz="2800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m:rPr>
                              <m:lit/>
                            </m:rP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}</m:t>
                          </m:r>
                        </m:e>
                        <m:sup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𝑘</m:t>
                          </m:r>
                        </m:sup>
                      </m:sSup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0166BD3F-FA13-E937-87E5-78151050E5C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411217" y="2370045"/>
                <a:ext cx="1736694" cy="439095"/>
              </a:xfrm>
              <a:prstGeom prst="rect">
                <a:avLst/>
              </a:prstGeom>
              <a:blipFill>
                <a:blip r:embed="rId3"/>
                <a:stretch>
                  <a:fillRect l="-2174" r="-725" b="-3055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3" name="TextBox 12">
            <a:extLst>
              <a:ext uri="{FF2B5EF4-FFF2-40B4-BE49-F238E27FC236}">
                <a16:creationId xmlns:a16="http://schemas.microsoft.com/office/drawing/2014/main" id="{23532957-D1F3-C45C-EFF3-B22664ABBF07}"/>
              </a:ext>
            </a:extLst>
          </p:cNvPr>
          <p:cNvSpPr txBox="1"/>
          <p:nvPr/>
        </p:nvSpPr>
        <p:spPr>
          <a:xfrm>
            <a:off x="677957" y="4487956"/>
            <a:ext cx="9824196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4000" dirty="0">
                <a:solidFill>
                  <a:srgbClr val="C00000"/>
                </a:solidFill>
                <a:latin typeface="Chalk Board" panose="02000500000000000000" pitchFamily="2" charset="0"/>
              </a:rPr>
              <a:t>After seeing the ciphertext, the adversary adaptively corrupts P1</a:t>
            </a:r>
          </a:p>
        </p:txBody>
      </p:sp>
    </p:spTree>
    <p:extLst>
      <p:ext uri="{BB962C8B-B14F-4D97-AF65-F5344CB8AC3E}">
        <p14:creationId xmlns:p14="http://schemas.microsoft.com/office/powerpoint/2010/main" val="2013477970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A3BF89F-7888-126E-1367-B17BE4B23DB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002A9070-70BD-4FC0-76C9-E76CFBC2E5A9}"/>
              </a:ext>
            </a:extLst>
          </p:cNvPr>
          <p:cNvSpPr txBox="1"/>
          <p:nvPr/>
        </p:nvSpPr>
        <p:spPr>
          <a:xfrm>
            <a:off x="348463" y="1117672"/>
            <a:ext cx="5104282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 dirty="0">
                <a:latin typeface="Chalk Board" panose="02000500000000000000" pitchFamily="2" charset="0"/>
              </a:rPr>
              <a:t>What changes in Adaptive Security?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4E3CCBDD-8DEF-B3E9-3C40-D46F338E5562}"/>
              </a:ext>
            </a:extLst>
          </p:cNvPr>
          <p:cNvSpPr txBox="1"/>
          <p:nvPr/>
        </p:nvSpPr>
        <p:spPr>
          <a:xfrm>
            <a:off x="698090" y="2093554"/>
            <a:ext cx="4754655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4000" dirty="0">
                <a:latin typeface="Chalk Board" panose="02000500000000000000" pitchFamily="2" charset="0"/>
              </a:rPr>
              <a:t>Now consider the simulation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527C3E1-0433-9817-0FAF-33DEC4B065E4}"/>
              </a:ext>
            </a:extLst>
          </p:cNvPr>
          <p:cNvSpPr txBox="1"/>
          <p:nvPr/>
        </p:nvSpPr>
        <p:spPr>
          <a:xfrm>
            <a:off x="778773" y="2687733"/>
            <a:ext cx="7531509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4000" b="0" i="0" u="none" strike="noStrike" dirty="0">
                <a:solidFill>
                  <a:srgbClr val="000000"/>
                </a:solidFill>
                <a:effectLst/>
                <a:latin typeface="Chalk Board" panose="02000500000000000000" pitchFamily="2" charset="0"/>
              </a:rPr>
              <a:t>Before corruption, S </a:t>
            </a:r>
            <a:r>
              <a:rPr lang="en-US" sz="4000" b="1" i="0" u="none" strike="noStrike" dirty="0">
                <a:solidFill>
                  <a:srgbClr val="000000"/>
                </a:solidFill>
                <a:effectLst/>
                <a:latin typeface="Chalk Board" panose="02000500000000000000" pitchFamily="2" charset="0"/>
              </a:rPr>
              <a:t>does NOT know m</a:t>
            </a:r>
            <a:endParaRPr lang="en-US" sz="4000" dirty="0">
              <a:latin typeface="Chalk Board" panose="02000500000000000000" pitchFamily="2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2A244779-66B5-0487-5D5F-ED5F491BC4B3}"/>
              </a:ext>
            </a:extLst>
          </p:cNvPr>
          <p:cNvSpPr txBox="1"/>
          <p:nvPr/>
        </p:nvSpPr>
        <p:spPr>
          <a:xfrm>
            <a:off x="2484344" y="3341925"/>
            <a:ext cx="4554029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4000" b="0" i="0" u="none" strike="noStrike" dirty="0">
                <a:solidFill>
                  <a:srgbClr val="000000"/>
                </a:solidFill>
                <a:effectLst/>
                <a:latin typeface="Chalk Board" panose="02000500000000000000" pitchFamily="2" charset="0"/>
              </a:rPr>
              <a:t>(because P1 is still honest)</a:t>
            </a:r>
            <a:endParaRPr lang="en-US" sz="4000" dirty="0">
              <a:latin typeface="Chalk Board" panose="02000500000000000000" pitchFamily="2" charset="0"/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DFBA9034-F1E3-8A09-C946-FD65EB9757AF}"/>
              </a:ext>
            </a:extLst>
          </p:cNvPr>
          <p:cNvSpPr txBox="1"/>
          <p:nvPr/>
        </p:nvSpPr>
        <p:spPr>
          <a:xfrm>
            <a:off x="611263" y="4065200"/>
            <a:ext cx="7730397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4000" b="0" i="0" u="none" strike="noStrike" dirty="0">
                <a:solidFill>
                  <a:srgbClr val="000000"/>
                </a:solidFill>
                <a:effectLst/>
                <a:latin typeface="Chalk Board" panose="02000500000000000000" pitchFamily="2" charset="0"/>
              </a:rPr>
              <a:t>Produce a </a:t>
            </a:r>
            <a:r>
              <a:rPr lang="en-US" sz="4000" b="1" i="0" u="none" strike="noStrike" dirty="0">
                <a:solidFill>
                  <a:srgbClr val="000000"/>
                </a:solidFill>
                <a:effectLst/>
                <a:latin typeface="Chalk Board" panose="02000500000000000000" pitchFamily="2" charset="0"/>
              </a:rPr>
              <a:t>fake pk</a:t>
            </a:r>
            <a:r>
              <a:rPr lang="en-US" sz="4000" b="0" i="0" u="none" strike="noStrike" dirty="0">
                <a:solidFill>
                  <a:srgbClr val="000000"/>
                </a:solidFill>
                <a:effectLst/>
                <a:latin typeface="Chalk Board" panose="02000500000000000000" pitchFamily="2" charset="0"/>
              </a:rPr>
              <a:t> and </a:t>
            </a:r>
            <a:r>
              <a:rPr lang="en-US" sz="4000" b="1" i="0" u="none" strike="noStrike" dirty="0">
                <a:solidFill>
                  <a:srgbClr val="000000"/>
                </a:solidFill>
                <a:effectLst/>
                <a:latin typeface="Chalk Board" panose="02000500000000000000" pitchFamily="2" charset="0"/>
              </a:rPr>
              <a:t>a fake ciphertext c</a:t>
            </a:r>
            <a:endParaRPr lang="en-US" sz="4000" b="0" i="0" u="none" strike="noStrike" dirty="0">
              <a:solidFill>
                <a:srgbClr val="000000"/>
              </a:solidFill>
              <a:effectLst/>
              <a:latin typeface="Chalk Board" panose="02000500000000000000" pitchFamily="2" charset="0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9233C0D0-2839-5C77-6EEC-F6CFB9A080DB}"/>
              </a:ext>
            </a:extLst>
          </p:cNvPr>
          <p:cNvSpPr txBox="1"/>
          <p:nvPr/>
        </p:nvSpPr>
        <p:spPr>
          <a:xfrm>
            <a:off x="778773" y="5049744"/>
            <a:ext cx="6098240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4000" b="0" i="0" u="none" strike="noStrike" dirty="0">
                <a:solidFill>
                  <a:srgbClr val="000000"/>
                </a:solidFill>
                <a:effectLst/>
                <a:latin typeface="Chalk Board" panose="02000500000000000000" pitchFamily="2" charset="0"/>
              </a:rPr>
              <a:t>S commits to some (</a:t>
            </a:r>
            <a:r>
              <a:rPr lang="en-US" sz="4000" b="0" i="0" u="none" strike="noStrike" dirty="0" err="1">
                <a:solidFill>
                  <a:srgbClr val="000000"/>
                </a:solidFill>
                <a:effectLst/>
                <a:latin typeface="Chalk Board" panose="02000500000000000000" pitchFamily="2" charset="0"/>
              </a:rPr>
              <a:t>pk,c</a:t>
            </a:r>
            <a:r>
              <a:rPr lang="en-US" sz="4000" b="0" i="0" u="none" strike="noStrike" dirty="0">
                <a:solidFill>
                  <a:srgbClr val="000000"/>
                </a:solidFill>
                <a:effectLst/>
                <a:latin typeface="Chalk Board" panose="02000500000000000000" pitchFamily="2" charset="0"/>
              </a:rPr>
              <a:t>)</a:t>
            </a:r>
            <a:endParaRPr lang="en-US" sz="4000" dirty="0">
              <a:latin typeface="Chalk Board" panose="020005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696602368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2478600-6A4F-814D-BA7B-EE3990DD880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TextBox 17">
            <a:extLst>
              <a:ext uri="{FF2B5EF4-FFF2-40B4-BE49-F238E27FC236}">
                <a16:creationId xmlns:a16="http://schemas.microsoft.com/office/drawing/2014/main" id="{C4BDFEBA-6558-0AB0-8613-6B2F23E9C490}"/>
              </a:ext>
            </a:extLst>
          </p:cNvPr>
          <p:cNvSpPr txBox="1"/>
          <p:nvPr/>
        </p:nvSpPr>
        <p:spPr>
          <a:xfrm>
            <a:off x="685800" y="753656"/>
            <a:ext cx="1811991" cy="11079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lang="en-US" sz="6600" b="0" i="0" u="none" strike="noStrike" dirty="0">
                <a:solidFill>
                  <a:srgbClr val="000000"/>
                </a:solidFill>
                <a:effectLst/>
                <a:latin typeface="Chalk Board" panose="02000500000000000000" pitchFamily="2" charset="0"/>
              </a:rPr>
              <a:t>Later: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781F13D3-A347-303C-E99E-02DCBFEE67B7}"/>
              </a:ext>
            </a:extLst>
          </p:cNvPr>
          <p:cNvSpPr txBox="1"/>
          <p:nvPr/>
        </p:nvSpPr>
        <p:spPr>
          <a:xfrm>
            <a:off x="1046211" y="2001383"/>
            <a:ext cx="3780578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US" sz="4000" b="0" i="0" u="none" strike="noStrike" dirty="0">
                <a:solidFill>
                  <a:srgbClr val="000000"/>
                </a:solidFill>
                <a:effectLst/>
                <a:latin typeface="Chalk Board" panose="02000500000000000000" pitchFamily="2" charset="0"/>
              </a:rPr>
              <a:t>Adversary corrupts P1​</a:t>
            </a:r>
            <a:endParaRPr lang="en-US" sz="4000" dirty="0">
              <a:latin typeface="Chalk Board" panose="02000500000000000000" pitchFamily="2" charset="0"/>
            </a:endParaRP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7AAC7A6D-9DE8-E6C7-6539-65167720F981}"/>
              </a:ext>
            </a:extLst>
          </p:cNvPr>
          <p:cNvSpPr txBox="1"/>
          <p:nvPr/>
        </p:nvSpPr>
        <p:spPr>
          <a:xfrm>
            <a:off x="1046211" y="2839084"/>
            <a:ext cx="5354589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US" sz="4000" b="0" i="0" u="none" strike="noStrike" dirty="0">
                <a:solidFill>
                  <a:srgbClr val="000000"/>
                </a:solidFill>
                <a:effectLst/>
                <a:latin typeface="Chalk Board" panose="02000500000000000000" pitchFamily="2" charset="0"/>
              </a:rPr>
              <a:t>Now S learns the real m from: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84F7CAB5-A578-5483-3ACA-4F5268DD4335}"/>
              </a:ext>
            </a:extLst>
          </p:cNvPr>
          <p:cNvSpPr txBox="1"/>
          <p:nvPr/>
        </p:nvSpPr>
        <p:spPr>
          <a:xfrm>
            <a:off x="1046211" y="3676785"/>
            <a:ext cx="9361812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lang="en-US" sz="4000" b="0" i="0" u="none" strike="noStrike" dirty="0">
                <a:solidFill>
                  <a:srgbClr val="000000"/>
                </a:solidFill>
                <a:effectLst/>
                <a:latin typeface="Chalk Board" panose="02000500000000000000" pitchFamily="2" charset="0"/>
              </a:rPr>
              <a:t>Now the problem: S must produce randomness r such that:</a:t>
            </a:r>
            <a:endParaRPr lang="en-US" sz="4000" dirty="0">
              <a:latin typeface="Chalk Board" panose="02000500000000000000" pitchFamily="2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323AD779-298C-0850-815E-75EBDD9D5EA7}"/>
                  </a:ext>
                </a:extLst>
              </p:cNvPr>
              <p:cNvSpPr txBox="1"/>
              <p:nvPr/>
            </p:nvSpPr>
            <p:spPr>
              <a:xfrm>
                <a:off x="8124266" y="4514486"/>
                <a:ext cx="3133162" cy="963725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nor/>
                        </m:rPr>
                        <a:rPr lang="en-US" sz="4400" b="0" i="0" smtClean="0">
                          <a:solidFill>
                            <a:srgbClr val="C00000"/>
                          </a:solidFill>
                          <a:latin typeface="Chalk Board" panose="02000500000000000000" pitchFamily="2" charset="0"/>
                        </a:rPr>
                        <m:t>c</m:t>
                      </m:r>
                      <m:r>
                        <m:rPr>
                          <m:nor/>
                        </m:rPr>
                        <a:rPr lang="en-US" sz="4400" b="0" i="0" smtClean="0">
                          <a:latin typeface="Chalk Board" panose="02000500000000000000" pitchFamily="2" charset="0"/>
                        </a:rPr>
                        <m:t> = </m:t>
                      </m:r>
                      <m:r>
                        <m:rPr>
                          <m:nor/>
                        </m:rPr>
                        <a:rPr lang="en-US" sz="4400" b="0" i="0" smtClean="0">
                          <a:latin typeface="Chalk Board" panose="02000500000000000000" pitchFamily="2" charset="0"/>
                        </a:rPr>
                        <m:t>En</m:t>
                      </m:r>
                      <m:sSub>
                        <m:sSubPr>
                          <m:ctrlPr>
                            <a:rPr lang="en-US" sz="4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nor/>
                            </m:rPr>
                            <a:rPr lang="en-US" sz="4400" b="0" i="0" smtClean="0">
                              <a:latin typeface="Chalk Board" panose="02000500000000000000" pitchFamily="2" charset="0"/>
                            </a:rPr>
                            <m:t>c</m:t>
                          </m:r>
                        </m:e>
                        <m:sub>
                          <m:r>
                            <m:rPr>
                              <m:nor/>
                            </m:rPr>
                            <a:rPr lang="en-US" sz="4400" b="0" i="0" smtClean="0">
                              <a:latin typeface="Chalk Board" panose="02000500000000000000" pitchFamily="2" charset="0"/>
                            </a:rPr>
                            <m:t>pk</m:t>
                          </m:r>
                        </m:sub>
                      </m:sSub>
                      <m:r>
                        <m:rPr>
                          <m:nor/>
                        </m:rPr>
                        <a:rPr lang="en-US" sz="4400" b="0" i="0" smtClean="0">
                          <a:latin typeface="Chalk Board" panose="02000500000000000000" pitchFamily="2" charset="0"/>
                        </a:rPr>
                        <m:t>(</m:t>
                      </m:r>
                      <m:r>
                        <m:rPr>
                          <m:nor/>
                        </m:rPr>
                        <a:rPr lang="en-US" sz="4400" b="0" i="0" smtClean="0">
                          <a:solidFill>
                            <a:schemeClr val="accent6">
                              <a:lumMod val="75000"/>
                            </a:schemeClr>
                          </a:solidFill>
                          <a:latin typeface="Chalk Board" panose="02000500000000000000" pitchFamily="2" charset="0"/>
                        </a:rPr>
                        <m:t>m</m:t>
                      </m:r>
                      <m:r>
                        <m:rPr>
                          <m:nor/>
                        </m:rPr>
                        <a:rPr lang="en-US" sz="4400" b="0" i="0" smtClean="0">
                          <a:latin typeface="Chalk Board" panose="02000500000000000000" pitchFamily="2" charset="0"/>
                        </a:rPr>
                        <m:t>; </m:t>
                      </m:r>
                      <m:r>
                        <m:rPr>
                          <m:nor/>
                        </m:rPr>
                        <a:rPr lang="en-US" sz="4400" b="0" i="0" smtClean="0">
                          <a:latin typeface="Chalk Board" panose="02000500000000000000" pitchFamily="2" charset="0"/>
                        </a:rPr>
                        <m:t>r</m:t>
                      </m:r>
                      <m:r>
                        <m:rPr>
                          <m:nor/>
                        </m:rPr>
                        <a:rPr lang="en-US" sz="4400" b="0" i="0" smtClean="0">
                          <a:latin typeface="Chalk Board" panose="02000500000000000000" pitchFamily="2" charset="0"/>
                        </a:rPr>
                        <m:t>)</m:t>
                      </m:r>
                    </m:oMath>
                  </m:oMathPara>
                </a14:m>
                <a:endParaRPr lang="en-US" sz="4400" dirty="0">
                  <a:latin typeface="Chalk Board" panose="02000500000000000000" pitchFamily="2" charset="0"/>
                </a:endParaRPr>
              </a:p>
            </p:txBody>
          </p:sp>
        </mc:Choice>
        <mc:Fallback xmlns=""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323AD779-298C-0850-815E-75EBDD9D5EA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124266" y="4514486"/>
                <a:ext cx="3133162" cy="963725"/>
              </a:xfrm>
              <a:prstGeom prst="rect">
                <a:avLst/>
              </a:prstGeom>
              <a:blipFill>
                <a:blip r:embed="rId2"/>
                <a:stretch>
                  <a:fillRect t="-10390" b="-3116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8853C062-772F-6AF5-980B-F11A3CFA457E}"/>
                  </a:ext>
                </a:extLst>
              </p:cNvPr>
              <p:cNvSpPr txBox="1"/>
              <p:nvPr/>
            </p:nvSpPr>
            <p:spPr>
              <a:xfrm>
                <a:off x="5993483" y="2839084"/>
                <a:ext cx="584371" cy="553998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36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3600" b="0" i="1" smtClean="0">
                              <a:latin typeface="Cambria Math" panose="02040503050406030204" pitchFamily="18" charset="0"/>
                            </a:rPr>
                            <m:t>𝐹</m:t>
                          </m:r>
                        </m:e>
                        <m:sub>
                          <m:r>
                            <a:rPr lang="en-US" sz="3600" b="0" i="1" smtClean="0">
                              <a:latin typeface="Cambria Math" panose="02040503050406030204" pitchFamily="18" charset="0"/>
                            </a:rPr>
                            <m:t>𝑆𝑇</m:t>
                          </m:r>
                        </m:sub>
                      </m:sSub>
                    </m:oMath>
                  </m:oMathPara>
                </a14:m>
                <a:endParaRPr lang="en-US" sz="3600" dirty="0"/>
              </a:p>
            </p:txBody>
          </p:sp>
        </mc:Choice>
        <mc:Fallback xmlns=""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8853C062-772F-6AF5-980B-F11A3CFA457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993483" y="2839084"/>
                <a:ext cx="584371" cy="553998"/>
              </a:xfrm>
              <a:prstGeom prst="rect">
                <a:avLst/>
              </a:prstGeom>
              <a:blipFill>
                <a:blip r:embed="rId3"/>
                <a:stretch>
                  <a:fillRect l="-25532" r="-23404" b="-1111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821914114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EADE1A4-C8BE-E57D-8AB5-4BA24A2484C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TextBox 17">
            <a:extLst>
              <a:ext uri="{FF2B5EF4-FFF2-40B4-BE49-F238E27FC236}">
                <a16:creationId xmlns:a16="http://schemas.microsoft.com/office/drawing/2014/main" id="{4B767A09-36C7-36CC-79BC-05D9463F935F}"/>
              </a:ext>
            </a:extLst>
          </p:cNvPr>
          <p:cNvSpPr txBox="1"/>
          <p:nvPr/>
        </p:nvSpPr>
        <p:spPr>
          <a:xfrm>
            <a:off x="833717" y="1627715"/>
            <a:ext cx="9332259" cy="11079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lang="en-US" sz="6600" b="0" i="0" u="none" strike="noStrike" dirty="0">
                <a:solidFill>
                  <a:srgbClr val="000000"/>
                </a:solidFill>
                <a:effectLst/>
                <a:latin typeface="Chalk Board" panose="02000500000000000000" pitchFamily="2" charset="0"/>
              </a:rPr>
              <a:t>What is the solution then?</a:t>
            </a:r>
          </a:p>
        </p:txBody>
      </p:sp>
    </p:spTree>
    <p:extLst>
      <p:ext uri="{BB962C8B-B14F-4D97-AF65-F5344CB8AC3E}">
        <p14:creationId xmlns:p14="http://schemas.microsoft.com/office/powerpoint/2010/main" val="1578415614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50480351-2E6E-5EEC-7A3A-0C2EACB3D1A9}"/>
              </a:ext>
            </a:extLst>
          </p:cNvPr>
          <p:cNvSpPr txBox="1"/>
          <p:nvPr/>
        </p:nvSpPr>
        <p:spPr>
          <a:xfrm>
            <a:off x="479193" y="1496427"/>
            <a:ext cx="10406095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7200" dirty="0">
                <a:latin typeface="Chalk Board" panose="02000500000000000000" pitchFamily="2" charset="0"/>
              </a:rPr>
              <a:t>Active Security    vs  Passive Security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2117A48-BF42-87D6-31D3-AE0C3B2BDAED}"/>
              </a:ext>
            </a:extLst>
          </p:cNvPr>
          <p:cNvSpPr txBox="1"/>
          <p:nvPr/>
        </p:nvSpPr>
        <p:spPr>
          <a:xfrm>
            <a:off x="196443" y="2782669"/>
            <a:ext cx="5485797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 dirty="0">
                <a:latin typeface="Chalk Board" panose="02000500000000000000" pitchFamily="2" charset="0"/>
              </a:rPr>
              <a:t>The environment takes complete control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856D44C3-E934-590F-C857-4B1C1B83AF61}"/>
              </a:ext>
            </a:extLst>
          </p:cNvPr>
          <p:cNvSpPr txBox="1"/>
          <p:nvPr/>
        </p:nvSpPr>
        <p:spPr>
          <a:xfrm>
            <a:off x="6816878" y="2795244"/>
            <a:ext cx="4248279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 dirty="0">
                <a:latin typeface="Chalk Board" panose="02000500000000000000" pitchFamily="2" charset="0"/>
              </a:rPr>
              <a:t>Also called semi-honest setting</a:t>
            </a:r>
          </a:p>
        </p:txBody>
      </p:sp>
    </p:spTree>
    <p:extLst>
      <p:ext uri="{BB962C8B-B14F-4D97-AF65-F5344CB8AC3E}">
        <p14:creationId xmlns:p14="http://schemas.microsoft.com/office/powerpoint/2010/main" val="2263113397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542BE22-A5E8-5A1D-841B-92FC85AC2CF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22387DCA-98F3-3806-EC4E-137B47193961}"/>
              </a:ext>
            </a:extLst>
          </p:cNvPr>
          <p:cNvSpPr txBox="1"/>
          <p:nvPr/>
        </p:nvSpPr>
        <p:spPr>
          <a:xfrm>
            <a:off x="290934" y="1456086"/>
            <a:ext cx="10406095" cy="2308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7200" dirty="0">
                <a:latin typeface="Chalk Board" panose="02000500000000000000" pitchFamily="2" charset="0"/>
              </a:rPr>
              <a:t>Unconditional Security vs Passive Security</a:t>
            </a:r>
          </a:p>
        </p:txBody>
      </p:sp>
    </p:spTree>
    <p:extLst>
      <p:ext uri="{BB962C8B-B14F-4D97-AF65-F5344CB8AC3E}">
        <p14:creationId xmlns:p14="http://schemas.microsoft.com/office/powerpoint/2010/main" val="4003598952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A7AC0E7-ACDC-883D-0DEE-F14E2EDC6AA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BC68544D-1586-9DF3-8EEC-32F28AA708CC}"/>
              </a:ext>
            </a:extLst>
          </p:cNvPr>
          <p:cNvSpPr txBox="1"/>
          <p:nvPr/>
        </p:nvSpPr>
        <p:spPr>
          <a:xfrm>
            <a:off x="0" y="676156"/>
            <a:ext cx="11914094" cy="10156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6000" dirty="0">
                <a:latin typeface="Chalk Board" panose="02000500000000000000" pitchFamily="2" charset="0"/>
              </a:rPr>
              <a:t>Consensus Broadcast vs Point-to-Point Communication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4F42FBE1-F3AA-2EA3-9E82-BAC32B99978D}"/>
              </a:ext>
            </a:extLst>
          </p:cNvPr>
          <p:cNvSpPr txBox="1"/>
          <p:nvPr/>
        </p:nvSpPr>
        <p:spPr>
          <a:xfrm>
            <a:off x="833718" y="2366682"/>
            <a:ext cx="9389109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dirty="0">
                <a:latin typeface="Chalk Board" panose="02000500000000000000" pitchFamily="2" charset="0"/>
              </a:rPr>
              <a:t>Suppose a protocol requires a player broadcast a message to all the players.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3A60EED6-7C12-0CD6-73EF-12FA61A538BE}"/>
              </a:ext>
            </a:extLst>
          </p:cNvPr>
          <p:cNvSpPr txBox="1"/>
          <p:nvPr/>
        </p:nvSpPr>
        <p:spPr>
          <a:xfrm>
            <a:off x="833718" y="3041545"/>
            <a:ext cx="9987029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dirty="0">
                <a:latin typeface="Chalk Board" panose="02000500000000000000" pitchFamily="2" charset="0"/>
              </a:rPr>
              <a:t>It is not just enough to ask the player to send the same message to all the players.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C171792-3763-8A0A-5413-BF11EC2E4D3F}"/>
              </a:ext>
            </a:extLst>
          </p:cNvPr>
          <p:cNvSpPr txBox="1"/>
          <p:nvPr/>
        </p:nvSpPr>
        <p:spPr>
          <a:xfrm>
            <a:off x="927847" y="3777533"/>
            <a:ext cx="92525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dirty="0">
                <a:latin typeface="Chalk Board" panose="02000500000000000000" pitchFamily="2" charset="0"/>
              </a:rPr>
              <a:t>Why?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30347443-2BFC-043F-771C-C3EDF59B923E}"/>
              </a:ext>
            </a:extLst>
          </p:cNvPr>
          <p:cNvSpPr txBox="1"/>
          <p:nvPr/>
        </p:nvSpPr>
        <p:spPr>
          <a:xfrm>
            <a:off x="833718" y="4683658"/>
            <a:ext cx="701345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dirty="0">
                <a:latin typeface="Chalk Board" panose="02000500000000000000" pitchFamily="2" charset="0"/>
              </a:rPr>
              <a:t>We need a consensus agreement (Byzantine Agreement)</a:t>
            </a:r>
          </a:p>
        </p:txBody>
      </p:sp>
    </p:spTree>
    <p:extLst>
      <p:ext uri="{BB962C8B-B14F-4D97-AF65-F5344CB8AC3E}">
        <p14:creationId xmlns:p14="http://schemas.microsoft.com/office/powerpoint/2010/main" val="780666191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C6E2BE7-9F12-E60B-AABD-C2272C25720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714D929F-0AF6-21F5-F865-B0112C21B4DF}"/>
              </a:ext>
            </a:extLst>
          </p:cNvPr>
          <p:cNvSpPr txBox="1"/>
          <p:nvPr/>
        </p:nvSpPr>
        <p:spPr>
          <a:xfrm>
            <a:off x="290934" y="1456086"/>
            <a:ext cx="10406095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7200" dirty="0">
                <a:latin typeface="Chalk Board" panose="02000500000000000000" pitchFamily="2" charset="0"/>
              </a:rPr>
              <a:t>Synchronous vs Asynchronous </a:t>
            </a:r>
          </a:p>
        </p:txBody>
      </p:sp>
    </p:spTree>
    <p:extLst>
      <p:ext uri="{BB962C8B-B14F-4D97-AF65-F5344CB8AC3E}">
        <p14:creationId xmlns:p14="http://schemas.microsoft.com/office/powerpoint/2010/main" val="275860749"/>
      </p:ext>
    </p:extLst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C931766-7562-CD31-0DE1-D89D9973786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286600B6-0415-E903-32F5-BC5CCF0EDB71}"/>
              </a:ext>
            </a:extLst>
          </p:cNvPr>
          <p:cNvSpPr txBox="1"/>
          <p:nvPr/>
        </p:nvSpPr>
        <p:spPr>
          <a:xfrm>
            <a:off x="290935" y="651414"/>
            <a:ext cx="7847226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7200" dirty="0">
                <a:latin typeface="Chalk Board" panose="02000500000000000000" pitchFamily="2" charset="0"/>
              </a:rPr>
              <a:t>Synchronous Communication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F142EE2E-BBEA-1C9B-3C1C-0D22039211C5}"/>
              </a:ext>
            </a:extLst>
          </p:cNvPr>
          <p:cNvSpPr txBox="1"/>
          <p:nvPr/>
        </p:nvSpPr>
        <p:spPr>
          <a:xfrm>
            <a:off x="290935" y="2377440"/>
            <a:ext cx="2674130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400" dirty="0">
                <a:latin typeface="Chalk Board" panose="02000500000000000000" pitchFamily="2" charset="0"/>
              </a:rPr>
              <a:t>Inward Clocking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89FFEE3-0AF1-B0D7-5502-90AF7AD872E0}"/>
              </a:ext>
            </a:extLst>
          </p:cNvPr>
          <p:cNvSpPr txBox="1"/>
          <p:nvPr/>
        </p:nvSpPr>
        <p:spPr>
          <a:xfrm>
            <a:off x="553087" y="3026247"/>
            <a:ext cx="10216258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 dirty="0">
                <a:latin typeface="Chalk Board" panose="02000500000000000000" pitchFamily="2" charset="0"/>
              </a:rPr>
              <a:t>Allows a party to send the messages to the ideal functionality in that round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DD6BC0E-D37D-1A00-D4E5-CC0C91992231}"/>
              </a:ext>
            </a:extLst>
          </p:cNvPr>
          <p:cNvSpPr txBox="1"/>
          <p:nvPr/>
        </p:nvSpPr>
        <p:spPr>
          <a:xfrm>
            <a:off x="140252" y="3952193"/>
            <a:ext cx="2975495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400" dirty="0">
                <a:latin typeface="Chalk Board" panose="02000500000000000000" pitchFamily="2" charset="0"/>
              </a:rPr>
              <a:t>Outward Clocking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9FBAAAD3-7885-B241-B1B2-2AF6EC7C572E}"/>
              </a:ext>
            </a:extLst>
          </p:cNvPr>
          <p:cNvSpPr txBox="1"/>
          <p:nvPr/>
        </p:nvSpPr>
        <p:spPr>
          <a:xfrm>
            <a:off x="553087" y="4608764"/>
            <a:ext cx="11001730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 dirty="0">
                <a:latin typeface="Chalk Board" panose="02000500000000000000" pitchFamily="2" charset="0"/>
              </a:rPr>
              <a:t>Allows a party to receive the messages from the ideal functionality in that round</a:t>
            </a:r>
          </a:p>
        </p:txBody>
      </p:sp>
    </p:spTree>
    <p:extLst>
      <p:ext uri="{BB962C8B-B14F-4D97-AF65-F5344CB8AC3E}">
        <p14:creationId xmlns:p14="http://schemas.microsoft.com/office/powerpoint/2010/main" val="122771775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6" grpId="0"/>
    </p:bldLst>
  </p:timing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>
            <a:extLst>
              <a:ext uri="{FF2B5EF4-FFF2-40B4-BE49-F238E27FC236}">
                <a16:creationId xmlns:a16="http://schemas.microsoft.com/office/drawing/2014/main" id="{AB0D455A-8B5D-9D34-56A0-1DCFCD6EFD36}"/>
              </a:ext>
            </a:extLst>
          </p:cNvPr>
          <p:cNvSpPr/>
          <p:nvPr/>
        </p:nvSpPr>
        <p:spPr>
          <a:xfrm>
            <a:off x="3438084" y="369878"/>
            <a:ext cx="1116107" cy="1105348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P1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D638D455-52E9-2AB3-7A05-4F3AF072B93F}"/>
              </a:ext>
            </a:extLst>
          </p:cNvPr>
          <p:cNvSpPr/>
          <p:nvPr/>
        </p:nvSpPr>
        <p:spPr>
          <a:xfrm>
            <a:off x="5300950" y="369878"/>
            <a:ext cx="1116107" cy="1105348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AT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A54371D2-5D9C-25CB-29C4-4C9DBB8A3533}"/>
              </a:ext>
            </a:extLst>
          </p:cNvPr>
          <p:cNvSpPr/>
          <p:nvPr/>
        </p:nvSpPr>
        <p:spPr>
          <a:xfrm>
            <a:off x="7163816" y="369878"/>
            <a:ext cx="1116107" cy="1105348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P2</a:t>
            </a:r>
          </a:p>
        </p:txBody>
      </p: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21BB8388-0399-FA77-3B29-15D3B697EB70}"/>
              </a:ext>
            </a:extLst>
          </p:cNvPr>
          <p:cNvCxnSpPr>
            <a:cxnSpLocks/>
          </p:cNvCxnSpPr>
          <p:nvPr/>
        </p:nvCxnSpPr>
        <p:spPr>
          <a:xfrm>
            <a:off x="4554191" y="764326"/>
            <a:ext cx="913227" cy="0"/>
          </a:xfrm>
          <a:prstGeom prst="straightConnector1">
            <a:avLst/>
          </a:prstGeom>
          <a:ln w="25400" cap="flat">
            <a:solidFill>
              <a:schemeClr val="tx1"/>
            </a:solidFill>
            <a:headEnd type="none" w="lg" len="sm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A8FE8004-9F66-AA15-AB5E-3FE9B7A4AC9D}"/>
              </a:ext>
            </a:extLst>
          </p:cNvPr>
          <p:cNvCxnSpPr>
            <a:cxnSpLocks/>
          </p:cNvCxnSpPr>
          <p:nvPr/>
        </p:nvCxnSpPr>
        <p:spPr>
          <a:xfrm>
            <a:off x="6424229" y="741915"/>
            <a:ext cx="928741" cy="0"/>
          </a:xfrm>
          <a:prstGeom prst="straightConnector1">
            <a:avLst/>
          </a:prstGeom>
          <a:ln w="25400" cap="flat">
            <a:solidFill>
              <a:schemeClr val="tx1"/>
            </a:solidFill>
            <a:headEnd type="none" w="lg" len="sm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EB7A1C85-6856-E76A-F6C5-CD7E841EB736}"/>
              </a:ext>
            </a:extLst>
          </p:cNvPr>
          <p:cNvCxnSpPr>
            <a:cxnSpLocks/>
          </p:cNvCxnSpPr>
          <p:nvPr/>
        </p:nvCxnSpPr>
        <p:spPr>
          <a:xfrm>
            <a:off x="8123936" y="701575"/>
            <a:ext cx="923364" cy="0"/>
          </a:xfrm>
          <a:prstGeom prst="straightConnector1">
            <a:avLst/>
          </a:prstGeom>
          <a:ln w="25400" cap="flat">
            <a:solidFill>
              <a:schemeClr val="tx1"/>
            </a:solidFill>
            <a:headEnd type="none" w="lg" len="sm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B3109FEE-1033-9B8C-117B-B7A8F5A6E06E}"/>
              </a:ext>
            </a:extLst>
          </p:cNvPr>
          <p:cNvCxnSpPr>
            <a:cxnSpLocks/>
          </p:cNvCxnSpPr>
          <p:nvPr/>
        </p:nvCxnSpPr>
        <p:spPr>
          <a:xfrm>
            <a:off x="2807865" y="701575"/>
            <a:ext cx="894229" cy="0"/>
          </a:xfrm>
          <a:prstGeom prst="straightConnector1">
            <a:avLst/>
          </a:prstGeom>
          <a:ln w="25400" cap="flat">
            <a:solidFill>
              <a:schemeClr val="tx1"/>
            </a:solidFill>
            <a:headEnd type="none" w="lg" len="sm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CC85CCA8-917A-70EC-7B21-74D68D6B1FB3}"/>
              </a:ext>
            </a:extLst>
          </p:cNvPr>
          <p:cNvCxnSpPr>
            <a:cxnSpLocks/>
          </p:cNvCxnSpPr>
          <p:nvPr/>
        </p:nvCxnSpPr>
        <p:spPr>
          <a:xfrm flipH="1" flipV="1">
            <a:off x="2737269" y="1226009"/>
            <a:ext cx="894229" cy="13444"/>
          </a:xfrm>
          <a:prstGeom prst="straightConnector1">
            <a:avLst/>
          </a:prstGeom>
          <a:ln w="25400" cap="flat">
            <a:solidFill>
              <a:schemeClr val="tx1"/>
            </a:solidFill>
            <a:headEnd type="none" w="lg" len="sm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B9E952A9-3817-770B-0FBC-950A0C290F81}"/>
              </a:ext>
            </a:extLst>
          </p:cNvPr>
          <p:cNvCxnSpPr>
            <a:cxnSpLocks/>
          </p:cNvCxnSpPr>
          <p:nvPr/>
        </p:nvCxnSpPr>
        <p:spPr>
          <a:xfrm flipH="1">
            <a:off x="4392380" y="1165496"/>
            <a:ext cx="908570" cy="0"/>
          </a:xfrm>
          <a:prstGeom prst="straightConnector1">
            <a:avLst/>
          </a:prstGeom>
          <a:ln w="25400" cap="flat">
            <a:solidFill>
              <a:schemeClr val="tx1"/>
            </a:solidFill>
            <a:headEnd type="none" w="lg" len="sm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C201C37D-B82E-14AD-0561-60E9A5F126E6}"/>
              </a:ext>
            </a:extLst>
          </p:cNvPr>
          <p:cNvCxnSpPr>
            <a:cxnSpLocks/>
          </p:cNvCxnSpPr>
          <p:nvPr/>
        </p:nvCxnSpPr>
        <p:spPr>
          <a:xfrm flipH="1">
            <a:off x="6327856" y="1137034"/>
            <a:ext cx="835960" cy="0"/>
          </a:xfrm>
          <a:prstGeom prst="straightConnector1">
            <a:avLst/>
          </a:prstGeom>
          <a:ln w="25400" cap="flat">
            <a:solidFill>
              <a:schemeClr val="tx1"/>
            </a:solidFill>
            <a:headEnd type="none" w="lg" len="sm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277D1A58-7AFD-C2A6-0944-0641E86F437A}"/>
              </a:ext>
            </a:extLst>
          </p:cNvPr>
          <p:cNvCxnSpPr>
            <a:cxnSpLocks/>
          </p:cNvCxnSpPr>
          <p:nvPr/>
        </p:nvCxnSpPr>
        <p:spPr>
          <a:xfrm flipH="1">
            <a:off x="8123936" y="1096695"/>
            <a:ext cx="923366" cy="0"/>
          </a:xfrm>
          <a:prstGeom prst="straightConnector1">
            <a:avLst/>
          </a:prstGeom>
          <a:ln w="25400" cap="flat">
            <a:solidFill>
              <a:schemeClr val="tx1"/>
            </a:solidFill>
            <a:headEnd type="none" w="lg" len="sm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20" name="Group 19">
            <a:extLst>
              <a:ext uri="{FF2B5EF4-FFF2-40B4-BE49-F238E27FC236}">
                <a16:creationId xmlns:a16="http://schemas.microsoft.com/office/drawing/2014/main" id="{608CD57B-9608-4100-4E18-63D5864ACDB5}"/>
              </a:ext>
            </a:extLst>
          </p:cNvPr>
          <p:cNvGrpSpPr/>
          <p:nvPr/>
        </p:nvGrpSpPr>
        <p:grpSpPr>
          <a:xfrm>
            <a:off x="689502" y="369878"/>
            <a:ext cx="10397271" cy="1105348"/>
            <a:chOff x="577322" y="1118345"/>
            <a:chExt cx="10397271" cy="1105348"/>
          </a:xfrm>
        </p:grpSpPr>
        <p:sp>
          <p:nvSpPr>
            <p:cNvPr id="21" name="Rectangle 20">
              <a:extLst>
                <a:ext uri="{FF2B5EF4-FFF2-40B4-BE49-F238E27FC236}">
                  <a16:creationId xmlns:a16="http://schemas.microsoft.com/office/drawing/2014/main" id="{25218D35-92AB-9946-5A4A-81BAD4B6C0D7}"/>
                </a:ext>
              </a:extLst>
            </p:cNvPr>
            <p:cNvSpPr/>
            <p:nvPr/>
          </p:nvSpPr>
          <p:spPr>
            <a:xfrm>
              <a:off x="8935120" y="1118345"/>
              <a:ext cx="1116107" cy="1105348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Q2</a:t>
              </a:r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DD27D199-359B-D272-54D5-90BBCD0B2D9A}"/>
                </a:ext>
              </a:extLst>
            </p:cNvPr>
            <p:cNvCxnSpPr>
              <a:cxnSpLocks/>
            </p:cNvCxnSpPr>
            <p:nvPr/>
          </p:nvCxnSpPr>
          <p:spPr>
            <a:xfrm>
              <a:off x="10051227" y="1490381"/>
              <a:ext cx="923364" cy="0"/>
            </a:xfrm>
            <a:prstGeom prst="straightConnector1">
              <a:avLst/>
            </a:prstGeom>
            <a:ln w="25400" cap="flat">
              <a:solidFill>
                <a:schemeClr val="tx1"/>
              </a:solidFill>
              <a:headEnd type="none" w="lg" len="sm"/>
              <a:tailEnd type="arrow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" name="Straight Arrow Connector 22">
              <a:extLst>
                <a:ext uri="{FF2B5EF4-FFF2-40B4-BE49-F238E27FC236}">
                  <a16:creationId xmlns:a16="http://schemas.microsoft.com/office/drawing/2014/main" id="{6ECCC4C9-ADD8-C453-49DB-80FD3C328125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0051227" y="1885501"/>
              <a:ext cx="923366" cy="0"/>
            </a:xfrm>
            <a:prstGeom prst="straightConnector1">
              <a:avLst/>
            </a:prstGeom>
            <a:ln w="25400" cap="flat">
              <a:solidFill>
                <a:schemeClr val="tx1"/>
              </a:solidFill>
              <a:headEnd type="none" w="lg" len="sm"/>
              <a:tailEnd type="arrow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" name="Straight Arrow Connector 23">
              <a:extLst>
                <a:ext uri="{FF2B5EF4-FFF2-40B4-BE49-F238E27FC236}">
                  <a16:creationId xmlns:a16="http://schemas.microsoft.com/office/drawing/2014/main" id="{43075611-E4AD-5699-0F57-398746582017}"/>
                </a:ext>
              </a:extLst>
            </p:cNvPr>
            <p:cNvCxnSpPr>
              <a:cxnSpLocks/>
            </p:cNvCxnSpPr>
            <p:nvPr/>
          </p:nvCxnSpPr>
          <p:spPr>
            <a:xfrm>
              <a:off x="577322" y="1450042"/>
              <a:ext cx="923364" cy="0"/>
            </a:xfrm>
            <a:prstGeom prst="straightConnector1">
              <a:avLst/>
            </a:prstGeom>
            <a:ln w="25400" cap="flat">
              <a:solidFill>
                <a:schemeClr val="tx1"/>
              </a:solidFill>
              <a:headEnd type="none" w="lg" len="sm"/>
              <a:tailEnd type="arrow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9807CD46-009F-3575-7C51-83B5495C8C3E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577322" y="1845162"/>
              <a:ext cx="923366" cy="0"/>
            </a:xfrm>
            <a:prstGeom prst="straightConnector1">
              <a:avLst/>
            </a:prstGeom>
            <a:ln w="25400" cap="flat">
              <a:solidFill>
                <a:schemeClr val="tx1"/>
              </a:solidFill>
              <a:headEnd type="none" w="lg" len="sm"/>
              <a:tailEnd type="arrow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6" name="Rectangle 25">
              <a:extLst>
                <a:ext uri="{FF2B5EF4-FFF2-40B4-BE49-F238E27FC236}">
                  <a16:creationId xmlns:a16="http://schemas.microsoft.com/office/drawing/2014/main" id="{ED4D9458-937B-E476-EFBE-9E7F192F0359}"/>
                </a:ext>
              </a:extLst>
            </p:cNvPr>
            <p:cNvSpPr/>
            <p:nvPr/>
          </p:nvSpPr>
          <p:spPr>
            <a:xfrm>
              <a:off x="1500686" y="1118345"/>
              <a:ext cx="1116107" cy="1105348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Q1</a:t>
              </a:r>
            </a:p>
          </p:txBody>
        </p:sp>
      </p:grpSp>
      <p:sp>
        <p:nvSpPr>
          <p:cNvPr id="27" name="TextBox 26">
            <a:extLst>
              <a:ext uri="{FF2B5EF4-FFF2-40B4-BE49-F238E27FC236}">
                <a16:creationId xmlns:a16="http://schemas.microsoft.com/office/drawing/2014/main" id="{8027CB0E-A4FF-D0D8-E398-6F964076B7F5}"/>
              </a:ext>
            </a:extLst>
          </p:cNvPr>
          <p:cNvSpPr txBox="1"/>
          <p:nvPr/>
        </p:nvSpPr>
        <p:spPr>
          <a:xfrm>
            <a:off x="437201" y="1999659"/>
            <a:ext cx="9726206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dirty="0">
                <a:latin typeface="Chalk Board" panose="02000500000000000000" pitchFamily="2" charset="0"/>
              </a:rPr>
              <a:t>We say that Z is a synchronous environment if it proceeds in rounds, where in each round it behaves as follows:                                                         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2D42ACA8-2418-AB33-68A3-F411A0564FA6}"/>
              </a:ext>
            </a:extLst>
          </p:cNvPr>
          <p:cNvSpPr txBox="1"/>
          <p:nvPr/>
        </p:nvSpPr>
        <p:spPr>
          <a:xfrm>
            <a:off x="604315" y="3076877"/>
            <a:ext cx="9726206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dirty="0">
                <a:latin typeface="Chalk Board" panose="02000500000000000000" pitchFamily="2" charset="0"/>
              </a:rPr>
              <a:t>First, it does an inward clocking of all the parties that are not actively corrupted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A005A146-6F0B-F7FC-180E-74D33F841FB7}"/>
              </a:ext>
            </a:extLst>
          </p:cNvPr>
          <p:cNvSpPr txBox="1"/>
          <p:nvPr/>
        </p:nvSpPr>
        <p:spPr>
          <a:xfrm>
            <a:off x="604315" y="3791936"/>
            <a:ext cx="8228789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dirty="0">
                <a:latin typeface="Chalk Board" panose="02000500000000000000" pitchFamily="2" charset="0"/>
              </a:rPr>
              <a:t>Then in interacts with: Authenticated Transfer (Ideal Functionality)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FA67A266-8DC2-123A-9BEF-E05BBC080E6D}"/>
              </a:ext>
            </a:extLst>
          </p:cNvPr>
          <p:cNvSpPr txBox="1"/>
          <p:nvPr/>
        </p:nvSpPr>
        <p:spPr>
          <a:xfrm>
            <a:off x="689502" y="4478110"/>
            <a:ext cx="8228789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dirty="0">
                <a:latin typeface="Chalk Board" panose="02000500000000000000" pitchFamily="2" charset="0"/>
              </a:rPr>
              <a:t>Then, it does an outward clocking of all the parties that are not actively corrupted</a:t>
            </a:r>
          </a:p>
        </p:txBody>
      </p:sp>
    </p:spTree>
    <p:extLst>
      <p:ext uri="{BB962C8B-B14F-4D97-AF65-F5344CB8AC3E}">
        <p14:creationId xmlns:p14="http://schemas.microsoft.com/office/powerpoint/2010/main" val="69632094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7" grpId="0"/>
      <p:bldP spid="28" grpId="0"/>
      <p:bldP spid="29" grpId="0"/>
      <p:bldP spid="30" grpId="0"/>
    </p:bldLst>
  </p:timing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7C48921-8C76-0A47-C2FD-31A4858EAD9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>
            <a:extLst>
              <a:ext uri="{FF2B5EF4-FFF2-40B4-BE49-F238E27FC236}">
                <a16:creationId xmlns:a16="http://schemas.microsoft.com/office/drawing/2014/main" id="{90209BA5-55FD-19CE-B88B-91D8980E2117}"/>
              </a:ext>
            </a:extLst>
          </p:cNvPr>
          <p:cNvSpPr/>
          <p:nvPr/>
        </p:nvSpPr>
        <p:spPr>
          <a:xfrm>
            <a:off x="3438084" y="369878"/>
            <a:ext cx="1116107" cy="1105348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P1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7A66618D-FDDB-2E80-59C1-B59D557E1EF9}"/>
              </a:ext>
            </a:extLst>
          </p:cNvPr>
          <p:cNvSpPr/>
          <p:nvPr/>
        </p:nvSpPr>
        <p:spPr>
          <a:xfrm>
            <a:off x="5300950" y="369878"/>
            <a:ext cx="1116107" cy="1105348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AT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5A31A2DF-C156-2C1C-3AA5-1CE5E8BBBCB4}"/>
              </a:ext>
            </a:extLst>
          </p:cNvPr>
          <p:cNvSpPr/>
          <p:nvPr/>
        </p:nvSpPr>
        <p:spPr>
          <a:xfrm>
            <a:off x="7163816" y="369878"/>
            <a:ext cx="1116107" cy="1105348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P2</a:t>
            </a:r>
          </a:p>
        </p:txBody>
      </p: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013A3270-5565-2A04-B2F9-D53DC5772AC8}"/>
              </a:ext>
            </a:extLst>
          </p:cNvPr>
          <p:cNvCxnSpPr>
            <a:cxnSpLocks/>
          </p:cNvCxnSpPr>
          <p:nvPr/>
        </p:nvCxnSpPr>
        <p:spPr>
          <a:xfrm>
            <a:off x="4554191" y="764326"/>
            <a:ext cx="913227" cy="0"/>
          </a:xfrm>
          <a:prstGeom prst="straightConnector1">
            <a:avLst/>
          </a:prstGeom>
          <a:ln w="25400" cap="flat">
            <a:solidFill>
              <a:schemeClr val="tx1"/>
            </a:solidFill>
            <a:headEnd type="none" w="lg" len="sm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A68E3C21-EE67-3522-559D-C4218C3AE19F}"/>
              </a:ext>
            </a:extLst>
          </p:cNvPr>
          <p:cNvCxnSpPr>
            <a:cxnSpLocks/>
          </p:cNvCxnSpPr>
          <p:nvPr/>
        </p:nvCxnSpPr>
        <p:spPr>
          <a:xfrm>
            <a:off x="6424229" y="741915"/>
            <a:ext cx="928741" cy="0"/>
          </a:xfrm>
          <a:prstGeom prst="straightConnector1">
            <a:avLst/>
          </a:prstGeom>
          <a:ln w="25400" cap="flat">
            <a:solidFill>
              <a:schemeClr val="tx1"/>
            </a:solidFill>
            <a:headEnd type="none" w="lg" len="sm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BED54AA5-5016-0CF0-CFB3-20D91D6DE95D}"/>
              </a:ext>
            </a:extLst>
          </p:cNvPr>
          <p:cNvCxnSpPr>
            <a:cxnSpLocks/>
          </p:cNvCxnSpPr>
          <p:nvPr/>
        </p:nvCxnSpPr>
        <p:spPr>
          <a:xfrm>
            <a:off x="8123936" y="701575"/>
            <a:ext cx="923364" cy="0"/>
          </a:xfrm>
          <a:prstGeom prst="straightConnector1">
            <a:avLst/>
          </a:prstGeom>
          <a:ln w="25400" cap="flat">
            <a:solidFill>
              <a:schemeClr val="tx1"/>
            </a:solidFill>
            <a:headEnd type="none" w="lg" len="sm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BB17CAF9-D108-C228-D12C-87392DA1C621}"/>
              </a:ext>
            </a:extLst>
          </p:cNvPr>
          <p:cNvCxnSpPr>
            <a:cxnSpLocks/>
          </p:cNvCxnSpPr>
          <p:nvPr/>
        </p:nvCxnSpPr>
        <p:spPr>
          <a:xfrm>
            <a:off x="2807865" y="701575"/>
            <a:ext cx="894229" cy="0"/>
          </a:xfrm>
          <a:prstGeom prst="straightConnector1">
            <a:avLst/>
          </a:prstGeom>
          <a:ln w="25400" cap="flat">
            <a:solidFill>
              <a:schemeClr val="tx1"/>
            </a:solidFill>
            <a:headEnd type="none" w="lg" len="sm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CA3CDC24-7551-87B2-9560-60CE63115CC2}"/>
              </a:ext>
            </a:extLst>
          </p:cNvPr>
          <p:cNvCxnSpPr>
            <a:cxnSpLocks/>
          </p:cNvCxnSpPr>
          <p:nvPr/>
        </p:nvCxnSpPr>
        <p:spPr>
          <a:xfrm flipH="1" flipV="1">
            <a:off x="2737269" y="1226009"/>
            <a:ext cx="894229" cy="13444"/>
          </a:xfrm>
          <a:prstGeom prst="straightConnector1">
            <a:avLst/>
          </a:prstGeom>
          <a:ln w="25400" cap="flat">
            <a:solidFill>
              <a:schemeClr val="tx1"/>
            </a:solidFill>
            <a:headEnd type="none" w="lg" len="sm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F006CCCC-159D-E4C0-C253-37ADB37663E8}"/>
              </a:ext>
            </a:extLst>
          </p:cNvPr>
          <p:cNvCxnSpPr>
            <a:cxnSpLocks/>
          </p:cNvCxnSpPr>
          <p:nvPr/>
        </p:nvCxnSpPr>
        <p:spPr>
          <a:xfrm flipH="1">
            <a:off x="4392380" y="1165496"/>
            <a:ext cx="908570" cy="0"/>
          </a:xfrm>
          <a:prstGeom prst="straightConnector1">
            <a:avLst/>
          </a:prstGeom>
          <a:ln w="25400" cap="flat">
            <a:solidFill>
              <a:schemeClr val="tx1"/>
            </a:solidFill>
            <a:headEnd type="none" w="lg" len="sm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F8A4D1BD-B936-FE80-BADC-B04A7FA512DB}"/>
              </a:ext>
            </a:extLst>
          </p:cNvPr>
          <p:cNvCxnSpPr>
            <a:cxnSpLocks/>
          </p:cNvCxnSpPr>
          <p:nvPr/>
        </p:nvCxnSpPr>
        <p:spPr>
          <a:xfrm flipH="1">
            <a:off x="6327856" y="1137034"/>
            <a:ext cx="835960" cy="0"/>
          </a:xfrm>
          <a:prstGeom prst="straightConnector1">
            <a:avLst/>
          </a:prstGeom>
          <a:ln w="25400" cap="flat">
            <a:solidFill>
              <a:schemeClr val="tx1"/>
            </a:solidFill>
            <a:headEnd type="none" w="lg" len="sm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F7313000-3D05-D418-BA71-8865BECC9E81}"/>
              </a:ext>
            </a:extLst>
          </p:cNvPr>
          <p:cNvCxnSpPr>
            <a:cxnSpLocks/>
          </p:cNvCxnSpPr>
          <p:nvPr/>
        </p:nvCxnSpPr>
        <p:spPr>
          <a:xfrm flipH="1">
            <a:off x="8123936" y="1096695"/>
            <a:ext cx="923366" cy="0"/>
          </a:xfrm>
          <a:prstGeom prst="straightConnector1">
            <a:avLst/>
          </a:prstGeom>
          <a:ln w="25400" cap="flat">
            <a:solidFill>
              <a:schemeClr val="tx1"/>
            </a:solidFill>
            <a:headEnd type="none" w="lg" len="sm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20" name="Group 19">
            <a:extLst>
              <a:ext uri="{FF2B5EF4-FFF2-40B4-BE49-F238E27FC236}">
                <a16:creationId xmlns:a16="http://schemas.microsoft.com/office/drawing/2014/main" id="{617CF2F7-F7AC-2A1A-9FC6-71FA25D739F7}"/>
              </a:ext>
            </a:extLst>
          </p:cNvPr>
          <p:cNvGrpSpPr/>
          <p:nvPr/>
        </p:nvGrpSpPr>
        <p:grpSpPr>
          <a:xfrm>
            <a:off x="689502" y="369878"/>
            <a:ext cx="10397271" cy="1105348"/>
            <a:chOff x="577322" y="1118345"/>
            <a:chExt cx="10397271" cy="1105348"/>
          </a:xfrm>
        </p:grpSpPr>
        <p:sp>
          <p:nvSpPr>
            <p:cNvPr id="21" name="Rectangle 20">
              <a:extLst>
                <a:ext uri="{FF2B5EF4-FFF2-40B4-BE49-F238E27FC236}">
                  <a16:creationId xmlns:a16="http://schemas.microsoft.com/office/drawing/2014/main" id="{25007445-B8AE-B48D-CBF5-E62B6F5AD5B4}"/>
                </a:ext>
              </a:extLst>
            </p:cNvPr>
            <p:cNvSpPr/>
            <p:nvPr/>
          </p:nvSpPr>
          <p:spPr>
            <a:xfrm>
              <a:off x="8935120" y="1118345"/>
              <a:ext cx="1116107" cy="1105348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Q2</a:t>
              </a:r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CDCC215F-0BBF-E406-A986-C7623D4EE225}"/>
                </a:ext>
              </a:extLst>
            </p:cNvPr>
            <p:cNvCxnSpPr>
              <a:cxnSpLocks/>
            </p:cNvCxnSpPr>
            <p:nvPr/>
          </p:nvCxnSpPr>
          <p:spPr>
            <a:xfrm>
              <a:off x="10051227" y="1490381"/>
              <a:ext cx="923364" cy="0"/>
            </a:xfrm>
            <a:prstGeom prst="straightConnector1">
              <a:avLst/>
            </a:prstGeom>
            <a:ln w="25400" cap="flat">
              <a:solidFill>
                <a:schemeClr val="tx1"/>
              </a:solidFill>
              <a:headEnd type="none" w="lg" len="sm"/>
              <a:tailEnd type="arrow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" name="Straight Arrow Connector 22">
              <a:extLst>
                <a:ext uri="{FF2B5EF4-FFF2-40B4-BE49-F238E27FC236}">
                  <a16:creationId xmlns:a16="http://schemas.microsoft.com/office/drawing/2014/main" id="{23ECCF6C-5790-C98C-2D6F-C966197C12E6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0051227" y="1885501"/>
              <a:ext cx="923366" cy="0"/>
            </a:xfrm>
            <a:prstGeom prst="straightConnector1">
              <a:avLst/>
            </a:prstGeom>
            <a:ln w="25400" cap="flat">
              <a:solidFill>
                <a:schemeClr val="tx1"/>
              </a:solidFill>
              <a:headEnd type="none" w="lg" len="sm"/>
              <a:tailEnd type="arrow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" name="Straight Arrow Connector 23">
              <a:extLst>
                <a:ext uri="{FF2B5EF4-FFF2-40B4-BE49-F238E27FC236}">
                  <a16:creationId xmlns:a16="http://schemas.microsoft.com/office/drawing/2014/main" id="{2A37CFC8-CB85-C71D-2825-28FE3A4BDDFE}"/>
                </a:ext>
              </a:extLst>
            </p:cNvPr>
            <p:cNvCxnSpPr>
              <a:cxnSpLocks/>
            </p:cNvCxnSpPr>
            <p:nvPr/>
          </p:nvCxnSpPr>
          <p:spPr>
            <a:xfrm>
              <a:off x="577322" y="1450042"/>
              <a:ext cx="923364" cy="0"/>
            </a:xfrm>
            <a:prstGeom prst="straightConnector1">
              <a:avLst/>
            </a:prstGeom>
            <a:ln w="25400" cap="flat">
              <a:solidFill>
                <a:schemeClr val="tx1"/>
              </a:solidFill>
              <a:headEnd type="none" w="lg" len="sm"/>
              <a:tailEnd type="arrow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F4DA18B4-75A3-2AAB-4A62-91F64CDFA352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577322" y="1845162"/>
              <a:ext cx="923366" cy="0"/>
            </a:xfrm>
            <a:prstGeom prst="straightConnector1">
              <a:avLst/>
            </a:prstGeom>
            <a:ln w="25400" cap="flat">
              <a:solidFill>
                <a:schemeClr val="tx1"/>
              </a:solidFill>
              <a:headEnd type="none" w="lg" len="sm"/>
              <a:tailEnd type="arrow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6" name="Rectangle 25">
              <a:extLst>
                <a:ext uri="{FF2B5EF4-FFF2-40B4-BE49-F238E27FC236}">
                  <a16:creationId xmlns:a16="http://schemas.microsoft.com/office/drawing/2014/main" id="{8AB0A0C4-88DC-494B-0F49-F7173CA36DCA}"/>
                </a:ext>
              </a:extLst>
            </p:cNvPr>
            <p:cNvSpPr/>
            <p:nvPr/>
          </p:nvSpPr>
          <p:spPr>
            <a:xfrm>
              <a:off x="1500686" y="1118345"/>
              <a:ext cx="1116107" cy="1105348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Q1</a:t>
              </a:r>
            </a:p>
          </p:txBody>
        </p:sp>
      </p:grpSp>
      <p:sp>
        <p:nvSpPr>
          <p:cNvPr id="2" name="TextBox 1">
            <a:extLst>
              <a:ext uri="{FF2B5EF4-FFF2-40B4-BE49-F238E27FC236}">
                <a16:creationId xmlns:a16="http://schemas.microsoft.com/office/drawing/2014/main" id="{7CAB9005-39F2-08FB-2C0A-B23267EFC5B6}"/>
              </a:ext>
            </a:extLst>
          </p:cNvPr>
          <p:cNvSpPr txBox="1"/>
          <p:nvPr/>
        </p:nvSpPr>
        <p:spPr>
          <a:xfrm>
            <a:off x="404037" y="2211572"/>
            <a:ext cx="579735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We say that the composed party is inward clocked when: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EFE0BD9A-6AAE-ADA7-7F99-6B1D04506228}"/>
              </a:ext>
            </a:extLst>
          </p:cNvPr>
          <p:cNvSpPr txBox="1"/>
          <p:nvPr/>
        </p:nvSpPr>
        <p:spPr>
          <a:xfrm>
            <a:off x="761355" y="2722988"/>
            <a:ext cx="758567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Z first clocks Q1, then P1, then Z sends </a:t>
            </a:r>
            <a:r>
              <a:rPr lang="en-US" dirty="0">
                <a:latin typeface="American Typewriter" panose="02090604020004020304" pitchFamily="18" charset="77"/>
              </a:rPr>
              <a:t>(</a:t>
            </a:r>
            <a:r>
              <a:rPr lang="en-US" dirty="0" err="1">
                <a:latin typeface="American Typewriter" panose="02090604020004020304" pitchFamily="18" charset="77"/>
              </a:rPr>
              <a:t>inclock</a:t>
            </a:r>
            <a:r>
              <a:rPr lang="en-US" dirty="0">
                <a:latin typeface="American Typewriter" panose="02090604020004020304" pitchFamily="18" charset="77"/>
              </a:rPr>
              <a:t>, </a:t>
            </a:r>
            <a:r>
              <a:rPr lang="en-US" dirty="0" err="1">
                <a:latin typeface="American Typewriter" panose="02090604020004020304" pitchFamily="18" charset="77"/>
              </a:rPr>
              <a:t>i</a:t>
            </a:r>
            <a:r>
              <a:rPr lang="en-US" dirty="0">
                <a:latin typeface="American Typewriter" panose="02090604020004020304" pitchFamily="18" charset="77"/>
              </a:rPr>
              <a:t>) </a:t>
            </a:r>
            <a:r>
              <a:rPr lang="en-US" dirty="0"/>
              <a:t>on </a:t>
            </a:r>
            <a:r>
              <a:rPr lang="en-US" dirty="0" err="1">
                <a:latin typeface="American Typewriter" panose="02090604020004020304" pitchFamily="18" charset="77"/>
              </a:rPr>
              <a:t>AT.infl</a:t>
            </a:r>
            <a:r>
              <a:rPr lang="en-US" dirty="0">
                <a:latin typeface="American Typewriter" panose="02090604020004020304" pitchFamily="18" charset="77"/>
              </a:rPr>
              <a:t> </a:t>
            </a:r>
            <a:r>
              <a:rPr lang="en-US" dirty="0"/>
              <a:t>and</a:t>
            </a:r>
            <a:r>
              <a:rPr lang="en-US" dirty="0">
                <a:latin typeface="American Typewriter" panose="02090604020004020304" pitchFamily="18" charset="77"/>
              </a:rPr>
              <a:t> clocks                                                           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86671E71-EB65-008A-0823-026C7EE576A6}"/>
                  </a:ext>
                </a:extLst>
              </p:cNvPr>
              <p:cNvSpPr txBox="1"/>
              <p:nvPr/>
            </p:nvSpPr>
            <p:spPr>
              <a:xfrm>
                <a:off x="8222908" y="2640209"/>
                <a:ext cx="824392" cy="452111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nor/>
                            </m:rPr>
                            <a:rPr lang="en-US" sz="2800" b="0" i="0" smtClean="0">
                              <a:latin typeface="American Typewriter" panose="02090604020004020304" pitchFamily="18" charset="77"/>
                            </a:rPr>
                            <m:t>F</m:t>
                          </m:r>
                        </m:e>
                        <m:sub>
                          <m:r>
                            <m:rPr>
                              <m:nor/>
                            </m:rPr>
                            <a:rPr lang="en-US" sz="2800" b="0" i="0" smtClean="0">
                              <a:latin typeface="American Typewriter" panose="02090604020004020304" pitchFamily="18" charset="77"/>
                            </a:rPr>
                            <m:t>AT</m:t>
                          </m:r>
                        </m:sub>
                      </m:sSub>
                    </m:oMath>
                  </m:oMathPara>
                </a14:m>
                <a:endParaRPr lang="en-US" sz="2800" dirty="0">
                  <a:latin typeface="American Typewriter" panose="02090604020004020304" pitchFamily="18" charset="77"/>
                </a:endParaRPr>
              </a:p>
            </p:txBody>
          </p:sp>
        </mc:Choice>
        <mc:Fallback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86671E71-EB65-008A-0823-026C7EE576A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222908" y="2640209"/>
                <a:ext cx="824392" cy="452111"/>
              </a:xfrm>
              <a:prstGeom prst="rect">
                <a:avLst/>
              </a:prstGeom>
              <a:blipFill>
                <a:blip r:embed="rId2"/>
                <a:stretch>
                  <a:fillRect l="-9091" r="-7576" b="-2702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TextBox 4">
            <a:extLst>
              <a:ext uri="{FF2B5EF4-FFF2-40B4-BE49-F238E27FC236}">
                <a16:creationId xmlns:a16="http://schemas.microsoft.com/office/drawing/2014/main" id="{DA3A2F02-6126-83C0-8221-70025FA17B77}"/>
              </a:ext>
            </a:extLst>
          </p:cNvPr>
          <p:cNvSpPr txBox="1"/>
          <p:nvPr/>
        </p:nvSpPr>
        <p:spPr>
          <a:xfrm>
            <a:off x="404037" y="3579484"/>
            <a:ext cx="594759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We say that the composed party is outward clocked when: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CC9EA8D2-0AF7-BE7C-23F5-DF218CEF91C9}"/>
              </a:ext>
            </a:extLst>
          </p:cNvPr>
          <p:cNvSpPr txBox="1"/>
          <p:nvPr/>
        </p:nvSpPr>
        <p:spPr>
          <a:xfrm>
            <a:off x="761355" y="4090900"/>
            <a:ext cx="533464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Z first sends </a:t>
            </a:r>
            <a:r>
              <a:rPr lang="en-US" dirty="0">
                <a:latin typeface="American Typewriter" panose="02090604020004020304" pitchFamily="18" charset="77"/>
              </a:rPr>
              <a:t>(</a:t>
            </a:r>
            <a:r>
              <a:rPr lang="en-US" dirty="0" err="1">
                <a:latin typeface="American Typewriter" panose="02090604020004020304" pitchFamily="18" charset="77"/>
              </a:rPr>
              <a:t>outclock</a:t>
            </a:r>
            <a:r>
              <a:rPr lang="en-US" dirty="0">
                <a:latin typeface="American Typewriter" panose="02090604020004020304" pitchFamily="18" charset="77"/>
              </a:rPr>
              <a:t>, </a:t>
            </a:r>
            <a:r>
              <a:rPr lang="en-US" dirty="0" err="1">
                <a:latin typeface="American Typewriter" panose="02090604020004020304" pitchFamily="18" charset="77"/>
              </a:rPr>
              <a:t>i</a:t>
            </a:r>
            <a:r>
              <a:rPr lang="en-US" dirty="0">
                <a:latin typeface="American Typewriter" panose="02090604020004020304" pitchFamily="18" charset="77"/>
              </a:rPr>
              <a:t>) </a:t>
            </a:r>
            <a:r>
              <a:rPr lang="en-US" dirty="0"/>
              <a:t>on </a:t>
            </a:r>
            <a:r>
              <a:rPr lang="en-US" dirty="0" err="1">
                <a:latin typeface="American Typewriter" panose="02090604020004020304" pitchFamily="18" charset="77"/>
              </a:rPr>
              <a:t>AT.infl</a:t>
            </a:r>
            <a:r>
              <a:rPr lang="en-US" dirty="0">
                <a:latin typeface="American Typewriter" panose="02090604020004020304" pitchFamily="18" charset="77"/>
              </a:rPr>
              <a:t> </a:t>
            </a:r>
            <a:r>
              <a:rPr lang="en-US" dirty="0"/>
              <a:t>and</a:t>
            </a:r>
            <a:r>
              <a:rPr lang="en-US" dirty="0">
                <a:latin typeface="American Typewriter" panose="02090604020004020304" pitchFamily="18" charset="77"/>
              </a:rPr>
              <a:t> clocks                                                           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58336A1E-AABD-BD78-3150-9968AD00CB08}"/>
                  </a:ext>
                </a:extLst>
              </p:cNvPr>
              <p:cNvSpPr txBox="1"/>
              <p:nvPr/>
            </p:nvSpPr>
            <p:spPr>
              <a:xfrm>
                <a:off x="5789197" y="4008121"/>
                <a:ext cx="824392" cy="452111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nor/>
                            </m:rPr>
                            <a:rPr lang="en-US" sz="2800" b="0" i="0" smtClean="0">
                              <a:latin typeface="American Typewriter" panose="02090604020004020304" pitchFamily="18" charset="77"/>
                            </a:rPr>
                            <m:t>F</m:t>
                          </m:r>
                        </m:e>
                        <m:sub>
                          <m:r>
                            <m:rPr>
                              <m:nor/>
                            </m:rPr>
                            <a:rPr lang="en-US" sz="2800" b="0" i="0" smtClean="0">
                              <a:latin typeface="American Typewriter" panose="02090604020004020304" pitchFamily="18" charset="77"/>
                            </a:rPr>
                            <m:t>AT</m:t>
                          </m:r>
                        </m:sub>
                      </m:sSub>
                    </m:oMath>
                  </m:oMathPara>
                </a14:m>
                <a:endParaRPr lang="en-US" sz="2800" dirty="0">
                  <a:latin typeface="American Typewriter" panose="02090604020004020304" pitchFamily="18" charset="77"/>
                </a:endParaRPr>
              </a:p>
            </p:txBody>
          </p:sp>
        </mc:Choice>
        <mc:Fallback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58336A1E-AABD-BD78-3150-9968AD00CB0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789197" y="4008121"/>
                <a:ext cx="824392" cy="452111"/>
              </a:xfrm>
              <a:prstGeom prst="rect">
                <a:avLst/>
              </a:prstGeom>
              <a:blipFill>
                <a:blip r:embed="rId3"/>
                <a:stretch>
                  <a:fillRect l="-10769" r="-7692" b="-2702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8" name="TextBox 7">
            <a:extLst>
              <a:ext uri="{FF2B5EF4-FFF2-40B4-BE49-F238E27FC236}">
                <a16:creationId xmlns:a16="http://schemas.microsoft.com/office/drawing/2014/main" id="{72EEB96F-49A1-3B9D-4BCD-899E76F8CFC5}"/>
              </a:ext>
            </a:extLst>
          </p:cNvPr>
          <p:cNvSpPr txBox="1"/>
          <p:nvPr/>
        </p:nvSpPr>
        <p:spPr>
          <a:xfrm>
            <a:off x="6557265" y="4090900"/>
            <a:ext cx="304808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then clocks P1 and then Q1</a:t>
            </a:r>
            <a:endParaRPr lang="en-US" dirty="0">
              <a:latin typeface="American Typewriter" panose="02090604020004020304" pitchFamily="18" charset="77"/>
            </a:endParaRP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A2074F7A-D0BD-6FDB-A2ED-E378F8CA80E6}"/>
              </a:ext>
            </a:extLst>
          </p:cNvPr>
          <p:cNvSpPr txBox="1"/>
          <p:nvPr/>
        </p:nvSpPr>
        <p:spPr>
          <a:xfrm>
            <a:off x="1411192" y="4602316"/>
            <a:ext cx="139667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This allows</a:t>
            </a:r>
            <a:endParaRPr lang="en-US" dirty="0">
              <a:latin typeface="American Typewriter" panose="02090604020004020304" pitchFamily="18" charset="77"/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2" name="TextBox 31">
                <a:extLst>
                  <a:ext uri="{FF2B5EF4-FFF2-40B4-BE49-F238E27FC236}">
                    <a16:creationId xmlns:a16="http://schemas.microsoft.com/office/drawing/2014/main" id="{D5FB8EC5-FC85-0B16-4AE7-0B92C5C31831}"/>
                  </a:ext>
                </a:extLst>
              </p:cNvPr>
              <p:cNvSpPr txBox="1"/>
              <p:nvPr/>
            </p:nvSpPr>
            <p:spPr>
              <a:xfrm>
                <a:off x="2613830" y="4543011"/>
                <a:ext cx="824392" cy="452111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nor/>
                            </m:rPr>
                            <a:rPr lang="en-US" sz="2800" b="0" i="0" smtClean="0">
                              <a:latin typeface="American Typewriter" panose="02090604020004020304" pitchFamily="18" charset="77"/>
                            </a:rPr>
                            <m:t>F</m:t>
                          </m:r>
                        </m:e>
                        <m:sub>
                          <m:r>
                            <m:rPr>
                              <m:nor/>
                            </m:rPr>
                            <a:rPr lang="en-US" sz="2800" b="0" i="0" smtClean="0">
                              <a:latin typeface="American Typewriter" panose="02090604020004020304" pitchFamily="18" charset="77"/>
                            </a:rPr>
                            <m:t>AT</m:t>
                          </m:r>
                        </m:sub>
                      </m:sSub>
                    </m:oMath>
                  </m:oMathPara>
                </a14:m>
                <a:endParaRPr lang="en-US" sz="2800" dirty="0">
                  <a:latin typeface="American Typewriter" panose="02090604020004020304" pitchFamily="18" charset="77"/>
                </a:endParaRPr>
              </a:p>
            </p:txBody>
          </p:sp>
        </mc:Choice>
        <mc:Fallback>
          <p:sp>
            <p:nvSpPr>
              <p:cNvPr id="32" name="TextBox 31">
                <a:extLst>
                  <a:ext uri="{FF2B5EF4-FFF2-40B4-BE49-F238E27FC236}">
                    <a16:creationId xmlns:a16="http://schemas.microsoft.com/office/drawing/2014/main" id="{D5FB8EC5-FC85-0B16-4AE7-0B92C5C3183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613830" y="4543011"/>
                <a:ext cx="824392" cy="452111"/>
              </a:xfrm>
              <a:prstGeom prst="rect">
                <a:avLst/>
              </a:prstGeom>
              <a:blipFill>
                <a:blip r:embed="rId4"/>
                <a:stretch>
                  <a:fillRect l="-9091" r="-7576" b="-2973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3" name="TextBox 32">
            <a:extLst>
              <a:ext uri="{FF2B5EF4-FFF2-40B4-BE49-F238E27FC236}">
                <a16:creationId xmlns:a16="http://schemas.microsoft.com/office/drawing/2014/main" id="{4BEDD5C6-9D5C-B988-AF19-96B89C3F670C}"/>
              </a:ext>
            </a:extLst>
          </p:cNvPr>
          <p:cNvSpPr txBox="1"/>
          <p:nvPr/>
        </p:nvSpPr>
        <p:spPr>
          <a:xfrm>
            <a:off x="3426898" y="4678273"/>
            <a:ext cx="583406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American Typewriter" panose="02090604020004020304" pitchFamily="18" charset="77"/>
              </a:rPr>
              <a:t>to send messages to the composed parties.</a:t>
            </a:r>
          </a:p>
        </p:txBody>
      </p:sp>
    </p:spTree>
    <p:extLst>
      <p:ext uri="{BB962C8B-B14F-4D97-AF65-F5344CB8AC3E}">
        <p14:creationId xmlns:p14="http://schemas.microsoft.com/office/powerpoint/2010/main" val="121806584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0CEB637A-8DE1-C5E3-A020-FACCFE168831}"/>
              </a:ext>
            </a:extLst>
          </p:cNvPr>
          <p:cNvSpPr txBox="1"/>
          <p:nvPr/>
        </p:nvSpPr>
        <p:spPr>
          <a:xfrm>
            <a:off x="290935" y="651414"/>
            <a:ext cx="7847226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7200" dirty="0">
                <a:latin typeface="Chalk Board" panose="02000500000000000000" pitchFamily="2" charset="0"/>
              </a:rPr>
              <a:t>Synchronous Communication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78DC73F3-2C6A-0FB4-9962-27C3233DC701}"/>
              </a:ext>
            </a:extLst>
          </p:cNvPr>
          <p:cNvSpPr txBox="1"/>
          <p:nvPr/>
        </p:nvSpPr>
        <p:spPr>
          <a:xfrm>
            <a:off x="633878" y="2319653"/>
            <a:ext cx="128919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If </a:t>
            </a:r>
            <a:r>
              <a:rPr lang="en-US" dirty="0">
                <a:solidFill>
                  <a:schemeClr val="accent6">
                    <a:lumMod val="75000"/>
                  </a:schemeClr>
                </a:solidFill>
              </a:rPr>
              <a:t>n</a:t>
            </a:r>
            <a:r>
              <a:rPr lang="en-US" dirty="0"/>
              <a:t> parties,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C343FE54-3237-323B-5E43-9BF0A21FE222}"/>
                  </a:ext>
                </a:extLst>
              </p:cNvPr>
              <p:cNvSpPr txBox="1"/>
              <p:nvPr/>
            </p:nvSpPr>
            <p:spPr>
              <a:xfrm>
                <a:off x="1923077" y="2365819"/>
                <a:ext cx="1181862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, </m:t>
                      </m:r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, …, </m:t>
                      </m:r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C343FE54-3237-323B-5E43-9BF0A21FE22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923077" y="2365819"/>
                <a:ext cx="1181862" cy="276999"/>
              </a:xfrm>
              <a:prstGeom prst="rect">
                <a:avLst/>
              </a:prstGeom>
              <a:blipFill>
                <a:blip r:embed="rId2"/>
                <a:stretch>
                  <a:fillRect l="-4255" b="-1304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TextBox 4">
            <a:extLst>
              <a:ext uri="{FF2B5EF4-FFF2-40B4-BE49-F238E27FC236}">
                <a16:creationId xmlns:a16="http://schemas.microsoft.com/office/drawing/2014/main" id="{F7F68DF2-ABAA-A292-BBDC-F75D2ECD4BB7}"/>
              </a:ext>
            </a:extLst>
          </p:cNvPr>
          <p:cNvSpPr txBox="1"/>
          <p:nvPr/>
        </p:nvSpPr>
        <p:spPr>
          <a:xfrm>
            <a:off x="3104939" y="2319652"/>
            <a:ext cx="108401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are using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03B08B83-8A1E-C801-BAA5-0152EF6FCA9B}"/>
                  </a:ext>
                </a:extLst>
              </p:cNvPr>
              <p:cNvSpPr txBox="1"/>
              <p:nvPr/>
            </p:nvSpPr>
            <p:spPr>
              <a:xfrm>
                <a:off x="4286801" y="2278262"/>
                <a:ext cx="824392" cy="452111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nor/>
                            </m:rPr>
                            <a:rPr lang="en-US" sz="2800" b="0" i="0" smtClean="0">
                              <a:latin typeface="American Typewriter" panose="02090604020004020304" pitchFamily="18" charset="77"/>
                            </a:rPr>
                            <m:t>F</m:t>
                          </m:r>
                        </m:e>
                        <m:sub>
                          <m:r>
                            <m:rPr>
                              <m:nor/>
                            </m:rPr>
                            <a:rPr lang="en-US" sz="2800" b="0" i="0" smtClean="0">
                              <a:latin typeface="American Typewriter" panose="02090604020004020304" pitchFamily="18" charset="77"/>
                            </a:rPr>
                            <m:t>AT</m:t>
                          </m:r>
                        </m:sub>
                      </m:sSub>
                    </m:oMath>
                  </m:oMathPara>
                </a14:m>
                <a:endParaRPr lang="en-US" sz="2800" dirty="0">
                  <a:latin typeface="American Typewriter" panose="02090604020004020304" pitchFamily="18" charset="77"/>
                </a:endParaRPr>
              </a:p>
            </p:txBody>
          </p:sp>
        </mc:Choice>
        <mc:Fallback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03B08B83-8A1E-C801-BAA5-0152EF6FCA9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286801" y="2278262"/>
                <a:ext cx="824392" cy="452111"/>
              </a:xfrm>
              <a:prstGeom prst="rect">
                <a:avLst/>
              </a:prstGeom>
              <a:blipFill>
                <a:blip r:embed="rId3"/>
                <a:stretch>
                  <a:fillRect l="-9091" r="-7576" b="-2702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8" name="TextBox 7">
            <a:extLst>
              <a:ext uri="{FF2B5EF4-FFF2-40B4-BE49-F238E27FC236}">
                <a16:creationId xmlns:a16="http://schemas.microsoft.com/office/drawing/2014/main" id="{F35898BB-618C-A2E2-860F-9F3FA029FD93}"/>
              </a:ext>
            </a:extLst>
          </p:cNvPr>
          <p:cNvSpPr txBox="1"/>
          <p:nvPr/>
        </p:nvSpPr>
        <p:spPr>
          <a:xfrm>
            <a:off x="5111193" y="2319651"/>
            <a:ext cx="31405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as a communication resource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D4B13647-2BFC-C516-5CC2-5224C5A60F4E}"/>
              </a:ext>
            </a:extLst>
          </p:cNvPr>
          <p:cNvSpPr txBox="1"/>
          <p:nvPr/>
        </p:nvSpPr>
        <p:spPr>
          <a:xfrm>
            <a:off x="1669789" y="2820787"/>
            <a:ext cx="755283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Then, even though the parties are synchronized, the communication is not.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D4E90E66-7EF9-EDEA-71B3-3C2F350BE0EA}"/>
              </a:ext>
            </a:extLst>
          </p:cNvPr>
          <p:cNvSpPr txBox="1"/>
          <p:nvPr/>
        </p:nvSpPr>
        <p:spPr>
          <a:xfrm>
            <a:off x="485551" y="3252382"/>
            <a:ext cx="1290738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 dirty="0"/>
              <a:t>Why?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92B35D37-6745-CAC3-1070-8A451D028962}"/>
                  </a:ext>
                </a:extLst>
              </p:cNvPr>
              <p:cNvSpPr txBox="1"/>
              <p:nvPr/>
            </p:nvSpPr>
            <p:spPr>
              <a:xfrm>
                <a:off x="697070" y="3966419"/>
                <a:ext cx="824392" cy="452111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nor/>
                            </m:rPr>
                            <a:rPr lang="en-US" sz="2800" b="0" i="0" smtClean="0">
                              <a:latin typeface="American Typewriter" panose="02090604020004020304" pitchFamily="18" charset="77"/>
                            </a:rPr>
                            <m:t>F</m:t>
                          </m:r>
                        </m:e>
                        <m:sub>
                          <m:r>
                            <m:rPr>
                              <m:nor/>
                            </m:rPr>
                            <a:rPr lang="en-US" sz="2800" b="0" i="0" smtClean="0">
                              <a:latin typeface="American Typewriter" panose="02090604020004020304" pitchFamily="18" charset="77"/>
                            </a:rPr>
                            <m:t>AT</m:t>
                          </m:r>
                        </m:sub>
                      </m:sSub>
                    </m:oMath>
                  </m:oMathPara>
                </a14:m>
                <a:endParaRPr lang="en-US" sz="2800" dirty="0">
                  <a:latin typeface="American Typewriter" panose="02090604020004020304" pitchFamily="18" charset="77"/>
                </a:endParaRPr>
              </a:p>
            </p:txBody>
          </p:sp>
        </mc:Choice>
        <mc:Fallback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92B35D37-6745-CAC3-1070-8A451D02896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97070" y="3966419"/>
                <a:ext cx="824392" cy="452111"/>
              </a:xfrm>
              <a:prstGeom prst="rect">
                <a:avLst/>
              </a:prstGeom>
              <a:blipFill>
                <a:blip r:embed="rId4"/>
                <a:stretch>
                  <a:fillRect l="-8955" r="-5970" b="-3055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2" name="TextBox 11">
            <a:extLst>
              <a:ext uri="{FF2B5EF4-FFF2-40B4-BE49-F238E27FC236}">
                <a16:creationId xmlns:a16="http://schemas.microsoft.com/office/drawing/2014/main" id="{832EBEB5-6FFD-4878-0D23-10E943D3B1BD}"/>
              </a:ext>
            </a:extLst>
          </p:cNvPr>
          <p:cNvSpPr txBox="1"/>
          <p:nvPr/>
        </p:nvSpPr>
        <p:spPr>
          <a:xfrm>
            <a:off x="1521461" y="4049198"/>
            <a:ext cx="442621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is not modeled as a synchronous resource.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FFE0294C-388F-5613-AE3F-159382D54670}"/>
              </a:ext>
            </a:extLst>
          </p:cNvPr>
          <p:cNvSpPr txBox="1"/>
          <p:nvPr/>
        </p:nvSpPr>
        <p:spPr>
          <a:xfrm>
            <a:off x="633878" y="4866888"/>
            <a:ext cx="177516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How do we turn 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9E1CE63D-0308-9EDE-877A-7155491163A9}"/>
                  </a:ext>
                </a:extLst>
              </p:cNvPr>
              <p:cNvSpPr txBox="1"/>
              <p:nvPr/>
            </p:nvSpPr>
            <p:spPr>
              <a:xfrm>
                <a:off x="2409044" y="4825498"/>
                <a:ext cx="824392" cy="452111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nor/>
                            </m:rPr>
                            <a:rPr lang="en-US" sz="2800" b="0" i="0" smtClean="0">
                              <a:latin typeface="American Typewriter" panose="02090604020004020304" pitchFamily="18" charset="77"/>
                            </a:rPr>
                            <m:t>F</m:t>
                          </m:r>
                        </m:e>
                        <m:sub>
                          <m:r>
                            <m:rPr>
                              <m:nor/>
                            </m:rPr>
                            <a:rPr lang="en-US" sz="2800" b="0" i="0" smtClean="0">
                              <a:latin typeface="American Typewriter" panose="02090604020004020304" pitchFamily="18" charset="77"/>
                            </a:rPr>
                            <m:t>AT</m:t>
                          </m:r>
                        </m:sub>
                      </m:sSub>
                    </m:oMath>
                  </m:oMathPara>
                </a14:m>
                <a:endParaRPr lang="en-US" sz="2800" dirty="0">
                  <a:latin typeface="American Typewriter" panose="02090604020004020304" pitchFamily="18" charset="77"/>
                </a:endParaRPr>
              </a:p>
            </p:txBody>
          </p:sp>
        </mc:Choice>
        <mc:Fallback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9E1CE63D-0308-9EDE-877A-7155491163A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409044" y="4825498"/>
                <a:ext cx="824392" cy="452111"/>
              </a:xfrm>
              <a:prstGeom prst="rect">
                <a:avLst/>
              </a:prstGeom>
              <a:blipFill>
                <a:blip r:embed="rId5"/>
                <a:stretch>
                  <a:fillRect l="-9091" r="-7576" b="-3055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5" name="TextBox 14">
            <a:extLst>
              <a:ext uri="{FF2B5EF4-FFF2-40B4-BE49-F238E27FC236}">
                <a16:creationId xmlns:a16="http://schemas.microsoft.com/office/drawing/2014/main" id="{2E5E3A31-4C6A-62D1-EB29-19486529A8A5}"/>
              </a:ext>
            </a:extLst>
          </p:cNvPr>
          <p:cNvSpPr txBox="1"/>
          <p:nvPr/>
        </p:nvSpPr>
        <p:spPr>
          <a:xfrm>
            <a:off x="3233436" y="4908277"/>
            <a:ext cx="321594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to a synchronous resource?    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101777C4-9C40-CFD7-D11D-CF2425FF1EA3}"/>
              </a:ext>
            </a:extLst>
          </p:cNvPr>
          <p:cNvSpPr txBox="1"/>
          <p:nvPr/>
        </p:nvSpPr>
        <p:spPr>
          <a:xfrm>
            <a:off x="633878" y="5541301"/>
            <a:ext cx="47961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On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C9BB1E98-1C1D-2106-6695-074F762C8996}"/>
              </a:ext>
            </a:extLst>
          </p:cNvPr>
          <p:cNvSpPr txBox="1"/>
          <p:nvPr/>
        </p:nvSpPr>
        <p:spPr>
          <a:xfrm>
            <a:off x="2308598" y="5541301"/>
            <a:ext cx="267669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Process all messages 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8D2696EC-47DC-EF09-0A79-81125A911221}"/>
                  </a:ext>
                </a:extLst>
              </p:cNvPr>
              <p:cNvSpPr txBox="1"/>
              <p:nvPr/>
            </p:nvSpPr>
            <p:spPr>
              <a:xfrm>
                <a:off x="4895266" y="5582690"/>
                <a:ext cx="710579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𝐴𝑇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.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𝑖</m:t>
                      </m:r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8D2696EC-47DC-EF09-0A79-81125A91122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895266" y="5582690"/>
                <a:ext cx="710579" cy="276999"/>
              </a:xfrm>
              <a:prstGeom prst="rect">
                <a:avLst/>
              </a:prstGeom>
              <a:blipFill>
                <a:blip r:embed="rId6"/>
                <a:stretch>
                  <a:fillRect l="-7018" r="-3509" b="-1739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42F93EFD-F3D1-732D-A418-BBE5857819BC}"/>
                  </a:ext>
                </a:extLst>
              </p:cNvPr>
              <p:cNvSpPr txBox="1"/>
              <p:nvPr/>
            </p:nvSpPr>
            <p:spPr>
              <a:xfrm>
                <a:off x="6026153" y="5473112"/>
                <a:ext cx="824392" cy="452111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nor/>
                            </m:rPr>
                            <a:rPr lang="en-US" sz="2800" b="0" i="0" smtClean="0">
                              <a:latin typeface="American Typewriter" panose="02090604020004020304" pitchFamily="18" charset="77"/>
                            </a:rPr>
                            <m:t>F</m:t>
                          </m:r>
                        </m:e>
                        <m:sub>
                          <m:r>
                            <m:rPr>
                              <m:nor/>
                            </m:rPr>
                            <a:rPr lang="en-US" sz="2800" b="0" i="0" smtClean="0">
                              <a:latin typeface="American Typewriter" panose="02090604020004020304" pitchFamily="18" charset="77"/>
                            </a:rPr>
                            <m:t>AT</m:t>
                          </m:r>
                        </m:sub>
                      </m:sSub>
                    </m:oMath>
                  </m:oMathPara>
                </a14:m>
                <a:endParaRPr lang="en-US" sz="2800" dirty="0">
                  <a:latin typeface="American Typewriter" panose="02090604020004020304" pitchFamily="18" charset="77"/>
                </a:endParaRPr>
              </a:p>
            </p:txBody>
          </p:sp>
        </mc:Choice>
        <mc:Fallback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42F93EFD-F3D1-732D-A418-BBE5857819B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026153" y="5473112"/>
                <a:ext cx="824392" cy="452111"/>
              </a:xfrm>
              <a:prstGeom prst="rect">
                <a:avLst/>
              </a:prstGeom>
              <a:blipFill>
                <a:blip r:embed="rId7"/>
                <a:stretch>
                  <a:fillRect l="-9091" r="-7576" b="-3055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0" name="TextBox 19">
            <a:extLst>
              <a:ext uri="{FF2B5EF4-FFF2-40B4-BE49-F238E27FC236}">
                <a16:creationId xmlns:a16="http://schemas.microsoft.com/office/drawing/2014/main" id="{6A98AD46-AF0A-FA30-BA3D-6AECD1879BD4}"/>
              </a:ext>
            </a:extLst>
          </p:cNvPr>
          <p:cNvSpPr txBox="1"/>
          <p:nvPr/>
        </p:nvSpPr>
        <p:spPr>
          <a:xfrm>
            <a:off x="5605845" y="5541301"/>
            <a:ext cx="42030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as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F5CFB48B-0856-EE48-AF5C-90E2CB934C10}"/>
              </a:ext>
            </a:extLst>
          </p:cNvPr>
          <p:cNvSpPr txBox="1"/>
          <p:nvPr/>
        </p:nvSpPr>
        <p:spPr>
          <a:xfrm>
            <a:off x="6865251" y="5536523"/>
            <a:ext cx="67518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does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7EC71418-1D7C-EFDA-A7A0-C5656E445FBF}"/>
              </a:ext>
            </a:extLst>
          </p:cNvPr>
          <p:cNvSpPr txBox="1"/>
          <p:nvPr/>
        </p:nvSpPr>
        <p:spPr>
          <a:xfrm>
            <a:off x="1013606" y="5514501"/>
            <a:ext cx="137909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American Typewriter" panose="02090604020004020304" pitchFamily="18" charset="77"/>
              </a:rPr>
              <a:t>(</a:t>
            </a:r>
            <a:r>
              <a:rPr lang="en-US" dirty="0" err="1">
                <a:latin typeface="American Typewriter" panose="02090604020004020304" pitchFamily="18" charset="77"/>
              </a:rPr>
              <a:t>inclock</a:t>
            </a:r>
            <a:r>
              <a:rPr lang="en-US" dirty="0">
                <a:latin typeface="American Typewriter" panose="02090604020004020304" pitchFamily="18" charset="77"/>
              </a:rPr>
              <a:t>, </a:t>
            </a:r>
            <a:r>
              <a:rPr lang="en-US" dirty="0" err="1">
                <a:latin typeface="American Typewriter" panose="02090604020004020304" pitchFamily="18" charset="77"/>
              </a:rPr>
              <a:t>i</a:t>
            </a:r>
            <a:r>
              <a:rPr lang="en-US" dirty="0">
                <a:latin typeface="American Typewriter" panose="02090604020004020304" pitchFamily="18" charset="77"/>
              </a:rPr>
              <a:t>)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00AEDC90-8080-9F61-791D-826E52551F2C}"/>
              </a:ext>
            </a:extLst>
          </p:cNvPr>
          <p:cNvSpPr txBox="1"/>
          <p:nvPr/>
        </p:nvSpPr>
        <p:spPr>
          <a:xfrm>
            <a:off x="614493" y="5993411"/>
            <a:ext cx="47961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On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BB80A3A2-C61B-121D-A378-F0CD90DB01FA}"/>
              </a:ext>
            </a:extLst>
          </p:cNvPr>
          <p:cNvSpPr txBox="1"/>
          <p:nvPr/>
        </p:nvSpPr>
        <p:spPr>
          <a:xfrm>
            <a:off x="2289213" y="5993411"/>
            <a:ext cx="221432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 for  all stored values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5FF73DDA-101F-0830-4DA0-8335A06A09FE}"/>
                  </a:ext>
                </a:extLst>
              </p:cNvPr>
              <p:cNvSpPr txBox="1"/>
              <p:nvPr/>
            </p:nvSpPr>
            <p:spPr>
              <a:xfrm>
                <a:off x="4503537" y="6012777"/>
                <a:ext cx="1272913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𝑚𝑖𝑑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, 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𝑗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𝑖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, 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𝑚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5FF73DDA-101F-0830-4DA0-8335A06A09F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503537" y="6012777"/>
                <a:ext cx="1272913" cy="276999"/>
              </a:xfrm>
              <a:prstGeom prst="rect">
                <a:avLst/>
              </a:prstGeom>
              <a:blipFill>
                <a:blip r:embed="rId8"/>
                <a:stretch>
                  <a:fillRect l="-5882" t="-4348" r="-5882" b="-3478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E9D2E1EF-7B5E-A1DE-D5A7-85847A3B7927}"/>
                  </a:ext>
                </a:extLst>
              </p:cNvPr>
              <p:cNvSpPr txBox="1"/>
              <p:nvPr/>
            </p:nvSpPr>
            <p:spPr>
              <a:xfrm>
                <a:off x="10625887" y="5945288"/>
                <a:ext cx="1329787" cy="46557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𝐴𝑇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.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𝑜𝑢</m:t>
                      </m:r>
                      <m:sSub>
                        <m:sSubPr>
                          <m:ctrlPr>
                            <a:rPr lang="en-US" sz="28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  <m:sub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𝑗</m:t>
                          </m:r>
                        </m:sub>
                      </m:sSub>
                    </m:oMath>
                  </m:oMathPara>
                </a14:m>
                <a:endParaRPr lang="en-US" sz="2800" dirty="0">
                  <a:latin typeface="American Typewriter" panose="02090604020004020304" pitchFamily="18" charset="77"/>
                </a:endParaRPr>
              </a:p>
            </p:txBody>
          </p:sp>
        </mc:Choice>
        <mc:Fallback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E9D2E1EF-7B5E-A1DE-D5A7-85847A3B792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625887" y="5945288"/>
                <a:ext cx="1329787" cy="465577"/>
              </a:xfrm>
              <a:prstGeom prst="rect">
                <a:avLst/>
              </a:prstGeom>
              <a:blipFill>
                <a:blip r:embed="rId9"/>
                <a:stretch>
                  <a:fillRect l="-5660" r="-2830" b="-2702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7" name="TextBox 26">
            <a:extLst>
              <a:ext uri="{FF2B5EF4-FFF2-40B4-BE49-F238E27FC236}">
                <a16:creationId xmlns:a16="http://schemas.microsoft.com/office/drawing/2014/main" id="{9C1FDC09-2DF5-6166-AFDF-7BA8FD269552}"/>
              </a:ext>
            </a:extLst>
          </p:cNvPr>
          <p:cNvSpPr txBox="1"/>
          <p:nvPr/>
        </p:nvSpPr>
        <p:spPr>
          <a:xfrm>
            <a:off x="5780666" y="5987252"/>
            <a:ext cx="81349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delete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55772A66-FB8A-329B-1262-18EEC68DBC1F}"/>
              </a:ext>
            </a:extLst>
          </p:cNvPr>
          <p:cNvSpPr txBox="1"/>
          <p:nvPr/>
        </p:nvSpPr>
        <p:spPr>
          <a:xfrm>
            <a:off x="7764003" y="5966611"/>
            <a:ext cx="13860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and outputs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737A3967-5030-F266-06D1-65208D5EFB57}"/>
              </a:ext>
            </a:extLst>
          </p:cNvPr>
          <p:cNvSpPr txBox="1"/>
          <p:nvPr/>
        </p:nvSpPr>
        <p:spPr>
          <a:xfrm>
            <a:off x="994221" y="5966611"/>
            <a:ext cx="152176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American Typewriter" panose="02090604020004020304" pitchFamily="18" charset="77"/>
              </a:rPr>
              <a:t>(</a:t>
            </a:r>
            <a:r>
              <a:rPr lang="en-US" dirty="0" err="1">
                <a:latin typeface="American Typewriter" panose="02090604020004020304" pitchFamily="18" charset="77"/>
              </a:rPr>
              <a:t>outclock</a:t>
            </a:r>
            <a:r>
              <a:rPr lang="en-US" dirty="0">
                <a:latin typeface="American Typewriter" panose="02090604020004020304" pitchFamily="18" charset="77"/>
              </a:rPr>
              <a:t>, </a:t>
            </a:r>
            <a:r>
              <a:rPr lang="en-US" dirty="0" err="1">
                <a:latin typeface="American Typewriter" panose="02090604020004020304" pitchFamily="18" charset="77"/>
              </a:rPr>
              <a:t>i</a:t>
            </a:r>
            <a:r>
              <a:rPr lang="en-US" dirty="0">
                <a:latin typeface="American Typewriter" panose="02090604020004020304" pitchFamily="18" charset="77"/>
              </a:rPr>
              <a:t>)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0" name="TextBox 29">
                <a:extLst>
                  <a:ext uri="{FF2B5EF4-FFF2-40B4-BE49-F238E27FC236}">
                    <a16:creationId xmlns:a16="http://schemas.microsoft.com/office/drawing/2014/main" id="{30F7CB6E-9A3B-F86F-7ED4-A5391EA0B6A0}"/>
                  </a:ext>
                </a:extLst>
              </p:cNvPr>
              <p:cNvSpPr txBox="1"/>
              <p:nvPr/>
            </p:nvSpPr>
            <p:spPr>
              <a:xfrm>
                <a:off x="6527655" y="6028131"/>
                <a:ext cx="1272913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𝑚𝑖𝑑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, 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𝑗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𝑖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, 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𝑚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30" name="TextBox 29">
                <a:extLst>
                  <a:ext uri="{FF2B5EF4-FFF2-40B4-BE49-F238E27FC236}">
                    <a16:creationId xmlns:a16="http://schemas.microsoft.com/office/drawing/2014/main" id="{30F7CB6E-9A3B-F86F-7ED4-A5391EA0B6A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527655" y="6028131"/>
                <a:ext cx="1272913" cy="276999"/>
              </a:xfrm>
              <a:prstGeom prst="rect">
                <a:avLst/>
              </a:prstGeom>
              <a:blipFill>
                <a:blip r:embed="rId10"/>
                <a:stretch>
                  <a:fillRect l="-6931" r="-5941" b="-3478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31" name="TextBox 30">
                <a:extLst>
                  <a:ext uri="{FF2B5EF4-FFF2-40B4-BE49-F238E27FC236}">
                    <a16:creationId xmlns:a16="http://schemas.microsoft.com/office/drawing/2014/main" id="{F0092DF8-533F-2422-CFE6-F24DB84F48A3}"/>
                  </a:ext>
                </a:extLst>
              </p:cNvPr>
              <p:cNvSpPr txBox="1"/>
              <p:nvPr/>
            </p:nvSpPr>
            <p:spPr>
              <a:xfrm>
                <a:off x="9115099" y="6032845"/>
                <a:ext cx="1105303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𝑚𝑖𝑑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, 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𝑗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, 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𝑚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31" name="TextBox 30">
                <a:extLst>
                  <a:ext uri="{FF2B5EF4-FFF2-40B4-BE49-F238E27FC236}">
                    <a16:creationId xmlns:a16="http://schemas.microsoft.com/office/drawing/2014/main" id="{F0092DF8-533F-2422-CFE6-F24DB84F48A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115099" y="6032845"/>
                <a:ext cx="1105303" cy="276999"/>
              </a:xfrm>
              <a:prstGeom prst="rect">
                <a:avLst/>
              </a:prstGeom>
              <a:blipFill>
                <a:blip r:embed="rId11"/>
                <a:stretch>
                  <a:fillRect l="-6818" t="-4545" r="-7955" b="-3636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2" name="TextBox 31">
            <a:extLst>
              <a:ext uri="{FF2B5EF4-FFF2-40B4-BE49-F238E27FC236}">
                <a16:creationId xmlns:a16="http://schemas.microsoft.com/office/drawing/2014/main" id="{5716793E-3FCE-2539-803E-5C660CA9D969}"/>
              </a:ext>
            </a:extLst>
          </p:cNvPr>
          <p:cNvSpPr txBox="1"/>
          <p:nvPr/>
        </p:nvSpPr>
        <p:spPr>
          <a:xfrm>
            <a:off x="10220402" y="5981964"/>
            <a:ext cx="4379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on</a:t>
            </a:r>
          </a:p>
        </p:txBody>
      </p:sp>
    </p:spTree>
    <p:extLst>
      <p:ext uri="{BB962C8B-B14F-4D97-AF65-F5344CB8AC3E}">
        <p14:creationId xmlns:p14="http://schemas.microsoft.com/office/powerpoint/2010/main" val="424810680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/>
      <p:bldP spid="11" grpId="0"/>
      <p:bldP spid="12" grpId="0"/>
      <p:bldP spid="13" grpId="0"/>
      <p:bldP spid="14" grpId="0"/>
      <p:bldP spid="15" grpId="0"/>
      <p:bldP spid="16" grpId="0"/>
      <p:bldP spid="17" grpId="0"/>
      <p:bldP spid="18" grpId="0"/>
      <p:bldP spid="19" grpId="0"/>
      <p:bldP spid="20" grpId="0"/>
      <p:bldP spid="21" grpId="0"/>
      <p:bldP spid="22" grpId="0"/>
      <p:bldP spid="23" grpId="0"/>
      <p:bldP spid="24" grpId="0"/>
      <p:bldP spid="25" grpId="0"/>
      <p:bldP spid="26" grpId="0"/>
      <p:bldP spid="27" grpId="0"/>
      <p:bldP spid="28" grpId="0"/>
      <p:bldP spid="29" grpId="0"/>
      <p:bldP spid="31" grpId="0"/>
      <p:bldP spid="32" grpId="0"/>
    </p:bldLst>
  </p:timing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5E27E673-7946-A02C-8AA0-67819BF2B21C}"/>
              </a:ext>
            </a:extLst>
          </p:cNvPr>
          <p:cNvSpPr txBox="1"/>
          <p:nvPr/>
        </p:nvSpPr>
        <p:spPr>
          <a:xfrm>
            <a:off x="290935" y="651414"/>
            <a:ext cx="7847226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7200" dirty="0">
                <a:latin typeface="Chalk Board" panose="02000500000000000000" pitchFamily="2" charset="0"/>
              </a:rPr>
              <a:t>Complete Breakdown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B3751EE6-01F7-B26D-5E64-CF1FFAAD519D}"/>
              </a:ext>
            </a:extLst>
          </p:cNvPr>
          <p:cNvSpPr txBox="1"/>
          <p:nvPr/>
        </p:nvSpPr>
        <p:spPr>
          <a:xfrm>
            <a:off x="457200" y="2349795"/>
            <a:ext cx="353487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We say that the ideal functionality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6D474DF1-C17F-0544-EFD7-03BD53889302}"/>
                  </a:ext>
                </a:extLst>
              </p:cNvPr>
              <p:cNvSpPr txBox="1"/>
              <p:nvPr/>
            </p:nvSpPr>
            <p:spPr>
              <a:xfrm>
                <a:off x="3992078" y="2395961"/>
                <a:ext cx="540489" cy="276999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𝐹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𝐹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6D474DF1-C17F-0544-EFD7-03BD5388930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992078" y="2395961"/>
                <a:ext cx="540489" cy="276999"/>
              </a:xfrm>
              <a:prstGeom prst="rect">
                <a:avLst/>
              </a:prstGeom>
              <a:blipFill>
                <a:blip r:embed="rId2"/>
                <a:stretch>
                  <a:fillRect b="-1304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TextBox 4">
            <a:extLst>
              <a:ext uri="{FF2B5EF4-FFF2-40B4-BE49-F238E27FC236}">
                <a16:creationId xmlns:a16="http://schemas.microsoft.com/office/drawing/2014/main" id="{D30F297A-23EA-AFBB-B1AB-AAC3FB3199C5}"/>
              </a:ext>
            </a:extLst>
          </p:cNvPr>
          <p:cNvSpPr txBox="1"/>
          <p:nvPr/>
        </p:nvSpPr>
        <p:spPr>
          <a:xfrm>
            <a:off x="1541963" y="2824763"/>
            <a:ext cx="1008898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does a complete breakdown, we mean that it starts behaving as if all parties are actively corrupted.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37C5982-AA1C-05D1-F62F-73D5A4B5C5E2}"/>
              </a:ext>
            </a:extLst>
          </p:cNvPr>
          <p:cNvSpPr txBox="1"/>
          <p:nvPr/>
        </p:nvSpPr>
        <p:spPr>
          <a:xfrm>
            <a:off x="290935" y="3669063"/>
            <a:ext cx="501882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Models worst-case failure (all parties corrupted)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71A581CC-95AB-CEE3-D322-C7360C64AC05}"/>
              </a:ext>
            </a:extLst>
          </p:cNvPr>
          <p:cNvSpPr txBox="1"/>
          <p:nvPr/>
        </p:nvSpPr>
        <p:spPr>
          <a:xfrm>
            <a:off x="290935" y="4144031"/>
            <a:ext cx="408363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Functionality stops enforcing security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F48DA2C2-AE30-0837-452F-FF6022CA0D76}"/>
              </a:ext>
            </a:extLst>
          </p:cNvPr>
          <p:cNvSpPr txBox="1"/>
          <p:nvPr/>
        </p:nvSpPr>
        <p:spPr>
          <a:xfrm>
            <a:off x="290935" y="4971635"/>
            <a:ext cx="356409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Leaks full internal state on </a:t>
            </a:r>
            <a:r>
              <a:rPr lang="en-US" dirty="0" err="1"/>
              <a:t>F.leak</a:t>
            </a:r>
            <a:endParaRPr lang="en-US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C1AEC7AD-B05A-5132-D9D6-B39A1C59F0E1}"/>
              </a:ext>
            </a:extLst>
          </p:cNvPr>
          <p:cNvSpPr txBox="1"/>
          <p:nvPr/>
        </p:nvSpPr>
        <p:spPr>
          <a:xfrm>
            <a:off x="290935" y="5402820"/>
            <a:ext cx="408363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On (send, </a:t>
            </a:r>
            <a:r>
              <a:rPr lang="en-US" dirty="0" err="1"/>
              <a:t>i</a:t>
            </a:r>
            <a:r>
              <a:rPr lang="en-US" dirty="0"/>
              <a:t>, m): outputs m to party Pi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FB328D38-35B3-0A91-1945-4AD23A6303E4}"/>
              </a:ext>
            </a:extLst>
          </p:cNvPr>
          <p:cNvSpPr txBox="1"/>
          <p:nvPr/>
        </p:nvSpPr>
        <p:spPr>
          <a:xfrm>
            <a:off x="290935" y="5772152"/>
            <a:ext cx="3325101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On input m from Pi: leaks (</a:t>
            </a:r>
            <a:r>
              <a:rPr lang="en-US" dirty="0" err="1"/>
              <a:t>i</a:t>
            </a:r>
            <a:r>
              <a:rPr lang="en-US" dirty="0"/>
              <a:t>, m)</a:t>
            </a:r>
          </a:p>
        </p:txBody>
      </p:sp>
    </p:spTree>
    <p:extLst>
      <p:ext uri="{BB962C8B-B14F-4D97-AF65-F5344CB8AC3E}">
        <p14:creationId xmlns:p14="http://schemas.microsoft.com/office/powerpoint/2010/main" val="3653872313"/>
      </p:ext>
    </p:extLst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9744EAF0-CCAA-67EB-4DA4-FBB965D9DDFB}"/>
              </a:ext>
            </a:extLst>
          </p:cNvPr>
          <p:cNvSpPr txBox="1"/>
          <p:nvPr/>
        </p:nvSpPr>
        <p:spPr>
          <a:xfrm>
            <a:off x="152712" y="598252"/>
            <a:ext cx="11500571" cy="10156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6000" dirty="0">
                <a:latin typeface="Chalk Board" panose="02000500000000000000" pitchFamily="2" charset="0"/>
              </a:rPr>
              <a:t>Secure Synchronous Communication and Broadcast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43CC0C2-9E04-15F2-A39F-AA4A8499998C}"/>
              </a:ext>
            </a:extLst>
          </p:cNvPr>
          <p:cNvSpPr txBox="1"/>
          <p:nvPr/>
        </p:nvSpPr>
        <p:spPr>
          <a:xfrm>
            <a:off x="549118" y="1876653"/>
            <a:ext cx="691247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dirty="0">
                <a:latin typeface="Chalk Board" panose="02000500000000000000" pitchFamily="2" charset="0"/>
              </a:rPr>
              <a:t>Ideal Functionality keeps track of three sets: A,  P, and C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6FB90007-D671-B3F5-6D82-D05C02F04357}"/>
              </a:ext>
            </a:extLst>
          </p:cNvPr>
          <p:cNvSpPr txBox="1"/>
          <p:nvPr/>
        </p:nvSpPr>
        <p:spPr>
          <a:xfrm>
            <a:off x="1388295" y="2601209"/>
            <a:ext cx="203113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Actively Corrupted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B11A3565-5232-A80F-A352-40902AD9AC23}"/>
              </a:ext>
            </a:extLst>
          </p:cNvPr>
          <p:cNvSpPr txBox="1"/>
          <p:nvPr/>
        </p:nvSpPr>
        <p:spPr>
          <a:xfrm>
            <a:off x="1248577" y="3114090"/>
            <a:ext cx="217085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Passively Corrupted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0C93B507-FC29-E83A-C253-A8F4D4958E32}"/>
              </a:ext>
            </a:extLst>
          </p:cNvPr>
          <p:cNvSpPr txBox="1"/>
          <p:nvPr/>
        </p:nvSpPr>
        <p:spPr>
          <a:xfrm>
            <a:off x="2209994" y="3619436"/>
            <a:ext cx="120943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Corrupted</a:t>
            </a:r>
          </a:p>
        </p:txBody>
      </p: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E87EA2BB-6285-5B7D-F67F-91C5A6FDEA27}"/>
              </a:ext>
            </a:extLst>
          </p:cNvPr>
          <p:cNvCxnSpPr>
            <a:cxnSpLocks/>
            <a:stCxn id="6" idx="3"/>
          </p:cNvCxnSpPr>
          <p:nvPr/>
        </p:nvCxnSpPr>
        <p:spPr>
          <a:xfrm>
            <a:off x="3419428" y="2785875"/>
            <a:ext cx="2587968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AC8C0973-850E-0636-CF0C-2762398FEC8F}"/>
              </a:ext>
            </a:extLst>
          </p:cNvPr>
          <p:cNvCxnSpPr>
            <a:cxnSpLocks/>
          </p:cNvCxnSpPr>
          <p:nvPr/>
        </p:nvCxnSpPr>
        <p:spPr>
          <a:xfrm>
            <a:off x="3419428" y="3298756"/>
            <a:ext cx="2981372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F3CBC638-CCF8-C3CE-8CA7-1BE177F475E4}"/>
              </a:ext>
            </a:extLst>
          </p:cNvPr>
          <p:cNvCxnSpPr>
            <a:cxnSpLocks/>
          </p:cNvCxnSpPr>
          <p:nvPr/>
        </p:nvCxnSpPr>
        <p:spPr>
          <a:xfrm>
            <a:off x="3419428" y="3799919"/>
            <a:ext cx="3842610" cy="1327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FAEFD011-AA51-ED7C-B6C8-E35057A13D9E}"/>
              </a:ext>
            </a:extLst>
          </p:cNvPr>
          <p:cNvCxnSpPr>
            <a:cxnSpLocks/>
          </p:cNvCxnSpPr>
          <p:nvPr/>
        </p:nvCxnSpPr>
        <p:spPr>
          <a:xfrm flipV="1">
            <a:off x="6007396" y="2339307"/>
            <a:ext cx="0" cy="446568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8C993022-CC0B-CB28-59BE-2F1259E7FA0A}"/>
              </a:ext>
            </a:extLst>
          </p:cNvPr>
          <p:cNvCxnSpPr>
            <a:cxnSpLocks/>
          </p:cNvCxnSpPr>
          <p:nvPr/>
        </p:nvCxnSpPr>
        <p:spPr>
          <a:xfrm flipV="1">
            <a:off x="6404344" y="2305628"/>
            <a:ext cx="0" cy="993128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1A65D2B2-F1E4-66C7-4D38-0BD213A20CA6}"/>
              </a:ext>
            </a:extLst>
          </p:cNvPr>
          <p:cNvCxnSpPr>
            <a:cxnSpLocks/>
          </p:cNvCxnSpPr>
          <p:nvPr/>
        </p:nvCxnSpPr>
        <p:spPr>
          <a:xfrm flipV="1">
            <a:off x="7262038" y="2339307"/>
            <a:ext cx="0" cy="1456013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TextBox 24">
            <a:extLst>
              <a:ext uri="{FF2B5EF4-FFF2-40B4-BE49-F238E27FC236}">
                <a16:creationId xmlns:a16="http://schemas.microsoft.com/office/drawing/2014/main" id="{EAF6340B-E31B-AF2F-1EA9-8A85856D386F}"/>
              </a:ext>
            </a:extLst>
          </p:cNvPr>
          <p:cNvSpPr txBox="1"/>
          <p:nvPr/>
        </p:nvSpPr>
        <p:spPr>
          <a:xfrm>
            <a:off x="467601" y="4671410"/>
            <a:ext cx="1723549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dirty="0">
                <a:latin typeface="Chalk Board" panose="02000500000000000000" pitchFamily="2" charset="0"/>
              </a:rPr>
              <a:t>Honest Inputs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29" name="TextBox 28">
                <a:extLst>
                  <a:ext uri="{FF2B5EF4-FFF2-40B4-BE49-F238E27FC236}">
                    <a16:creationId xmlns:a16="http://schemas.microsoft.com/office/drawing/2014/main" id="{A1D68927-2DB5-2302-60C8-7B05878BF17D}"/>
                  </a:ext>
                </a:extLst>
              </p:cNvPr>
              <p:cNvSpPr txBox="1"/>
              <p:nvPr/>
            </p:nvSpPr>
            <p:spPr>
              <a:xfrm>
                <a:off x="5468243" y="4659157"/>
                <a:ext cx="1603772" cy="28918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𝑚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,1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, …, </m:t>
                      </m:r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𝑚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, </m:t>
                      </m:r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𝑚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29" name="TextBox 28">
                <a:extLst>
                  <a:ext uri="{FF2B5EF4-FFF2-40B4-BE49-F238E27FC236}">
                    <a16:creationId xmlns:a16="http://schemas.microsoft.com/office/drawing/2014/main" id="{A1D68927-2DB5-2302-60C8-7B05878BF17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468243" y="4659157"/>
                <a:ext cx="1603772" cy="289182"/>
              </a:xfrm>
              <a:prstGeom prst="rect">
                <a:avLst/>
              </a:prstGeom>
              <a:blipFill>
                <a:blip r:embed="rId2"/>
                <a:stretch>
                  <a:fillRect l="-1575" r="-787" b="-125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30" name="TextBox 29">
                <a:extLst>
                  <a:ext uri="{FF2B5EF4-FFF2-40B4-BE49-F238E27FC236}">
                    <a16:creationId xmlns:a16="http://schemas.microsoft.com/office/drawing/2014/main" id="{97596192-6FBE-0C42-0BA7-7B6038238DD3}"/>
                  </a:ext>
                </a:extLst>
              </p:cNvPr>
              <p:cNvSpPr txBox="1"/>
              <p:nvPr/>
            </p:nvSpPr>
            <p:spPr>
              <a:xfrm>
                <a:off x="1886761" y="5144202"/>
                <a:ext cx="869277" cy="59856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36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3600" b="0" i="1" smtClean="0">
                              <a:latin typeface="Cambria Math" panose="02040503050406030204" pitchFamily="18" charset="0"/>
                            </a:rPr>
                            <m:t>𝑚</m:t>
                          </m:r>
                        </m:e>
                        <m:sub>
                          <m:r>
                            <a:rPr lang="en-US" sz="3600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sz="3600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3600" b="0" i="1" smtClean="0">
                              <a:latin typeface="Cambria Math" panose="02040503050406030204" pitchFamily="18" charset="0"/>
                            </a:rPr>
                            <m:t>𝑗</m:t>
                          </m:r>
                        </m:sub>
                      </m:sSub>
                    </m:oMath>
                  </m:oMathPara>
                </a14:m>
                <a:endParaRPr lang="en-US" sz="3600" dirty="0"/>
              </a:p>
            </p:txBody>
          </p:sp>
        </mc:Choice>
        <mc:Fallback>
          <p:sp>
            <p:nvSpPr>
              <p:cNvPr id="30" name="TextBox 29">
                <a:extLst>
                  <a:ext uri="{FF2B5EF4-FFF2-40B4-BE49-F238E27FC236}">
                    <a16:creationId xmlns:a16="http://schemas.microsoft.com/office/drawing/2014/main" id="{97596192-6FBE-0C42-0BA7-7B6038238DD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886761" y="5144202"/>
                <a:ext cx="869277" cy="598562"/>
              </a:xfrm>
              <a:prstGeom prst="rect">
                <a:avLst/>
              </a:prstGeom>
              <a:blipFill>
                <a:blip r:embed="rId3"/>
                <a:stretch>
                  <a:fillRect l="-5797" r="-8696" b="-2291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32" name="Straight Arrow Connector 31">
            <a:extLst>
              <a:ext uri="{FF2B5EF4-FFF2-40B4-BE49-F238E27FC236}">
                <a16:creationId xmlns:a16="http://schemas.microsoft.com/office/drawing/2014/main" id="{3601B2D2-30D7-9A40-9B66-5AC6F1B9763C}"/>
              </a:ext>
            </a:extLst>
          </p:cNvPr>
          <p:cNvCxnSpPr>
            <a:cxnSpLocks/>
          </p:cNvCxnSpPr>
          <p:nvPr/>
        </p:nvCxnSpPr>
        <p:spPr>
          <a:xfrm flipV="1">
            <a:off x="2756038" y="5455778"/>
            <a:ext cx="855921" cy="6917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34" name="TextBox 33">
                <a:extLst>
                  <a:ext uri="{FF2B5EF4-FFF2-40B4-BE49-F238E27FC236}">
                    <a16:creationId xmlns:a16="http://schemas.microsoft.com/office/drawing/2014/main" id="{A63A3A97-3389-7C7E-0A7C-A1E73956FD08}"/>
                  </a:ext>
                </a:extLst>
              </p:cNvPr>
              <p:cNvSpPr txBox="1"/>
              <p:nvPr/>
            </p:nvSpPr>
            <p:spPr>
              <a:xfrm>
                <a:off x="1914403" y="5944150"/>
                <a:ext cx="630173" cy="553998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36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3600" b="0" i="1" smtClean="0">
                              <a:latin typeface="Cambria Math" panose="02040503050406030204" pitchFamily="18" charset="0"/>
                            </a:rPr>
                            <m:t>𝑚</m:t>
                          </m:r>
                        </m:e>
                        <m:sub>
                          <m:r>
                            <a:rPr lang="en-US" sz="3600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</m:oMath>
                  </m:oMathPara>
                </a14:m>
                <a:endParaRPr lang="en-US" sz="3600" dirty="0"/>
              </a:p>
            </p:txBody>
          </p:sp>
        </mc:Choice>
        <mc:Fallback>
          <p:sp>
            <p:nvSpPr>
              <p:cNvPr id="34" name="TextBox 33">
                <a:extLst>
                  <a:ext uri="{FF2B5EF4-FFF2-40B4-BE49-F238E27FC236}">
                    <a16:creationId xmlns:a16="http://schemas.microsoft.com/office/drawing/2014/main" id="{A63A3A97-3389-7C7E-0A7C-A1E73956FD0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914403" y="5944150"/>
                <a:ext cx="630173" cy="553998"/>
              </a:xfrm>
              <a:prstGeom prst="rect">
                <a:avLst/>
              </a:prstGeom>
              <a:blipFill>
                <a:blip r:embed="rId4"/>
                <a:stretch>
                  <a:fillRect l="-9804" r="-5882" b="-1363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35" name="Straight Arrow Connector 34">
            <a:extLst>
              <a:ext uri="{FF2B5EF4-FFF2-40B4-BE49-F238E27FC236}">
                <a16:creationId xmlns:a16="http://schemas.microsoft.com/office/drawing/2014/main" id="{DFD59DD8-8027-ED3C-EA72-8EAB78CFF5F2}"/>
              </a:ext>
            </a:extLst>
          </p:cNvPr>
          <p:cNvCxnSpPr>
            <a:cxnSpLocks/>
          </p:cNvCxnSpPr>
          <p:nvPr/>
        </p:nvCxnSpPr>
        <p:spPr>
          <a:xfrm flipV="1">
            <a:off x="2756038" y="6231019"/>
            <a:ext cx="855921" cy="114219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TextBox 35">
            <a:extLst>
              <a:ext uri="{FF2B5EF4-FFF2-40B4-BE49-F238E27FC236}">
                <a16:creationId xmlns:a16="http://schemas.microsoft.com/office/drawing/2014/main" id="{C4066A54-39D7-D004-6EA6-CB64FB26600B}"/>
              </a:ext>
            </a:extLst>
          </p:cNvPr>
          <p:cNvSpPr txBox="1"/>
          <p:nvPr/>
        </p:nvSpPr>
        <p:spPr>
          <a:xfrm>
            <a:off x="3700440" y="6046353"/>
            <a:ext cx="148944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The message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7" name="TextBox 36">
                <a:extLst>
                  <a:ext uri="{FF2B5EF4-FFF2-40B4-BE49-F238E27FC236}">
                    <a16:creationId xmlns:a16="http://schemas.microsoft.com/office/drawing/2014/main" id="{CD6543CA-5798-24D4-15DE-8F236C617882}"/>
                  </a:ext>
                </a:extLst>
              </p:cNvPr>
              <p:cNvSpPr txBox="1"/>
              <p:nvPr/>
            </p:nvSpPr>
            <p:spPr>
              <a:xfrm>
                <a:off x="5078389" y="6092519"/>
                <a:ext cx="361284" cy="276999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37" name="TextBox 36">
                <a:extLst>
                  <a:ext uri="{FF2B5EF4-FFF2-40B4-BE49-F238E27FC236}">
                    <a16:creationId xmlns:a16="http://schemas.microsoft.com/office/drawing/2014/main" id="{CD6543CA-5798-24D4-15DE-8F236C61788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078389" y="6092519"/>
                <a:ext cx="361284" cy="276999"/>
              </a:xfrm>
              <a:prstGeom prst="rect">
                <a:avLst/>
              </a:prstGeom>
              <a:blipFill>
                <a:blip r:embed="rId5"/>
                <a:stretch>
                  <a:fillRect b="-1304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8" name="TextBox 37">
            <a:extLst>
              <a:ext uri="{FF2B5EF4-FFF2-40B4-BE49-F238E27FC236}">
                <a16:creationId xmlns:a16="http://schemas.microsoft.com/office/drawing/2014/main" id="{5777DA5B-65E0-AEFE-1C12-6E34B154A7F7}"/>
              </a:ext>
            </a:extLst>
          </p:cNvPr>
          <p:cNvSpPr txBox="1"/>
          <p:nvPr/>
        </p:nvSpPr>
        <p:spPr>
          <a:xfrm>
            <a:off x="5354501" y="6046353"/>
            <a:ext cx="170489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is broadcasting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4CB0B0A7-7790-63EE-DA71-468642C2D14D}"/>
              </a:ext>
            </a:extLst>
          </p:cNvPr>
          <p:cNvSpPr txBox="1"/>
          <p:nvPr/>
        </p:nvSpPr>
        <p:spPr>
          <a:xfrm>
            <a:off x="3700440" y="5294115"/>
            <a:ext cx="148944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The message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40" name="TextBox 39">
                <a:extLst>
                  <a:ext uri="{FF2B5EF4-FFF2-40B4-BE49-F238E27FC236}">
                    <a16:creationId xmlns:a16="http://schemas.microsoft.com/office/drawing/2014/main" id="{75CCA9E1-B398-29AA-9432-8D6CE7EDB19D}"/>
                  </a:ext>
                </a:extLst>
              </p:cNvPr>
              <p:cNvSpPr txBox="1"/>
              <p:nvPr/>
            </p:nvSpPr>
            <p:spPr>
              <a:xfrm>
                <a:off x="5078389" y="5340281"/>
                <a:ext cx="361284" cy="276999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40" name="TextBox 39">
                <a:extLst>
                  <a:ext uri="{FF2B5EF4-FFF2-40B4-BE49-F238E27FC236}">
                    <a16:creationId xmlns:a16="http://schemas.microsoft.com/office/drawing/2014/main" id="{75CCA9E1-B398-29AA-9432-8D6CE7EDB19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078389" y="5340281"/>
                <a:ext cx="361284" cy="276999"/>
              </a:xfrm>
              <a:prstGeom prst="rect">
                <a:avLst/>
              </a:prstGeom>
              <a:blipFill>
                <a:blip r:embed="rId6"/>
                <a:stretch>
                  <a:fillRect b="-1304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1" name="TextBox 40">
            <a:extLst>
              <a:ext uri="{FF2B5EF4-FFF2-40B4-BE49-F238E27FC236}">
                <a16:creationId xmlns:a16="http://schemas.microsoft.com/office/drawing/2014/main" id="{D6D941B3-BAB4-0165-AE8D-012F6D072506}"/>
              </a:ext>
            </a:extLst>
          </p:cNvPr>
          <p:cNvSpPr txBox="1"/>
          <p:nvPr/>
        </p:nvSpPr>
        <p:spPr>
          <a:xfrm>
            <a:off x="5354501" y="5294115"/>
            <a:ext cx="113569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is send to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42" name="TextBox 41">
                <a:extLst>
                  <a:ext uri="{FF2B5EF4-FFF2-40B4-BE49-F238E27FC236}">
                    <a16:creationId xmlns:a16="http://schemas.microsoft.com/office/drawing/2014/main" id="{431AE272-8E0D-3C8D-D796-DC97841A5B2F}"/>
                  </a:ext>
                </a:extLst>
              </p:cNvPr>
              <p:cNvSpPr txBox="1"/>
              <p:nvPr/>
            </p:nvSpPr>
            <p:spPr>
              <a:xfrm>
                <a:off x="6456338" y="5321332"/>
                <a:ext cx="361284" cy="299313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𝑗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42" name="TextBox 41">
                <a:extLst>
                  <a:ext uri="{FF2B5EF4-FFF2-40B4-BE49-F238E27FC236}">
                    <a16:creationId xmlns:a16="http://schemas.microsoft.com/office/drawing/2014/main" id="{431AE272-8E0D-3C8D-D796-DC97841A5B2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456338" y="5321332"/>
                <a:ext cx="361284" cy="299313"/>
              </a:xfrm>
              <a:prstGeom prst="rect">
                <a:avLst/>
              </a:prstGeom>
              <a:blipFill>
                <a:blip r:embed="rId7"/>
                <a:stretch>
                  <a:fillRect b="-25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5" name="TextBox 44">
            <a:extLst>
              <a:ext uri="{FF2B5EF4-FFF2-40B4-BE49-F238E27FC236}">
                <a16:creationId xmlns:a16="http://schemas.microsoft.com/office/drawing/2014/main" id="{52C7E3C3-0614-6F80-0F85-CFB4C1E88733}"/>
              </a:ext>
            </a:extLst>
          </p:cNvPr>
          <p:cNvSpPr txBox="1"/>
          <p:nvPr/>
        </p:nvSpPr>
        <p:spPr>
          <a:xfrm>
            <a:off x="7723428" y="4302078"/>
            <a:ext cx="370543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What will be the output on </a:t>
            </a:r>
            <a:r>
              <a:rPr lang="en-US" dirty="0" err="1"/>
              <a:t>SC.leak</a:t>
            </a:r>
            <a:r>
              <a:rPr lang="en-US" dirty="0"/>
              <a:t>?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46" name="TextBox 45">
                <a:extLst>
                  <a:ext uri="{FF2B5EF4-FFF2-40B4-BE49-F238E27FC236}">
                    <a16:creationId xmlns:a16="http://schemas.microsoft.com/office/drawing/2014/main" id="{51654AED-52D3-2A49-F930-BD89F5810822}"/>
                  </a:ext>
                </a:extLst>
              </p:cNvPr>
              <p:cNvSpPr txBox="1"/>
              <p:nvPr/>
            </p:nvSpPr>
            <p:spPr>
              <a:xfrm>
                <a:off x="9576147" y="4693804"/>
                <a:ext cx="1242135" cy="299313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lit/>
                        </m:rPr>
                        <a:rPr lang="en-US" b="0" i="1" smtClean="0">
                          <a:latin typeface="Cambria Math" panose="02040503050406030204" pitchFamily="18" charset="0"/>
                        </a:rPr>
                        <m:t>{</m:t>
                      </m:r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𝑚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𝑗</m:t>
                          </m:r>
                        </m:sub>
                      </m:sSub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lit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}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𝑗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∈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𝐶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 </m:t>
                      </m:r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𝑚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46" name="TextBox 45">
                <a:extLst>
                  <a:ext uri="{FF2B5EF4-FFF2-40B4-BE49-F238E27FC236}">
                    <a16:creationId xmlns:a16="http://schemas.microsoft.com/office/drawing/2014/main" id="{51654AED-52D3-2A49-F930-BD89F581082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576147" y="4693804"/>
                <a:ext cx="1242135" cy="299313"/>
              </a:xfrm>
              <a:prstGeom prst="rect">
                <a:avLst/>
              </a:prstGeom>
              <a:blipFill>
                <a:blip r:embed="rId8"/>
                <a:stretch>
                  <a:fillRect l="-7071" t="-8000" b="-24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7" name="TextBox 46">
            <a:extLst>
              <a:ext uri="{FF2B5EF4-FFF2-40B4-BE49-F238E27FC236}">
                <a16:creationId xmlns:a16="http://schemas.microsoft.com/office/drawing/2014/main" id="{05C3CCFD-89B2-C3A5-498D-1B2FD5C3FBA7}"/>
              </a:ext>
            </a:extLst>
          </p:cNvPr>
          <p:cNvSpPr txBox="1"/>
          <p:nvPr/>
        </p:nvSpPr>
        <p:spPr>
          <a:xfrm>
            <a:off x="2209994" y="4619082"/>
            <a:ext cx="235789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Parse the message 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48" name="TextBox 47">
                <a:extLst>
                  <a:ext uri="{FF2B5EF4-FFF2-40B4-BE49-F238E27FC236}">
                    <a16:creationId xmlns:a16="http://schemas.microsoft.com/office/drawing/2014/main" id="{D8F65144-2AEF-274A-C6DB-63277B25656A}"/>
                  </a:ext>
                </a:extLst>
              </p:cNvPr>
              <p:cNvSpPr txBox="1"/>
              <p:nvPr/>
            </p:nvSpPr>
            <p:spPr>
              <a:xfrm>
                <a:off x="4574358" y="4675148"/>
                <a:ext cx="752514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𝑆𝐶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.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𝑖</m:t>
                      </m:r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: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48" name="TextBox 47">
                <a:extLst>
                  <a:ext uri="{FF2B5EF4-FFF2-40B4-BE49-F238E27FC236}">
                    <a16:creationId xmlns:a16="http://schemas.microsoft.com/office/drawing/2014/main" id="{D8F65144-2AEF-274A-C6DB-63277B25656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574358" y="4675148"/>
                <a:ext cx="752514" cy="276999"/>
              </a:xfrm>
              <a:prstGeom prst="rect">
                <a:avLst/>
              </a:prstGeom>
              <a:blipFill>
                <a:blip r:embed="rId9"/>
                <a:stretch>
                  <a:fillRect l="-6667" r="-3333" b="-1818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19919870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7" fill="hold">
                      <p:stCondLst>
                        <p:cond delay="indefinite"/>
                      </p:stCondLst>
                      <p:childTnLst>
                        <p:par>
                          <p:cTn id="68" fill="hold">
                            <p:stCondLst>
                              <p:cond delay="0"/>
                            </p:stCondLst>
                            <p:childTnLst>
                              <p:par>
                                <p:cTn id="6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  <p:bldP spid="7" grpId="0"/>
      <p:bldP spid="8" grpId="0"/>
      <p:bldP spid="29" grpId="0"/>
      <p:bldP spid="30" grpId="0"/>
      <p:bldP spid="34" grpId="0"/>
      <p:bldP spid="36" grpId="0"/>
      <p:bldP spid="37" grpId="0"/>
      <p:bldP spid="38" grpId="0"/>
      <p:bldP spid="39" grpId="0"/>
      <p:bldP spid="40" grpId="0"/>
      <p:bldP spid="41" grpId="0"/>
      <p:bldP spid="42" grpId="0"/>
      <p:bldP spid="45" grpId="0"/>
      <p:bldP spid="46" grpId="0"/>
      <p:bldP spid="47" grpId="0"/>
      <p:bldP spid="48" grpId="0"/>
    </p:bldLst>
  </p:timing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EA099BD-E558-0EEB-45C3-63145495CD2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127EB5AB-738F-75BF-8DA6-73D8208575B4}"/>
              </a:ext>
            </a:extLst>
          </p:cNvPr>
          <p:cNvSpPr txBox="1"/>
          <p:nvPr/>
        </p:nvSpPr>
        <p:spPr>
          <a:xfrm>
            <a:off x="152712" y="598252"/>
            <a:ext cx="11500571" cy="10156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6000" dirty="0">
                <a:latin typeface="Chalk Board" panose="02000500000000000000" pitchFamily="2" charset="0"/>
              </a:rPr>
              <a:t>Secure Synchronous Communication and Broadcast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7C0605DF-7D0D-C10E-28AC-B3C0196ED0F7}"/>
              </a:ext>
            </a:extLst>
          </p:cNvPr>
          <p:cNvSpPr txBox="1"/>
          <p:nvPr/>
        </p:nvSpPr>
        <p:spPr>
          <a:xfrm>
            <a:off x="450733" y="2276697"/>
            <a:ext cx="209384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dirty="0">
                <a:latin typeface="Chalk Board" panose="02000500000000000000" pitchFamily="2" charset="0"/>
              </a:rPr>
              <a:t>Corrupted Inputs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29" name="TextBox 28">
                <a:extLst>
                  <a:ext uri="{FF2B5EF4-FFF2-40B4-BE49-F238E27FC236}">
                    <a16:creationId xmlns:a16="http://schemas.microsoft.com/office/drawing/2014/main" id="{D93B0C28-8FED-5C4A-34D3-67E13A553BC7}"/>
                  </a:ext>
                </a:extLst>
              </p:cNvPr>
              <p:cNvSpPr txBox="1"/>
              <p:nvPr/>
            </p:nvSpPr>
            <p:spPr>
              <a:xfrm>
                <a:off x="3100636" y="2344734"/>
                <a:ext cx="3385350" cy="33086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 xmlns:m="http://schemas.openxmlformats.org/officeDocument/2006/math">
                    <m:r>
                      <m:rPr>
                        <m:nor/>
                      </m:rPr>
                      <a:rPr lang="en-US" b="0" i="0" smtClean="0">
                        <a:latin typeface="American Typewriter" panose="02090604020004020304" pitchFamily="18" charset="77"/>
                      </a:rPr>
                      <m:t>(</m:t>
                    </m:r>
                    <m:r>
                      <m:rPr>
                        <m:nor/>
                      </m:rPr>
                      <a:rPr lang="en-US" b="0" i="0" smtClean="0">
                        <a:latin typeface="American Typewriter" panose="02090604020004020304" pitchFamily="18" charset="77"/>
                      </a:rPr>
                      <m:t>change</m:t>
                    </m:r>
                    <m:r>
                      <m:rPr>
                        <m:nor/>
                      </m:rPr>
                      <a:rPr lang="en-US" b="0" i="0" smtClean="0">
                        <a:latin typeface="American Typewriter" panose="02090604020004020304" pitchFamily="18" charset="77"/>
                      </a:rPr>
                      <m:t>, </m:t>
                    </m:r>
                    <m:r>
                      <m:rPr>
                        <m:nor/>
                      </m:rPr>
                      <a:rPr lang="en-US" b="0" i="0" smtClean="0">
                        <a:latin typeface="American Typewriter" panose="02090604020004020304" pitchFamily="18" charset="77"/>
                      </a:rPr>
                      <m:t>i</m:t>
                    </m:r>
                    <m:r>
                      <m:rPr>
                        <m:nor/>
                      </m:rPr>
                      <a:rPr lang="en-US" b="0" i="0" smtClean="0">
                        <a:latin typeface="American Typewriter" panose="02090604020004020304" pitchFamily="18" charset="77"/>
                      </a:rPr>
                      <m:t>, (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nor/>
                          </m:rPr>
                          <a:rPr lang="en-US" b="0" i="0" smtClean="0">
                            <a:latin typeface="American Typewriter" panose="02090604020004020304" pitchFamily="18" charset="77"/>
                          </a:rPr>
                          <m:t>m</m:t>
                        </m:r>
                      </m:e>
                      <m:sub>
                        <m:r>
                          <m:rPr>
                            <m:nor/>
                          </m:rPr>
                          <a:rPr lang="en-US" b="0" i="0" smtClean="0">
                            <a:latin typeface="American Typewriter" panose="02090604020004020304" pitchFamily="18" charset="77"/>
                          </a:rPr>
                          <m:t>i</m:t>
                        </m:r>
                        <m:r>
                          <m:rPr>
                            <m:nor/>
                          </m:rPr>
                          <a:rPr lang="en-US" b="0" i="0" smtClean="0">
                            <a:latin typeface="American Typewriter" panose="02090604020004020304" pitchFamily="18" charset="77"/>
                          </a:rPr>
                          <m:t>,1</m:t>
                        </m:r>
                      </m:sub>
                    </m:sSub>
                    <m:r>
                      <m:rPr>
                        <m:nor/>
                      </m:rPr>
                      <a:rPr lang="en-US" b="0" i="0" smtClean="0">
                        <a:latin typeface="American Typewriter" panose="02090604020004020304" pitchFamily="18" charset="77"/>
                      </a:rPr>
                      <m:t>, …, 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nor/>
                          </m:rPr>
                          <a:rPr lang="en-US" b="0" i="0" smtClean="0">
                            <a:latin typeface="American Typewriter" panose="02090604020004020304" pitchFamily="18" charset="77"/>
                          </a:rPr>
                          <m:t>m</m:t>
                        </m:r>
                      </m:e>
                      <m:sub>
                        <m:r>
                          <m:rPr>
                            <m:nor/>
                          </m:rPr>
                          <a:rPr lang="en-US" b="0" i="0" smtClean="0">
                            <a:latin typeface="American Typewriter" panose="02090604020004020304" pitchFamily="18" charset="77"/>
                          </a:rPr>
                          <m:t>i</m:t>
                        </m:r>
                        <m:r>
                          <m:rPr>
                            <m:nor/>
                          </m:rPr>
                          <a:rPr lang="en-US" b="0" i="0" smtClean="0">
                            <a:latin typeface="American Typewriter" panose="02090604020004020304" pitchFamily="18" charset="77"/>
                          </a:rPr>
                          <m:t>,</m:t>
                        </m:r>
                        <m:r>
                          <m:rPr>
                            <m:nor/>
                          </m:rPr>
                          <a:rPr lang="en-US" b="0" i="0" smtClean="0">
                            <a:latin typeface="American Typewriter" panose="02090604020004020304" pitchFamily="18" charset="77"/>
                          </a:rPr>
                          <m:t>n</m:t>
                        </m:r>
                      </m:sub>
                    </m:sSub>
                    <m:r>
                      <m:rPr>
                        <m:nor/>
                      </m:rPr>
                      <a:rPr lang="en-US" b="0" i="0" smtClean="0">
                        <a:latin typeface="American Typewriter" panose="02090604020004020304" pitchFamily="18" charset="77"/>
                      </a:rPr>
                      <m:t>, 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nor/>
                          </m:rPr>
                          <a:rPr lang="en-US" b="0" i="0" smtClean="0">
                            <a:latin typeface="American Typewriter" panose="02090604020004020304" pitchFamily="18" charset="77"/>
                          </a:rPr>
                          <m:t>m</m:t>
                        </m:r>
                      </m:e>
                      <m:sub>
                        <m:r>
                          <m:rPr>
                            <m:nor/>
                          </m:rPr>
                          <a:rPr lang="en-US" b="0" i="0" smtClean="0">
                            <a:latin typeface="American Typewriter" panose="02090604020004020304" pitchFamily="18" charset="77"/>
                          </a:rPr>
                          <m:t>i</m:t>
                        </m:r>
                      </m:sub>
                    </m:sSub>
                    <m:r>
                      <m:rPr>
                        <m:nor/>
                      </m:rPr>
                      <a:rPr lang="en-US" b="0" i="0" smtClean="0">
                        <a:latin typeface="American Typewriter" panose="02090604020004020304" pitchFamily="18" charset="77"/>
                      </a:rPr>
                      <m:t>)</m:t>
                    </m:r>
                  </m:oMath>
                </a14:m>
                <a:r>
                  <a:rPr lang="en-US" dirty="0">
                    <a:latin typeface="American Typewriter" panose="02090604020004020304" pitchFamily="18" charset="77"/>
                  </a:rPr>
                  <a:t>)</a:t>
                </a:r>
              </a:p>
            </p:txBody>
          </p:sp>
        </mc:Choice>
        <mc:Fallback>
          <p:sp>
            <p:nvSpPr>
              <p:cNvPr id="29" name="TextBox 28">
                <a:extLst>
                  <a:ext uri="{FF2B5EF4-FFF2-40B4-BE49-F238E27FC236}">
                    <a16:creationId xmlns:a16="http://schemas.microsoft.com/office/drawing/2014/main" id="{D93B0C28-8FED-5C4A-34D3-67E13A553BC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100636" y="2344734"/>
                <a:ext cx="3385350" cy="330860"/>
              </a:xfrm>
              <a:prstGeom prst="rect">
                <a:avLst/>
              </a:prstGeom>
              <a:blipFill>
                <a:blip r:embed="rId2"/>
                <a:stretch>
                  <a:fillRect l="-3371" t="-18519" r="-3371" b="-2592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TextBox 2">
            <a:extLst>
              <a:ext uri="{FF2B5EF4-FFF2-40B4-BE49-F238E27FC236}">
                <a16:creationId xmlns:a16="http://schemas.microsoft.com/office/drawing/2014/main" id="{143D0D28-E576-2141-DB87-01331382B5DE}"/>
              </a:ext>
            </a:extLst>
          </p:cNvPr>
          <p:cNvSpPr txBox="1"/>
          <p:nvPr/>
        </p:nvSpPr>
        <p:spPr>
          <a:xfrm>
            <a:off x="509291" y="4764638"/>
            <a:ext cx="109837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dirty="0">
                <a:latin typeface="Chalk Board" panose="02000500000000000000" pitchFamily="2" charset="0"/>
              </a:rPr>
              <a:t>Delivery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0F7BDFA-D864-F1E9-81F8-FEFC28F60D9E}"/>
              </a:ext>
            </a:extLst>
          </p:cNvPr>
          <p:cNvSpPr txBox="1"/>
          <p:nvPr/>
        </p:nvSpPr>
        <p:spPr>
          <a:xfrm>
            <a:off x="2084813" y="4880569"/>
            <a:ext cx="325954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On input (</a:t>
            </a:r>
            <a:r>
              <a:rPr lang="en-US" dirty="0" err="1"/>
              <a:t>clockout</a:t>
            </a:r>
            <a:r>
              <a:rPr lang="en-US" dirty="0"/>
              <a:t>, </a:t>
            </a:r>
            <a:r>
              <a:rPr lang="en-US" dirty="0" err="1"/>
              <a:t>i</a:t>
            </a:r>
            <a:r>
              <a:rPr lang="en-US" dirty="0"/>
              <a:t>) on </a:t>
            </a:r>
            <a:r>
              <a:rPr lang="en-US" dirty="0" err="1"/>
              <a:t>SC.infl</a:t>
            </a:r>
            <a:endParaRPr lang="en-US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5FC2B555-1C89-DE49-D1B3-6E674CF31E1B}"/>
              </a:ext>
            </a:extLst>
          </p:cNvPr>
          <p:cNvSpPr txBox="1"/>
          <p:nvPr/>
        </p:nvSpPr>
        <p:spPr>
          <a:xfrm>
            <a:off x="2080483" y="5349413"/>
            <a:ext cx="305320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If there is any party for which 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D13F97FB-FCA9-42B8-6F34-82BFD0EDCAFF}"/>
                  </a:ext>
                </a:extLst>
              </p:cNvPr>
              <p:cNvSpPr txBox="1"/>
              <p:nvPr/>
            </p:nvSpPr>
            <p:spPr>
              <a:xfrm>
                <a:off x="5101111" y="5349413"/>
                <a:ext cx="1603772" cy="28918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𝑚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,1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, …, </m:t>
                      </m:r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𝑚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, </m:t>
                      </m:r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𝑚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D13F97FB-FCA9-42B8-6F34-82BFD0EDCAF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101111" y="5349413"/>
                <a:ext cx="1603772" cy="289182"/>
              </a:xfrm>
              <a:prstGeom prst="rect">
                <a:avLst/>
              </a:prstGeom>
              <a:blipFill>
                <a:blip r:embed="rId3"/>
                <a:stretch>
                  <a:fillRect l="-1575" r="-787" b="-833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2" name="TextBox 11">
            <a:extLst>
              <a:ext uri="{FF2B5EF4-FFF2-40B4-BE49-F238E27FC236}">
                <a16:creationId xmlns:a16="http://schemas.microsoft.com/office/drawing/2014/main" id="{DA47AB44-9F16-DA67-3148-68DEA0EE212A}"/>
              </a:ext>
            </a:extLst>
          </p:cNvPr>
          <p:cNvSpPr txBox="1"/>
          <p:nvPr/>
        </p:nvSpPr>
        <p:spPr>
          <a:xfrm>
            <a:off x="6704883" y="5349413"/>
            <a:ext cx="258590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is not stored, then store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2CE69A3B-1C91-73B7-63F0-5EA1D9E0E0C2}"/>
                  </a:ext>
                </a:extLst>
              </p:cNvPr>
              <p:cNvSpPr txBox="1"/>
              <p:nvPr/>
            </p:nvSpPr>
            <p:spPr>
              <a:xfrm>
                <a:off x="7168696" y="5810157"/>
                <a:ext cx="2519279" cy="28918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𝑚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,1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, …, </m:t>
                      </m:r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𝑚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, </m:t>
                      </m:r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𝑚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𝜖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, …, 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𝜖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2CE69A3B-1C91-73B7-63F0-5EA1D9E0E0C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168696" y="5810157"/>
                <a:ext cx="2519279" cy="289182"/>
              </a:xfrm>
              <a:prstGeom prst="rect">
                <a:avLst/>
              </a:prstGeom>
              <a:blipFill>
                <a:blip r:embed="rId4"/>
                <a:stretch>
                  <a:fillRect l="-1005" r="-1005" b="-833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99801247-254D-CE7E-F1CF-99D3735F7E22}"/>
                  </a:ext>
                </a:extLst>
              </p:cNvPr>
              <p:cNvSpPr txBox="1"/>
              <p:nvPr/>
            </p:nvSpPr>
            <p:spPr>
              <a:xfrm>
                <a:off x="2163195" y="6351536"/>
                <a:ext cx="3632148" cy="33086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nor/>
                            </m:rPr>
                            <a:rPr lang="en-US" b="0" i="0" smtClean="0">
                              <a:latin typeface="American Typewriter" panose="02090604020004020304" pitchFamily="18" charset="77"/>
                            </a:rPr>
                            <m:t>Then</m:t>
                          </m:r>
                          <m:r>
                            <m:rPr>
                              <m:nor/>
                            </m:rPr>
                            <a:rPr lang="en-US" b="0" i="0" smtClean="0">
                              <a:latin typeface="American Typewriter" panose="02090604020004020304" pitchFamily="18" charset="77"/>
                            </a:rPr>
                            <m:t>: (</m:t>
                          </m:r>
                          <m:r>
                            <m:rPr>
                              <m:nor/>
                            </m:rPr>
                            <a:rPr lang="en-US" b="0" i="0" smtClean="0">
                              <a:latin typeface="American Typewriter" panose="02090604020004020304" pitchFamily="18" charset="77"/>
                            </a:rPr>
                            <m:t>m</m:t>
                          </m:r>
                        </m:e>
                        <m:sub>
                          <m:r>
                            <m:rPr>
                              <m:nor/>
                            </m:rPr>
                            <a:rPr lang="en-US" b="0" i="0" smtClean="0">
                              <a:latin typeface="American Typewriter" panose="02090604020004020304" pitchFamily="18" charset="77"/>
                            </a:rPr>
                            <m:t>i</m:t>
                          </m:r>
                          <m:r>
                            <m:rPr>
                              <m:nor/>
                            </m:rPr>
                            <a:rPr lang="en-US" b="0" i="0" smtClean="0">
                              <a:latin typeface="American Typewriter" panose="02090604020004020304" pitchFamily="18" charset="77"/>
                            </a:rPr>
                            <m:t>,1</m:t>
                          </m:r>
                        </m:sub>
                      </m:sSub>
                      <m:r>
                        <m:rPr>
                          <m:nor/>
                        </m:rPr>
                        <a:rPr lang="en-US" b="0" i="0" smtClean="0">
                          <a:latin typeface="American Typewriter" panose="02090604020004020304" pitchFamily="18" charset="77"/>
                        </a:rPr>
                        <m:t>, …, </m:t>
                      </m:r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nor/>
                            </m:rPr>
                            <a:rPr lang="en-US" b="0" i="0" smtClean="0">
                              <a:latin typeface="American Typewriter" panose="02090604020004020304" pitchFamily="18" charset="77"/>
                            </a:rPr>
                            <m:t>m</m:t>
                          </m:r>
                        </m:e>
                        <m:sub>
                          <m:r>
                            <m:rPr>
                              <m:nor/>
                            </m:rPr>
                            <a:rPr lang="en-US" b="0" i="0" smtClean="0">
                              <a:latin typeface="American Typewriter" panose="02090604020004020304" pitchFamily="18" charset="77"/>
                            </a:rPr>
                            <m:t>i</m:t>
                          </m:r>
                          <m:r>
                            <m:rPr>
                              <m:nor/>
                            </m:rPr>
                            <a:rPr lang="en-US" b="0" i="0" smtClean="0">
                              <a:latin typeface="American Typewriter" panose="02090604020004020304" pitchFamily="18" charset="77"/>
                            </a:rPr>
                            <m:t>,</m:t>
                          </m:r>
                          <m:r>
                            <m:rPr>
                              <m:nor/>
                            </m:rPr>
                            <a:rPr lang="en-US" b="0" i="0" smtClean="0">
                              <a:latin typeface="American Typewriter" panose="02090604020004020304" pitchFamily="18" charset="77"/>
                            </a:rPr>
                            <m:t>n</m:t>
                          </m:r>
                        </m:sub>
                      </m:sSub>
                      <m:r>
                        <m:rPr>
                          <m:nor/>
                        </m:rPr>
                        <a:rPr lang="en-US" b="0" i="0" smtClean="0">
                          <a:latin typeface="American Typewriter" panose="02090604020004020304" pitchFamily="18" charset="77"/>
                        </a:rPr>
                        <m:t>, </m:t>
                      </m:r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nor/>
                            </m:rPr>
                            <a:rPr lang="en-US" b="0" i="0" smtClean="0">
                              <a:latin typeface="American Typewriter" panose="02090604020004020304" pitchFamily="18" charset="77"/>
                            </a:rPr>
                            <m:t>m</m:t>
                          </m:r>
                        </m:e>
                        <m:sub>
                          <m:r>
                            <m:rPr>
                              <m:nor/>
                            </m:rPr>
                            <a:rPr lang="en-US" b="0" i="0" smtClean="0">
                              <a:latin typeface="American Typewriter" panose="02090604020004020304" pitchFamily="18" charset="77"/>
                            </a:rPr>
                            <m:t>1</m:t>
                          </m:r>
                        </m:sub>
                      </m:sSub>
                      <m:r>
                        <m:rPr>
                          <m:nor/>
                        </m:rPr>
                        <a:rPr lang="en-US" b="0" i="0" smtClean="0">
                          <a:latin typeface="American Typewriter" panose="02090604020004020304" pitchFamily="18" charset="77"/>
                        </a:rPr>
                        <m:t>,…, </m:t>
                      </m:r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nor/>
                            </m:rPr>
                            <a:rPr lang="en-US" b="0" i="0" smtClean="0">
                              <a:latin typeface="American Typewriter" panose="02090604020004020304" pitchFamily="18" charset="77"/>
                            </a:rPr>
                            <m:t>m</m:t>
                          </m:r>
                        </m:e>
                        <m:sub>
                          <m:r>
                            <m:rPr>
                              <m:nor/>
                            </m:rPr>
                            <a:rPr lang="en-US" b="0" i="0" smtClean="0">
                              <a:latin typeface="American Typewriter" panose="02090604020004020304" pitchFamily="18" charset="77"/>
                            </a:rPr>
                            <m:t>n</m:t>
                          </m:r>
                        </m:sub>
                      </m:sSub>
                      <m:r>
                        <m:rPr>
                          <m:nor/>
                        </m:rPr>
                        <a:rPr lang="en-US" b="0" i="0" smtClean="0">
                          <a:latin typeface="American Typewriter" panose="02090604020004020304" pitchFamily="18" charset="77"/>
                        </a:rPr>
                        <m:t>)</m:t>
                      </m:r>
                    </m:oMath>
                  </m:oMathPara>
                </a14:m>
                <a:endParaRPr lang="en-US" dirty="0">
                  <a:latin typeface="American Typewriter" panose="02090604020004020304" pitchFamily="18" charset="77"/>
                </a:endParaRPr>
              </a:p>
            </p:txBody>
          </p:sp>
        </mc:Choice>
        <mc:Fallback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99801247-254D-CE7E-F1CF-99D3735F7E2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163195" y="6351536"/>
                <a:ext cx="3632148" cy="330860"/>
              </a:xfrm>
              <a:prstGeom prst="rect">
                <a:avLst/>
              </a:prstGeom>
              <a:blipFill>
                <a:blip r:embed="rId5"/>
                <a:stretch>
                  <a:fillRect l="-1045" t="-14815" r="-1742" b="-2592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8" name="TextBox 17">
            <a:extLst>
              <a:ext uri="{FF2B5EF4-FFF2-40B4-BE49-F238E27FC236}">
                <a16:creationId xmlns:a16="http://schemas.microsoft.com/office/drawing/2014/main" id="{5F4F00A6-C9A1-1F1F-6730-FCED4A02DDCC}"/>
              </a:ext>
            </a:extLst>
          </p:cNvPr>
          <p:cNvSpPr txBox="1"/>
          <p:nvPr/>
        </p:nvSpPr>
        <p:spPr>
          <a:xfrm>
            <a:off x="3078573" y="2665267"/>
            <a:ext cx="90069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where, 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DF68B963-F099-CF6C-6B33-A05B586ADE0D}"/>
                  </a:ext>
                </a:extLst>
              </p:cNvPr>
              <p:cNvSpPr txBox="1"/>
              <p:nvPr/>
            </p:nvSpPr>
            <p:spPr>
              <a:xfrm>
                <a:off x="3979269" y="2709479"/>
                <a:ext cx="445635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nor/>
                        </m:rPr>
                        <a:rPr lang="en-US" b="0" i="0" smtClean="0">
                          <a:latin typeface="American Typewriter" panose="02090604020004020304" pitchFamily="18" charset="77"/>
                        </a:rPr>
                        <m:t>i</m:t>
                      </m:r>
                      <m:r>
                        <m:rPr>
                          <m:nor/>
                        </m:rPr>
                        <a:rPr lang="en-US" b="0" i="0" smtClean="0">
                          <a:latin typeface="American Typewriter" panose="02090604020004020304" pitchFamily="18" charset="77"/>
                        </a:rPr>
                        <m:t>∈</m:t>
                      </m:r>
                      <m:r>
                        <m:rPr>
                          <m:nor/>
                        </m:rPr>
                        <a:rPr lang="en-US" b="0" i="0" smtClean="0">
                          <a:latin typeface="American Typewriter" panose="02090604020004020304" pitchFamily="18" charset="77"/>
                        </a:rPr>
                        <m:t>A</m:t>
                      </m:r>
                    </m:oMath>
                  </m:oMathPara>
                </a14:m>
                <a:endParaRPr lang="en-US" dirty="0">
                  <a:latin typeface="American Typewriter" panose="02090604020004020304" pitchFamily="18" charset="77"/>
                </a:endParaRPr>
              </a:p>
            </p:txBody>
          </p:sp>
        </mc:Choice>
        <mc:Fallback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DF68B963-F099-CF6C-6B33-A05B586ADE0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979269" y="2709479"/>
                <a:ext cx="445635" cy="276999"/>
              </a:xfrm>
              <a:prstGeom prst="rect">
                <a:avLst/>
              </a:prstGeom>
              <a:blipFill>
                <a:blip r:embed="rId6"/>
                <a:stretch>
                  <a:fillRect l="-11111" r="-11111" b="-434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2" name="TextBox 21">
            <a:extLst>
              <a:ext uri="{FF2B5EF4-FFF2-40B4-BE49-F238E27FC236}">
                <a16:creationId xmlns:a16="http://schemas.microsoft.com/office/drawing/2014/main" id="{DFD457E1-5163-8753-92E6-5DB7C24F3D5B}"/>
              </a:ext>
            </a:extLst>
          </p:cNvPr>
          <p:cNvSpPr txBox="1"/>
          <p:nvPr/>
        </p:nvSpPr>
        <p:spPr>
          <a:xfrm>
            <a:off x="4424904" y="2676806"/>
            <a:ext cx="614110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and at a point before which the clock-out phase has started, 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E3651208-24C7-29AE-A5EC-8AC74A812A1E}"/>
                  </a:ext>
                </a:extLst>
              </p:cNvPr>
              <p:cNvSpPr txBox="1"/>
              <p:nvPr/>
            </p:nvSpPr>
            <p:spPr>
              <a:xfrm>
                <a:off x="3714587" y="3133720"/>
                <a:ext cx="2333780" cy="33086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 xmlns:m="http://schemas.openxmlformats.org/officeDocument/2006/math">
                    <m:r>
                      <m:rPr>
                        <m:nor/>
                      </m:rPr>
                      <a:rPr lang="en-US" b="0" i="0" smtClean="0">
                        <a:latin typeface="American Typewriter" panose="02090604020004020304" pitchFamily="18" charset="77"/>
                      </a:rPr>
                      <m:t>((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nor/>
                          </m:rPr>
                          <a:rPr lang="en-US" b="0" i="0" smtClean="0">
                            <a:latin typeface="American Typewriter" panose="02090604020004020304" pitchFamily="18" charset="77"/>
                          </a:rPr>
                          <m:t>m</m:t>
                        </m:r>
                      </m:e>
                      <m:sub>
                        <m:r>
                          <m:rPr>
                            <m:nor/>
                          </m:rPr>
                          <a:rPr lang="en-US" b="0" i="0" smtClean="0">
                            <a:latin typeface="American Typewriter" panose="02090604020004020304" pitchFamily="18" charset="77"/>
                          </a:rPr>
                          <m:t>i</m:t>
                        </m:r>
                        <m:r>
                          <m:rPr>
                            <m:nor/>
                          </m:rPr>
                          <a:rPr lang="en-US" b="0" i="0" smtClean="0">
                            <a:latin typeface="American Typewriter" panose="02090604020004020304" pitchFamily="18" charset="77"/>
                          </a:rPr>
                          <m:t>,1</m:t>
                        </m:r>
                      </m:sub>
                    </m:sSub>
                    <m:r>
                      <m:rPr>
                        <m:nor/>
                      </m:rPr>
                      <a:rPr lang="en-US" b="0" i="0" smtClean="0">
                        <a:latin typeface="American Typewriter" panose="02090604020004020304" pitchFamily="18" charset="77"/>
                      </a:rPr>
                      <m:t>, …, 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nor/>
                          </m:rPr>
                          <a:rPr lang="en-US" b="0" i="0" smtClean="0">
                            <a:latin typeface="American Typewriter" panose="02090604020004020304" pitchFamily="18" charset="77"/>
                          </a:rPr>
                          <m:t>m</m:t>
                        </m:r>
                      </m:e>
                      <m:sub>
                        <m:r>
                          <m:rPr>
                            <m:nor/>
                          </m:rPr>
                          <a:rPr lang="en-US" b="0" i="0" smtClean="0">
                            <a:latin typeface="American Typewriter" panose="02090604020004020304" pitchFamily="18" charset="77"/>
                          </a:rPr>
                          <m:t>i</m:t>
                        </m:r>
                        <m:r>
                          <m:rPr>
                            <m:nor/>
                          </m:rPr>
                          <a:rPr lang="en-US" b="0" i="0" smtClean="0">
                            <a:latin typeface="American Typewriter" panose="02090604020004020304" pitchFamily="18" charset="77"/>
                          </a:rPr>
                          <m:t>,</m:t>
                        </m:r>
                        <m:r>
                          <m:rPr>
                            <m:nor/>
                          </m:rPr>
                          <a:rPr lang="en-US" b="0" i="0" smtClean="0">
                            <a:latin typeface="American Typewriter" panose="02090604020004020304" pitchFamily="18" charset="77"/>
                          </a:rPr>
                          <m:t>n</m:t>
                        </m:r>
                      </m:sub>
                    </m:sSub>
                    <m:r>
                      <m:rPr>
                        <m:nor/>
                      </m:rPr>
                      <a:rPr lang="en-US" b="0" i="0" smtClean="0">
                        <a:latin typeface="American Typewriter" panose="02090604020004020304" pitchFamily="18" charset="77"/>
                      </a:rPr>
                      <m:t>, 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nor/>
                          </m:rPr>
                          <a:rPr lang="en-US" b="0" i="0" smtClean="0">
                            <a:latin typeface="American Typewriter" panose="02090604020004020304" pitchFamily="18" charset="77"/>
                          </a:rPr>
                          <m:t>m</m:t>
                        </m:r>
                      </m:e>
                      <m:sub>
                        <m:r>
                          <m:rPr>
                            <m:nor/>
                          </m:rPr>
                          <a:rPr lang="en-US" b="0" i="0" smtClean="0">
                            <a:latin typeface="American Typewriter" panose="02090604020004020304" pitchFamily="18" charset="77"/>
                          </a:rPr>
                          <m:t>i</m:t>
                        </m:r>
                      </m:sub>
                    </m:sSub>
                    <m:r>
                      <m:rPr>
                        <m:nor/>
                      </m:rPr>
                      <a:rPr lang="en-US" b="0" i="0" smtClean="0">
                        <a:latin typeface="American Typewriter" panose="02090604020004020304" pitchFamily="18" charset="77"/>
                      </a:rPr>
                      <m:t>)</m:t>
                    </m:r>
                  </m:oMath>
                </a14:m>
                <a:r>
                  <a:rPr lang="en-US" dirty="0">
                    <a:latin typeface="American Typewriter" panose="02090604020004020304" pitchFamily="18" charset="77"/>
                  </a:rPr>
                  <a:t>)</a:t>
                </a:r>
              </a:p>
            </p:txBody>
          </p:sp>
        </mc:Choice>
        <mc:Fallback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E3651208-24C7-29AE-A5EC-8AC74A812A1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714587" y="3133720"/>
                <a:ext cx="2333780" cy="330860"/>
              </a:xfrm>
              <a:prstGeom prst="rect">
                <a:avLst/>
              </a:prstGeom>
              <a:blipFill>
                <a:blip r:embed="rId7"/>
                <a:stretch>
                  <a:fillRect l="-4865" t="-22222" r="-2703" b="-2592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6" name="TextBox 25">
            <a:extLst>
              <a:ext uri="{FF2B5EF4-FFF2-40B4-BE49-F238E27FC236}">
                <a16:creationId xmlns:a16="http://schemas.microsoft.com/office/drawing/2014/main" id="{35251E67-FCA2-D04F-A3CC-D620875FDB73}"/>
              </a:ext>
            </a:extLst>
          </p:cNvPr>
          <p:cNvSpPr txBox="1"/>
          <p:nvPr/>
        </p:nvSpPr>
        <p:spPr>
          <a:xfrm>
            <a:off x="3033856" y="3099396"/>
            <a:ext cx="71096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Store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9B83A364-006B-5A00-EACC-156F89ABC548}"/>
              </a:ext>
            </a:extLst>
          </p:cNvPr>
          <p:cNvSpPr txBox="1"/>
          <p:nvPr/>
        </p:nvSpPr>
        <p:spPr>
          <a:xfrm>
            <a:off x="3033855" y="3379735"/>
            <a:ext cx="77614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Overriding any previously stored input from the corrupted party </a:t>
            </a:r>
            <a:r>
              <a:rPr lang="en-US" dirty="0" err="1"/>
              <a:t>i</a:t>
            </a:r>
            <a:r>
              <a:rPr lang="en-US" dirty="0"/>
              <a:t> in this round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C165D5B5-803A-03BB-54A5-70F6ADBEBB8E}"/>
              </a:ext>
            </a:extLst>
          </p:cNvPr>
          <p:cNvSpPr txBox="1"/>
          <p:nvPr/>
        </p:nvSpPr>
        <p:spPr>
          <a:xfrm>
            <a:off x="3036139" y="3829217"/>
            <a:ext cx="7856977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i="1" dirty="0">
                <a:latin typeface="Chalk Board" panose="02000500000000000000" pitchFamily="2" charset="0"/>
              </a:rPr>
              <a:t>(As long as any passively corrupted or honest party has received outputs, actively corrupted parties can change their outputs)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1" name="TextBox 30">
                <a:extLst>
                  <a:ext uri="{FF2B5EF4-FFF2-40B4-BE49-F238E27FC236}">
                    <a16:creationId xmlns:a16="http://schemas.microsoft.com/office/drawing/2014/main" id="{074B15B8-097A-E33B-59D4-76A5AFE6812C}"/>
                  </a:ext>
                </a:extLst>
              </p:cNvPr>
              <p:cNvSpPr txBox="1"/>
              <p:nvPr/>
            </p:nvSpPr>
            <p:spPr>
              <a:xfrm>
                <a:off x="6266563" y="6336536"/>
                <a:ext cx="854336" cy="287643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nor/>
                        </m:rPr>
                        <a:rPr lang="en-US" b="0" i="0" smtClean="0">
                          <a:latin typeface="American Typewriter" panose="02090604020004020304" pitchFamily="18" charset="77"/>
                        </a:rPr>
                        <m:t>SC</m:t>
                      </m:r>
                      <m:r>
                        <m:rPr>
                          <m:nor/>
                        </m:rPr>
                        <a:rPr lang="en-US" b="0" i="0" smtClean="0">
                          <a:latin typeface="American Typewriter" panose="02090604020004020304" pitchFamily="18" charset="77"/>
                        </a:rPr>
                        <m:t>.</m:t>
                      </m:r>
                      <m:r>
                        <m:rPr>
                          <m:nor/>
                        </m:rPr>
                        <a:rPr lang="en-US" b="0" i="0" smtClean="0">
                          <a:latin typeface="American Typewriter" panose="02090604020004020304" pitchFamily="18" charset="77"/>
                        </a:rPr>
                        <m:t>ou</m:t>
                      </m:r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nor/>
                            </m:rPr>
                            <a:rPr lang="en-US" b="0" i="0" smtClean="0">
                              <a:latin typeface="American Typewriter" panose="02090604020004020304" pitchFamily="18" charset="77"/>
                            </a:rPr>
                            <m:t>t</m:t>
                          </m:r>
                        </m:e>
                        <m:sub>
                          <m:r>
                            <m:rPr>
                              <m:nor/>
                            </m:rPr>
                            <a:rPr lang="en-US" b="0" i="0" smtClean="0">
                              <a:latin typeface="American Typewriter" panose="02090604020004020304" pitchFamily="18" charset="77"/>
                            </a:rPr>
                            <m:t>i</m:t>
                          </m:r>
                        </m:sub>
                      </m:sSub>
                    </m:oMath>
                  </m:oMathPara>
                </a14:m>
                <a:endParaRPr lang="en-US" dirty="0">
                  <a:latin typeface="American Typewriter" panose="02090604020004020304" pitchFamily="18" charset="77"/>
                </a:endParaRPr>
              </a:p>
            </p:txBody>
          </p:sp>
        </mc:Choice>
        <mc:Fallback>
          <p:sp>
            <p:nvSpPr>
              <p:cNvPr id="31" name="TextBox 30">
                <a:extLst>
                  <a:ext uri="{FF2B5EF4-FFF2-40B4-BE49-F238E27FC236}">
                    <a16:creationId xmlns:a16="http://schemas.microsoft.com/office/drawing/2014/main" id="{074B15B8-097A-E33B-59D4-76A5AFE6812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266563" y="6336536"/>
                <a:ext cx="854336" cy="287643"/>
              </a:xfrm>
              <a:prstGeom prst="rect">
                <a:avLst/>
              </a:prstGeom>
              <a:blipFill>
                <a:blip r:embed="rId8"/>
                <a:stretch>
                  <a:fillRect l="-5882" r="-4412" b="-25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3" name="TextBox 32">
            <a:extLst>
              <a:ext uri="{FF2B5EF4-FFF2-40B4-BE49-F238E27FC236}">
                <a16:creationId xmlns:a16="http://schemas.microsoft.com/office/drawing/2014/main" id="{AD8B4BEB-6258-D25A-9385-981EAE107975}"/>
              </a:ext>
            </a:extLst>
          </p:cNvPr>
          <p:cNvSpPr txBox="1"/>
          <p:nvPr/>
        </p:nvSpPr>
        <p:spPr>
          <a:xfrm>
            <a:off x="5811983" y="6313064"/>
            <a:ext cx="4379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on</a:t>
            </a:r>
          </a:p>
        </p:txBody>
      </p:sp>
    </p:spTree>
    <p:extLst>
      <p:ext uri="{BB962C8B-B14F-4D97-AF65-F5344CB8AC3E}">
        <p14:creationId xmlns:p14="http://schemas.microsoft.com/office/powerpoint/2010/main" val="350792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" grpId="0"/>
      <p:bldP spid="4" grpId="0"/>
      <p:bldP spid="9" grpId="0"/>
      <p:bldP spid="11" grpId="0"/>
      <p:bldP spid="12" grpId="0"/>
      <p:bldP spid="14" grpId="0"/>
      <p:bldP spid="16" grpId="0"/>
      <p:bldP spid="18" grpId="0"/>
      <p:bldP spid="20" grpId="0"/>
      <p:bldP spid="22" grpId="0"/>
      <p:bldP spid="24" grpId="0"/>
      <p:bldP spid="26" grpId="0"/>
      <p:bldP spid="27" grpId="0"/>
      <p:bldP spid="28" grpId="0"/>
      <p:bldP spid="31" grpId="0"/>
      <p:bldP spid="33" grpId="0"/>
    </p:bldLst>
  </p:timing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0AA7CBDC-CBD0-A37D-4673-5D2F786E6EC2}"/>
              </a:ext>
            </a:extLst>
          </p:cNvPr>
          <p:cNvSpPr txBox="1"/>
          <p:nvPr/>
        </p:nvSpPr>
        <p:spPr>
          <a:xfrm>
            <a:off x="152712" y="598252"/>
            <a:ext cx="11500571" cy="10156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6000" dirty="0">
                <a:latin typeface="Chalk Board" panose="02000500000000000000" pitchFamily="2" charset="0"/>
              </a:rPr>
              <a:t>Secure Synchronous Function Evaluation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5CF561F6-E512-9F19-DAAB-F4652DF636A5}"/>
              </a:ext>
            </a:extLst>
          </p:cNvPr>
          <p:cNvSpPr txBox="1"/>
          <p:nvPr/>
        </p:nvSpPr>
        <p:spPr>
          <a:xfrm>
            <a:off x="473101" y="2205978"/>
            <a:ext cx="1572225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/>
              <a:t>Initialize: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06FB6D1-98A1-4542-BE5A-87689DC65BBE}"/>
              </a:ext>
            </a:extLst>
          </p:cNvPr>
          <p:cNvSpPr txBox="1"/>
          <p:nvPr/>
        </p:nvSpPr>
        <p:spPr>
          <a:xfrm>
            <a:off x="206592" y="3487844"/>
            <a:ext cx="165237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Honest Inputs: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543D04E6-9CBD-11C4-E12C-5E07AAD34B7C}"/>
              </a:ext>
            </a:extLst>
          </p:cNvPr>
          <p:cNvSpPr txBox="1"/>
          <p:nvPr/>
        </p:nvSpPr>
        <p:spPr>
          <a:xfrm>
            <a:off x="618350" y="2785334"/>
            <a:ext cx="184313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American Typewriter" panose="02090604020004020304" pitchFamily="18" charset="77"/>
              </a:rPr>
              <a:t>delivery-round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5678AEC8-5F0A-69F5-2388-DCDD15D21F01}"/>
              </a:ext>
            </a:extLst>
          </p:cNvPr>
          <p:cNvSpPr txBox="1"/>
          <p:nvPr/>
        </p:nvSpPr>
        <p:spPr>
          <a:xfrm>
            <a:off x="2461483" y="2785334"/>
            <a:ext cx="127150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American Typewriter" panose="02090604020004020304" pitchFamily="18" charset="77"/>
              </a:rPr>
              <a:t>evaluated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9B4602FA-9C0F-5FA5-80A7-B9C3343153EB}"/>
              </a:ext>
            </a:extLst>
          </p:cNvPr>
          <p:cNvSpPr txBox="1"/>
          <p:nvPr/>
        </p:nvSpPr>
        <p:spPr>
          <a:xfrm>
            <a:off x="3808580" y="2759812"/>
            <a:ext cx="159889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American Typewriter" panose="02090604020004020304" pitchFamily="18" charset="77"/>
              </a:rPr>
              <a:t>inputs-ready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93EBD483-090E-A60E-96C7-E629CF899294}"/>
                  </a:ext>
                </a:extLst>
              </p:cNvPr>
              <p:cNvSpPr txBox="1"/>
              <p:nvPr/>
            </p:nvSpPr>
            <p:spPr>
              <a:xfrm>
                <a:off x="5576118" y="2799598"/>
                <a:ext cx="3949671" cy="28975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nor/>
                        </m:rPr>
                        <a:rPr lang="en-US" b="0" i="0" smtClean="0">
                          <a:latin typeface="American Typewriter" panose="02090604020004020304" pitchFamily="18" charset="77"/>
                        </a:rPr>
                        <m:t>input</m:t>
                      </m:r>
                      <m:r>
                        <m:rPr>
                          <m:nor/>
                        </m:rPr>
                        <a:rPr lang="en-US" b="0" i="0" smtClean="0">
                          <a:latin typeface="American Typewriter" panose="02090604020004020304" pitchFamily="18" charset="77"/>
                        </a:rPr>
                        <m:t>-</m:t>
                      </m:r>
                      <m:r>
                        <m:rPr>
                          <m:nor/>
                        </m:rPr>
                        <a:rPr lang="en-US" b="0" i="0" smtClean="0">
                          <a:latin typeface="American Typewriter" panose="02090604020004020304" pitchFamily="18" charset="77"/>
                        </a:rPr>
                        <m:t>rea</m:t>
                      </m:r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nor/>
                            </m:rPr>
                            <a:rPr lang="en-US" b="0" i="0" smtClean="0">
                              <a:latin typeface="American Typewriter" panose="02090604020004020304" pitchFamily="18" charset="77"/>
                            </a:rPr>
                            <m:t>d</m:t>
                          </m:r>
                        </m:e>
                        <m:sub>
                          <m:r>
                            <m:rPr>
                              <m:nor/>
                            </m:rPr>
                            <a:rPr lang="en-US" b="0" i="0" smtClean="0">
                              <a:latin typeface="American Typewriter" panose="02090604020004020304" pitchFamily="18" charset="77"/>
                            </a:rPr>
                            <m:t>1</m:t>
                          </m:r>
                        </m:sub>
                      </m:sSub>
                      <m:r>
                        <m:rPr>
                          <m:nor/>
                        </m:rPr>
                        <a:rPr lang="en-US" b="0" i="0" smtClean="0">
                          <a:latin typeface="American Typewriter" panose="02090604020004020304" pitchFamily="18" charset="77"/>
                        </a:rPr>
                        <m:t>,…,</m:t>
                      </m:r>
                      <m:r>
                        <m:rPr>
                          <m:nor/>
                        </m:rPr>
                        <a:rPr lang="en-US" b="0" i="0" smtClean="0">
                          <a:latin typeface="American Typewriter" panose="02090604020004020304" pitchFamily="18" charset="77"/>
                        </a:rPr>
                        <m:t>input</m:t>
                      </m:r>
                      <m:r>
                        <m:rPr>
                          <m:nor/>
                        </m:rPr>
                        <a:rPr lang="en-US" b="0" i="0" smtClean="0">
                          <a:latin typeface="American Typewriter" panose="02090604020004020304" pitchFamily="18" charset="77"/>
                        </a:rPr>
                        <m:t>-</m:t>
                      </m:r>
                      <m:r>
                        <m:rPr>
                          <m:nor/>
                        </m:rPr>
                        <a:rPr lang="en-US" b="0" i="0" smtClean="0">
                          <a:latin typeface="American Typewriter" panose="02090604020004020304" pitchFamily="18" charset="77"/>
                        </a:rPr>
                        <m:t>read</m:t>
                      </m:r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nor/>
                            </m:rPr>
                            <a:rPr lang="en-US" b="0" i="0" smtClean="0">
                              <a:latin typeface="American Typewriter" panose="02090604020004020304" pitchFamily="18" charset="77"/>
                            </a:rPr>
                            <m:t>y</m:t>
                          </m:r>
                        </m:e>
                        <m:sub>
                          <m:r>
                            <m:rPr>
                              <m:nor/>
                            </m:rPr>
                            <a:rPr lang="en-US" b="0" i="0" smtClean="0">
                              <a:latin typeface="American Typewriter" panose="02090604020004020304" pitchFamily="18" charset="77"/>
                            </a:rPr>
                            <m:t>n</m:t>
                          </m:r>
                        </m:sub>
                      </m:sSub>
                      <m:r>
                        <m:rPr>
                          <m:nor/>
                        </m:rPr>
                        <a:rPr lang="en-US" b="0" i="0" smtClean="0">
                          <a:latin typeface="American Typewriter" panose="02090604020004020304" pitchFamily="18" charset="77"/>
                        </a:rPr>
                        <m:t>∈</m:t>
                      </m:r>
                      <m:r>
                        <m:rPr>
                          <m:lit/>
                          <m:nor/>
                        </m:rPr>
                        <a:rPr lang="en-US" b="0" i="0" smtClean="0">
                          <a:latin typeface="American Typewriter" panose="02090604020004020304" pitchFamily="18" charset="77"/>
                        </a:rPr>
                        <m:t>{</m:t>
                      </m:r>
                      <m:r>
                        <m:rPr>
                          <m:nor/>
                        </m:rPr>
                        <a:rPr lang="en-US" b="0" i="0" smtClean="0">
                          <a:latin typeface="American Typewriter" panose="02090604020004020304" pitchFamily="18" charset="77"/>
                        </a:rPr>
                        <m:t>0,1</m:t>
                      </m:r>
                      <m:r>
                        <m:rPr>
                          <m:lit/>
                          <m:nor/>
                        </m:rPr>
                        <a:rPr lang="en-US" b="0" i="0" smtClean="0">
                          <a:latin typeface="American Typewriter" panose="02090604020004020304" pitchFamily="18" charset="77"/>
                        </a:rPr>
                        <m:t>}</m:t>
                      </m:r>
                      <m:r>
                        <m:rPr>
                          <m:nor/>
                        </m:rPr>
                        <a:rPr lang="en-US" b="0" i="0" smtClean="0">
                          <a:latin typeface="American Typewriter" panose="02090604020004020304" pitchFamily="18" charset="77"/>
                        </a:rPr>
                        <m:t> </m:t>
                      </m:r>
                    </m:oMath>
                  </m:oMathPara>
                </a14:m>
                <a:endParaRPr lang="en-US" dirty="0">
                  <a:latin typeface="American Typewriter" panose="02090604020004020304" pitchFamily="18" charset="77"/>
                </a:endParaRPr>
              </a:p>
            </p:txBody>
          </p:sp>
        </mc:Choice>
        <mc:Fallback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93EBD483-090E-A60E-96C7-E629CF89929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576118" y="2799598"/>
                <a:ext cx="3949671" cy="289759"/>
              </a:xfrm>
              <a:prstGeom prst="rect">
                <a:avLst/>
              </a:prstGeom>
              <a:blipFill>
                <a:blip r:embed="rId2"/>
                <a:stretch>
                  <a:fillRect l="-1603" t="-16667" r="-1603" b="-3333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61FF42D2-06B7-437E-64E1-5C7C59CDC031}"/>
                  </a:ext>
                </a:extLst>
              </p:cNvPr>
              <p:cNvSpPr txBox="1"/>
              <p:nvPr/>
            </p:nvSpPr>
            <p:spPr>
              <a:xfrm>
                <a:off x="2275207" y="3534011"/>
                <a:ext cx="1351461" cy="276999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nor/>
                        </m:rPr>
                        <a:rPr lang="en-US" b="0" i="0" smtClean="0">
                          <a:latin typeface="American Typewriter" panose="02090604020004020304" pitchFamily="18" charset="77"/>
                        </a:rPr>
                        <m:t>(</m:t>
                      </m:r>
                      <m:r>
                        <m:rPr>
                          <m:nor/>
                        </m:rPr>
                        <a:rPr lang="en-US" b="0" i="0" smtClean="0">
                          <a:latin typeface="American Typewriter" panose="02090604020004020304" pitchFamily="18" charset="77"/>
                        </a:rPr>
                        <m:t>clockin</m:t>
                      </m:r>
                      <m:r>
                        <m:rPr>
                          <m:nor/>
                        </m:rPr>
                        <a:rPr lang="en-US" b="0" i="0" smtClean="0">
                          <a:latin typeface="American Typewriter" panose="02090604020004020304" pitchFamily="18" charset="77"/>
                        </a:rPr>
                        <m:t>, </m:t>
                      </m:r>
                      <m:r>
                        <m:rPr>
                          <m:nor/>
                        </m:rPr>
                        <a:rPr lang="en-US" b="0" i="0" smtClean="0">
                          <a:latin typeface="American Typewriter" panose="02090604020004020304" pitchFamily="18" charset="77"/>
                        </a:rPr>
                        <m:t>i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) </m:t>
                      </m:r>
                    </m:oMath>
                  </m:oMathPara>
                </a14:m>
                <a:endParaRPr lang="en-US" dirty="0">
                  <a:latin typeface="American Typewriter" panose="02090604020004020304" pitchFamily="18" charset="77"/>
                </a:endParaRPr>
              </a:p>
            </p:txBody>
          </p:sp>
        </mc:Choice>
        <mc:Fallback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61FF42D2-06B7-437E-64E1-5C7C59CDC03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275207" y="3534011"/>
                <a:ext cx="1351461" cy="276999"/>
              </a:xfrm>
              <a:prstGeom prst="rect">
                <a:avLst/>
              </a:prstGeom>
              <a:blipFill>
                <a:blip r:embed="rId3"/>
                <a:stretch>
                  <a:fillRect l="-3738" t="-18182" r="-3738" b="-4545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6" name="TextBox 15">
            <a:extLst>
              <a:ext uri="{FF2B5EF4-FFF2-40B4-BE49-F238E27FC236}">
                <a16:creationId xmlns:a16="http://schemas.microsoft.com/office/drawing/2014/main" id="{8F0B1502-2296-6877-C013-E0B408777991}"/>
              </a:ext>
            </a:extLst>
          </p:cNvPr>
          <p:cNvSpPr txBox="1"/>
          <p:nvPr/>
        </p:nvSpPr>
        <p:spPr>
          <a:xfrm>
            <a:off x="3587080" y="3473152"/>
            <a:ext cx="265476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American Typewriter" panose="02090604020004020304" pitchFamily="18" charset="77"/>
              </a:rPr>
              <a:t>on </a:t>
            </a:r>
            <a:r>
              <a:rPr lang="en-US" dirty="0" err="1">
                <a:latin typeface="American Typewriter" panose="02090604020004020304" pitchFamily="18" charset="77"/>
              </a:rPr>
              <a:t>SFE.infl</a:t>
            </a:r>
            <a:r>
              <a:rPr lang="en-US" dirty="0">
                <a:latin typeface="American Typewriter" panose="02090604020004020304" pitchFamily="18" charset="77"/>
              </a:rPr>
              <a:t>. (Trigger!)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816DDD22-3B21-5477-A834-E92D0F7B8BD6}"/>
                  </a:ext>
                </a:extLst>
              </p:cNvPr>
              <p:cNvSpPr txBox="1"/>
              <p:nvPr/>
            </p:nvSpPr>
            <p:spPr>
              <a:xfrm>
                <a:off x="2732711" y="4023564"/>
                <a:ext cx="1468351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nor/>
                        </m:rPr>
                        <a:rPr lang="en-US" b="0" i="0" smtClean="0">
                          <a:latin typeface="American Typewriter" panose="02090604020004020304" pitchFamily="18" charset="77"/>
                        </a:rPr>
                        <m:t>i</m:t>
                      </m:r>
                      <m:r>
                        <m:rPr>
                          <m:nor/>
                        </m:rPr>
                        <a:rPr lang="en-US" b="0" i="0" smtClean="0">
                          <a:latin typeface="American Typewriter" panose="02090604020004020304" pitchFamily="18" charset="77"/>
                        </a:rPr>
                        <m:t>∉</m:t>
                      </m:r>
                      <m:r>
                        <m:rPr>
                          <m:nor/>
                        </m:rPr>
                        <a:rPr lang="en-US" b="0" i="0" smtClean="0">
                          <a:latin typeface="American Typewriter" panose="02090604020004020304" pitchFamily="18" charset="77"/>
                        </a:rPr>
                        <m:t>A</m:t>
                      </m:r>
                      <m:r>
                        <m:rPr>
                          <m:nor/>
                        </m:rPr>
                        <a:rPr lang="en-US" b="0" i="0" smtClean="0">
                          <a:latin typeface="American Typewriter" panose="02090604020004020304" pitchFamily="18" charset="77"/>
                        </a:rPr>
                        <m:t> (</m:t>
                      </m:r>
                      <m:r>
                        <m:rPr>
                          <m:nor/>
                        </m:rPr>
                        <a:rPr lang="en-US" b="0" i="0" smtClean="0">
                          <a:latin typeface="American Typewriter" panose="02090604020004020304" pitchFamily="18" charset="77"/>
                        </a:rPr>
                        <m:t>honest</m:t>
                      </m:r>
                      <m:r>
                        <m:rPr>
                          <m:nor/>
                        </m:rPr>
                        <a:rPr lang="en-US" b="0" i="0" smtClean="0">
                          <a:latin typeface="American Typewriter" panose="02090604020004020304" pitchFamily="18" charset="77"/>
                        </a:rPr>
                        <m:t>)</m:t>
                      </m:r>
                    </m:oMath>
                  </m:oMathPara>
                </a14:m>
                <a:endParaRPr lang="en-US" dirty="0">
                  <a:latin typeface="American Typewriter" panose="02090604020004020304" pitchFamily="18" charset="77"/>
                </a:endParaRPr>
              </a:p>
            </p:txBody>
          </p:sp>
        </mc:Choice>
        <mc:Fallback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816DDD22-3B21-5477-A834-E92D0F7B8BD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732711" y="4023564"/>
                <a:ext cx="1468351" cy="276999"/>
              </a:xfrm>
              <a:prstGeom prst="rect">
                <a:avLst/>
              </a:prstGeom>
              <a:blipFill>
                <a:blip r:embed="rId4"/>
                <a:stretch>
                  <a:fillRect l="-3448" t="-17391" r="-5172" b="-3913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2" name="TextBox 21">
            <a:extLst>
              <a:ext uri="{FF2B5EF4-FFF2-40B4-BE49-F238E27FC236}">
                <a16:creationId xmlns:a16="http://schemas.microsoft.com/office/drawing/2014/main" id="{15DB55F1-8231-F31A-E34A-90FFC209B089}"/>
              </a:ext>
            </a:extLst>
          </p:cNvPr>
          <p:cNvSpPr txBox="1"/>
          <p:nvPr/>
        </p:nvSpPr>
        <p:spPr>
          <a:xfrm>
            <a:off x="2665602" y="4262237"/>
            <a:ext cx="77316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input 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FB22F0D7-BFE3-E627-3D73-022A473AEE3C}"/>
              </a:ext>
            </a:extLst>
          </p:cNvPr>
          <p:cNvSpPr txBox="1"/>
          <p:nvPr/>
        </p:nvSpPr>
        <p:spPr>
          <a:xfrm>
            <a:off x="3550697" y="4272973"/>
            <a:ext cx="127150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is received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D5F1D0E6-DD8E-8A1A-7D11-7D99C9BF17F5}"/>
                  </a:ext>
                </a:extLst>
              </p:cNvPr>
              <p:cNvSpPr txBox="1"/>
              <p:nvPr/>
            </p:nvSpPr>
            <p:spPr>
              <a:xfrm>
                <a:off x="3226266" y="4281548"/>
                <a:ext cx="426027" cy="276999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D5F1D0E6-DD8E-8A1A-7D11-7D99C9BF17F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226266" y="4281548"/>
                <a:ext cx="426027" cy="276999"/>
              </a:xfrm>
              <a:prstGeom prst="rect">
                <a:avLst/>
              </a:prstGeom>
              <a:blipFill>
                <a:blip r:embed="rId5"/>
                <a:stretch>
                  <a:fillRect b="-125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F264F948-2144-37F6-7EFE-352A35907769}"/>
                  </a:ext>
                </a:extLst>
              </p:cNvPr>
              <p:cNvSpPr txBox="1"/>
              <p:nvPr/>
            </p:nvSpPr>
            <p:spPr>
              <a:xfrm>
                <a:off x="2732711" y="4601910"/>
                <a:ext cx="1708738" cy="287643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nor/>
                        </m:rPr>
                        <a:rPr lang="en-US" b="0" i="0" smtClean="0">
                          <a:latin typeface="American Typewriter" panose="02090604020004020304" pitchFamily="18" charset="77"/>
                        </a:rPr>
                        <m:t>input</m:t>
                      </m:r>
                      <m:r>
                        <m:rPr>
                          <m:nor/>
                        </m:rPr>
                        <a:rPr lang="en-US" b="0" i="0" smtClean="0">
                          <a:latin typeface="American Typewriter" panose="02090604020004020304" pitchFamily="18" charset="77"/>
                        </a:rPr>
                        <m:t>-</m:t>
                      </m:r>
                      <m:r>
                        <m:rPr>
                          <m:nor/>
                        </m:rPr>
                        <a:rPr lang="en-US" b="0" i="0" smtClean="0">
                          <a:latin typeface="American Typewriter" panose="02090604020004020304" pitchFamily="18" charset="77"/>
                        </a:rPr>
                        <m:t>read</m:t>
                      </m:r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nor/>
                            </m:rPr>
                            <a:rPr lang="en-US" b="0" i="0" smtClean="0">
                              <a:latin typeface="American Typewriter" panose="02090604020004020304" pitchFamily="18" charset="77"/>
                            </a:rPr>
                            <m:t>y</m:t>
                          </m:r>
                        </m:e>
                        <m:sub>
                          <m:r>
                            <m:rPr>
                              <m:nor/>
                            </m:rPr>
                            <a:rPr lang="en-US" b="0" i="0" smtClean="0">
                              <a:latin typeface="American Typewriter" panose="02090604020004020304" pitchFamily="18" charset="77"/>
                            </a:rPr>
                            <m:t>i</m:t>
                          </m:r>
                        </m:sub>
                      </m:sSub>
                      <m:r>
                        <m:rPr>
                          <m:nor/>
                        </m:rPr>
                        <a:rPr lang="en-US" b="0" i="0" smtClean="0">
                          <a:latin typeface="American Typewriter" panose="02090604020004020304" pitchFamily="18" charset="77"/>
                        </a:rPr>
                        <m:t>=0</m:t>
                      </m:r>
                    </m:oMath>
                  </m:oMathPara>
                </a14:m>
                <a:endParaRPr lang="en-US" dirty="0">
                  <a:latin typeface="American Typewriter" panose="02090604020004020304" pitchFamily="18" charset="77"/>
                </a:endParaRPr>
              </a:p>
            </p:txBody>
          </p:sp>
        </mc:Choice>
        <mc:Fallback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F264F948-2144-37F6-7EFE-352A3590776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732711" y="4601910"/>
                <a:ext cx="1708738" cy="287643"/>
              </a:xfrm>
              <a:prstGeom prst="rect">
                <a:avLst/>
              </a:prstGeom>
              <a:blipFill>
                <a:blip r:embed="rId6"/>
                <a:stretch>
                  <a:fillRect l="-3704" r="-2222" b="-2608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7" name="TextBox 26">
                <a:extLst>
                  <a:ext uri="{FF2B5EF4-FFF2-40B4-BE49-F238E27FC236}">
                    <a16:creationId xmlns:a16="http://schemas.microsoft.com/office/drawing/2014/main" id="{4296486D-7B0C-BE55-A836-F849D1B4E172}"/>
                  </a:ext>
                </a:extLst>
              </p:cNvPr>
              <p:cNvSpPr txBox="1"/>
              <p:nvPr/>
            </p:nvSpPr>
            <p:spPr>
              <a:xfrm>
                <a:off x="2732711" y="5246226"/>
                <a:ext cx="1896288" cy="287643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nor/>
                        </m:rPr>
                        <a:rPr lang="en-US" b="0" i="0" smtClean="0">
                          <a:latin typeface="American Typewriter" panose="02090604020004020304" pitchFamily="18" charset="77"/>
                        </a:rPr>
                        <m:t>input</m:t>
                      </m:r>
                      <m:r>
                        <m:rPr>
                          <m:nor/>
                        </m:rPr>
                        <a:rPr lang="en-US" b="0" i="0" smtClean="0">
                          <a:latin typeface="American Typewriter" panose="02090604020004020304" pitchFamily="18" charset="77"/>
                        </a:rPr>
                        <m:t>-</m:t>
                      </m:r>
                      <m:r>
                        <m:rPr>
                          <m:nor/>
                        </m:rPr>
                        <a:rPr lang="en-US" b="0" i="0" smtClean="0">
                          <a:latin typeface="American Typewriter" panose="02090604020004020304" pitchFamily="18" charset="77"/>
                        </a:rPr>
                        <m:t>read</m:t>
                      </m:r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nor/>
                            </m:rPr>
                            <a:rPr lang="en-US" b="0" i="0" smtClean="0">
                              <a:latin typeface="American Typewriter" panose="02090604020004020304" pitchFamily="18" charset="77"/>
                            </a:rPr>
                            <m:t>y</m:t>
                          </m:r>
                        </m:e>
                        <m:sub>
                          <m:r>
                            <m:rPr>
                              <m:nor/>
                            </m:rPr>
                            <a:rPr lang="en-US" b="0" i="0" smtClean="0">
                              <a:latin typeface="American Typewriter" panose="02090604020004020304" pitchFamily="18" charset="77"/>
                            </a:rPr>
                            <m:t>i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←</m:t>
                      </m:r>
                      <m:r>
                        <m:rPr>
                          <m:nor/>
                        </m:rPr>
                        <a:rPr lang="en-US" b="0" i="0" smtClean="0">
                          <a:latin typeface="Cambria Math" panose="02040503050406030204" pitchFamily="18" charset="0"/>
                        </a:rPr>
                        <m:t>1</m:t>
                      </m:r>
                    </m:oMath>
                  </m:oMathPara>
                </a14:m>
                <a:endParaRPr lang="en-US" dirty="0">
                  <a:latin typeface="American Typewriter" panose="02090604020004020304" pitchFamily="18" charset="77"/>
                </a:endParaRPr>
              </a:p>
            </p:txBody>
          </p:sp>
        </mc:Choice>
        <mc:Fallback>
          <p:sp>
            <p:nvSpPr>
              <p:cNvPr id="27" name="TextBox 26">
                <a:extLst>
                  <a:ext uri="{FF2B5EF4-FFF2-40B4-BE49-F238E27FC236}">
                    <a16:creationId xmlns:a16="http://schemas.microsoft.com/office/drawing/2014/main" id="{4296486D-7B0C-BE55-A836-F849D1B4E17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732711" y="5246226"/>
                <a:ext cx="1896288" cy="287643"/>
              </a:xfrm>
              <a:prstGeom prst="rect">
                <a:avLst/>
              </a:prstGeom>
              <a:blipFill>
                <a:blip r:embed="rId7"/>
                <a:stretch>
                  <a:fillRect l="-3333" r="-2000" b="-2608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8" name="TextBox 27">
                <a:extLst>
                  <a:ext uri="{FF2B5EF4-FFF2-40B4-BE49-F238E27FC236}">
                    <a16:creationId xmlns:a16="http://schemas.microsoft.com/office/drawing/2014/main" id="{A05A06AA-05AB-70E0-C533-51D4E461F0A7}"/>
                  </a:ext>
                </a:extLst>
              </p:cNvPr>
              <p:cNvSpPr txBox="1"/>
              <p:nvPr/>
            </p:nvSpPr>
            <p:spPr>
              <a:xfrm>
                <a:off x="2738218" y="5568321"/>
                <a:ext cx="1288751" cy="287643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nor/>
                        </m:rPr>
                        <a:rPr lang="en-US" b="0" i="0" smtClean="0">
                          <a:latin typeface="American Typewriter" panose="02090604020004020304" pitchFamily="18" charset="77"/>
                        </a:rPr>
                        <m:t>Store</m:t>
                      </m:r>
                      <m:r>
                        <m:rPr>
                          <m:nor/>
                        </m:rPr>
                        <a:rPr lang="en-US" b="0" i="0" smtClean="0">
                          <a:latin typeface="American Typewriter" panose="02090604020004020304" pitchFamily="18" charset="77"/>
                        </a:rPr>
                        <m:t> (</m:t>
                      </m:r>
                      <m:r>
                        <m:rPr>
                          <m:nor/>
                        </m:rPr>
                        <a:rPr lang="en-US" b="0" i="0" smtClean="0">
                          <a:latin typeface="American Typewriter" panose="02090604020004020304" pitchFamily="18" charset="77"/>
                        </a:rPr>
                        <m:t>i</m:t>
                      </m:r>
                      <m:r>
                        <m:rPr>
                          <m:nor/>
                        </m:rPr>
                        <a:rPr lang="en-US" b="0" i="0" smtClean="0">
                          <a:latin typeface="American Typewriter" panose="02090604020004020304" pitchFamily="18" charset="77"/>
                        </a:rPr>
                        <m:t>,</m:t>
                      </m:r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nor/>
                            </m:rPr>
                            <a:rPr lang="en-US" b="0" i="0" smtClean="0">
                              <a:latin typeface="American Typewriter" panose="02090604020004020304" pitchFamily="18" charset="77"/>
                            </a:rPr>
                            <m:t>x</m:t>
                          </m:r>
                        </m:e>
                        <m:sub>
                          <m:r>
                            <m:rPr>
                              <m:nor/>
                            </m:rPr>
                            <a:rPr lang="en-US" b="0" i="0" smtClean="0">
                              <a:latin typeface="American Typewriter" panose="02090604020004020304" pitchFamily="18" charset="77"/>
                            </a:rPr>
                            <m:t>i</m:t>
                          </m:r>
                        </m:sub>
                      </m:sSub>
                      <m:r>
                        <m:rPr>
                          <m:nor/>
                        </m:rPr>
                        <a:rPr lang="en-US" b="0" i="0" smtClean="0">
                          <a:latin typeface="American Typewriter" panose="02090604020004020304" pitchFamily="18" charset="77"/>
                        </a:rPr>
                        <m:t>)</m:t>
                      </m:r>
                    </m:oMath>
                  </m:oMathPara>
                </a14:m>
                <a:endParaRPr lang="en-US" dirty="0">
                  <a:latin typeface="American Typewriter" panose="02090604020004020304" pitchFamily="18" charset="77"/>
                </a:endParaRPr>
              </a:p>
            </p:txBody>
          </p:sp>
        </mc:Choice>
        <mc:Fallback>
          <p:sp>
            <p:nvSpPr>
              <p:cNvPr id="28" name="TextBox 27">
                <a:extLst>
                  <a:ext uri="{FF2B5EF4-FFF2-40B4-BE49-F238E27FC236}">
                    <a16:creationId xmlns:a16="http://schemas.microsoft.com/office/drawing/2014/main" id="{A05A06AA-05AB-70E0-C533-51D4E461F0A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738218" y="5568321"/>
                <a:ext cx="1288751" cy="287643"/>
              </a:xfrm>
              <a:prstGeom prst="rect">
                <a:avLst/>
              </a:prstGeom>
              <a:blipFill>
                <a:blip r:embed="rId8"/>
                <a:stretch>
                  <a:fillRect l="-2913" t="-16667" r="-5825" b="-2916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0" name="TextBox 29">
            <a:extLst>
              <a:ext uri="{FF2B5EF4-FFF2-40B4-BE49-F238E27FC236}">
                <a16:creationId xmlns:a16="http://schemas.microsoft.com/office/drawing/2014/main" id="{3C89FB31-BBA3-E446-053B-7BC1C3010629}"/>
              </a:ext>
            </a:extLst>
          </p:cNvPr>
          <p:cNvSpPr txBox="1"/>
          <p:nvPr/>
        </p:nvSpPr>
        <p:spPr>
          <a:xfrm>
            <a:off x="2673519" y="5890416"/>
            <a:ext cx="1981949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latin typeface="American Typewriter" panose="02090604020004020304" pitchFamily="18" charset="77"/>
              </a:rPr>
              <a:t>Leak (input, </a:t>
            </a:r>
            <a:r>
              <a:rPr lang="en-US" dirty="0" err="1">
                <a:latin typeface="American Typewriter" panose="02090604020004020304" pitchFamily="18" charset="77"/>
              </a:rPr>
              <a:t>i</a:t>
            </a:r>
            <a:r>
              <a:rPr lang="en-US" dirty="0">
                <a:latin typeface="American Typewriter" panose="02090604020004020304" pitchFamily="18" charset="77"/>
              </a:rPr>
              <a:t>)</a:t>
            </a:r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F9134CA9-5F30-958B-53B0-872A5D318276}"/>
              </a:ext>
            </a:extLst>
          </p:cNvPr>
          <p:cNvSpPr/>
          <p:nvPr/>
        </p:nvSpPr>
        <p:spPr>
          <a:xfrm>
            <a:off x="2587336" y="3959165"/>
            <a:ext cx="2234863" cy="994237"/>
          </a:xfrm>
          <a:prstGeom prst="rect">
            <a:avLst/>
          </a:prstGeom>
          <a:solidFill>
            <a:schemeClr val="accent2">
              <a:lumMod val="40000"/>
              <a:lumOff val="60000"/>
              <a:alpha val="37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0AC3E465-5EB9-02CC-2B11-78CAE766388A}"/>
              </a:ext>
            </a:extLst>
          </p:cNvPr>
          <p:cNvSpPr/>
          <p:nvPr/>
        </p:nvSpPr>
        <p:spPr>
          <a:xfrm>
            <a:off x="2587335" y="5185408"/>
            <a:ext cx="2234863" cy="1048362"/>
          </a:xfrm>
          <a:prstGeom prst="rect">
            <a:avLst/>
          </a:prstGeom>
          <a:solidFill>
            <a:schemeClr val="accent3">
              <a:lumMod val="40000"/>
              <a:lumOff val="60000"/>
              <a:alpha val="37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EE61C8F0-7207-2709-1BA0-F9E053BEE84C}"/>
              </a:ext>
            </a:extLst>
          </p:cNvPr>
          <p:cNvSpPr txBox="1"/>
          <p:nvPr/>
        </p:nvSpPr>
        <p:spPr>
          <a:xfrm>
            <a:off x="2045326" y="4245684"/>
            <a:ext cx="43152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IF: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D7212B2A-394C-37CE-CD7F-F7F3FC7207DF}"/>
              </a:ext>
            </a:extLst>
          </p:cNvPr>
          <p:cNvSpPr txBox="1"/>
          <p:nvPr/>
        </p:nvSpPr>
        <p:spPr>
          <a:xfrm>
            <a:off x="1695644" y="5468689"/>
            <a:ext cx="81624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THEN:</a:t>
            </a:r>
          </a:p>
        </p:txBody>
      </p:sp>
      <p:sp>
        <p:nvSpPr>
          <p:cNvPr id="35" name="Oval 34">
            <a:extLst>
              <a:ext uri="{FF2B5EF4-FFF2-40B4-BE49-F238E27FC236}">
                <a16:creationId xmlns:a16="http://schemas.microsoft.com/office/drawing/2014/main" id="{21CE3EDC-F55C-2F29-1A99-09E27D73CBCE}"/>
              </a:ext>
            </a:extLst>
          </p:cNvPr>
          <p:cNvSpPr/>
          <p:nvPr/>
        </p:nvSpPr>
        <p:spPr>
          <a:xfrm>
            <a:off x="484572" y="2673801"/>
            <a:ext cx="10183091" cy="629402"/>
          </a:xfrm>
          <a:prstGeom prst="ellipse">
            <a:avLst/>
          </a:prstGeom>
          <a:solidFill>
            <a:schemeClr val="accent1">
              <a:alpha val="2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0832D8D7-45CE-EC3C-D975-B41C17852AF1}"/>
              </a:ext>
            </a:extLst>
          </p:cNvPr>
          <p:cNvSpPr txBox="1"/>
          <p:nvPr/>
        </p:nvSpPr>
        <p:spPr>
          <a:xfrm rot="1084097">
            <a:off x="9331036" y="1998391"/>
            <a:ext cx="91127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set to 0</a:t>
            </a:r>
          </a:p>
        </p:txBody>
      </p:sp>
      <p:cxnSp>
        <p:nvCxnSpPr>
          <p:cNvPr id="37" name="Straight Arrow Connector 36">
            <a:extLst>
              <a:ext uri="{FF2B5EF4-FFF2-40B4-BE49-F238E27FC236}">
                <a16:creationId xmlns:a16="http://schemas.microsoft.com/office/drawing/2014/main" id="{37D52ABD-1DAB-A516-2E15-60311E5B3B11}"/>
              </a:ext>
            </a:extLst>
          </p:cNvPr>
          <p:cNvCxnSpPr>
            <a:cxnSpLocks/>
          </p:cNvCxnSpPr>
          <p:nvPr/>
        </p:nvCxnSpPr>
        <p:spPr>
          <a:xfrm flipV="1">
            <a:off x="7720445" y="2281259"/>
            <a:ext cx="1922319" cy="518339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99011175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EC5781F-93A8-DA46-E55F-CB8ED39E246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A2FED59-F625-B390-5E64-FDBA3C168A98}"/>
              </a:ext>
            </a:extLst>
          </p:cNvPr>
          <p:cNvSpPr txBox="1"/>
          <p:nvPr/>
        </p:nvSpPr>
        <p:spPr>
          <a:xfrm>
            <a:off x="152712" y="598252"/>
            <a:ext cx="11500571" cy="10156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6000" dirty="0">
                <a:latin typeface="Chalk Board" panose="02000500000000000000" pitchFamily="2" charset="0"/>
              </a:rPr>
              <a:t>Secure Synchronous Function Evaluation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C558E34B-8B37-57A1-3426-9008BA450C35}"/>
              </a:ext>
            </a:extLst>
          </p:cNvPr>
          <p:cNvSpPr txBox="1"/>
          <p:nvPr/>
        </p:nvSpPr>
        <p:spPr>
          <a:xfrm>
            <a:off x="191008" y="4043829"/>
            <a:ext cx="2551852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dirty="0"/>
              <a:t>Simultaneous Inputs: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ABF9CB1A-75B2-36DA-A021-E0843F3E4CC2}"/>
              </a:ext>
            </a:extLst>
          </p:cNvPr>
          <p:cNvSpPr txBox="1"/>
          <p:nvPr/>
        </p:nvSpPr>
        <p:spPr>
          <a:xfrm>
            <a:off x="3138064" y="4069702"/>
            <a:ext cx="729347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If it holds in some round, then after the clock-in phase ends, there exists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94D48EF1-F511-951C-0B4D-54CC2E3F9E05}"/>
                  </a:ext>
                </a:extLst>
              </p:cNvPr>
              <p:cNvSpPr txBox="1"/>
              <p:nvPr/>
            </p:nvSpPr>
            <p:spPr>
              <a:xfrm>
                <a:off x="10407290" y="4089996"/>
                <a:ext cx="725263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𝑖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𝑗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∉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𝐴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94D48EF1-F511-951C-0B4D-54CC2E3F9E0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407290" y="4089996"/>
                <a:ext cx="725263" cy="276999"/>
              </a:xfrm>
              <a:prstGeom prst="rect">
                <a:avLst/>
              </a:prstGeom>
              <a:blipFill>
                <a:blip r:embed="rId3"/>
                <a:stretch>
                  <a:fillRect l="-6897" r="-6897" b="-3636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8" name="TextBox 7">
            <a:extLst>
              <a:ext uri="{FF2B5EF4-FFF2-40B4-BE49-F238E27FC236}">
                <a16:creationId xmlns:a16="http://schemas.microsoft.com/office/drawing/2014/main" id="{51F1E826-8E8E-5D72-1E11-30085B71C844}"/>
              </a:ext>
            </a:extLst>
          </p:cNvPr>
          <p:cNvSpPr txBox="1"/>
          <p:nvPr/>
        </p:nvSpPr>
        <p:spPr>
          <a:xfrm>
            <a:off x="8501672" y="4461233"/>
            <a:ext cx="118449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such that: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FCD1568E-7364-6C1A-1123-F0B7F85A29F1}"/>
                  </a:ext>
                </a:extLst>
              </p:cNvPr>
              <p:cNvSpPr txBox="1"/>
              <p:nvPr/>
            </p:nvSpPr>
            <p:spPr>
              <a:xfrm>
                <a:off x="9686163" y="4503071"/>
                <a:ext cx="1748812" cy="285656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nor/>
                        </m:rPr>
                        <a:rPr lang="en-US" b="0" i="0" smtClean="0">
                          <a:latin typeface="American Typewriter" panose="02090604020004020304" pitchFamily="18" charset="77"/>
                        </a:rPr>
                        <m:t>input</m:t>
                      </m:r>
                      <m:r>
                        <m:rPr>
                          <m:nor/>
                        </m:rPr>
                        <a:rPr lang="en-US" b="0" i="0" smtClean="0">
                          <a:latin typeface="American Typewriter" panose="02090604020004020304" pitchFamily="18" charset="77"/>
                        </a:rPr>
                        <m:t>-</m:t>
                      </m:r>
                      <m:r>
                        <m:rPr>
                          <m:nor/>
                        </m:rPr>
                        <a:rPr lang="en-US" b="0" i="0" smtClean="0">
                          <a:latin typeface="American Typewriter" panose="02090604020004020304" pitchFamily="18" charset="77"/>
                        </a:rPr>
                        <m:t>rea</m:t>
                      </m:r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nor/>
                            </m:rPr>
                            <a:rPr lang="en-US" b="0" i="0" smtClean="0">
                              <a:latin typeface="American Typewriter" panose="02090604020004020304" pitchFamily="18" charset="77"/>
                            </a:rPr>
                            <m:t>d</m:t>
                          </m:r>
                        </m:e>
                        <m:sub>
                          <m:r>
                            <m:rPr>
                              <m:nor/>
                            </m:rPr>
                            <a:rPr lang="en-US" b="0" i="0" smtClean="0">
                              <a:latin typeface="Cambria Math" panose="02040503050406030204" pitchFamily="18" charset="0"/>
                            </a:rPr>
                            <m:t>i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←0</m:t>
                      </m:r>
                    </m:oMath>
                  </m:oMathPara>
                </a14:m>
                <a:endParaRPr lang="en-US" dirty="0">
                  <a:latin typeface="American Typewriter" panose="02090604020004020304" pitchFamily="18" charset="77"/>
                </a:endParaRPr>
              </a:p>
            </p:txBody>
          </p:sp>
        </mc:Choice>
        <mc:Fallback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FCD1568E-7364-6C1A-1123-F0B7F85A29F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686163" y="4503071"/>
                <a:ext cx="1748812" cy="285656"/>
              </a:xfrm>
              <a:prstGeom prst="rect">
                <a:avLst/>
              </a:prstGeom>
              <a:blipFill>
                <a:blip r:embed="rId4"/>
                <a:stretch>
                  <a:fillRect l="-3597" r="-2158" b="-25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1E51220E-C207-EA77-DF25-89566F89369F}"/>
                  </a:ext>
                </a:extLst>
              </p:cNvPr>
              <p:cNvSpPr txBox="1"/>
              <p:nvPr/>
            </p:nvSpPr>
            <p:spPr>
              <a:xfrm>
                <a:off x="9686163" y="4781975"/>
                <a:ext cx="1745606" cy="335541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nor/>
                        </m:rPr>
                        <a:rPr lang="en-US" b="0" i="0" smtClean="0">
                          <a:latin typeface="American Typewriter" panose="02090604020004020304" pitchFamily="18" charset="77"/>
                        </a:rPr>
                        <m:t>input</m:t>
                      </m:r>
                      <m:r>
                        <m:rPr>
                          <m:nor/>
                        </m:rPr>
                        <a:rPr lang="en-US" b="0" i="0" smtClean="0">
                          <a:latin typeface="American Typewriter" panose="02090604020004020304" pitchFamily="18" charset="77"/>
                        </a:rPr>
                        <m:t>-</m:t>
                      </m:r>
                      <m:r>
                        <m:rPr>
                          <m:nor/>
                        </m:rPr>
                        <a:rPr lang="en-US" b="0" i="0" smtClean="0">
                          <a:latin typeface="American Typewriter" panose="02090604020004020304" pitchFamily="18" charset="77"/>
                        </a:rPr>
                        <m:t>rea</m:t>
                      </m:r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nor/>
                            </m:rPr>
                            <a:rPr lang="en-US" b="0" i="0" smtClean="0">
                              <a:latin typeface="American Typewriter" panose="02090604020004020304" pitchFamily="18" charset="77"/>
                            </a:rPr>
                            <m:t>d</m:t>
                          </m:r>
                        </m:e>
                        <m:sub>
                          <m:r>
                            <m:rPr>
                              <m:nor/>
                            </m:rPr>
                            <a:rPr lang="en-US" b="0" i="0" smtClean="0">
                              <a:latin typeface="Cambria Math" panose="02040503050406030204" pitchFamily="18" charset="0"/>
                            </a:rPr>
                            <m:t>j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←1</m:t>
                      </m:r>
                    </m:oMath>
                  </m:oMathPara>
                </a14:m>
                <a:endParaRPr lang="en-US" dirty="0">
                  <a:latin typeface="American Typewriter" panose="02090604020004020304" pitchFamily="18" charset="77"/>
                </a:endParaRPr>
              </a:p>
            </p:txBody>
          </p:sp>
        </mc:Choice>
        <mc:Fallback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1E51220E-C207-EA77-DF25-89566F89369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686163" y="4781975"/>
                <a:ext cx="1745606" cy="335541"/>
              </a:xfrm>
              <a:prstGeom prst="rect">
                <a:avLst/>
              </a:prstGeom>
              <a:blipFill>
                <a:blip r:embed="rId5"/>
                <a:stretch>
                  <a:fillRect l="-3597" r="-2158" b="-2963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2" name="TextBox 11">
            <a:extLst>
              <a:ext uri="{FF2B5EF4-FFF2-40B4-BE49-F238E27FC236}">
                <a16:creationId xmlns:a16="http://schemas.microsoft.com/office/drawing/2014/main" id="{94D5DAC4-9747-38B6-0462-0AB7C809015A}"/>
              </a:ext>
            </a:extLst>
          </p:cNvPr>
          <p:cNvSpPr txBox="1"/>
          <p:nvPr/>
        </p:nvSpPr>
        <p:spPr>
          <a:xfrm>
            <a:off x="8361228" y="5055171"/>
            <a:ext cx="329205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Then do a complete breakdown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75220B55-25AF-4B60-0065-EF92339C1977}"/>
              </a:ext>
            </a:extLst>
          </p:cNvPr>
          <p:cNvSpPr txBox="1"/>
          <p:nvPr/>
        </p:nvSpPr>
        <p:spPr>
          <a:xfrm>
            <a:off x="3223743" y="5384849"/>
            <a:ext cx="622785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If it happens in some round that after the </a:t>
            </a:r>
            <a:r>
              <a:rPr lang="en-US" dirty="0" err="1"/>
              <a:t>clockin</a:t>
            </a:r>
            <a:r>
              <a:rPr lang="en-US" dirty="0"/>
              <a:t> phase ends,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2FB6F140-FCC1-A341-D33F-718BC86A9549}"/>
                  </a:ext>
                </a:extLst>
              </p:cNvPr>
              <p:cNvSpPr txBox="1"/>
              <p:nvPr/>
            </p:nvSpPr>
            <p:spPr>
              <a:xfrm>
                <a:off x="8361228" y="5722154"/>
                <a:ext cx="1748812" cy="285656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nor/>
                        </m:rPr>
                        <a:rPr lang="en-US" b="0" i="0" smtClean="0">
                          <a:latin typeface="American Typewriter" panose="02090604020004020304" pitchFamily="18" charset="77"/>
                        </a:rPr>
                        <m:t>input</m:t>
                      </m:r>
                      <m:r>
                        <m:rPr>
                          <m:nor/>
                        </m:rPr>
                        <a:rPr lang="en-US" b="0" i="0" smtClean="0">
                          <a:latin typeface="American Typewriter" panose="02090604020004020304" pitchFamily="18" charset="77"/>
                        </a:rPr>
                        <m:t>-</m:t>
                      </m:r>
                      <m:r>
                        <m:rPr>
                          <m:nor/>
                        </m:rPr>
                        <a:rPr lang="en-US" b="0" i="0" smtClean="0">
                          <a:latin typeface="American Typewriter" panose="02090604020004020304" pitchFamily="18" charset="77"/>
                        </a:rPr>
                        <m:t>rea</m:t>
                      </m:r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nor/>
                            </m:rPr>
                            <a:rPr lang="en-US" b="0" i="0" smtClean="0">
                              <a:latin typeface="American Typewriter" panose="02090604020004020304" pitchFamily="18" charset="77"/>
                            </a:rPr>
                            <m:t>d</m:t>
                          </m:r>
                        </m:e>
                        <m:sub>
                          <m:r>
                            <m:rPr>
                              <m:nor/>
                            </m:rPr>
                            <a:rPr lang="en-US" b="0" i="0" smtClean="0">
                              <a:latin typeface="Cambria Math" panose="02040503050406030204" pitchFamily="18" charset="0"/>
                            </a:rPr>
                            <m:t>i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←1</m:t>
                      </m:r>
                    </m:oMath>
                  </m:oMathPara>
                </a14:m>
                <a:endParaRPr lang="en-US" dirty="0">
                  <a:latin typeface="American Typewriter" panose="02090604020004020304" pitchFamily="18" charset="77"/>
                </a:endParaRPr>
              </a:p>
            </p:txBody>
          </p:sp>
        </mc:Choice>
        <mc:Fallback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2FB6F140-FCC1-A341-D33F-718BC86A954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61228" y="5722154"/>
                <a:ext cx="1748812" cy="285656"/>
              </a:xfrm>
              <a:prstGeom prst="rect">
                <a:avLst/>
              </a:prstGeom>
              <a:blipFill>
                <a:blip r:embed="rId6"/>
                <a:stretch>
                  <a:fillRect l="-3623" r="-2899" b="-25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9BACC5B8-E97D-B686-F878-CAF4578D2C5A}"/>
                  </a:ext>
                </a:extLst>
              </p:cNvPr>
              <p:cNvSpPr txBox="1"/>
              <p:nvPr/>
            </p:nvSpPr>
            <p:spPr>
              <a:xfrm>
                <a:off x="8559089" y="6007810"/>
                <a:ext cx="551368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𝑖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∉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𝐴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9BACC5B8-E97D-B686-F878-CAF4578D2C5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559089" y="6007810"/>
                <a:ext cx="551368" cy="276999"/>
              </a:xfrm>
              <a:prstGeom prst="rect">
                <a:avLst/>
              </a:prstGeom>
              <a:blipFill>
                <a:blip r:embed="rId7"/>
                <a:stretch>
                  <a:fillRect l="-8889" r="-8889" b="-2272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425F308D-006C-EE3D-4E36-2EF0699E9814}"/>
                  </a:ext>
                </a:extLst>
              </p:cNvPr>
              <p:cNvSpPr txBox="1"/>
              <p:nvPr/>
            </p:nvSpPr>
            <p:spPr>
              <a:xfrm>
                <a:off x="8409946" y="6181679"/>
                <a:ext cx="1919564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b="0" i="1" smtClean="0">
                          <a:latin typeface="American Typewriter" panose="02090604020004020304" pitchFamily="18" charset="77"/>
                        </a:rPr>
                        <m:t>I</m:t>
                      </m:r>
                      <m:r>
                        <m:rPr>
                          <m:nor/>
                        </m:rPr>
                        <a:rPr lang="en-US" b="0" i="0" smtClean="0">
                          <a:latin typeface="American Typewriter" panose="02090604020004020304" pitchFamily="18" charset="77"/>
                        </a:rPr>
                        <m:t>nputs</m:t>
                      </m:r>
                      <m:r>
                        <m:rPr>
                          <m:nor/>
                        </m:rPr>
                        <a:rPr lang="en-US" b="0" i="0" smtClean="0">
                          <a:latin typeface="American Typewriter" panose="02090604020004020304" pitchFamily="18" charset="77"/>
                        </a:rPr>
                        <m:t>-</m:t>
                      </m:r>
                      <m:r>
                        <m:rPr>
                          <m:nor/>
                        </m:rPr>
                        <a:rPr lang="en-US" b="0" i="0" smtClean="0">
                          <a:latin typeface="American Typewriter" panose="02090604020004020304" pitchFamily="18" charset="77"/>
                        </a:rPr>
                        <m:t>re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𝑎𝑑𝑦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←0</m:t>
                      </m:r>
                    </m:oMath>
                  </m:oMathPara>
                </a14:m>
                <a:endParaRPr lang="en-US" dirty="0">
                  <a:latin typeface="American Typewriter" panose="02090604020004020304" pitchFamily="18" charset="77"/>
                </a:endParaRPr>
              </a:p>
            </p:txBody>
          </p:sp>
        </mc:Choice>
        <mc:Fallback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425F308D-006C-EE3D-4E36-2EF0699E981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409946" y="6181679"/>
                <a:ext cx="1919564" cy="276999"/>
              </a:xfrm>
              <a:prstGeom prst="rect">
                <a:avLst/>
              </a:prstGeom>
              <a:blipFill>
                <a:blip r:embed="rId8"/>
                <a:stretch>
                  <a:fillRect l="-1974" r="-1974" b="-3478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5" name="TextBox 44">
            <a:extLst>
              <a:ext uri="{FF2B5EF4-FFF2-40B4-BE49-F238E27FC236}">
                <a16:creationId xmlns:a16="http://schemas.microsoft.com/office/drawing/2014/main" id="{9248DDE0-EA2A-C839-90CB-FB1AEE8E5349}"/>
              </a:ext>
            </a:extLst>
          </p:cNvPr>
          <p:cNvSpPr txBox="1"/>
          <p:nvPr/>
        </p:nvSpPr>
        <p:spPr>
          <a:xfrm>
            <a:off x="152712" y="2024352"/>
            <a:ext cx="2154051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dirty="0"/>
              <a:t>Corrupted Inputs: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46" name="TextBox 45">
                <a:extLst>
                  <a:ext uri="{FF2B5EF4-FFF2-40B4-BE49-F238E27FC236}">
                    <a16:creationId xmlns:a16="http://schemas.microsoft.com/office/drawing/2014/main" id="{B9119EBD-7FA9-5EEE-ABB4-0FC6FC731607}"/>
                  </a:ext>
                </a:extLst>
              </p:cNvPr>
              <p:cNvSpPr txBox="1"/>
              <p:nvPr/>
            </p:nvSpPr>
            <p:spPr>
              <a:xfrm>
                <a:off x="2501064" y="2080586"/>
                <a:ext cx="4170950" cy="287643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nor/>
                        </m:rPr>
                        <a:rPr lang="en-US" b="0" i="0" smtClean="0">
                          <a:latin typeface="American Typewriter" panose="02090604020004020304" pitchFamily="18" charset="77"/>
                        </a:rPr>
                        <m:t>(</m:t>
                      </m:r>
                      <m:r>
                        <m:rPr>
                          <m:nor/>
                        </m:rPr>
                        <a:rPr lang="en-US" b="0" i="0" smtClean="0">
                          <a:latin typeface="American Typewriter" panose="02090604020004020304" pitchFamily="18" charset="77"/>
                        </a:rPr>
                        <m:t>change</m:t>
                      </m:r>
                      <m:r>
                        <m:rPr>
                          <m:nor/>
                        </m:rPr>
                        <a:rPr lang="en-US" b="0" i="0" smtClean="0">
                          <a:latin typeface="American Typewriter" panose="02090604020004020304" pitchFamily="18" charset="77"/>
                        </a:rPr>
                        <m:t>, </m:t>
                      </m:r>
                      <m:r>
                        <m:rPr>
                          <m:nor/>
                        </m:rPr>
                        <a:rPr lang="en-US" b="0" i="0" smtClean="0">
                          <a:latin typeface="American Typewriter" panose="02090604020004020304" pitchFamily="18" charset="77"/>
                        </a:rPr>
                        <m:t>i</m:t>
                      </m:r>
                      <m:r>
                        <m:rPr>
                          <m:nor/>
                        </m:rPr>
                        <a:rPr lang="en-US" b="0" i="0" smtClean="0">
                          <a:latin typeface="American Typewriter" panose="02090604020004020304" pitchFamily="18" charset="77"/>
                        </a:rPr>
                        <m:t>, </m:t>
                      </m:r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nor/>
                            </m:rPr>
                            <a:rPr lang="en-US" b="0" i="0" smtClean="0">
                              <a:latin typeface="American Typewriter" panose="02090604020004020304" pitchFamily="18" charset="77"/>
                            </a:rPr>
                            <m:t>x</m:t>
                          </m:r>
                        </m:e>
                        <m:sub>
                          <m:r>
                            <m:rPr>
                              <m:nor/>
                            </m:rPr>
                            <a:rPr lang="en-US" b="0" i="0" smtClean="0">
                              <a:latin typeface="American Typewriter" panose="02090604020004020304" pitchFamily="18" charset="77"/>
                            </a:rPr>
                            <m:t>i</m:t>
                          </m:r>
                        </m:sub>
                      </m:sSub>
                      <m:r>
                        <m:rPr>
                          <m:nor/>
                        </m:rPr>
                        <a:rPr lang="en-US" b="0" i="0" smtClean="0">
                          <a:latin typeface="American Typewriter" panose="02090604020004020304" pitchFamily="18" charset="77"/>
                        </a:rPr>
                        <m:t>) </m:t>
                      </m:r>
                      <m:r>
                        <m:rPr>
                          <m:nor/>
                        </m:rPr>
                        <a:rPr lang="en-US" b="0" i="0" smtClean="0">
                          <a:latin typeface="American Typewriter" panose="02090604020004020304" pitchFamily="18" charset="77"/>
                        </a:rPr>
                        <m:t>where</m:t>
                      </m:r>
                      <m:r>
                        <m:rPr>
                          <m:nor/>
                        </m:rPr>
                        <a:rPr lang="en-US" b="0" i="0" smtClean="0">
                          <a:latin typeface="American Typewriter" panose="02090604020004020304" pitchFamily="18" charset="77"/>
                        </a:rPr>
                        <m:t> </m:t>
                      </m:r>
                      <m:r>
                        <m:rPr>
                          <m:nor/>
                        </m:rPr>
                        <a:rPr lang="en-US" b="0" i="0" smtClean="0">
                          <a:latin typeface="American Typewriter" panose="02090604020004020304" pitchFamily="18" charset="77"/>
                        </a:rPr>
                        <m:t>i</m:t>
                      </m:r>
                      <m:r>
                        <m:rPr>
                          <m:nor/>
                        </m:rPr>
                        <a:rPr lang="en-US" b="0" i="0" smtClean="0">
                          <a:latin typeface="American Typewriter" panose="02090604020004020304" pitchFamily="18" charset="77"/>
                        </a:rPr>
                        <m:t>∉</m:t>
                      </m:r>
                      <m:r>
                        <m:rPr>
                          <m:nor/>
                        </m:rPr>
                        <a:rPr lang="en-US" b="0" i="0" smtClean="0">
                          <a:latin typeface="American Typewriter" panose="02090604020004020304" pitchFamily="18" charset="77"/>
                        </a:rPr>
                        <m:t>A</m:t>
                      </m:r>
                      <m:r>
                        <m:rPr>
                          <m:nor/>
                        </m:rPr>
                        <a:rPr lang="en-US" b="0" i="0" smtClean="0">
                          <a:latin typeface="American Typewriter" panose="02090604020004020304" pitchFamily="18" charset="77"/>
                        </a:rPr>
                        <m:t> (</m:t>
                      </m:r>
                      <m:r>
                        <m:rPr>
                          <m:nor/>
                        </m:rPr>
                        <a:rPr lang="en-US" b="0" i="0" smtClean="0">
                          <a:latin typeface="American Typewriter" panose="02090604020004020304" pitchFamily="18" charset="77"/>
                        </a:rPr>
                        <m:t>corrupted</m:t>
                      </m:r>
                      <m:r>
                        <m:rPr>
                          <m:nor/>
                        </m:rPr>
                        <a:rPr lang="en-US" b="0" i="0" smtClean="0">
                          <a:latin typeface="American Typewriter" panose="02090604020004020304" pitchFamily="18" charset="77"/>
                        </a:rPr>
                        <m:t>)</m:t>
                      </m:r>
                    </m:oMath>
                  </m:oMathPara>
                </a14:m>
                <a:endParaRPr lang="en-US" dirty="0">
                  <a:latin typeface="American Typewriter" panose="02090604020004020304" pitchFamily="18" charset="77"/>
                </a:endParaRPr>
              </a:p>
            </p:txBody>
          </p:sp>
        </mc:Choice>
        <mc:Fallback>
          <p:sp>
            <p:nvSpPr>
              <p:cNvPr id="46" name="TextBox 45">
                <a:extLst>
                  <a:ext uri="{FF2B5EF4-FFF2-40B4-BE49-F238E27FC236}">
                    <a16:creationId xmlns:a16="http://schemas.microsoft.com/office/drawing/2014/main" id="{B9119EBD-7FA9-5EEE-ABB4-0FC6FC73160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501064" y="2080586"/>
                <a:ext cx="4170950" cy="287643"/>
              </a:xfrm>
              <a:prstGeom prst="rect">
                <a:avLst/>
              </a:prstGeom>
              <a:blipFill>
                <a:blip r:embed="rId9"/>
                <a:stretch>
                  <a:fillRect l="-1212" t="-16667" r="-1515" b="-3333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7" name="TextBox 46">
            <a:extLst>
              <a:ext uri="{FF2B5EF4-FFF2-40B4-BE49-F238E27FC236}">
                <a16:creationId xmlns:a16="http://schemas.microsoft.com/office/drawing/2014/main" id="{37FAB39D-1672-0155-BE2E-7C81BC5CD9CB}"/>
              </a:ext>
            </a:extLst>
          </p:cNvPr>
          <p:cNvSpPr txBox="1"/>
          <p:nvPr/>
        </p:nvSpPr>
        <p:spPr>
          <a:xfrm>
            <a:off x="2501064" y="2449918"/>
            <a:ext cx="220284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American Typewriter" panose="02090604020004020304" pitchFamily="18" charset="77"/>
              </a:rPr>
              <a:t>If (evaluated == 0)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48" name="TextBox 47">
                <a:extLst>
                  <a:ext uri="{FF2B5EF4-FFF2-40B4-BE49-F238E27FC236}">
                    <a16:creationId xmlns:a16="http://schemas.microsoft.com/office/drawing/2014/main" id="{F3887481-72D1-AF4D-822C-8646B209BC2A}"/>
                  </a:ext>
                </a:extLst>
              </p:cNvPr>
              <p:cNvSpPr txBox="1"/>
              <p:nvPr/>
            </p:nvSpPr>
            <p:spPr>
              <a:xfrm>
                <a:off x="2793432" y="2955210"/>
                <a:ext cx="2061462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b="0" i="1" smtClean="0">
                          <a:latin typeface="American Typewriter" panose="02090604020004020304" pitchFamily="18" charset="77"/>
                        </a:rPr>
                        <m:t>S</m:t>
                      </m:r>
                      <m:r>
                        <m:rPr>
                          <m:nor/>
                        </m:rPr>
                        <a:rPr lang="en-US" b="0" i="0" smtClean="0">
                          <a:latin typeface="American Typewriter" panose="02090604020004020304" pitchFamily="18" charset="77"/>
                        </a:rPr>
                        <m:t>et</m:t>
                      </m:r>
                      <m:r>
                        <m:rPr>
                          <m:nor/>
                        </m:rPr>
                        <a:rPr lang="en-US" b="0" i="0" smtClean="0">
                          <a:latin typeface="American Typewriter" panose="02090604020004020304" pitchFamily="18" charset="77"/>
                        </a:rPr>
                        <m:t> </m:t>
                      </m:r>
                      <m:r>
                        <m:rPr>
                          <m:nor/>
                        </m:rPr>
                        <a:rPr lang="en-US" b="0" i="0" smtClean="0">
                          <a:latin typeface="American Typewriter" panose="02090604020004020304" pitchFamily="18" charset="77"/>
                        </a:rPr>
                        <m:t>input</m:t>
                      </m:r>
                      <m:r>
                        <m:rPr>
                          <m:nor/>
                        </m:rPr>
                        <a:rPr lang="en-US" b="0" i="0" smtClean="0">
                          <a:latin typeface="American Typewriter" panose="02090604020004020304" pitchFamily="18" charset="77"/>
                        </a:rPr>
                        <m:t>-</m:t>
                      </m:r>
                      <m:r>
                        <m:rPr>
                          <m:nor/>
                        </m:rPr>
                        <a:rPr lang="en-US" b="0" i="0" smtClean="0">
                          <a:latin typeface="American Typewriter" panose="02090604020004020304" pitchFamily="18" charset="77"/>
                        </a:rPr>
                        <m:t>read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←1</m:t>
                      </m:r>
                    </m:oMath>
                  </m:oMathPara>
                </a14:m>
                <a:endParaRPr lang="en-US" dirty="0">
                  <a:latin typeface="American Typewriter" panose="02090604020004020304" pitchFamily="18" charset="77"/>
                </a:endParaRPr>
              </a:p>
            </p:txBody>
          </p:sp>
        </mc:Choice>
        <mc:Fallback>
          <p:sp>
            <p:nvSpPr>
              <p:cNvPr id="48" name="TextBox 47">
                <a:extLst>
                  <a:ext uri="{FF2B5EF4-FFF2-40B4-BE49-F238E27FC236}">
                    <a16:creationId xmlns:a16="http://schemas.microsoft.com/office/drawing/2014/main" id="{F3887481-72D1-AF4D-822C-8646B209BC2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793432" y="2955210"/>
                <a:ext cx="2061462" cy="276999"/>
              </a:xfrm>
              <a:prstGeom prst="rect">
                <a:avLst/>
              </a:prstGeom>
              <a:blipFill>
                <a:blip r:embed="rId10"/>
                <a:stretch>
                  <a:fillRect l="-1829" t="-17391" r="-1829" b="-3913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49" name="TextBox 48">
                <a:extLst>
                  <a:ext uri="{FF2B5EF4-FFF2-40B4-BE49-F238E27FC236}">
                    <a16:creationId xmlns:a16="http://schemas.microsoft.com/office/drawing/2014/main" id="{1692DBD4-40FE-0DA1-D1CF-1BF0C282271A}"/>
                  </a:ext>
                </a:extLst>
              </p:cNvPr>
              <p:cNvSpPr txBox="1"/>
              <p:nvPr/>
            </p:nvSpPr>
            <p:spPr>
              <a:xfrm>
                <a:off x="2793432" y="3398811"/>
                <a:ext cx="1277016" cy="25564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nor/>
                        </m:rPr>
                        <a:rPr lang="en-US" sz="1600" b="0" i="0" smtClean="0">
                          <a:latin typeface="American Typewriter" panose="02090604020004020304" pitchFamily="18" charset="77"/>
                        </a:rPr>
                        <m:t>Store</m:t>
                      </m:r>
                      <m:r>
                        <a:rPr lang="en-US" sz="1600" b="0" i="1" smtClean="0">
                          <a:latin typeface="Cambria Math" panose="02040503050406030204" pitchFamily="18" charset="0"/>
                        </a:rPr>
                        <m:t>: </m:t>
                      </m:r>
                      <m:r>
                        <m:rPr>
                          <m:nor/>
                        </m:rPr>
                        <a:rPr lang="en-US" sz="1600" b="0" i="0" smtClean="0">
                          <a:latin typeface="American Typewriter" panose="02090604020004020304" pitchFamily="18" charset="77"/>
                        </a:rPr>
                        <m:t>(</m:t>
                      </m:r>
                      <m:r>
                        <m:rPr>
                          <m:nor/>
                        </m:rPr>
                        <a:rPr lang="en-US" sz="1600" b="0" i="0" smtClean="0">
                          <a:latin typeface="American Typewriter" panose="02090604020004020304" pitchFamily="18" charset="77"/>
                        </a:rPr>
                        <m:t>i</m:t>
                      </m:r>
                      <m:r>
                        <m:rPr>
                          <m:nor/>
                        </m:rPr>
                        <a:rPr lang="en-US" sz="1600" b="0" i="0" smtClean="0">
                          <a:latin typeface="American Typewriter" panose="02090604020004020304" pitchFamily="18" charset="77"/>
                        </a:rPr>
                        <m:t>, </m:t>
                      </m:r>
                      <m:sSub>
                        <m:sSubPr>
                          <m:ctrlPr>
                            <a:rPr lang="en-US" sz="16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nor/>
                            </m:rPr>
                            <a:rPr lang="en-US" sz="1600" b="0" i="0" smtClean="0">
                              <a:latin typeface="American Typewriter" panose="02090604020004020304" pitchFamily="18" charset="77"/>
                            </a:rPr>
                            <m:t>x</m:t>
                          </m:r>
                        </m:e>
                        <m:sub>
                          <m:r>
                            <m:rPr>
                              <m:nor/>
                            </m:rPr>
                            <a:rPr lang="en-US" sz="1600" b="0" i="0" smtClean="0">
                              <a:latin typeface="American Typewriter" panose="02090604020004020304" pitchFamily="18" charset="77"/>
                            </a:rPr>
                            <m:t>i</m:t>
                          </m:r>
                        </m:sub>
                      </m:sSub>
                      <m:r>
                        <m:rPr>
                          <m:nor/>
                        </m:rPr>
                        <a:rPr lang="en-US" sz="1600" b="0" i="0" smtClean="0">
                          <a:latin typeface="American Typewriter" panose="02090604020004020304" pitchFamily="18" charset="77"/>
                        </a:rPr>
                        <m:t>)</m:t>
                      </m:r>
                    </m:oMath>
                  </m:oMathPara>
                </a14:m>
                <a:endParaRPr lang="en-US" sz="1600" dirty="0">
                  <a:latin typeface="American Typewriter" panose="02090604020004020304" pitchFamily="18" charset="77"/>
                </a:endParaRPr>
              </a:p>
            </p:txBody>
          </p:sp>
        </mc:Choice>
        <mc:Fallback>
          <p:sp>
            <p:nvSpPr>
              <p:cNvPr id="49" name="TextBox 48">
                <a:extLst>
                  <a:ext uri="{FF2B5EF4-FFF2-40B4-BE49-F238E27FC236}">
                    <a16:creationId xmlns:a16="http://schemas.microsoft.com/office/drawing/2014/main" id="{1692DBD4-40FE-0DA1-D1CF-1BF0C282271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793432" y="3398811"/>
                <a:ext cx="1277016" cy="255647"/>
              </a:xfrm>
              <a:prstGeom prst="rect">
                <a:avLst/>
              </a:prstGeom>
              <a:blipFill>
                <a:blip r:embed="rId11"/>
                <a:stretch>
                  <a:fillRect l="-2941" t="-14286" r="-4902" b="-3333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0" name="TextBox 49">
            <a:extLst>
              <a:ext uri="{FF2B5EF4-FFF2-40B4-BE49-F238E27FC236}">
                <a16:creationId xmlns:a16="http://schemas.microsoft.com/office/drawing/2014/main" id="{EFE7D356-E07B-3A58-A1A8-E89A460C9284}"/>
              </a:ext>
            </a:extLst>
          </p:cNvPr>
          <p:cNvSpPr txBox="1"/>
          <p:nvPr/>
        </p:nvSpPr>
        <p:spPr>
          <a:xfrm>
            <a:off x="4070448" y="3343223"/>
            <a:ext cx="449674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overriding any previously stored  for party </a:t>
            </a:r>
            <a:r>
              <a:rPr lang="en-US" dirty="0" err="1">
                <a:latin typeface="American Typewriter" panose="02090604020004020304" pitchFamily="18" charset="77"/>
              </a:rPr>
              <a:t>i</a:t>
            </a:r>
            <a:endParaRPr lang="en-US" dirty="0">
              <a:latin typeface="American Typewriter" panose="02090604020004020304" pitchFamily="18" charset="77"/>
            </a:endParaRPr>
          </a:p>
        </p:txBody>
      </p:sp>
    </p:spTree>
    <p:extLst>
      <p:ext uri="{BB962C8B-B14F-4D97-AF65-F5344CB8AC3E}">
        <p14:creationId xmlns:p14="http://schemas.microsoft.com/office/powerpoint/2010/main" val="1314134451"/>
      </p:ext>
    </p:extLst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9836482-FC37-C40A-6E0B-34E3F5511F9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6CA4541C-01C3-AFAA-3480-650CB0DA472A}"/>
              </a:ext>
            </a:extLst>
          </p:cNvPr>
          <p:cNvSpPr txBox="1"/>
          <p:nvPr/>
        </p:nvSpPr>
        <p:spPr>
          <a:xfrm>
            <a:off x="152712" y="598252"/>
            <a:ext cx="11500571" cy="10156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6000" dirty="0">
                <a:latin typeface="Chalk Board" panose="02000500000000000000" pitchFamily="2" charset="0"/>
              </a:rPr>
              <a:t>Secure Synchronous Function Evaluation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6F5EFD62-2276-08ED-9223-A9367881A844}"/>
              </a:ext>
            </a:extLst>
          </p:cNvPr>
          <p:cNvSpPr txBox="1"/>
          <p:nvPr/>
        </p:nvSpPr>
        <p:spPr>
          <a:xfrm>
            <a:off x="152712" y="1924455"/>
            <a:ext cx="203799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Evaluate Function: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D52FC860-7714-A14E-2D04-9826E2FDBBFF}"/>
              </a:ext>
            </a:extLst>
          </p:cNvPr>
          <p:cNvSpPr txBox="1"/>
          <p:nvPr/>
        </p:nvSpPr>
        <p:spPr>
          <a:xfrm>
            <a:off x="2190706" y="1947560"/>
            <a:ext cx="620337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Trigger: (evaluate)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D2BC951B-4F14-CC3C-DA96-AFADBAECF8ED}"/>
              </a:ext>
            </a:extLst>
          </p:cNvPr>
          <p:cNvSpPr txBox="1"/>
          <p:nvPr/>
        </p:nvSpPr>
        <p:spPr>
          <a:xfrm>
            <a:off x="2933109" y="3141579"/>
            <a:ext cx="1837459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(evaluated == 0)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2" name="TextBox 31">
                <a:extLst>
                  <a:ext uri="{FF2B5EF4-FFF2-40B4-BE49-F238E27FC236}">
                    <a16:creationId xmlns:a16="http://schemas.microsoft.com/office/drawing/2014/main" id="{F1D46D0F-4D41-9304-7BD1-98FFE70D30EC}"/>
                  </a:ext>
                </a:extLst>
              </p:cNvPr>
              <p:cNvSpPr txBox="1"/>
              <p:nvPr/>
            </p:nvSpPr>
            <p:spPr>
              <a:xfrm>
                <a:off x="2944224" y="4118047"/>
                <a:ext cx="2282847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nor/>
                        </m:rPr>
                        <a:rPr lang="en-US" b="0" i="0" smtClean="0">
                          <a:latin typeface="American Typewriter" panose="02090604020004020304" pitchFamily="18" charset="77"/>
                        </a:rPr>
                        <m:t>Set</m:t>
                      </m:r>
                      <m:r>
                        <m:rPr>
                          <m:nor/>
                        </m:rPr>
                        <a:rPr lang="en-US" b="0" i="0" smtClean="0">
                          <a:latin typeface="American Typewriter" panose="02090604020004020304" pitchFamily="18" charset="77"/>
                        </a:rPr>
                        <m:t>: </m:t>
                      </m:r>
                      <m:r>
                        <m:rPr>
                          <m:nor/>
                        </m:rPr>
                        <a:rPr lang="en-US" b="0" i="0" smtClean="0">
                          <a:latin typeface="American Typewriter" panose="02090604020004020304" pitchFamily="18" charset="77"/>
                        </a:rPr>
                        <m:t>evaluated</m:t>
                      </m:r>
                      <m:r>
                        <m:rPr>
                          <m:nor/>
                        </m:rPr>
                        <a:rPr lang="en-US" b="0" i="0" smtClean="0">
                          <a:latin typeface="American Typewriter" panose="02090604020004020304" pitchFamily="18" charset="77"/>
                        </a:rPr>
                        <m:t> ←1</m:t>
                      </m:r>
                    </m:oMath>
                  </m:oMathPara>
                </a14:m>
                <a:endParaRPr lang="en-US" dirty="0">
                  <a:latin typeface="American Typewriter" panose="02090604020004020304" pitchFamily="18" charset="77"/>
                </a:endParaRPr>
              </a:p>
            </p:txBody>
          </p:sp>
        </mc:Choice>
        <mc:Fallback>
          <p:sp>
            <p:nvSpPr>
              <p:cNvPr id="32" name="TextBox 31">
                <a:extLst>
                  <a:ext uri="{FF2B5EF4-FFF2-40B4-BE49-F238E27FC236}">
                    <a16:creationId xmlns:a16="http://schemas.microsoft.com/office/drawing/2014/main" id="{F1D46D0F-4D41-9304-7BD1-98FFE70D30E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944224" y="4118047"/>
                <a:ext cx="2282847" cy="369332"/>
              </a:xfrm>
              <a:prstGeom prst="rect">
                <a:avLst/>
              </a:prstGeom>
              <a:blipFill>
                <a:blip r:embed="rId3"/>
                <a:stretch>
                  <a:fillRect b="-1666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35" name="TextBox 34">
                <a:extLst>
                  <a:ext uri="{FF2B5EF4-FFF2-40B4-BE49-F238E27FC236}">
                    <a16:creationId xmlns:a16="http://schemas.microsoft.com/office/drawing/2014/main" id="{9CEA1A8B-CA9A-2B29-C2AA-EBE3C1E6A12B}"/>
                  </a:ext>
                </a:extLst>
              </p:cNvPr>
              <p:cNvSpPr txBox="1"/>
              <p:nvPr/>
            </p:nvSpPr>
            <p:spPr>
              <a:xfrm>
                <a:off x="4186138" y="4497956"/>
                <a:ext cx="2449710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(</m:t>
                      </m:r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,…,</m:t>
                      </m:r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𝑓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(</m:t>
                      </m:r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,…,</m:t>
                      </m:r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35" name="TextBox 34">
                <a:extLst>
                  <a:ext uri="{FF2B5EF4-FFF2-40B4-BE49-F238E27FC236}">
                    <a16:creationId xmlns:a16="http://schemas.microsoft.com/office/drawing/2014/main" id="{9CEA1A8B-CA9A-2B29-C2AA-EBE3C1E6A12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186138" y="4497956"/>
                <a:ext cx="2449710" cy="276999"/>
              </a:xfrm>
              <a:prstGeom prst="rect">
                <a:avLst/>
              </a:prstGeom>
              <a:blipFill>
                <a:blip r:embed="rId4"/>
                <a:stretch>
                  <a:fillRect l="-3093" t="-4545" r="-3093" b="-3636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6" name="TextBox 35">
            <a:extLst>
              <a:ext uri="{FF2B5EF4-FFF2-40B4-BE49-F238E27FC236}">
                <a16:creationId xmlns:a16="http://schemas.microsoft.com/office/drawing/2014/main" id="{0C330429-9E8A-7619-DEDF-765ACB443835}"/>
              </a:ext>
            </a:extLst>
          </p:cNvPr>
          <p:cNvSpPr txBox="1"/>
          <p:nvPr/>
        </p:nvSpPr>
        <p:spPr>
          <a:xfrm>
            <a:off x="3019757" y="4473801"/>
            <a:ext cx="118859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Compute: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4BCB08D7-0F83-8E62-E61C-54AF57C9708E}"/>
              </a:ext>
            </a:extLst>
          </p:cNvPr>
          <p:cNvSpPr txBox="1"/>
          <p:nvPr/>
        </p:nvSpPr>
        <p:spPr>
          <a:xfrm>
            <a:off x="3019757" y="4829555"/>
            <a:ext cx="412493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Leak outputs for parties in C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64CF4D65-BFBF-54CA-5553-F9BBCED1148E}"/>
              </a:ext>
            </a:extLst>
          </p:cNvPr>
          <p:cNvSpPr txBox="1"/>
          <p:nvPr/>
        </p:nvSpPr>
        <p:spPr>
          <a:xfrm>
            <a:off x="2933109" y="2865869"/>
            <a:ext cx="1837459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inputs-ready = 1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97E1ECA8-5FD8-CDBD-CF12-C230B5262FFC}"/>
              </a:ext>
            </a:extLst>
          </p:cNvPr>
          <p:cNvSpPr txBox="1"/>
          <p:nvPr/>
        </p:nvSpPr>
        <p:spPr>
          <a:xfrm>
            <a:off x="2162724" y="2981846"/>
            <a:ext cx="449763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IF:</a:t>
            </a:r>
          </a:p>
        </p:txBody>
      </p:sp>
      <p:sp>
        <p:nvSpPr>
          <p:cNvPr id="42" name="Rectangle 41">
            <a:extLst>
              <a:ext uri="{FF2B5EF4-FFF2-40B4-BE49-F238E27FC236}">
                <a16:creationId xmlns:a16="http://schemas.microsoft.com/office/drawing/2014/main" id="{C84A266E-3738-365C-AA8F-5C7C1E4B0949}"/>
              </a:ext>
            </a:extLst>
          </p:cNvPr>
          <p:cNvSpPr/>
          <p:nvPr/>
        </p:nvSpPr>
        <p:spPr>
          <a:xfrm>
            <a:off x="2847430" y="2839942"/>
            <a:ext cx="2234863" cy="670970"/>
          </a:xfrm>
          <a:prstGeom prst="rect">
            <a:avLst/>
          </a:prstGeom>
          <a:solidFill>
            <a:schemeClr val="accent2">
              <a:lumMod val="40000"/>
              <a:lumOff val="60000"/>
              <a:alpha val="37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3" name="Rectangle 42">
            <a:extLst>
              <a:ext uri="{FF2B5EF4-FFF2-40B4-BE49-F238E27FC236}">
                <a16:creationId xmlns:a16="http://schemas.microsoft.com/office/drawing/2014/main" id="{D535CAD8-AABC-1C3E-1CE9-8E18E4CFF3B7}"/>
              </a:ext>
            </a:extLst>
          </p:cNvPr>
          <p:cNvSpPr/>
          <p:nvPr/>
        </p:nvSpPr>
        <p:spPr>
          <a:xfrm>
            <a:off x="2847430" y="4086900"/>
            <a:ext cx="3788418" cy="1048362"/>
          </a:xfrm>
          <a:prstGeom prst="rect">
            <a:avLst/>
          </a:prstGeom>
          <a:solidFill>
            <a:schemeClr val="accent3">
              <a:lumMod val="40000"/>
              <a:lumOff val="60000"/>
              <a:alpha val="37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0F4CD0A9-E219-B6FA-E1DB-5D97BC4C99D6}"/>
              </a:ext>
            </a:extLst>
          </p:cNvPr>
          <p:cNvSpPr txBox="1"/>
          <p:nvPr/>
        </p:nvSpPr>
        <p:spPr>
          <a:xfrm>
            <a:off x="1955739" y="4370181"/>
            <a:ext cx="81624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THEN:</a:t>
            </a:r>
          </a:p>
        </p:txBody>
      </p:sp>
    </p:spTree>
    <p:extLst>
      <p:ext uri="{BB962C8B-B14F-4D97-AF65-F5344CB8AC3E}">
        <p14:creationId xmlns:p14="http://schemas.microsoft.com/office/powerpoint/2010/main" val="1672928934"/>
      </p:ext>
    </p:extLst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CB2DCEC-3CEE-6981-5F58-21D9D242883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6DB482D6-0796-7C83-B38A-5C6B1A0DAF21}"/>
              </a:ext>
            </a:extLst>
          </p:cNvPr>
          <p:cNvSpPr txBox="1"/>
          <p:nvPr/>
        </p:nvSpPr>
        <p:spPr>
          <a:xfrm>
            <a:off x="152712" y="598252"/>
            <a:ext cx="11500571" cy="10156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6000" dirty="0">
                <a:latin typeface="Chalk Board" panose="02000500000000000000" pitchFamily="2" charset="0"/>
              </a:rPr>
              <a:t>Secure Synchronous Function Evaluation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A519468F-4A45-7823-F7E5-B305DCB55E45}"/>
              </a:ext>
            </a:extLst>
          </p:cNvPr>
          <p:cNvSpPr txBox="1"/>
          <p:nvPr/>
        </p:nvSpPr>
        <p:spPr>
          <a:xfrm>
            <a:off x="321404" y="3786154"/>
            <a:ext cx="105310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Delivery: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51DBACCB-A402-3CE3-BF7B-54AF512E3189}"/>
              </a:ext>
            </a:extLst>
          </p:cNvPr>
          <p:cNvSpPr txBox="1"/>
          <p:nvPr/>
        </p:nvSpPr>
        <p:spPr>
          <a:xfrm>
            <a:off x="57226" y="2040848"/>
            <a:ext cx="2633028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dirty="0"/>
              <a:t>Simultaneous Output: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87C184B-6C48-B2D5-9B88-5188CCA88C4F}"/>
              </a:ext>
            </a:extLst>
          </p:cNvPr>
          <p:cNvSpPr txBox="1"/>
          <p:nvPr/>
        </p:nvSpPr>
        <p:spPr>
          <a:xfrm>
            <a:off x="2597933" y="2068203"/>
            <a:ext cx="7893816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On input delivery-round on </a:t>
            </a:r>
            <a:r>
              <a:rPr lang="en-US" dirty="0" err="1">
                <a:latin typeface="American Typewriter" panose="02090604020004020304" pitchFamily="18" charset="77"/>
              </a:rPr>
              <a:t>SFE.infl</a:t>
            </a:r>
            <a:r>
              <a:rPr lang="en-US" dirty="0"/>
              <a:t>, where:</a:t>
            </a:r>
          </a:p>
          <a:p>
            <a:r>
              <a:rPr lang="en-US" dirty="0"/>
              <a:t> </a:t>
            </a:r>
            <a:r>
              <a:rPr lang="en-US" dirty="0">
                <a:latin typeface="American Typewriter" panose="02090604020004020304" pitchFamily="18" charset="77"/>
              </a:rPr>
              <a:t>evaluated = 1 </a:t>
            </a:r>
            <a:r>
              <a:rPr lang="en-US" dirty="0"/>
              <a:t>and </a:t>
            </a:r>
            <a:r>
              <a:rPr lang="en-US" dirty="0">
                <a:latin typeface="American Typewriter" panose="02090604020004020304" pitchFamily="18" charset="77"/>
              </a:rPr>
              <a:t>delivery-round=0</a:t>
            </a:r>
            <a:r>
              <a:rPr lang="en-US" dirty="0"/>
              <a:t>,</a:t>
            </a:r>
          </a:p>
          <a:p>
            <a:r>
              <a:rPr lang="en-US" dirty="0"/>
              <a:t> Proceed as follows: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5D9A02B3-3E39-73A6-6407-BA67A36AC930}"/>
              </a:ext>
            </a:extLst>
          </p:cNvPr>
          <p:cNvSpPr txBox="1"/>
          <p:nvPr/>
        </p:nvSpPr>
        <p:spPr>
          <a:xfrm>
            <a:off x="2529253" y="3150705"/>
            <a:ext cx="356674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If we are at a point where no party 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627A1646-4209-D2CD-0CD9-4B7359D01AEA}"/>
                  </a:ext>
                </a:extLst>
              </p:cNvPr>
              <p:cNvSpPr txBox="1"/>
              <p:nvPr/>
            </p:nvSpPr>
            <p:spPr>
              <a:xfrm>
                <a:off x="5992091" y="3213634"/>
                <a:ext cx="448841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nor/>
                        </m:rPr>
                        <a:rPr lang="en-US" b="0" i="0" smtClean="0">
                          <a:latin typeface="American Typewriter" panose="02090604020004020304" pitchFamily="18" charset="77"/>
                        </a:rPr>
                        <m:t>i</m:t>
                      </m:r>
                      <m:r>
                        <m:rPr>
                          <m:nor/>
                        </m:rPr>
                        <a:rPr lang="en-US" b="0" i="0" smtClean="0">
                          <a:latin typeface="American Typewriter" panose="02090604020004020304" pitchFamily="18" charset="77"/>
                        </a:rPr>
                        <m:t>∉</m:t>
                      </m:r>
                      <m:r>
                        <m:rPr>
                          <m:nor/>
                        </m:rPr>
                        <a:rPr lang="en-US" b="0" i="0" smtClean="0">
                          <a:latin typeface="American Typewriter" panose="02090604020004020304" pitchFamily="18" charset="77"/>
                        </a:rPr>
                        <m:t>A</m:t>
                      </m:r>
                    </m:oMath>
                  </m:oMathPara>
                </a14:m>
                <a:endParaRPr lang="en-US" dirty="0">
                  <a:latin typeface="American Typewriter" panose="02090604020004020304" pitchFamily="18" charset="77"/>
                </a:endParaRPr>
              </a:p>
            </p:txBody>
          </p:sp>
        </mc:Choice>
        <mc:Fallback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627A1646-4209-D2CD-0CD9-4B7359D01AE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992091" y="3213634"/>
                <a:ext cx="448841" cy="276999"/>
              </a:xfrm>
              <a:prstGeom prst="rect">
                <a:avLst/>
              </a:prstGeom>
              <a:blipFill>
                <a:blip r:embed="rId2"/>
                <a:stretch>
                  <a:fillRect l="-8108" r="-8108" b="-1666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0" name="TextBox 9">
            <a:extLst>
              <a:ext uri="{FF2B5EF4-FFF2-40B4-BE49-F238E27FC236}">
                <a16:creationId xmlns:a16="http://schemas.microsoft.com/office/drawing/2014/main" id="{D4279FDA-74F3-CFCF-3FE1-BCEC78F84DAF}"/>
              </a:ext>
            </a:extLst>
          </p:cNvPr>
          <p:cNvSpPr txBox="1"/>
          <p:nvPr/>
        </p:nvSpPr>
        <p:spPr>
          <a:xfrm>
            <a:off x="6544841" y="3139823"/>
            <a:ext cx="315491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was </a:t>
            </a:r>
            <a:r>
              <a:rPr lang="en-US" i="1" dirty="0"/>
              <a:t>clocked-out</a:t>
            </a:r>
            <a:r>
              <a:rPr lang="en-US" dirty="0"/>
              <a:t> yet, then set: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9A5B02D8-9252-464F-C757-7989B95B1E31}"/>
                  </a:ext>
                </a:extLst>
              </p:cNvPr>
              <p:cNvSpPr txBox="1"/>
              <p:nvPr/>
            </p:nvSpPr>
            <p:spPr>
              <a:xfrm>
                <a:off x="9040008" y="3449069"/>
                <a:ext cx="1976503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nor/>
                        </m:rPr>
                        <a:rPr lang="en-US" b="0" i="0" smtClean="0">
                          <a:latin typeface="American Typewriter" panose="02090604020004020304" pitchFamily="18" charset="77"/>
                        </a:rPr>
                        <m:t>delivery</m:t>
                      </m:r>
                      <m:r>
                        <m:rPr>
                          <m:nor/>
                        </m:rPr>
                        <a:rPr lang="en-US" b="0" i="0" smtClean="0">
                          <a:latin typeface="American Typewriter" panose="02090604020004020304" pitchFamily="18" charset="77"/>
                        </a:rPr>
                        <m:t>-</m:t>
                      </m:r>
                      <m:r>
                        <m:rPr>
                          <m:nor/>
                        </m:rPr>
                        <a:rPr lang="en-US" b="0" i="0" smtClean="0">
                          <a:latin typeface="American Typewriter" panose="02090604020004020304" pitchFamily="18" charset="77"/>
                        </a:rPr>
                        <m:t>round</m:t>
                      </m:r>
                      <m:r>
                        <m:rPr>
                          <m:nor/>
                        </m:rPr>
                        <a:rPr lang="en-US" b="0" i="0" smtClean="0">
                          <a:latin typeface="American Typewriter" panose="02090604020004020304" pitchFamily="18" charset="77"/>
                        </a:rPr>
                        <m:t>=1</m:t>
                      </m:r>
                    </m:oMath>
                  </m:oMathPara>
                </a14:m>
                <a:endParaRPr lang="en-US" dirty="0">
                  <a:latin typeface="American Typewriter" panose="02090604020004020304" pitchFamily="18" charset="77"/>
                </a:endParaRPr>
              </a:p>
            </p:txBody>
          </p:sp>
        </mc:Choice>
        <mc:Fallback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9A5B02D8-9252-464F-C757-7989B95B1E3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040008" y="3449069"/>
                <a:ext cx="1976503" cy="276999"/>
              </a:xfrm>
              <a:prstGeom prst="rect">
                <a:avLst/>
              </a:prstGeom>
              <a:blipFill>
                <a:blip r:embed="rId3"/>
                <a:stretch>
                  <a:fillRect l="-3185" r="-1911" b="-3043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5" name="TextBox 24">
            <a:extLst>
              <a:ext uri="{FF2B5EF4-FFF2-40B4-BE49-F238E27FC236}">
                <a16:creationId xmlns:a16="http://schemas.microsoft.com/office/drawing/2014/main" id="{7DD19DE3-324E-FF6C-2F7F-283EE0A86505}"/>
              </a:ext>
            </a:extLst>
          </p:cNvPr>
          <p:cNvSpPr txBox="1"/>
          <p:nvPr/>
        </p:nvSpPr>
        <p:spPr>
          <a:xfrm>
            <a:off x="1430014" y="3774093"/>
            <a:ext cx="258056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Trigger: </a:t>
            </a:r>
            <a:r>
              <a:rPr lang="en-US" dirty="0">
                <a:latin typeface="American Typewriter" panose="02090604020004020304" pitchFamily="18" charset="77"/>
              </a:rPr>
              <a:t>(</a:t>
            </a:r>
            <a:r>
              <a:rPr lang="en-US" dirty="0" err="1">
                <a:latin typeface="American Typewriter" panose="02090604020004020304" pitchFamily="18" charset="77"/>
              </a:rPr>
              <a:t>clockout</a:t>
            </a:r>
            <a:r>
              <a:rPr lang="en-US" dirty="0">
                <a:latin typeface="American Typewriter" panose="02090604020004020304" pitchFamily="18" charset="77"/>
              </a:rPr>
              <a:t>, </a:t>
            </a:r>
            <a:r>
              <a:rPr lang="en-US" dirty="0" err="1">
                <a:latin typeface="American Typewriter" panose="02090604020004020304" pitchFamily="18" charset="77"/>
              </a:rPr>
              <a:t>i</a:t>
            </a:r>
            <a:r>
              <a:rPr lang="en-US" dirty="0">
                <a:latin typeface="American Typewriter" panose="02090604020004020304" pitchFamily="18" charset="77"/>
              </a:rPr>
              <a:t>) </a:t>
            </a: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03BBC938-3001-AB00-1604-640E2B52B9D7}"/>
              </a:ext>
            </a:extLst>
          </p:cNvPr>
          <p:cNvSpPr/>
          <p:nvPr/>
        </p:nvSpPr>
        <p:spPr>
          <a:xfrm>
            <a:off x="2123351" y="4229784"/>
            <a:ext cx="2580560" cy="369331"/>
          </a:xfrm>
          <a:prstGeom prst="rect">
            <a:avLst/>
          </a:prstGeom>
          <a:solidFill>
            <a:schemeClr val="accent2">
              <a:lumMod val="40000"/>
              <a:lumOff val="60000"/>
              <a:alpha val="37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261C7468-84B5-CA63-9726-15EE33E7B011}"/>
              </a:ext>
            </a:extLst>
          </p:cNvPr>
          <p:cNvSpPr/>
          <p:nvPr/>
        </p:nvSpPr>
        <p:spPr>
          <a:xfrm>
            <a:off x="2114579" y="4739947"/>
            <a:ext cx="3788418" cy="372777"/>
          </a:xfrm>
          <a:prstGeom prst="rect">
            <a:avLst/>
          </a:prstGeom>
          <a:solidFill>
            <a:schemeClr val="accent3">
              <a:lumMod val="40000"/>
              <a:lumOff val="60000"/>
              <a:alpha val="37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BE04916E-E99C-2B44-B9B4-5664EC3E432A}"/>
              </a:ext>
            </a:extLst>
          </p:cNvPr>
          <p:cNvSpPr txBox="1"/>
          <p:nvPr/>
        </p:nvSpPr>
        <p:spPr>
          <a:xfrm>
            <a:off x="2141660" y="4263835"/>
            <a:ext cx="258056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latin typeface="American Typewriter" panose="02090604020004020304" pitchFamily="18" charset="77"/>
              </a:rPr>
              <a:t>delivery-round = 1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3DF6E533-18C9-907D-17F8-034BAE047378}"/>
              </a:ext>
            </a:extLst>
          </p:cNvPr>
          <p:cNvSpPr txBox="1"/>
          <p:nvPr/>
        </p:nvSpPr>
        <p:spPr>
          <a:xfrm>
            <a:off x="2141660" y="4729478"/>
            <a:ext cx="370628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latin typeface="American Typewriter" panose="02090604020004020304" pitchFamily="18" charset="77"/>
              </a:rPr>
              <a:t>Output </a:t>
            </a:r>
            <a:r>
              <a:rPr lang="en-US" dirty="0" err="1">
                <a:latin typeface="American Typewriter" panose="02090604020004020304" pitchFamily="18" charset="77"/>
              </a:rPr>
              <a:t>yi</a:t>
            </a:r>
            <a:r>
              <a:rPr lang="en-US" dirty="0">
                <a:latin typeface="American Typewriter" panose="02090604020004020304" pitchFamily="18" charset="77"/>
              </a:rPr>
              <a:t>​ to party </a:t>
            </a:r>
            <a:r>
              <a:rPr lang="en-US" dirty="0" err="1">
                <a:latin typeface="American Typewriter" panose="02090604020004020304" pitchFamily="18" charset="77"/>
              </a:rPr>
              <a:t>i</a:t>
            </a:r>
            <a:endParaRPr lang="en-US" dirty="0">
              <a:latin typeface="American Typewriter" panose="02090604020004020304" pitchFamily="18" charset="77"/>
            </a:endParaRP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98756F1B-EE5F-8D8B-D5EE-9C378F8BE696}"/>
              </a:ext>
            </a:extLst>
          </p:cNvPr>
          <p:cNvSpPr txBox="1"/>
          <p:nvPr/>
        </p:nvSpPr>
        <p:spPr>
          <a:xfrm>
            <a:off x="1458426" y="4263835"/>
            <a:ext cx="51264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IF: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DB453B2F-29F6-8EF5-225B-4BA46100F216}"/>
              </a:ext>
            </a:extLst>
          </p:cNvPr>
          <p:cNvSpPr txBox="1"/>
          <p:nvPr/>
        </p:nvSpPr>
        <p:spPr>
          <a:xfrm>
            <a:off x="1433783" y="4713470"/>
            <a:ext cx="826077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Then: </a:t>
            </a:r>
          </a:p>
        </p:txBody>
      </p:sp>
    </p:spTree>
    <p:extLst>
      <p:ext uri="{BB962C8B-B14F-4D97-AF65-F5344CB8AC3E}">
        <p14:creationId xmlns:p14="http://schemas.microsoft.com/office/powerpoint/2010/main" val="78097151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7344</TotalTime>
  <Words>3509</Words>
  <Application>Microsoft Macintosh PowerPoint</Application>
  <PresentationFormat>Widescreen</PresentationFormat>
  <Paragraphs>664</Paragraphs>
  <Slides>70</Slides>
  <Notes>3</Notes>
  <HiddenSlides>0</HiddenSlides>
  <MMClips>0</MMClips>
  <ScaleCrop>false</ScaleCrop>
  <HeadingPairs>
    <vt:vector size="6" baseType="variant">
      <vt:variant>
        <vt:lpstr>Fonts Used</vt:lpstr>
      </vt:variant>
      <vt:variant>
        <vt:i4>11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70</vt:i4>
      </vt:variant>
    </vt:vector>
  </HeadingPairs>
  <TitlesOfParts>
    <vt:vector size="82" baseType="lpstr">
      <vt:lpstr>Cambria Math</vt:lpstr>
      <vt:lpstr>American Typewriter</vt:lpstr>
      <vt:lpstr>Christmas Chalk</vt:lpstr>
      <vt:lpstr>Chalk Board</vt:lpstr>
      <vt:lpstr>Aptos Display</vt:lpstr>
      <vt:lpstr>Bradley Hand</vt:lpstr>
      <vt:lpstr>Aptos</vt:lpstr>
      <vt:lpstr>Arial</vt:lpstr>
      <vt:lpstr>Helvetica</vt:lpstr>
      <vt:lpstr>Apple Chancery</vt:lpstr>
      <vt:lpstr>KG Ten Thousand Reasons</vt:lpstr>
      <vt:lpstr>Office Theme</vt:lpstr>
      <vt:lpstr>UC Security Model</vt:lpstr>
      <vt:lpstr>Logistics  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Adithya Vadapalli</dc:creator>
  <cp:keywords/>
  <dc:description/>
  <cp:lastModifiedBy>Adithya Vadapalli</cp:lastModifiedBy>
  <cp:revision>13</cp:revision>
  <dcterms:created xsi:type="dcterms:W3CDTF">2026-03-22T03:01:54Z</dcterms:created>
  <dcterms:modified xsi:type="dcterms:W3CDTF">2026-03-30T10:06:35Z</dcterms:modified>
  <cp:category/>
</cp:coreProperties>
</file>