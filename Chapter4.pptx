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77" r:id="rId3"/>
    <p:sldId id="306" r:id="rId4"/>
    <p:sldId id="313" r:id="rId5"/>
    <p:sldId id="304" r:id="rId6"/>
    <p:sldId id="307" r:id="rId7"/>
    <p:sldId id="309" r:id="rId8"/>
    <p:sldId id="314" r:id="rId9"/>
    <p:sldId id="310" r:id="rId10"/>
    <p:sldId id="311" r:id="rId11"/>
    <p:sldId id="312" r:id="rId12"/>
    <p:sldId id="305" r:id="rId13"/>
    <p:sldId id="315" r:id="rId14"/>
    <p:sldId id="317" r:id="rId15"/>
    <p:sldId id="316" r:id="rId16"/>
    <p:sldId id="318" r:id="rId17"/>
    <p:sldId id="319" r:id="rId18"/>
    <p:sldId id="282" r:id="rId19"/>
    <p:sldId id="320" r:id="rId20"/>
    <p:sldId id="280" r:id="rId21"/>
    <p:sldId id="281" r:id="rId22"/>
    <p:sldId id="279" r:id="rId23"/>
    <p:sldId id="273" r:id="rId24"/>
    <p:sldId id="258" r:id="rId25"/>
    <p:sldId id="268" r:id="rId26"/>
    <p:sldId id="263" r:id="rId27"/>
    <p:sldId id="260" r:id="rId28"/>
    <p:sldId id="274" r:id="rId29"/>
    <p:sldId id="264" r:id="rId30"/>
    <p:sldId id="265" r:id="rId31"/>
    <p:sldId id="269" r:id="rId32"/>
    <p:sldId id="275" r:id="rId33"/>
    <p:sldId id="276" r:id="rId34"/>
    <p:sldId id="270" r:id="rId35"/>
    <p:sldId id="271" r:id="rId36"/>
    <p:sldId id="272" r:id="rId37"/>
    <p:sldId id="278" r:id="rId38"/>
    <p:sldId id="303" r:id="rId39"/>
    <p:sldId id="261" r:id="rId40"/>
    <p:sldId id="288" r:id="rId41"/>
    <p:sldId id="289" r:id="rId42"/>
    <p:sldId id="283" r:id="rId43"/>
    <p:sldId id="284" r:id="rId44"/>
    <p:sldId id="290" r:id="rId45"/>
    <p:sldId id="291" r:id="rId46"/>
    <p:sldId id="292" r:id="rId47"/>
    <p:sldId id="293" r:id="rId48"/>
    <p:sldId id="299" r:id="rId49"/>
    <p:sldId id="300" r:id="rId50"/>
    <p:sldId id="301" r:id="rId51"/>
    <p:sldId id="302" r:id="rId52"/>
    <p:sldId id="294" r:id="rId53"/>
    <p:sldId id="295" r:id="rId54"/>
    <p:sldId id="296" r:id="rId55"/>
    <p:sldId id="297" r:id="rId56"/>
    <p:sldId id="285" r:id="rId57"/>
    <p:sldId id="286" r:id="rId58"/>
    <p:sldId id="298" r:id="rId59"/>
    <p:sldId id="287" r:id="rId60"/>
    <p:sldId id="321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329" r:id="rId69"/>
    <p:sldId id="331" r:id="rId70"/>
    <p:sldId id="330" r:id="rId71"/>
    <p:sldId id="344" r:id="rId72"/>
    <p:sldId id="345" r:id="rId73"/>
    <p:sldId id="332" r:id="rId74"/>
    <p:sldId id="333" r:id="rId75"/>
    <p:sldId id="334" r:id="rId76"/>
    <p:sldId id="336" r:id="rId77"/>
    <p:sldId id="337" r:id="rId78"/>
    <p:sldId id="346" r:id="rId79"/>
    <p:sldId id="347" r:id="rId80"/>
    <p:sldId id="339" r:id="rId81"/>
    <p:sldId id="340" r:id="rId82"/>
    <p:sldId id="341" r:id="rId83"/>
    <p:sldId id="342" r:id="rId84"/>
  </p:sldIdLst>
  <p:sldSz cx="12192000" cy="6858000"/>
  <p:notesSz cx="6858000" cy="9144000"/>
  <p:embeddedFontLst>
    <p:embeddedFont>
      <p:font typeface="Cambria Math" panose="02040503050406030204" pitchFamily="18" charset="0"/>
      <p:regular r:id="rId86"/>
    </p:embeddedFont>
    <p:embeddedFont>
      <p:font typeface="Chalk Board" panose="02000500000000000000" pitchFamily="2" charset="0"/>
      <p:regular r:id="rId87"/>
    </p:embeddedFont>
    <p:embeddedFont>
      <p:font typeface="Christmas Chalk" panose="02000500000000000000" pitchFamily="2" charset="0"/>
      <p:regular r:id="rId88"/>
    </p:embeddedFont>
    <p:embeddedFont>
      <p:font typeface="KG Ten Thousand Reasons" panose="02000000000000000000" pitchFamily="2" charset="77"/>
      <p:regular r:id="rId8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084"/>
    <p:restoredTop sz="94358"/>
  </p:normalViewPr>
  <p:slideViewPr>
    <p:cSldViewPr snapToGrid="0">
      <p:cViewPr>
        <p:scale>
          <a:sx n="125" d="100"/>
          <a:sy n="125" d="100"/>
        </p:scale>
        <p:origin x="1248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font" Target="fonts/font3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0117-73AA-C649-9707-5BC092B3DA95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26BC0-B56C-0C4B-B20E-DF3CF841C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248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49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61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5F91E-7985-77F5-1995-F9B26E1E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F2510-A62E-036C-1039-7951DA40B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A0EB6-4AC3-F03C-8526-97AC2D1CF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29CAE-6659-1DD9-37CB-0504FB96C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68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34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5ACC9-280D-9783-C3F0-BCAF6E0E6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70F77-2E05-2B7A-C4C2-AD237E332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D4BBD-834B-84F0-1AA8-9C3CE1E9F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C99D1-F832-41E8-99D9-B7A9815D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B146-9E47-A82F-5724-3F6CFE558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D8A2F-BC4C-4D58-172A-AA6213577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0534-968B-1010-B9EA-64E39CC9F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906FD-5349-7360-CC2C-906C7FF0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71502-FB03-7517-2705-D0F98ECA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B0476-67CE-C4B7-4AB3-105364B5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97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924F-06B6-D1C6-C49E-BFA89A5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D8BD9-13DD-0341-7AD4-3995F8F78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E8D7-91F9-9119-0647-48040870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FC6-A56E-D7E0-5618-5C0CC58F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849F7-5FCB-2990-BD20-3016783C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6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CD351-18D9-0AF8-3856-0C3BFBD0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A2302-8B27-E7E0-E258-E7B66F3DC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794A13-D29D-0787-5F61-F21A28831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18545-4035-A16A-4A2D-1D34436E2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8971A-0D0C-DED7-005E-552C81E49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BF784-01A2-7179-5159-598DC80E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70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86ECD-C1C5-34F7-38F9-25C451A1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4B318-D9BE-FD32-131B-4A97733B4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C2240-B277-0035-F07B-18F42EE87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5C6074-8CEB-3F05-E186-C5D4D9375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CE0258-D6D2-FF03-E547-14A841A1C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D74B53-8D93-88AD-E492-097AABB3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D0A3DB-63EC-C075-32EC-B2FEB80B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7837A-C0E8-4058-0FEE-2BAB9F59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F24A-1857-A4B7-E81A-E6D90FB9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32A7-8531-2F49-1E29-9E3A56E2C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493F7-A662-68C3-8767-7F4F17D3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CE5F83-AD63-6F68-28A2-0860FC07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D13F1B-282B-3A92-BDF4-8086591E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2184A-2EE3-9BD4-60A4-48806AE35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92362-F824-DCF4-79F2-34C02A5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BEE60-196F-B496-3A54-10A44B11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BC640-3A00-8197-0BA0-02C78709D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71760B-12F9-75C1-01B0-4D8CE5DCD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E6844-8EEF-B162-254E-0926B79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57593-9E78-1E0B-FCB9-5759F83C3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ED6EEE-7815-45B1-5BBD-E748AD0F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4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785C2-6381-BDE8-1C02-DED99E1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08B6F1-E5D8-E17E-36E3-3035C71A5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BE799-D099-06E8-D22E-6DFA9827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6C680-D314-B1A8-9458-41A06145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A9D89-0F6D-D2CE-6618-2905D4BEA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BDEBC-0145-E792-794A-9BE6A292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18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244D-954D-6F01-7ECF-AB8A070C2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8C044-6E03-3BAF-1022-06A27BA9D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BFB49-A9F0-1A3E-9DDC-6F777150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35301-13FB-9E69-8D8F-5BA3EB3D1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25711-32FA-3C46-3E17-33CA08B8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4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CDFD0-B8E8-DD17-02F6-79801AEF87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977A5-B686-511C-D967-87416D524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EC8B0-16EB-3471-878B-8054A8DB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3D5F5-6C5E-E792-EB12-27DCF916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841AB-E4D2-5780-F928-E9D354662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2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F0794F-BE6F-A9A5-1EDF-45953A62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61AB5-8DFF-64B4-819E-DD670D165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100F8-544F-86F4-25F0-26DD91CCC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CA23-9D78-37C0-C934-5A88CC05F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DE827-19B1-2523-F97C-6A1458763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9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0.png"/><Relationship Id="rId4" Type="http://schemas.openxmlformats.org/officeDocument/2006/relationships/image" Target="../media/image4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250.png"/><Relationship Id="rId7" Type="http://schemas.openxmlformats.org/officeDocument/2006/relationships/image" Target="../media/image29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0.png"/><Relationship Id="rId7" Type="http://schemas.openxmlformats.org/officeDocument/2006/relationships/image" Target="../media/image3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0.png"/><Relationship Id="rId9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0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3E5D-BC62-05E2-2C7A-5FC94D618E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UC Security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25DC4F-054D-CDBF-5B6A-0035C6B2E0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CS714: Secure Computation</a:t>
            </a:r>
          </a:p>
        </p:txBody>
      </p:sp>
    </p:spTree>
    <p:extLst>
      <p:ext uri="{BB962C8B-B14F-4D97-AF65-F5344CB8AC3E}">
        <p14:creationId xmlns:p14="http://schemas.microsoft.com/office/powerpoint/2010/main" val="265172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43197-2CB4-A377-FE78-0A62444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DA899-1665-F396-E94B-E1685371C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Thanks for your feedback! </a:t>
            </a:r>
          </a:p>
          <a:p>
            <a:endParaRPr lang="en-US" dirty="0"/>
          </a:p>
          <a:p>
            <a:r>
              <a:rPr lang="en-US" dirty="0"/>
              <a:t>Optional Recap Class on Saturday</a:t>
            </a:r>
          </a:p>
          <a:p>
            <a:pPr lvl="1"/>
            <a:r>
              <a:rPr lang="en-US" dirty="0"/>
              <a:t>No new material will be covered (this is purely optional)</a:t>
            </a:r>
          </a:p>
        </p:txBody>
      </p:sp>
    </p:spTree>
    <p:extLst>
      <p:ext uri="{BB962C8B-B14F-4D97-AF65-F5344CB8AC3E}">
        <p14:creationId xmlns:p14="http://schemas.microsoft.com/office/powerpoint/2010/main" val="1733466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FA6A5-212B-6CBB-9B53-75C2489C1CA4}"/>
              </a:ext>
            </a:extLst>
          </p:cNvPr>
          <p:cNvSpPr txBox="1"/>
          <p:nvPr/>
        </p:nvSpPr>
        <p:spPr>
          <a:xfrm>
            <a:off x="637954" y="435935"/>
            <a:ext cx="37112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Defining Privacy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9C696-4A3F-E555-ED8E-5C8D7FE221CB}"/>
              </a:ext>
            </a:extLst>
          </p:cNvPr>
          <p:cNvSpPr txBox="1"/>
          <p:nvPr/>
        </p:nvSpPr>
        <p:spPr>
          <a:xfrm>
            <a:off x="565249" y="2170318"/>
            <a:ext cx="2682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corrupted party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/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blipFill>
                <a:blip r:embed="rId2"/>
                <a:stretch>
                  <a:fillRect l="-32353" r="-23529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3E7B96-D74D-01BA-CF1D-7878021D6697}"/>
              </a:ext>
            </a:extLst>
          </p:cNvPr>
          <p:cNvSpPr txBox="1"/>
          <p:nvPr/>
        </p:nvSpPr>
        <p:spPr>
          <a:xfrm>
            <a:off x="3662767" y="2170318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/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blipFill>
                <a:blip r:embed="rId3"/>
                <a:stretch>
                  <a:fillRect l="-32353" r="-23529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/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view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blipFill>
                <a:blip r:embed="rId4"/>
                <a:stretch>
                  <a:fillRect l="-1351" r="-675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/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blipFill>
                <a:blip r:embed="rId5"/>
                <a:stretch>
                  <a:fillRect l="-6707" r="-4268" b="-2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2E4D7276-8671-B1AB-DBBD-30B5BA40EB63}"/>
              </a:ext>
            </a:extLst>
          </p:cNvPr>
          <p:cNvSpPr/>
          <p:nvPr/>
        </p:nvSpPr>
        <p:spPr>
          <a:xfrm>
            <a:off x="282678" y="4998989"/>
            <a:ext cx="2635003" cy="16799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A315F0-01A4-3C2B-E2CA-DE481FCCE3B3}"/>
              </a:ext>
            </a:extLst>
          </p:cNvPr>
          <p:cNvCxnSpPr>
            <a:cxnSpLocks/>
          </p:cNvCxnSpPr>
          <p:nvPr/>
        </p:nvCxnSpPr>
        <p:spPr>
          <a:xfrm flipV="1">
            <a:off x="2917681" y="5688418"/>
            <a:ext cx="2487203" cy="15054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0AAB0-94F1-BB79-0668-E5E101EF7BCE}"/>
              </a:ext>
            </a:extLst>
          </p:cNvPr>
          <p:cNvSpPr txBox="1"/>
          <p:nvPr/>
        </p:nvSpPr>
        <p:spPr>
          <a:xfrm rot="336351">
            <a:off x="5070385" y="5463293"/>
            <a:ext cx="2810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lk Board" panose="02000500000000000000" pitchFamily="2" charset="0"/>
              </a:rPr>
              <a:t>Information leaked to corrupted parties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/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⊆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, 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}</m:t>
                      </m:r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blipFill>
                <a:blip r:embed="rId6"/>
                <a:stretch>
                  <a:fillRect l="-4023" t="-20833" r="-5747" b="-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57F58D4-FF95-28D7-BC6D-2E052B9A6A72}"/>
              </a:ext>
            </a:extLst>
          </p:cNvPr>
          <p:cNvSpPr txBox="1"/>
          <p:nvPr/>
        </p:nvSpPr>
        <p:spPr>
          <a:xfrm>
            <a:off x="3588377" y="3808642"/>
            <a:ext cx="3092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the set of corrupted parties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EE32A-E3E3-CCDB-BFBF-013987535AC1}"/>
              </a:ext>
            </a:extLst>
          </p:cNvPr>
          <p:cNvSpPr txBox="1"/>
          <p:nvPr/>
        </p:nvSpPr>
        <p:spPr>
          <a:xfrm>
            <a:off x="5339761" y="2170318"/>
            <a:ext cx="2894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entire view of the party</a:t>
            </a:r>
          </a:p>
        </p:txBody>
      </p:sp>
    </p:spTree>
    <p:extLst>
      <p:ext uri="{BB962C8B-B14F-4D97-AF65-F5344CB8AC3E}">
        <p14:creationId xmlns:p14="http://schemas.microsoft.com/office/powerpoint/2010/main" val="977778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/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f</m:t>
                      </m:r>
                      <m:d>
                        <m:d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sz="6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= (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blipFill>
                <a:blip r:embed="rId2"/>
                <a:stretch>
                  <a:fillRect l="-2196" t="-14130" r="-2343" b="-42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/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blipFill>
                <a:blip r:embed="rId3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/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/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blipFill>
                <a:blip r:embed="rId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89E551-98B6-9CA2-520F-E27B478C41D5}"/>
              </a:ext>
            </a:extLst>
          </p:cNvPr>
          <p:cNvCxnSpPr>
            <a:cxnSpLocks/>
          </p:cNvCxnSpPr>
          <p:nvPr/>
        </p:nvCxnSpPr>
        <p:spPr>
          <a:xfrm flipH="1">
            <a:off x="4835669" y="2024227"/>
            <a:ext cx="613518" cy="143007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490D302-CF05-8E24-5D97-946F3BAABCFE}"/>
              </a:ext>
            </a:extLst>
          </p:cNvPr>
          <p:cNvCxnSpPr>
            <a:cxnSpLocks/>
          </p:cNvCxnSpPr>
          <p:nvPr/>
        </p:nvCxnSpPr>
        <p:spPr>
          <a:xfrm flipH="1">
            <a:off x="6834221" y="1821382"/>
            <a:ext cx="466063" cy="168342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7AF12F-941B-566C-C9E2-10EC23C026F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8624267" y="1939650"/>
            <a:ext cx="241002" cy="135085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/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/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/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0A147-608C-4ED0-18BA-C7DD54204D7D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855220" y="1860421"/>
            <a:ext cx="660291" cy="176610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34C2F29-9D3F-6EB8-4F3C-A386DABA1D07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2209193" y="1820016"/>
            <a:ext cx="104454" cy="19450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CA5F7E-C44B-AF22-1C65-B51DA0D41E3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178208" y="1742018"/>
            <a:ext cx="173446" cy="202301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7ED7387-3C09-FA95-665C-9379EF93FB4C}"/>
              </a:ext>
            </a:extLst>
          </p:cNvPr>
          <p:cNvSpPr txBox="1"/>
          <p:nvPr/>
        </p:nvSpPr>
        <p:spPr>
          <a:xfrm>
            <a:off x="347852" y="4707042"/>
            <a:ext cx="215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real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/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blipFill>
                <a:blip r:embed="rId9"/>
                <a:stretch>
                  <a:fillRect l="-20000" r="-1500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7657C1FB-F0B0-6333-A204-991B4A52173E}"/>
              </a:ext>
            </a:extLst>
          </p:cNvPr>
          <p:cNvSpPr txBox="1"/>
          <p:nvPr/>
        </p:nvSpPr>
        <p:spPr>
          <a:xfrm>
            <a:off x="2755136" y="4707042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party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/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C8E7CEC6-4D51-F1B7-391D-E0807B9DB81A}"/>
              </a:ext>
            </a:extLst>
          </p:cNvPr>
          <p:cNvSpPr txBox="1"/>
          <p:nvPr/>
        </p:nvSpPr>
        <p:spPr>
          <a:xfrm>
            <a:off x="4068403" y="4697775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use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/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blipFill>
                <a:blip r:embed="rId11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/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216904BF-4E51-E3F3-652E-1FED4999FF68}"/>
              </a:ext>
            </a:extLst>
          </p:cNvPr>
          <p:cNvSpPr txBox="1"/>
          <p:nvPr/>
        </p:nvSpPr>
        <p:spPr>
          <a:xfrm>
            <a:off x="723341" y="5236826"/>
            <a:ext cx="165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then learn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/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blipFill>
                <a:blip r:embed="rId13"/>
                <a:stretch>
                  <a:fillRect l="-117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71B9991-0528-042E-19CB-8BFB3728C6C0}"/>
              </a:ext>
            </a:extLst>
          </p:cNvPr>
          <p:cNvSpPr txBox="1"/>
          <p:nvPr/>
        </p:nvSpPr>
        <p:spPr>
          <a:xfrm>
            <a:off x="384829" y="5724478"/>
            <a:ext cx="4094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adversary can influence the output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54CF7-DB9A-2EEE-0A65-B75CCBEEF84A}"/>
              </a:ext>
            </a:extLst>
          </p:cNvPr>
          <p:cNvSpPr txBox="1"/>
          <p:nvPr/>
        </p:nvSpPr>
        <p:spPr>
          <a:xfrm>
            <a:off x="384829" y="6289715"/>
            <a:ext cx="9599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does not necessarily violate security (parties are allowed to choose arbitrary inputs)</a:t>
            </a:r>
          </a:p>
        </p:txBody>
      </p:sp>
    </p:spTree>
    <p:extLst>
      <p:ext uri="{BB962C8B-B14F-4D97-AF65-F5344CB8AC3E}">
        <p14:creationId xmlns:p14="http://schemas.microsoft.com/office/powerpoint/2010/main" val="195079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A4F2CD0-F36D-DF75-057C-1DF256A4D574}"/>
              </a:ext>
            </a:extLst>
          </p:cNvPr>
          <p:cNvSpPr/>
          <p:nvPr/>
        </p:nvSpPr>
        <p:spPr>
          <a:xfrm>
            <a:off x="192066" y="1455810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02D1D-7300-EC14-D633-9B66D4B20EBA}"/>
              </a:ext>
            </a:extLst>
          </p:cNvPr>
          <p:cNvSpPr txBox="1"/>
          <p:nvPr/>
        </p:nvSpPr>
        <p:spPr>
          <a:xfrm>
            <a:off x="296449" y="1674674"/>
            <a:ext cx="115991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proven secure in the UC model remains secure regardless of the context in which it is used.</a:t>
            </a:r>
          </a:p>
          <a:p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14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3305C4-71B3-6F4B-42A2-B9D653C2E218}"/>
              </a:ext>
            </a:extLst>
          </p:cNvPr>
          <p:cNvSpPr txBox="1"/>
          <p:nvPr/>
        </p:nvSpPr>
        <p:spPr>
          <a:xfrm>
            <a:off x="457200" y="701749"/>
            <a:ext cx="6251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Allowed vs Leaked Information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33A823-0784-72C1-74DB-60FE7B0CD723}"/>
              </a:ext>
            </a:extLst>
          </p:cNvPr>
          <p:cNvSpPr/>
          <p:nvPr/>
        </p:nvSpPr>
        <p:spPr>
          <a:xfrm>
            <a:off x="127591" y="1945804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9811F-5128-B263-507F-C48C345EBFA2}"/>
              </a:ext>
            </a:extLst>
          </p:cNvPr>
          <p:cNvSpPr txBox="1"/>
          <p:nvPr/>
        </p:nvSpPr>
        <p:spPr>
          <a:xfrm>
            <a:off x="231974" y="2164668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contain no more information than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11722A5-02DA-6C58-877A-F812916E0450}"/>
              </a:ext>
            </a:extLst>
          </p:cNvPr>
          <p:cNvSpPr/>
          <p:nvPr/>
        </p:nvSpPr>
        <p:spPr>
          <a:xfrm>
            <a:off x="179782" y="494393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29215F-EF56-A646-0EBC-60C6FB241F80}"/>
              </a:ext>
            </a:extLst>
          </p:cNvPr>
          <p:cNvSpPr txBox="1"/>
          <p:nvPr/>
        </p:nvSpPr>
        <p:spPr>
          <a:xfrm>
            <a:off x="284165" y="516279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can be computed efficiently from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04C65D-C37E-17B5-E850-46F34DC28548}"/>
              </a:ext>
            </a:extLst>
          </p:cNvPr>
          <p:cNvSpPr txBox="1"/>
          <p:nvPr/>
        </p:nvSpPr>
        <p:spPr>
          <a:xfrm rot="21039977">
            <a:off x="4944529" y="4471326"/>
            <a:ext cx="4462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Computational View</a:t>
            </a:r>
            <a:endParaRPr lang="en-US" sz="1400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18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01F7-4EBE-E0A1-775C-5EF4943D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86ED7A-2BEF-FDB8-61CE-130EECA518BF}"/>
              </a:ext>
            </a:extLst>
          </p:cNvPr>
          <p:cNvSpPr txBox="1"/>
          <p:nvPr/>
        </p:nvSpPr>
        <p:spPr>
          <a:xfrm>
            <a:off x="404038" y="512454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6CBA7CC-76F5-D7B1-4CF2-7CE4949AA618}"/>
              </a:ext>
            </a:extLst>
          </p:cNvPr>
          <p:cNvSpPr/>
          <p:nvPr/>
        </p:nvSpPr>
        <p:spPr>
          <a:xfrm>
            <a:off x="127591" y="180758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2F699-2527-1860-ED6D-6CD76C5CB3D1}"/>
              </a:ext>
            </a:extLst>
          </p:cNvPr>
          <p:cNvSpPr txBox="1"/>
          <p:nvPr/>
        </p:nvSpPr>
        <p:spPr>
          <a:xfrm>
            <a:off x="231974" y="202644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An efficient algorithm that generates the leaked values from the allowed values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573D9-3F5E-BA2B-4987-189FA721ADB5}"/>
              </a:ext>
            </a:extLst>
          </p:cNvPr>
          <p:cNvSpPr txBox="1"/>
          <p:nvPr/>
        </p:nvSpPr>
        <p:spPr>
          <a:xfrm>
            <a:off x="231974" y="4390417"/>
            <a:ext cx="9333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There exists an efficient simulator </a:t>
            </a:r>
            <a:r>
              <a:rPr lang="en-US" sz="3600" dirty="0">
                <a:latin typeface="Chalk Board" panose="02000500000000000000" pitchFamily="2" charset="0"/>
              </a:rPr>
              <a:t>S</a:t>
            </a:r>
            <a:r>
              <a:rPr lang="en-US" sz="3600" dirty="0"/>
              <a:t> such that: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/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{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blipFill>
                <a:blip r:embed="rId2"/>
                <a:stretch>
                  <a:fillRect l="-6218" t="-10127" r="-6218" b="-2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/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∈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C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blipFill>
                <a:blip r:embed="rId3"/>
                <a:stretch>
                  <a:fillRect l="-7317" r="-3659" b="-21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00108E9-2755-C010-A5B2-82F0713C496A}"/>
              </a:ext>
            </a:extLst>
          </p:cNvPr>
          <p:cNvSpPr txBox="1"/>
          <p:nvPr/>
        </p:nvSpPr>
        <p:spPr>
          <a:xfrm>
            <a:off x="3484931" y="5376049"/>
            <a:ext cx="95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&amp;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9AA5D-ED46-A33D-08CD-7639C461861F}"/>
              </a:ext>
            </a:extLst>
          </p:cNvPr>
          <p:cNvSpPr txBox="1"/>
          <p:nvPr/>
        </p:nvSpPr>
        <p:spPr>
          <a:xfrm>
            <a:off x="6752671" y="5376049"/>
            <a:ext cx="4450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Helvetica" pitchFamily="2" charset="0"/>
              </a:rPr>
              <a:t>h</a:t>
            </a:r>
            <a:r>
              <a:rPr lang="en-US" sz="2800" dirty="0">
                <a:solidFill>
                  <a:srgbClr val="000000"/>
                </a:solidFill>
                <a:effectLst/>
                <a:latin typeface="Helvetica" pitchFamily="2" charset="0"/>
              </a:rPr>
              <a:t>ave the same distribution</a:t>
            </a:r>
          </a:p>
        </p:txBody>
      </p:sp>
    </p:spTree>
    <p:extLst>
      <p:ext uri="{BB962C8B-B14F-4D97-AF65-F5344CB8AC3E}">
        <p14:creationId xmlns:p14="http://schemas.microsoft.com/office/powerpoint/2010/main" val="427529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4A15-432E-67EF-955E-ED8FF13A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85B38-045B-C348-A22B-729CC8296027}"/>
              </a:ext>
            </a:extLst>
          </p:cNvPr>
          <p:cNvSpPr txBox="1"/>
          <p:nvPr/>
        </p:nvSpPr>
        <p:spPr>
          <a:xfrm>
            <a:off x="925033" y="701749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2EA94-0A16-DD63-1ABC-BFB5BBA2D99E}"/>
              </a:ext>
            </a:extLst>
          </p:cNvPr>
          <p:cNvSpPr txBox="1"/>
          <p:nvPr/>
        </p:nvSpPr>
        <p:spPr>
          <a:xfrm>
            <a:off x="997243" y="1881963"/>
            <a:ext cx="8961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The adversary’s view can be simulated using only: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B5F01-6B94-01C5-8BE7-7B4243FE903E}"/>
              </a:ext>
            </a:extLst>
          </p:cNvPr>
          <p:cNvSpPr txBox="1"/>
          <p:nvPr/>
        </p:nvSpPr>
        <p:spPr>
          <a:xfrm>
            <a:off x="6678574" y="2800436"/>
            <a:ext cx="44198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481F0-7F4B-2B88-96B3-3A6DF5F98A2A}"/>
              </a:ext>
            </a:extLst>
          </p:cNvPr>
          <p:cNvSpPr txBox="1"/>
          <p:nvPr/>
        </p:nvSpPr>
        <p:spPr>
          <a:xfrm>
            <a:off x="6678574" y="3729541"/>
            <a:ext cx="46810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outputs</a:t>
            </a:r>
          </a:p>
        </p:txBody>
      </p:sp>
    </p:spTree>
    <p:extLst>
      <p:ext uri="{BB962C8B-B14F-4D97-AF65-F5344CB8AC3E}">
        <p14:creationId xmlns:p14="http://schemas.microsoft.com/office/powerpoint/2010/main" val="336893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9D1F2-9C6B-6C6F-68D9-BB8808069132}"/>
              </a:ext>
            </a:extLst>
          </p:cNvPr>
          <p:cNvSpPr txBox="1"/>
          <p:nvPr/>
        </p:nvSpPr>
        <p:spPr>
          <a:xfrm>
            <a:off x="435935" y="552893"/>
            <a:ext cx="5333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458593-8353-B1B5-965B-8EFF9914639D}"/>
              </a:ext>
            </a:extLst>
          </p:cNvPr>
          <p:cNvSpPr txBox="1"/>
          <p:nvPr/>
        </p:nvSpPr>
        <p:spPr>
          <a:xfrm>
            <a:off x="255181" y="4711627"/>
            <a:ext cx="11248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We are not interested in the </a:t>
            </a:r>
            <a:r>
              <a:rPr lang="en-US" sz="4000" i="1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internal</a:t>
            </a: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 structure of the Interactive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E22CE-3859-A24D-B820-9F687ECE3E7C}"/>
              </a:ext>
            </a:extLst>
          </p:cNvPr>
          <p:cNvSpPr txBox="1"/>
          <p:nvPr/>
        </p:nvSpPr>
        <p:spPr>
          <a:xfrm>
            <a:off x="255181" y="1760114"/>
            <a:ext cx="11396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halk Board" panose="02000500000000000000" pitchFamily="2" charset="0"/>
              </a:rPr>
              <a:t>When do we say that two interactive systems are behaviorally equivalent?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5A0116-6DD7-880D-B651-CC68FC873A31}"/>
              </a:ext>
            </a:extLst>
          </p:cNvPr>
          <p:cNvSpPr txBox="1"/>
          <p:nvPr/>
        </p:nvSpPr>
        <p:spPr>
          <a:xfrm>
            <a:off x="255181" y="2890391"/>
            <a:ext cx="98457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When the two systems get the same output on the same output ports, and get the same inputs on the same input ports</a:t>
            </a:r>
          </a:p>
        </p:txBody>
      </p:sp>
    </p:spTree>
    <p:extLst>
      <p:ext uri="{BB962C8B-B14F-4D97-AF65-F5344CB8AC3E}">
        <p14:creationId xmlns:p14="http://schemas.microsoft.com/office/powerpoint/2010/main" val="1567694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83BF-2848-49A3-4D15-BF7B2B606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59784-2257-FF72-3900-5C13F8B024FE}"/>
              </a:ext>
            </a:extLst>
          </p:cNvPr>
          <p:cNvSpPr txBox="1"/>
          <p:nvPr/>
        </p:nvSpPr>
        <p:spPr>
          <a:xfrm>
            <a:off x="435935" y="552893"/>
            <a:ext cx="79769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Security via 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D2D6A-162F-50A2-874B-297CB5BEFFEC}"/>
              </a:ext>
            </a:extLst>
          </p:cNvPr>
          <p:cNvSpPr txBox="1"/>
          <p:nvPr/>
        </p:nvSpPr>
        <p:spPr>
          <a:xfrm>
            <a:off x="574158" y="1988288"/>
            <a:ext cx="35173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UC security compares: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1FE3F3-75CC-D5D9-BE32-36E8990195C0}"/>
              </a:ext>
            </a:extLst>
          </p:cNvPr>
          <p:cNvSpPr txBox="1"/>
          <p:nvPr/>
        </p:nvSpPr>
        <p:spPr>
          <a:xfrm>
            <a:off x="2172586" y="2684244"/>
            <a:ext cx="21275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Real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7BE72-59F8-AA04-F4C8-6A37FA01DFED}"/>
              </a:ext>
            </a:extLst>
          </p:cNvPr>
          <p:cNvSpPr txBox="1"/>
          <p:nvPr/>
        </p:nvSpPr>
        <p:spPr>
          <a:xfrm>
            <a:off x="2172586" y="3453941"/>
            <a:ext cx="28696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Ideal Functionality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45FCC-BC5E-771F-CAFE-1B1F4F11BEF1}"/>
              </a:ext>
            </a:extLst>
          </p:cNvPr>
          <p:cNvSpPr txBox="1"/>
          <p:nvPr/>
        </p:nvSpPr>
        <p:spPr>
          <a:xfrm>
            <a:off x="574158" y="4958316"/>
            <a:ext cx="110626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real protocol must be behaviorally equivalent to the ideal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954368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9D690-231D-AAD0-29D8-E73EF8162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54C0C-8D2A-ED85-3683-34F1FD58D31B}"/>
              </a:ext>
            </a:extLst>
          </p:cNvPr>
          <p:cNvSpPr txBox="1"/>
          <p:nvPr/>
        </p:nvSpPr>
        <p:spPr>
          <a:xfrm>
            <a:off x="435935" y="552893"/>
            <a:ext cx="42682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Ideal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5B961-6A22-E2DD-EBB7-1A8380CD24B5}"/>
              </a:ext>
            </a:extLst>
          </p:cNvPr>
          <p:cNvSpPr txBox="1"/>
          <p:nvPr/>
        </p:nvSpPr>
        <p:spPr>
          <a:xfrm>
            <a:off x="574158" y="1988288"/>
            <a:ext cx="104663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An ideal functionality F specifies how the protocol must behave.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6A8F4-4AB5-9B33-D2E1-0DABC704F4E4}"/>
              </a:ext>
            </a:extLst>
          </p:cNvPr>
          <p:cNvSpPr txBox="1"/>
          <p:nvPr/>
        </p:nvSpPr>
        <p:spPr>
          <a:xfrm>
            <a:off x="574158" y="3100517"/>
            <a:ext cx="79143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The protocol may leak only </a:t>
            </a:r>
            <a:r>
              <a:rPr lang="en-US" sz="4400" i="1" dirty="0">
                <a:latin typeface="Chalk Board" panose="02000500000000000000" pitchFamily="2" charset="0"/>
              </a:rPr>
              <a:t>allowed information.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66BEC4-BBA2-2E32-692C-D5F8A324C414}"/>
              </a:ext>
            </a:extLst>
          </p:cNvPr>
          <p:cNvSpPr/>
          <p:nvPr/>
        </p:nvSpPr>
        <p:spPr>
          <a:xfrm>
            <a:off x="5039833" y="2711983"/>
            <a:ext cx="3817087" cy="1546509"/>
          </a:xfrm>
          <a:prstGeom prst="ellipse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D9339-C70C-A874-C151-C2BEABF3C453}"/>
              </a:ext>
            </a:extLst>
          </p:cNvPr>
          <p:cNvCxnSpPr>
            <a:cxnSpLocks/>
          </p:cNvCxnSpPr>
          <p:nvPr/>
        </p:nvCxnSpPr>
        <p:spPr>
          <a:xfrm>
            <a:off x="6948376" y="4258492"/>
            <a:ext cx="962247" cy="723695"/>
          </a:xfrm>
          <a:prstGeom prst="straightConnector1">
            <a:avLst/>
          </a:prstGeom>
          <a:ln w="25400">
            <a:solidFill>
              <a:schemeClr val="tx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EE766AE-A577-62FE-4958-22ABE45480D9}"/>
              </a:ext>
            </a:extLst>
          </p:cNvPr>
          <p:cNvSpPr txBox="1"/>
          <p:nvPr/>
        </p:nvSpPr>
        <p:spPr>
          <a:xfrm>
            <a:off x="7107864" y="4982187"/>
            <a:ext cx="349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information that can be computed from the inputs and outputs of the corrupt parties </a:t>
            </a:r>
          </a:p>
        </p:txBody>
      </p:sp>
    </p:spTree>
    <p:extLst>
      <p:ext uri="{BB962C8B-B14F-4D97-AF65-F5344CB8AC3E}">
        <p14:creationId xmlns:p14="http://schemas.microsoft.com/office/powerpoint/2010/main" val="304475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B8BCD-A026-B2A0-7E44-CFCEA1305279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9A77A13-3659-5FF0-38BF-2C8AF0C6E1B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71009A-DE40-F212-BDE3-905B4C9CFBB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C58F88-8E53-B4D4-8AD7-5687D9FD7875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F25DF0-FC3A-3866-ACFF-3AE9762AF18C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D2066C-E0FF-0D85-4FD2-29233BF7FAE3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98FD56-261F-5A05-43CB-291E82612B93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A0C9679-578E-AFEC-348D-39433D541613}"/>
              </a:ext>
            </a:extLst>
          </p:cNvPr>
          <p:cNvSpPr txBox="1"/>
          <p:nvPr/>
        </p:nvSpPr>
        <p:spPr>
          <a:xfrm>
            <a:off x="808074" y="457200"/>
            <a:ext cx="7177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Ideal Functionality: Secure Transfer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F88E4A-48D8-409A-0BB8-186C2E50FB95}"/>
              </a:ext>
            </a:extLst>
          </p:cNvPr>
          <p:cNvSpPr txBox="1"/>
          <p:nvPr/>
        </p:nvSpPr>
        <p:spPr>
          <a:xfrm>
            <a:off x="348727" y="3105632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68F4B0-4344-D5DB-A619-86D5292B0B73}"/>
              </a:ext>
            </a:extLst>
          </p:cNvPr>
          <p:cNvSpPr txBox="1"/>
          <p:nvPr/>
        </p:nvSpPr>
        <p:spPr>
          <a:xfrm>
            <a:off x="313911" y="3922376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1D2BDD-B37A-77F1-92E6-A64BD15F4CF4}"/>
              </a:ext>
            </a:extLst>
          </p:cNvPr>
          <p:cNvSpPr txBox="1"/>
          <p:nvPr/>
        </p:nvSpPr>
        <p:spPr>
          <a:xfrm>
            <a:off x="4420307" y="398524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4DE56-948F-93F7-0FEA-1EDA9DF6A205}"/>
              </a:ext>
            </a:extLst>
          </p:cNvPr>
          <p:cNvSpPr txBox="1"/>
          <p:nvPr/>
        </p:nvSpPr>
        <p:spPr>
          <a:xfrm>
            <a:off x="4420307" y="3103713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D7FB14-2EAF-5EEF-B279-DFB5F8008DFA}"/>
              </a:ext>
            </a:extLst>
          </p:cNvPr>
          <p:cNvSpPr txBox="1"/>
          <p:nvPr/>
        </p:nvSpPr>
        <p:spPr>
          <a:xfrm>
            <a:off x="3073518" y="2301754"/>
            <a:ext cx="823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628223-316D-0EFC-1998-5B0B3951E3B6}"/>
              </a:ext>
            </a:extLst>
          </p:cNvPr>
          <p:cNvSpPr txBox="1"/>
          <p:nvPr/>
        </p:nvSpPr>
        <p:spPr>
          <a:xfrm>
            <a:off x="1450954" y="2366657"/>
            <a:ext cx="894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9BC93A-1085-AD59-A8EC-97D02B8EA5F7}"/>
              </a:ext>
            </a:extLst>
          </p:cNvPr>
          <p:cNvSpPr txBox="1"/>
          <p:nvPr/>
        </p:nvSpPr>
        <p:spPr>
          <a:xfrm>
            <a:off x="6505970" y="1994336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(mid, j, m)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/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1B40107-EEE0-9BB2-8B6E-50FB7342F884}"/>
              </a:ext>
            </a:extLst>
          </p:cNvPr>
          <p:cNvSpPr txBox="1"/>
          <p:nvPr/>
        </p:nvSpPr>
        <p:spPr>
          <a:xfrm>
            <a:off x="8612277" y="2340288"/>
            <a:ext cx="3363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(mid, </a:t>
            </a:r>
            <a:r>
              <a:rPr lang="en-US" dirty="0" err="1"/>
              <a:t>i</a:t>
            </a:r>
            <a:r>
              <a:rPr lang="en-US" dirty="0"/>
              <a:t>,  j, |m|) on </a:t>
            </a:r>
            <a:r>
              <a:rPr lang="en-US" dirty="0" err="1"/>
              <a:t>ST.leak</a:t>
            </a:r>
            <a:r>
              <a:rPr lang="en-US" dirty="0"/>
              <a:t>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901F47-FFB6-E9CD-F896-8F5C6DB24223}"/>
              </a:ext>
            </a:extLst>
          </p:cNvPr>
          <p:cNvSpPr txBox="1"/>
          <p:nvPr/>
        </p:nvSpPr>
        <p:spPr>
          <a:xfrm>
            <a:off x="8648095" y="2709620"/>
            <a:ext cx="1990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BC7A3D-EADE-CD53-DB7C-CBB71B68FB97}"/>
              </a:ext>
            </a:extLst>
          </p:cNvPr>
          <p:cNvSpPr txBox="1"/>
          <p:nvPr/>
        </p:nvSpPr>
        <p:spPr>
          <a:xfrm>
            <a:off x="6505970" y="4825019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(deliver, mid, </a:t>
            </a:r>
            <a:r>
              <a:rPr lang="en-US" dirty="0" err="1"/>
              <a:t>i</a:t>
            </a:r>
            <a:r>
              <a:rPr lang="en-US" dirty="0"/>
              <a:t>, j) on </a:t>
            </a:r>
            <a:r>
              <a:rPr lang="en-US" dirty="0" err="1"/>
              <a:t>ST.infl</a:t>
            </a:r>
            <a:r>
              <a:rPr lang="en-US" dirty="0"/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154D9-FE21-2246-E0FC-8A16D4EDCCA0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78941C-1A47-E57B-86B0-BF15BD610F4B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029654CB-CC1C-E6D2-5F9F-6FBC485F094E}"/>
              </a:ext>
            </a:extLst>
          </p:cNvPr>
          <p:cNvSpPr txBox="1"/>
          <p:nvPr/>
        </p:nvSpPr>
        <p:spPr>
          <a:xfrm>
            <a:off x="6505970" y="3282476"/>
            <a:ext cx="4776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(mid, j, m)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/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807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BC664-AB6A-4679-F744-AE5ABC119CB7}"/>
              </a:ext>
            </a:extLst>
          </p:cNvPr>
          <p:cNvSpPr txBox="1"/>
          <p:nvPr/>
        </p:nvSpPr>
        <p:spPr>
          <a:xfrm>
            <a:off x="542261" y="574158"/>
            <a:ext cx="3823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Modeling Corruption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99EC8E-64CC-CBC9-565B-BE1135568AF8}"/>
              </a:ext>
            </a:extLst>
          </p:cNvPr>
          <p:cNvSpPr txBox="1"/>
          <p:nvPr/>
        </p:nvSpPr>
        <p:spPr>
          <a:xfrm>
            <a:off x="1201480" y="1891356"/>
            <a:ext cx="39827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(passive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32796-45D3-25C8-11D8-927FAAB83ECF}"/>
              </a:ext>
            </a:extLst>
          </p:cNvPr>
          <p:cNvSpPr txBox="1"/>
          <p:nvPr/>
        </p:nvSpPr>
        <p:spPr>
          <a:xfrm>
            <a:off x="1171731" y="4381871"/>
            <a:ext cx="3705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(active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85DDC-230E-D115-B5EE-B5004693BCE8}"/>
              </a:ext>
            </a:extLst>
          </p:cNvPr>
          <p:cNvSpPr txBox="1"/>
          <p:nvPr/>
        </p:nvSpPr>
        <p:spPr>
          <a:xfrm>
            <a:off x="5088544" y="1891355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26C947-9349-3E72-47F4-A1DFC9469D73}"/>
              </a:ext>
            </a:extLst>
          </p:cNvPr>
          <p:cNvSpPr txBox="1"/>
          <p:nvPr/>
        </p:nvSpPr>
        <p:spPr>
          <a:xfrm>
            <a:off x="4877169" y="438187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31B00-57C5-C9AD-E4EF-376F4A1291EC}"/>
              </a:ext>
            </a:extLst>
          </p:cNvPr>
          <p:cNvSpPr txBox="1"/>
          <p:nvPr/>
        </p:nvSpPr>
        <p:spPr>
          <a:xfrm>
            <a:off x="5737763" y="1891355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F0138-E2B6-DA4E-CFED-FD50B150D3DF}"/>
              </a:ext>
            </a:extLst>
          </p:cNvPr>
          <p:cNvSpPr txBox="1"/>
          <p:nvPr/>
        </p:nvSpPr>
        <p:spPr>
          <a:xfrm>
            <a:off x="5513882" y="4381870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D171A-7B14-A21A-C28C-867FBFD1F310}"/>
              </a:ext>
            </a:extLst>
          </p:cNvPr>
          <p:cNvSpPr txBox="1"/>
          <p:nvPr/>
        </p:nvSpPr>
        <p:spPr>
          <a:xfrm>
            <a:off x="2139293" y="5103627"/>
            <a:ext cx="532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functionality records that </a:t>
            </a:r>
            <a:r>
              <a:rPr lang="en-US" i="1" dirty="0"/>
              <a:t>party </a:t>
            </a:r>
            <a:r>
              <a:rPr lang="en-US" b="1" i="1" dirty="0" err="1"/>
              <a:t>i</a:t>
            </a:r>
            <a:r>
              <a:rPr lang="en-US" b="1" dirty="0"/>
              <a:t>  </a:t>
            </a:r>
            <a:r>
              <a:rPr lang="en-US" dirty="0"/>
              <a:t>is corrupt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77D289-736E-968D-B980-C38D623B0F6A}"/>
              </a:ext>
            </a:extLst>
          </p:cNvPr>
          <p:cNvSpPr txBox="1"/>
          <p:nvPr/>
        </p:nvSpPr>
        <p:spPr>
          <a:xfrm>
            <a:off x="2139293" y="5472959"/>
            <a:ext cx="1935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Ignores inputs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/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869F19B-3802-9F17-07A5-7C7EB10C5C76}"/>
              </a:ext>
            </a:extLst>
          </p:cNvPr>
          <p:cNvSpPr txBox="1"/>
          <p:nvPr/>
        </p:nvSpPr>
        <p:spPr>
          <a:xfrm>
            <a:off x="4691830" y="5472957"/>
            <a:ext cx="253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stops giving outputs 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/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blipFill>
                <a:blip r:embed="rId3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3FBF4B8-F51A-5359-2787-3768917924BE}"/>
              </a:ext>
            </a:extLst>
          </p:cNvPr>
          <p:cNvSpPr txBox="1"/>
          <p:nvPr/>
        </p:nvSpPr>
        <p:spPr>
          <a:xfrm>
            <a:off x="2139292" y="5842289"/>
            <a:ext cx="844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Instead, whenever it gets (input, </a:t>
            </a:r>
            <a:r>
              <a:rPr lang="en-US" dirty="0" err="1"/>
              <a:t>i</a:t>
            </a:r>
            <a:r>
              <a:rPr lang="en-US" dirty="0"/>
              <a:t>, x) on </a:t>
            </a:r>
            <a:r>
              <a:rPr lang="en-US" dirty="0" err="1"/>
              <a:t>ST.infl</a:t>
            </a:r>
            <a:r>
              <a:rPr lang="en-US" dirty="0"/>
              <a:t> it behaves exactly as input came from: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/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143" r="-5357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553491A-D5A0-5B3D-B2CE-6280A697F5E0}"/>
              </a:ext>
            </a:extLst>
          </p:cNvPr>
          <p:cNvSpPr txBox="1"/>
          <p:nvPr/>
        </p:nvSpPr>
        <p:spPr>
          <a:xfrm>
            <a:off x="2139293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Whenever ST is about to output a value y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/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blipFill>
                <a:blip r:embed="rId5"/>
                <a:stretch>
                  <a:fillRect l="-4348" r="-43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DF2D7CA-EE65-8785-0431-9CBDDA66E726}"/>
              </a:ext>
            </a:extLst>
          </p:cNvPr>
          <p:cNvSpPr txBox="1"/>
          <p:nvPr/>
        </p:nvSpPr>
        <p:spPr>
          <a:xfrm>
            <a:off x="7525531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instead outputs (output, </a:t>
            </a:r>
            <a:r>
              <a:rPr lang="en-US" dirty="0" err="1"/>
              <a:t>i</a:t>
            </a:r>
            <a:r>
              <a:rPr lang="en-US" dirty="0"/>
              <a:t>, y) on </a:t>
            </a:r>
            <a:r>
              <a:rPr lang="en-US" dirty="0" err="1"/>
              <a:t>ST.leak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DBECBD-2B90-3BCE-7023-F7412175D7D0}"/>
              </a:ext>
            </a:extLst>
          </p:cNvPr>
          <p:cNvSpPr txBox="1"/>
          <p:nvPr/>
        </p:nvSpPr>
        <p:spPr>
          <a:xfrm>
            <a:off x="1724369" y="2585735"/>
            <a:ext cx="344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internal state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r>
              <a:rPr lang="en-US" i="1" dirty="0"/>
              <a:t>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F4357D-911B-8904-273E-0D5B42C21684}"/>
              </a:ext>
            </a:extLst>
          </p:cNvPr>
          <p:cNvSpPr txBox="1"/>
          <p:nvPr/>
        </p:nvSpPr>
        <p:spPr>
          <a:xfrm>
            <a:off x="1724369" y="295031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defined as the previous messages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6BDDA7-B651-1187-3997-3535EC6A1AB9}"/>
              </a:ext>
            </a:extLst>
          </p:cNvPr>
          <p:cNvSpPr txBox="1"/>
          <p:nvPr/>
        </p:nvSpPr>
        <p:spPr>
          <a:xfrm>
            <a:off x="1724369" y="331964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all the messages that are in the queue.</a:t>
            </a:r>
          </a:p>
        </p:txBody>
      </p:sp>
    </p:spTree>
    <p:extLst>
      <p:ext uri="{BB962C8B-B14F-4D97-AF65-F5344CB8AC3E}">
        <p14:creationId xmlns:p14="http://schemas.microsoft.com/office/powerpoint/2010/main" val="232100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93F05-516E-7F77-8D56-9CC3C0C61045}"/>
              </a:ext>
            </a:extLst>
          </p:cNvPr>
          <p:cNvSpPr txBox="1"/>
          <p:nvPr/>
        </p:nvSpPr>
        <p:spPr>
          <a:xfrm>
            <a:off x="531628" y="723014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/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blipFill>
                <a:blip r:embed="rId2"/>
                <a:stretch>
                  <a:fillRect t="-857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11E9C7-41C9-291D-9B7E-62854934D7D5}"/>
              </a:ext>
            </a:extLst>
          </p:cNvPr>
          <p:cNvSpPr txBox="1"/>
          <p:nvPr/>
        </p:nvSpPr>
        <p:spPr>
          <a:xfrm>
            <a:off x="2923640" y="2086686"/>
            <a:ext cx="4612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be a protocol with resource name 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DE337-5EFA-68B8-EFCF-48084018D088}"/>
              </a:ext>
            </a:extLst>
          </p:cNvPr>
          <p:cNvSpPr txBox="1"/>
          <p:nvPr/>
        </p:nvSpPr>
        <p:spPr>
          <a:xfrm>
            <a:off x="611400" y="2814157"/>
            <a:ext cx="5707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Let</a:t>
            </a:r>
            <a:r>
              <a:rPr lang="en-US" sz="2800" dirty="0"/>
              <a:t>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 </a:t>
            </a:r>
            <a:r>
              <a:rPr lang="en-US" sz="2800" dirty="0">
                <a:latin typeface="Chalk Board" panose="02000500000000000000" pitchFamily="2" charset="0"/>
              </a:rPr>
              <a:t>be the ideal functionality for the resource R</a:t>
            </a:r>
            <a:r>
              <a:rPr lang="en-US" sz="2800" dirty="0">
                <a:latin typeface="Chalk Board" panose="02000500000000000000" pitchFamily="2" charset="0"/>
                <a:cs typeface="Apple Chancery" panose="03020702040506060504" pitchFamily="66" charset="-79"/>
              </a:rPr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/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⋄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blipFill>
                <a:blip r:embed="rId3"/>
                <a:stretch>
                  <a:fillRect l="-15873" r="-9524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878131F-EA59-9D96-D5CF-39F5FE3419A5}"/>
              </a:ext>
            </a:extLst>
          </p:cNvPr>
          <p:cNvSpPr txBox="1"/>
          <p:nvPr/>
        </p:nvSpPr>
        <p:spPr>
          <a:xfrm>
            <a:off x="1349488" y="3459466"/>
            <a:ext cx="61265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  <a:endParaRPr lang="en-US" sz="4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4AA8D-3A00-AC2A-08B2-4068AE97DEE3}"/>
              </a:ext>
            </a:extLst>
          </p:cNvPr>
          <p:cNvSpPr txBox="1"/>
          <p:nvPr/>
        </p:nvSpPr>
        <p:spPr>
          <a:xfrm>
            <a:off x="2020187" y="3601569"/>
            <a:ext cx="3209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 protocol using resource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CAC7E4-BB6B-16D8-59AB-F136144FB62D}"/>
              </a:ext>
            </a:extLst>
          </p:cNvPr>
          <p:cNvSpPr txBox="1"/>
          <p:nvPr/>
        </p:nvSpPr>
        <p:spPr>
          <a:xfrm>
            <a:off x="615433" y="4629465"/>
            <a:ext cx="5290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Ideal functionalities can play two roles: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4A076-FA05-A1DB-72B0-E11C42082E1E}"/>
              </a:ext>
            </a:extLst>
          </p:cNvPr>
          <p:cNvSpPr txBox="1"/>
          <p:nvPr/>
        </p:nvSpPr>
        <p:spPr>
          <a:xfrm>
            <a:off x="2242326" y="5307022"/>
            <a:ext cx="3725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Specifications of intended behavior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9DBA36-771F-8AE2-C0D5-01EE9DB7DF2F}"/>
              </a:ext>
            </a:extLst>
          </p:cNvPr>
          <p:cNvSpPr txBox="1"/>
          <p:nvPr/>
        </p:nvSpPr>
        <p:spPr>
          <a:xfrm>
            <a:off x="2266662" y="5861468"/>
            <a:ext cx="810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can also serve as a network resource (a way for them to communicate)!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3976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8823A-1BDF-15FD-0E50-78528EE12BBF}"/>
              </a:ext>
            </a:extLst>
          </p:cNvPr>
          <p:cNvSpPr txBox="1"/>
          <p:nvPr/>
        </p:nvSpPr>
        <p:spPr>
          <a:xfrm>
            <a:off x="765544" y="669851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2D75E1-8B7D-D7D7-C7BA-D4F10E376EDE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8C8908-D7A5-A279-74DA-5CFA9F5E52F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D627E5-1006-A1EE-9DCA-153467D17CF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364E60-FAE7-0569-AA11-4D4885D09A46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5DCF98-5AF1-6426-10F6-457C961FE336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9E1B59-FCB8-6FCB-9E34-4B323958F9F1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52A88-2EBF-F712-044F-33D593FF662B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982A60-5F0E-079D-8DD5-6055AF3AEFD8}"/>
              </a:ext>
            </a:extLst>
          </p:cNvPr>
          <p:cNvSpPr txBox="1"/>
          <p:nvPr/>
        </p:nvSpPr>
        <p:spPr>
          <a:xfrm>
            <a:off x="348727" y="3105632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0D728D-BF13-836E-8A88-F2BBC3F5A2A3}"/>
              </a:ext>
            </a:extLst>
          </p:cNvPr>
          <p:cNvSpPr txBox="1"/>
          <p:nvPr/>
        </p:nvSpPr>
        <p:spPr>
          <a:xfrm>
            <a:off x="313911" y="3922376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C1336-7E24-6628-BC38-01E84317DD01}"/>
              </a:ext>
            </a:extLst>
          </p:cNvPr>
          <p:cNvSpPr txBox="1"/>
          <p:nvPr/>
        </p:nvSpPr>
        <p:spPr>
          <a:xfrm>
            <a:off x="4420307" y="3985241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E31F28-9F4C-3CBC-8A1E-1E33905B891F}"/>
              </a:ext>
            </a:extLst>
          </p:cNvPr>
          <p:cNvSpPr txBox="1"/>
          <p:nvPr/>
        </p:nvSpPr>
        <p:spPr>
          <a:xfrm>
            <a:off x="4357790" y="3082403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42366-E979-5620-7C8A-CDC69EEA4C51}"/>
              </a:ext>
            </a:extLst>
          </p:cNvPr>
          <p:cNvSpPr txBox="1"/>
          <p:nvPr/>
        </p:nvSpPr>
        <p:spPr>
          <a:xfrm>
            <a:off x="3073518" y="230175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AFB4CC-F44B-E6C1-5053-9A038EA35D06}"/>
              </a:ext>
            </a:extLst>
          </p:cNvPr>
          <p:cNvSpPr txBox="1"/>
          <p:nvPr/>
        </p:nvSpPr>
        <p:spPr>
          <a:xfrm>
            <a:off x="1450954" y="2366657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792F4B-01DD-8AD2-05DE-6C0D9AE61C2B}"/>
              </a:ext>
            </a:extLst>
          </p:cNvPr>
          <p:cNvSpPr txBox="1"/>
          <p:nvPr/>
        </p:nvSpPr>
        <p:spPr>
          <a:xfrm>
            <a:off x="6160921" y="1969049"/>
            <a:ext cx="2552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(mid, j, m)</a:t>
            </a:r>
            <a:r>
              <a:rPr lang="en-US" dirty="0"/>
              <a:t>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/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blipFill>
                <a:blip r:embed="rId2"/>
                <a:stretch>
                  <a:fillRect l="-5000" r="-50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87AF182-4788-DB63-78ED-85C5F39F188D}"/>
              </a:ext>
            </a:extLst>
          </p:cNvPr>
          <p:cNvSpPr txBox="1"/>
          <p:nvPr/>
        </p:nvSpPr>
        <p:spPr>
          <a:xfrm>
            <a:off x="8612277" y="2340288"/>
            <a:ext cx="357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  <a:r>
              <a:rPr lang="en-US" dirty="0"/>
              <a:t> on </a:t>
            </a:r>
            <a:r>
              <a:rPr lang="en-US" dirty="0" err="1">
                <a:latin typeface="American Typewriter" panose="02090604020004020304" pitchFamily="18" charset="77"/>
              </a:rPr>
              <a:t>AT.leak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D15B0-4F1B-85BB-4525-EC15605585EA}"/>
              </a:ext>
            </a:extLst>
          </p:cNvPr>
          <p:cNvSpPr txBox="1"/>
          <p:nvPr/>
        </p:nvSpPr>
        <p:spPr>
          <a:xfrm>
            <a:off x="8648095" y="2709620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9D6EEB-392A-D193-8E14-66078ACDAD24}"/>
              </a:ext>
            </a:extLst>
          </p:cNvPr>
          <p:cNvSpPr txBox="1"/>
          <p:nvPr/>
        </p:nvSpPr>
        <p:spPr>
          <a:xfrm>
            <a:off x="6505970" y="4825019"/>
            <a:ext cx="4137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(deliver, 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j)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68996A-4334-0D4F-779E-E83FF882178F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24E4E-43EC-9BCB-EEF4-2929D2DC0AD1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08645918-1C74-ED13-5400-5C12E338DEA0}"/>
              </a:ext>
            </a:extLst>
          </p:cNvPr>
          <p:cNvSpPr txBox="1"/>
          <p:nvPr/>
        </p:nvSpPr>
        <p:spPr>
          <a:xfrm>
            <a:off x="6323536" y="3251680"/>
            <a:ext cx="495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</a:t>
            </a:r>
            <a:r>
              <a:rPr lang="en-US" dirty="0">
                <a:latin typeface="American Typewriter" panose="02090604020004020304" pitchFamily="18" charset="77"/>
              </a:rPr>
              <a:t>(mid, j, m) </a:t>
            </a:r>
            <a:r>
              <a:rPr lang="en-US" dirty="0"/>
              <a:t>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/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348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3F4EE8E-F99A-D64B-92D0-E884C47C8A20}"/>
              </a:ext>
            </a:extLst>
          </p:cNvPr>
          <p:cNvSpPr/>
          <p:nvPr/>
        </p:nvSpPr>
        <p:spPr>
          <a:xfrm>
            <a:off x="8433390" y="2193580"/>
            <a:ext cx="2703921" cy="1342585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9DC4D-7C3D-F210-EA91-3B8E6219CEFE}"/>
              </a:ext>
            </a:extLst>
          </p:cNvPr>
          <p:cNvSpPr txBox="1"/>
          <p:nvPr/>
        </p:nvSpPr>
        <p:spPr>
          <a:xfrm>
            <a:off x="372139" y="382772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/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blipFill>
                <a:blip r:embed="rId2"/>
                <a:stretch>
                  <a:fillRect l="-2899" t="-8696" r="-471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5E4BC60-2C59-EF44-734D-80A04E99D096}"/>
              </a:ext>
            </a:extLst>
          </p:cNvPr>
          <p:cNvSpPr txBox="1"/>
          <p:nvPr/>
        </p:nvSpPr>
        <p:spPr>
          <a:xfrm>
            <a:off x="1403497" y="2640531"/>
            <a:ext cx="98507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uses an ideal functionality to implement another ideal functionality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F8643C-14E3-C7CA-B7C0-04425D0C38C6}"/>
              </a:ext>
            </a:extLst>
          </p:cNvPr>
          <p:cNvCxnSpPr>
            <a:stCxn id="5" idx="4"/>
          </p:cNvCxnSpPr>
          <p:nvPr/>
        </p:nvCxnSpPr>
        <p:spPr>
          <a:xfrm flipH="1">
            <a:off x="8973879" y="3536165"/>
            <a:ext cx="811472" cy="1088998"/>
          </a:xfrm>
          <a:prstGeom prst="straightConnector1">
            <a:avLst/>
          </a:prstGeom>
          <a:ln>
            <a:headEnd type="stealt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9D1D82-745B-5896-BC7E-DEB194019F84}"/>
              </a:ext>
            </a:extLst>
          </p:cNvPr>
          <p:cNvSpPr txBox="1"/>
          <p:nvPr/>
        </p:nvSpPr>
        <p:spPr>
          <a:xfrm>
            <a:off x="8196447" y="4625163"/>
            <a:ext cx="1383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resource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9DEB4A-42CB-9E82-FA3F-B224DD7F85F0}"/>
              </a:ext>
            </a:extLst>
          </p:cNvPr>
          <p:cNvSpPr/>
          <p:nvPr/>
        </p:nvSpPr>
        <p:spPr>
          <a:xfrm>
            <a:off x="4392706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A37294-40D9-0278-F65B-E282C37F6694}"/>
              </a:ext>
            </a:extLst>
          </p:cNvPr>
          <p:cNvSpPr/>
          <p:nvPr/>
        </p:nvSpPr>
        <p:spPr>
          <a:xfrm>
            <a:off x="2689412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9ECC27-A298-1F2F-81FF-1A584E3A5C2A}"/>
              </a:ext>
            </a:extLst>
          </p:cNvPr>
          <p:cNvSpPr/>
          <p:nvPr/>
        </p:nvSpPr>
        <p:spPr>
          <a:xfrm>
            <a:off x="6096000" y="5446097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8F7DC-2423-0F62-59A3-B98B2DF63DB8}"/>
              </a:ext>
            </a:extLst>
          </p:cNvPr>
          <p:cNvSpPr txBox="1"/>
          <p:nvPr/>
        </p:nvSpPr>
        <p:spPr>
          <a:xfrm>
            <a:off x="4589942" y="5641684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B22DB-4339-4A4F-D6B6-648DE54BCD66}"/>
              </a:ext>
            </a:extLst>
          </p:cNvPr>
          <p:cNvSpPr txBox="1"/>
          <p:nvPr/>
        </p:nvSpPr>
        <p:spPr>
          <a:xfrm>
            <a:off x="2936314" y="57186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C4DFF-7748-3312-D74B-96868AA613D9}"/>
              </a:ext>
            </a:extLst>
          </p:cNvPr>
          <p:cNvSpPr txBox="1"/>
          <p:nvPr/>
        </p:nvSpPr>
        <p:spPr>
          <a:xfrm>
            <a:off x="6366238" y="574463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6216F3-DB0B-835A-57E9-9FDA64B4B2CD}"/>
              </a:ext>
            </a:extLst>
          </p:cNvPr>
          <p:cNvCxnSpPr>
            <a:cxnSpLocks/>
          </p:cNvCxnSpPr>
          <p:nvPr/>
        </p:nvCxnSpPr>
        <p:spPr>
          <a:xfrm flipV="1">
            <a:off x="3009219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DD899F-F5A5-4B3F-1093-26AAFBF3DC15}"/>
              </a:ext>
            </a:extLst>
          </p:cNvPr>
          <p:cNvCxnSpPr>
            <a:cxnSpLocks/>
          </p:cNvCxnSpPr>
          <p:nvPr/>
        </p:nvCxnSpPr>
        <p:spPr>
          <a:xfrm flipV="1">
            <a:off x="4766648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1EF141-FFC6-A49A-9D35-F0EC2A9A0798}"/>
              </a:ext>
            </a:extLst>
          </p:cNvPr>
          <p:cNvCxnSpPr>
            <a:cxnSpLocks/>
          </p:cNvCxnSpPr>
          <p:nvPr/>
        </p:nvCxnSpPr>
        <p:spPr>
          <a:xfrm>
            <a:off x="5053519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B09D5A-DBC0-CA19-8B37-4196E04D10C4}"/>
              </a:ext>
            </a:extLst>
          </p:cNvPr>
          <p:cNvCxnSpPr>
            <a:cxnSpLocks/>
          </p:cNvCxnSpPr>
          <p:nvPr/>
        </p:nvCxnSpPr>
        <p:spPr>
          <a:xfrm flipV="1">
            <a:off x="6486011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E567AD-CAEE-A14C-A75A-EC8BF21048C5}"/>
              </a:ext>
            </a:extLst>
          </p:cNvPr>
          <p:cNvCxnSpPr>
            <a:cxnSpLocks/>
          </p:cNvCxnSpPr>
          <p:nvPr/>
        </p:nvCxnSpPr>
        <p:spPr>
          <a:xfrm>
            <a:off x="6772882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6A82AA-95F7-C390-487D-15CB870C527C}"/>
              </a:ext>
            </a:extLst>
          </p:cNvPr>
          <p:cNvCxnSpPr>
            <a:cxnSpLocks/>
          </p:cNvCxnSpPr>
          <p:nvPr/>
        </p:nvCxnSpPr>
        <p:spPr>
          <a:xfrm>
            <a:off x="1815107" y="5766090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732EF9A-212A-17BD-0C98-04EB391B0EE8}"/>
              </a:ext>
            </a:extLst>
          </p:cNvPr>
          <p:cNvCxnSpPr>
            <a:cxnSpLocks/>
          </p:cNvCxnSpPr>
          <p:nvPr/>
        </p:nvCxnSpPr>
        <p:spPr>
          <a:xfrm flipH="1" flipV="1">
            <a:off x="1777927" y="6125006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32C9CE2-6227-05D5-8F7C-18840B4AEF3D}"/>
              </a:ext>
            </a:extLst>
          </p:cNvPr>
          <p:cNvCxnSpPr>
            <a:cxnSpLocks/>
          </p:cNvCxnSpPr>
          <p:nvPr/>
        </p:nvCxnSpPr>
        <p:spPr>
          <a:xfrm>
            <a:off x="3527253" y="5729044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258AC7-3135-8F35-2D25-ABEBC03C6F23}"/>
              </a:ext>
            </a:extLst>
          </p:cNvPr>
          <p:cNvCxnSpPr>
            <a:cxnSpLocks/>
          </p:cNvCxnSpPr>
          <p:nvPr/>
        </p:nvCxnSpPr>
        <p:spPr>
          <a:xfrm flipH="1" flipV="1">
            <a:off x="3490073" y="6087960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F4F967-3208-2573-9474-5E534527A35A}"/>
              </a:ext>
            </a:extLst>
          </p:cNvPr>
          <p:cNvCxnSpPr>
            <a:cxnSpLocks/>
          </p:cNvCxnSpPr>
          <p:nvPr/>
        </p:nvCxnSpPr>
        <p:spPr>
          <a:xfrm>
            <a:off x="5228026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4710D-A51D-A963-9E86-4BB714212797}"/>
              </a:ext>
            </a:extLst>
          </p:cNvPr>
          <p:cNvCxnSpPr>
            <a:cxnSpLocks/>
          </p:cNvCxnSpPr>
          <p:nvPr/>
        </p:nvCxnSpPr>
        <p:spPr>
          <a:xfrm flipH="1" flipV="1">
            <a:off x="5190846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4E03603-F599-19BC-676E-431DEE96FC0B}"/>
              </a:ext>
            </a:extLst>
          </p:cNvPr>
          <p:cNvCxnSpPr>
            <a:cxnSpLocks/>
          </p:cNvCxnSpPr>
          <p:nvPr/>
        </p:nvCxnSpPr>
        <p:spPr>
          <a:xfrm>
            <a:off x="7101345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F95C32-A710-7BC9-648E-FFBD7AA4CCB4}"/>
              </a:ext>
            </a:extLst>
          </p:cNvPr>
          <p:cNvCxnSpPr>
            <a:cxnSpLocks/>
          </p:cNvCxnSpPr>
          <p:nvPr/>
        </p:nvCxnSpPr>
        <p:spPr>
          <a:xfrm flipH="1" flipV="1">
            <a:off x="7064165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35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5D19-84FC-3491-637C-A2637538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22FD0E-D778-B5ED-55C3-8DF3E5E7A7B3}"/>
              </a:ext>
            </a:extLst>
          </p:cNvPr>
          <p:cNvSpPr txBox="1"/>
          <p:nvPr/>
        </p:nvSpPr>
        <p:spPr>
          <a:xfrm>
            <a:off x="338273" y="299434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F2D253-CB8B-CA19-855C-229051A66FD3}"/>
              </a:ext>
            </a:extLst>
          </p:cNvPr>
          <p:cNvSpPr/>
          <p:nvPr/>
        </p:nvSpPr>
        <p:spPr>
          <a:xfrm>
            <a:off x="3411083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B4925-00C7-E792-DB49-F301662DB846}"/>
              </a:ext>
            </a:extLst>
          </p:cNvPr>
          <p:cNvSpPr/>
          <p:nvPr/>
        </p:nvSpPr>
        <p:spPr>
          <a:xfrm>
            <a:off x="1707789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EEAE50-223C-083D-CD9F-342399F6D0D5}"/>
              </a:ext>
            </a:extLst>
          </p:cNvPr>
          <p:cNvSpPr/>
          <p:nvPr/>
        </p:nvSpPr>
        <p:spPr>
          <a:xfrm>
            <a:off x="5114377" y="170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D2DD47-CA60-3A6A-85BF-39BC51ECA9F3}"/>
              </a:ext>
            </a:extLst>
          </p:cNvPr>
          <p:cNvSpPr txBox="1"/>
          <p:nvPr/>
        </p:nvSpPr>
        <p:spPr>
          <a:xfrm>
            <a:off x="3608319" y="1904773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D5ED4-A050-0884-2B1B-B92626A62C1C}"/>
              </a:ext>
            </a:extLst>
          </p:cNvPr>
          <p:cNvSpPr txBox="1"/>
          <p:nvPr/>
        </p:nvSpPr>
        <p:spPr>
          <a:xfrm>
            <a:off x="1954691" y="19817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3FC94F-3133-AB65-B3B4-1B6AE170B0AC}"/>
              </a:ext>
            </a:extLst>
          </p:cNvPr>
          <p:cNvSpPr txBox="1"/>
          <p:nvPr/>
        </p:nvSpPr>
        <p:spPr>
          <a:xfrm>
            <a:off x="5384615" y="200772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679551-AEE2-4BEB-022C-D9136194B7B5}"/>
              </a:ext>
            </a:extLst>
          </p:cNvPr>
          <p:cNvCxnSpPr>
            <a:cxnSpLocks/>
          </p:cNvCxnSpPr>
          <p:nvPr/>
        </p:nvCxnSpPr>
        <p:spPr>
          <a:xfrm flipV="1">
            <a:off x="2027596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FCD772-C7CF-2C7D-EF51-4131376B2409}"/>
              </a:ext>
            </a:extLst>
          </p:cNvPr>
          <p:cNvCxnSpPr>
            <a:cxnSpLocks/>
          </p:cNvCxnSpPr>
          <p:nvPr/>
        </p:nvCxnSpPr>
        <p:spPr>
          <a:xfrm flipV="1">
            <a:off x="3785025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E3E4FE-EB25-6396-F156-E33C9423B859}"/>
              </a:ext>
            </a:extLst>
          </p:cNvPr>
          <p:cNvCxnSpPr>
            <a:cxnSpLocks/>
          </p:cNvCxnSpPr>
          <p:nvPr/>
        </p:nvCxnSpPr>
        <p:spPr>
          <a:xfrm>
            <a:off x="4071896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BD7861-B1D6-4A08-B2A2-2D8322F1E6E1}"/>
              </a:ext>
            </a:extLst>
          </p:cNvPr>
          <p:cNvCxnSpPr>
            <a:cxnSpLocks/>
          </p:cNvCxnSpPr>
          <p:nvPr/>
        </p:nvCxnSpPr>
        <p:spPr>
          <a:xfrm flipV="1">
            <a:off x="5504388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6641DD-BF05-C7CE-7CD6-059366EA6369}"/>
              </a:ext>
            </a:extLst>
          </p:cNvPr>
          <p:cNvCxnSpPr>
            <a:cxnSpLocks/>
          </p:cNvCxnSpPr>
          <p:nvPr/>
        </p:nvCxnSpPr>
        <p:spPr>
          <a:xfrm>
            <a:off x="5791259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A2B568-3020-1A83-4926-12B98422CA2D}"/>
              </a:ext>
            </a:extLst>
          </p:cNvPr>
          <p:cNvCxnSpPr>
            <a:cxnSpLocks/>
          </p:cNvCxnSpPr>
          <p:nvPr/>
        </p:nvCxnSpPr>
        <p:spPr>
          <a:xfrm>
            <a:off x="833484" y="2029179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A35692-CA0A-623F-A010-4D7F70F00534}"/>
              </a:ext>
            </a:extLst>
          </p:cNvPr>
          <p:cNvCxnSpPr>
            <a:cxnSpLocks/>
          </p:cNvCxnSpPr>
          <p:nvPr/>
        </p:nvCxnSpPr>
        <p:spPr>
          <a:xfrm flipH="1" flipV="1">
            <a:off x="796304" y="2388095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B7C83D-5199-BC16-DFE9-3991A35DF82E}"/>
              </a:ext>
            </a:extLst>
          </p:cNvPr>
          <p:cNvCxnSpPr>
            <a:cxnSpLocks/>
          </p:cNvCxnSpPr>
          <p:nvPr/>
        </p:nvCxnSpPr>
        <p:spPr>
          <a:xfrm>
            <a:off x="2545630" y="19921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566D80E-67A9-3A2C-328A-F6B5191A6048}"/>
              </a:ext>
            </a:extLst>
          </p:cNvPr>
          <p:cNvCxnSpPr>
            <a:cxnSpLocks/>
          </p:cNvCxnSpPr>
          <p:nvPr/>
        </p:nvCxnSpPr>
        <p:spPr>
          <a:xfrm flipH="1" flipV="1">
            <a:off x="2508450" y="23510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323B5E-610B-B062-C97D-ECC8F76C56E9}"/>
              </a:ext>
            </a:extLst>
          </p:cNvPr>
          <p:cNvCxnSpPr>
            <a:cxnSpLocks/>
          </p:cNvCxnSpPr>
          <p:nvPr/>
        </p:nvCxnSpPr>
        <p:spPr>
          <a:xfrm>
            <a:off x="4246403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7A3DC-FFF8-CC6F-D24A-4FC7E1615028}"/>
              </a:ext>
            </a:extLst>
          </p:cNvPr>
          <p:cNvCxnSpPr>
            <a:cxnSpLocks/>
          </p:cNvCxnSpPr>
          <p:nvPr/>
        </p:nvCxnSpPr>
        <p:spPr>
          <a:xfrm flipH="1" flipV="1">
            <a:off x="4209223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0E0198-5595-3F7D-BA17-39778F81FF15}"/>
              </a:ext>
            </a:extLst>
          </p:cNvPr>
          <p:cNvCxnSpPr>
            <a:cxnSpLocks/>
          </p:cNvCxnSpPr>
          <p:nvPr/>
        </p:nvCxnSpPr>
        <p:spPr>
          <a:xfrm>
            <a:off x="6119722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07FFB9-95E0-4D25-2692-BBD89331AA6E}"/>
              </a:ext>
            </a:extLst>
          </p:cNvPr>
          <p:cNvCxnSpPr>
            <a:cxnSpLocks/>
          </p:cNvCxnSpPr>
          <p:nvPr/>
        </p:nvCxnSpPr>
        <p:spPr>
          <a:xfrm flipH="1" flipV="1">
            <a:off x="6082542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5EB725C-F8E1-7B7A-BC35-604B1098AC30}"/>
              </a:ext>
            </a:extLst>
          </p:cNvPr>
          <p:cNvSpPr txBox="1"/>
          <p:nvPr/>
        </p:nvSpPr>
        <p:spPr>
          <a:xfrm>
            <a:off x="372139" y="3245372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0C64D4-4FF7-A923-65A4-D2918AE6D15C}"/>
              </a:ext>
            </a:extLst>
          </p:cNvPr>
          <p:cNvSpPr txBox="1"/>
          <p:nvPr/>
        </p:nvSpPr>
        <p:spPr>
          <a:xfrm>
            <a:off x="372139" y="3730860"/>
            <a:ext cx="73949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(mid,2,m) on ST.in1, output (mid,2, hello) on AT.in1.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704B62-BF39-BBA3-D73A-F2CE1FE443D3}"/>
              </a:ext>
            </a:extLst>
          </p:cNvPr>
          <p:cNvSpPr txBox="1"/>
          <p:nvPr/>
        </p:nvSpPr>
        <p:spPr>
          <a:xfrm>
            <a:off x="381174" y="4207698"/>
            <a:ext cx="60376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When receiving (mid, 2, ek) on AT.out1, sample encryption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2E353-8449-58E0-35D6-E53D6F1FEFD2}"/>
              </a:ext>
            </a:extLst>
          </p:cNvPr>
          <p:cNvSpPr txBox="1"/>
          <p:nvPr/>
        </p:nvSpPr>
        <p:spPr>
          <a:xfrm>
            <a:off x="6153383" y="4207698"/>
            <a:ext cx="1666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 = E_{ek}(m)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D54CA3-641D-7F11-5573-45ED3724F765}"/>
              </a:ext>
            </a:extLst>
          </p:cNvPr>
          <p:cNvSpPr txBox="1"/>
          <p:nvPr/>
        </p:nvSpPr>
        <p:spPr>
          <a:xfrm>
            <a:off x="6209475" y="4659194"/>
            <a:ext cx="3206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(mid,2,c) on AT.in1.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B0D6B1-4133-9320-7575-A040A9F61611}"/>
              </a:ext>
            </a:extLst>
          </p:cNvPr>
          <p:cNvSpPr txBox="1"/>
          <p:nvPr/>
        </p:nvSpPr>
        <p:spPr>
          <a:xfrm>
            <a:off x="372139" y="5440709"/>
            <a:ext cx="68952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 hello) on AT.out_2,</a:t>
            </a:r>
          </a:p>
          <a:p>
            <a:r>
              <a:rPr lang="en-US" dirty="0"/>
              <a:t>generate key pair (</a:t>
            </a:r>
            <a:r>
              <a:rPr lang="en-US" dirty="0" err="1"/>
              <a:t>ek,dk</a:t>
            </a:r>
            <a:r>
              <a:rPr lang="en-US" dirty="0"/>
              <a:t>) and send (mid,1,ek).</a:t>
            </a:r>
          </a:p>
          <a:p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C9525-55AF-8684-F4C4-D3173A1954B7}"/>
              </a:ext>
            </a:extLst>
          </p:cNvPr>
          <p:cNvSpPr txBox="1"/>
          <p:nvPr/>
        </p:nvSpPr>
        <p:spPr>
          <a:xfrm>
            <a:off x="381174" y="6113608"/>
            <a:ext cx="4193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(mid,1,c) on AT.out_2, compute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866ACC-EF53-AC79-B1AC-B194BEEEAB96}"/>
              </a:ext>
            </a:extLst>
          </p:cNvPr>
          <p:cNvSpPr txBox="1"/>
          <p:nvPr/>
        </p:nvSpPr>
        <p:spPr>
          <a:xfrm>
            <a:off x="4429859" y="6113608"/>
            <a:ext cx="1854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 = D_{dk}(c)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D1086A-4C62-164A-4411-21D9E8A7B731}"/>
              </a:ext>
            </a:extLst>
          </p:cNvPr>
          <p:cNvSpPr txBox="1"/>
          <p:nvPr/>
        </p:nvSpPr>
        <p:spPr>
          <a:xfrm>
            <a:off x="3466310" y="6482940"/>
            <a:ext cx="4072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(mid,1,m) on ST.out_2.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9C25C7-4FB3-62FB-1963-3290FF994E8F}"/>
              </a:ext>
            </a:extLst>
          </p:cNvPr>
          <p:cNvSpPr txBox="1"/>
          <p:nvPr/>
        </p:nvSpPr>
        <p:spPr>
          <a:xfrm>
            <a:off x="381174" y="4963871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5076F1-AC11-FE68-1234-21B5DFA36271}"/>
              </a:ext>
            </a:extLst>
          </p:cNvPr>
          <p:cNvSpPr txBox="1"/>
          <p:nvPr/>
        </p:nvSpPr>
        <p:spPr>
          <a:xfrm>
            <a:off x="235526" y="16082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C7FEE0-0D15-5691-6F10-79A739FC4197}"/>
              </a:ext>
            </a:extLst>
          </p:cNvPr>
          <p:cNvSpPr txBox="1"/>
          <p:nvPr/>
        </p:nvSpPr>
        <p:spPr>
          <a:xfrm>
            <a:off x="200710" y="2424945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24B9F3-1C7E-4DD1-5E8F-1E54B0088D0D}"/>
              </a:ext>
            </a:extLst>
          </p:cNvPr>
          <p:cNvSpPr txBox="1"/>
          <p:nvPr/>
        </p:nvSpPr>
        <p:spPr>
          <a:xfrm>
            <a:off x="6671285" y="24018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BDB02C-FF62-0CF4-9A31-B24D51FAA462}"/>
              </a:ext>
            </a:extLst>
          </p:cNvPr>
          <p:cNvSpPr txBox="1"/>
          <p:nvPr/>
        </p:nvSpPr>
        <p:spPr>
          <a:xfrm>
            <a:off x="6596697" y="1564768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0AEC1C-59DE-1E7F-3ECF-4FEAA64331DD}"/>
              </a:ext>
            </a:extLst>
          </p:cNvPr>
          <p:cNvCxnSpPr>
            <a:cxnSpLocks/>
          </p:cNvCxnSpPr>
          <p:nvPr/>
        </p:nvCxnSpPr>
        <p:spPr>
          <a:xfrm>
            <a:off x="2395837" y="124997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A9415FB-7386-59A2-F1E2-E5163837944F}"/>
              </a:ext>
            </a:extLst>
          </p:cNvPr>
          <p:cNvSpPr txBox="1"/>
          <p:nvPr/>
        </p:nvSpPr>
        <p:spPr>
          <a:xfrm>
            <a:off x="8655128" y="1946755"/>
            <a:ext cx="2532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What does this mean?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4D98B4-5607-433C-63A7-8BEED07AA456}"/>
              </a:ext>
            </a:extLst>
          </p:cNvPr>
          <p:cNvSpPr txBox="1"/>
          <p:nvPr/>
        </p:nvSpPr>
        <p:spPr>
          <a:xfrm>
            <a:off x="2668834" y="15879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34DE96-2AFD-9CB0-5034-329C71CFC135}"/>
              </a:ext>
            </a:extLst>
          </p:cNvPr>
          <p:cNvSpPr txBox="1"/>
          <p:nvPr/>
        </p:nvSpPr>
        <p:spPr>
          <a:xfrm>
            <a:off x="2634018" y="2404741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CF3053-B943-151E-5A5B-C197992C6890}"/>
              </a:ext>
            </a:extLst>
          </p:cNvPr>
          <p:cNvSpPr txBox="1"/>
          <p:nvPr/>
        </p:nvSpPr>
        <p:spPr>
          <a:xfrm>
            <a:off x="4391924" y="23815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C2522-57F2-C114-6F65-CAE958FFC4F2}"/>
              </a:ext>
            </a:extLst>
          </p:cNvPr>
          <p:cNvSpPr txBox="1"/>
          <p:nvPr/>
        </p:nvSpPr>
        <p:spPr>
          <a:xfrm>
            <a:off x="4317826" y="1704325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CF9520-D6CF-BB30-9CCF-A9D7166268AC}"/>
              </a:ext>
            </a:extLst>
          </p:cNvPr>
          <p:cNvSpPr txBox="1"/>
          <p:nvPr/>
        </p:nvSpPr>
        <p:spPr>
          <a:xfrm>
            <a:off x="4019804" y="122939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0B044-FECE-B990-323B-B7F37DC93B23}"/>
              </a:ext>
            </a:extLst>
          </p:cNvPr>
          <p:cNvSpPr txBox="1"/>
          <p:nvPr/>
        </p:nvSpPr>
        <p:spPr>
          <a:xfrm>
            <a:off x="3454958" y="931636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FC41A-C1D5-418D-70FD-E30A91FB32CC}"/>
              </a:ext>
            </a:extLst>
          </p:cNvPr>
          <p:cNvSpPr txBox="1"/>
          <p:nvPr/>
        </p:nvSpPr>
        <p:spPr>
          <a:xfrm>
            <a:off x="5777391" y="1210705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F91FAF-F8BE-8981-0904-2C9858C29621}"/>
              </a:ext>
            </a:extLst>
          </p:cNvPr>
          <p:cNvSpPr txBox="1"/>
          <p:nvPr/>
        </p:nvSpPr>
        <p:spPr>
          <a:xfrm>
            <a:off x="5212545" y="912947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A204CA-497B-6421-99F5-D8BCFD35CFC4}"/>
              </a:ext>
            </a:extLst>
          </p:cNvPr>
          <p:cNvSpPr txBox="1"/>
          <p:nvPr/>
        </p:nvSpPr>
        <p:spPr>
          <a:xfrm>
            <a:off x="2328041" y="1235981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8140B4-9300-0454-EB3F-4E346B74A0EC}"/>
              </a:ext>
            </a:extLst>
          </p:cNvPr>
          <p:cNvSpPr txBox="1"/>
          <p:nvPr/>
        </p:nvSpPr>
        <p:spPr>
          <a:xfrm>
            <a:off x="1019148" y="1193286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/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𝐴𝑇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blipFill>
                <a:blip r:embed="rId3"/>
                <a:stretch>
                  <a:fillRect l="-4545" t="-10204" r="-1136" b="-36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Oval 71">
            <a:extLst>
              <a:ext uri="{FF2B5EF4-FFF2-40B4-BE49-F238E27FC236}">
                <a16:creationId xmlns:a16="http://schemas.microsoft.com/office/drawing/2014/main" id="{348259C3-D88C-DDDD-415E-9B8CA6C49871}"/>
              </a:ext>
            </a:extLst>
          </p:cNvPr>
          <p:cNvSpPr/>
          <p:nvPr/>
        </p:nvSpPr>
        <p:spPr>
          <a:xfrm>
            <a:off x="8143244" y="498827"/>
            <a:ext cx="3044037" cy="1404495"/>
          </a:xfrm>
          <a:prstGeom prst="ellipse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2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692E-836B-9296-13A4-8818ED38B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B57A2-746A-3940-F141-AD373FDDFF32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89A0B3-5F1E-4277-A974-6EEE83F0C5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1B83F8-1FDE-13C0-ADAC-012C5D80AA28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F535C3-146F-54E9-1D81-00013D524DDB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4FC28BA1-D458-31FF-BAF0-13C8A9259DC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22446-DD9B-3271-61EE-3638A82603EA}"/>
              </a:ext>
            </a:extLst>
          </p:cNvPr>
          <p:cNvCxnSpPr/>
          <p:nvPr/>
        </p:nvCxnSpPr>
        <p:spPr>
          <a:xfrm>
            <a:off x="2051772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AD5F38-448C-A516-B488-906054C68197}"/>
              </a:ext>
            </a:extLst>
          </p:cNvPr>
          <p:cNvCxnSpPr/>
          <p:nvPr/>
        </p:nvCxnSpPr>
        <p:spPr>
          <a:xfrm>
            <a:off x="8794018" y="454029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2AD405-4D40-7043-7267-14EC2257B68F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32F8A5-06C0-F7EB-37BA-1C6469F62BBE}"/>
              </a:ext>
            </a:extLst>
          </p:cNvPr>
          <p:cNvCxnSpPr/>
          <p:nvPr/>
        </p:nvCxnSpPr>
        <p:spPr>
          <a:xfrm>
            <a:off x="2436123" y="38023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66DF3F5-3126-3943-DEC8-4B7EC8CF3927}"/>
              </a:ext>
            </a:extLst>
          </p:cNvPr>
          <p:cNvCxnSpPr/>
          <p:nvPr/>
        </p:nvCxnSpPr>
        <p:spPr>
          <a:xfrm>
            <a:off x="9196657" y="3804015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A4706F-50AF-F860-40A4-0FF07B2B8EF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8498B8A-8FF8-495B-641B-008FB2370EEE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A167F-2109-64E5-46B9-7D8C68B97FC9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48341-7F0B-9985-591B-2CF480C13A98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6E724-BBDE-67DD-D257-FFB2B968F43D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DC332A-52A9-64B4-E213-9C2153EB0A3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6E65103-785A-37CB-BC58-1F18FF8AFBCB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F5F6BF-89CF-9042-53E2-99FBC91780FC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B41AA-05C8-4B79-64CD-28DE2E165D53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D4CBDC-F50D-9043-3B7E-1F46B33E55D6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72BE8E-EAB0-9D7B-D5FE-3BA0F8E9F7C3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9E15F4B-F25B-CAC7-2B91-4D5CCC741568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D1049F-D18A-6E29-ABA7-90A2A334F821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DA5564-3806-B249-2CF3-54EA3D0A4568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0A2192-6CD1-1BF4-044C-7F403ABE81B5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8AD014A-6F52-613D-4645-2824A765F3F0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B9D63B-511A-5A4B-85E6-0D33A77B1B78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17EA890-304A-7D26-78AF-20AEACEAD9D0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F7782FA-E414-08B2-9403-98F3195C9064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DC341A5-8C1B-A946-5709-31F631737791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48862EE-A241-ABF3-0B68-DB0837690823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540CF36-6145-6364-7003-DA69DEA64FF5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104EAC-E5B5-B107-2840-6B751716098C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778F7E-C481-E34F-98E0-4B7243318F93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AAC5EF-5D3E-AD2E-AEFA-3BD0A4C1D8B7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939896A-ED5C-3914-933B-005C2DFF2B31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84FB97C-64BE-1960-A91B-1A909F3180EC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F5BD9E-3D1A-BE8F-6492-1D33CDC7817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6F55D13-61B5-4743-2297-6072FE8BF1AD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9E17767-A882-105E-9BAA-B718C015C3A7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C298968-9219-92BD-CB64-414177D986E2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9CFDA05-F9CB-F56B-83E3-AE138740FAF7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78B3994-A72B-7030-D817-09299E5A72BC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29F6A63-8308-DA59-D8C1-CA08D1CA62CD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8617846-C7AE-E9E9-7AF1-AFEC6F798E53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D2E4123-73FB-D1FC-87CF-8382FB3E3038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2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A85875-68D9-C3E0-9B2D-B7C5348F804A}"/>
              </a:ext>
            </a:extLst>
          </p:cNvPr>
          <p:cNvSpPr txBox="1"/>
          <p:nvPr/>
        </p:nvSpPr>
        <p:spPr>
          <a:xfrm>
            <a:off x="338273" y="299434"/>
            <a:ext cx="6887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does Environment Z behave?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B9B04-84B5-3FD1-89C9-80D1010304F0}"/>
              </a:ext>
            </a:extLst>
          </p:cNvPr>
          <p:cNvSpPr txBox="1"/>
          <p:nvPr/>
        </p:nvSpPr>
        <p:spPr>
          <a:xfrm>
            <a:off x="733645" y="1926482"/>
            <a:ext cx="7861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Picks some message m and inputs </a:t>
            </a:r>
            <a:r>
              <a:rPr lang="en-US" sz="2800" dirty="0">
                <a:latin typeface="American Typewriter" panose="02090604020004020304" pitchFamily="18" charset="77"/>
              </a:rPr>
              <a:t>(mid, 2, m) </a:t>
            </a:r>
            <a:r>
              <a:rPr lang="en-US" sz="3600" dirty="0">
                <a:latin typeface="Chalk Board" panose="02000500000000000000" pitchFamily="2" charset="0"/>
              </a:rPr>
              <a:t>on ST.in1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1FFEB-8E4E-4054-7BE7-17981C495464}"/>
              </a:ext>
            </a:extLst>
          </p:cNvPr>
          <p:cNvSpPr txBox="1"/>
          <p:nvPr/>
        </p:nvSpPr>
        <p:spPr>
          <a:xfrm>
            <a:off x="733645" y="2668893"/>
            <a:ext cx="11563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</a:t>
            </a:r>
            <a:r>
              <a:rPr lang="en-US" sz="2400" dirty="0">
                <a:latin typeface="American Typewriter" panose="02090604020004020304" pitchFamily="18" charset="77"/>
              </a:rPr>
              <a:t> (mid, 1, 2, hello)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2F8FA-2470-38BD-C2C5-5E4816311A0A}"/>
              </a:ext>
            </a:extLst>
          </p:cNvPr>
          <p:cNvSpPr txBox="1"/>
          <p:nvPr/>
        </p:nvSpPr>
        <p:spPr>
          <a:xfrm>
            <a:off x="733645" y="3392698"/>
            <a:ext cx="11577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2, 1, ek)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mid,2,1)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90F5D-4190-3C99-673B-0AB95BBCE12E}"/>
              </a:ext>
            </a:extLst>
          </p:cNvPr>
          <p:cNvSpPr txBox="1"/>
          <p:nvPr/>
        </p:nvSpPr>
        <p:spPr>
          <a:xfrm>
            <a:off x="733645" y="4119169"/>
            <a:ext cx="11490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2, c’’)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16752-8925-81BD-6B51-EADA27806E89}"/>
              </a:ext>
            </a:extLst>
          </p:cNvPr>
          <p:cNvSpPr txBox="1"/>
          <p:nvPr/>
        </p:nvSpPr>
        <p:spPr>
          <a:xfrm>
            <a:off x="733645" y="4920447"/>
            <a:ext cx="5387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m’’) </a:t>
            </a:r>
            <a:r>
              <a:rPr lang="en-US" sz="3600" dirty="0">
                <a:latin typeface="Chalk Board" panose="02000500000000000000" pitchFamily="2" charset="0"/>
              </a:rPr>
              <a:t>on ST.out2</a:t>
            </a:r>
          </a:p>
        </p:txBody>
      </p:sp>
    </p:spTree>
    <p:extLst>
      <p:ext uri="{BB962C8B-B14F-4D97-AF65-F5344CB8AC3E}">
        <p14:creationId xmlns:p14="http://schemas.microsoft.com/office/powerpoint/2010/main" val="1088473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504D49-30D5-1B84-429D-831094899847}"/>
              </a:ext>
            </a:extLst>
          </p:cNvPr>
          <p:cNvSpPr txBox="1"/>
          <p:nvPr/>
        </p:nvSpPr>
        <p:spPr>
          <a:xfrm>
            <a:off x="256592" y="733600"/>
            <a:ext cx="499046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Standalone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D6E43-650B-71E2-F9D1-DD6AC874CB5F}"/>
              </a:ext>
            </a:extLst>
          </p:cNvPr>
          <p:cNvSpPr txBox="1"/>
          <p:nvPr/>
        </p:nvSpPr>
        <p:spPr>
          <a:xfrm>
            <a:off x="388839" y="3776605"/>
            <a:ext cx="472597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D6987-1C2D-FACA-198F-BEE1DD90F78E}"/>
              </a:ext>
            </a:extLst>
          </p:cNvPr>
          <p:cNvSpPr txBox="1"/>
          <p:nvPr/>
        </p:nvSpPr>
        <p:spPr>
          <a:xfrm>
            <a:off x="1929000" y="1670617"/>
            <a:ext cx="9043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 </a:t>
            </a:r>
            <a:r>
              <a:rPr lang="en-US" sz="3200" b="1" dirty="0">
                <a:latin typeface="Chalk Board" panose="02000500000000000000" pitchFamily="2" charset="0"/>
              </a:rPr>
              <a:t>when run alone.</a:t>
            </a:r>
          </a:p>
          <a:p>
            <a:r>
              <a:rPr lang="en-US" sz="3200" b="1" dirty="0">
                <a:latin typeface="Chalk Board" panose="02000500000000000000" pitchFamily="2" charset="0"/>
              </a:rPr>
              <a:t> Adversary</a:t>
            </a:r>
            <a:r>
              <a:rPr lang="en-US" sz="3200" dirty="0">
                <a:latin typeface="Chalk Board" panose="02000500000000000000" pitchFamily="2" charset="0"/>
              </a:rPr>
              <a:t> interacts with </a:t>
            </a:r>
            <a:r>
              <a:rPr lang="en-US" sz="3200" i="1" dirty="0">
                <a:latin typeface="Chalk Board" panose="02000500000000000000" pitchFamily="2" charset="0"/>
              </a:rPr>
              <a:t>only this execution. </a:t>
            </a:r>
          </a:p>
          <a:p>
            <a:r>
              <a:rPr lang="en-US" sz="3200" i="1" dirty="0">
                <a:latin typeface="Chalk Board" panose="02000500000000000000" pitchFamily="2" charset="0"/>
              </a:rPr>
              <a:t>Proof</a:t>
            </a:r>
            <a:r>
              <a:rPr lang="en-US" sz="3200" dirty="0">
                <a:latin typeface="Chalk Board" panose="02000500000000000000" pitchFamily="2" charset="0"/>
              </a:rPr>
              <a:t> compares </a:t>
            </a:r>
            <a:r>
              <a:rPr lang="en-US" sz="3200" b="1" dirty="0">
                <a:latin typeface="Chalk Board" panose="02000500000000000000" pitchFamily="2" charset="0"/>
              </a:rPr>
              <a:t>the real vs ideal world for a single run</a:t>
            </a:r>
            <a:endParaRPr lang="en-US" sz="32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0C83E2-50D2-CC8D-ADF8-48448358B8B0}"/>
              </a:ext>
            </a:extLst>
          </p:cNvPr>
          <p:cNvSpPr txBox="1"/>
          <p:nvPr/>
        </p:nvSpPr>
        <p:spPr>
          <a:xfrm>
            <a:off x="2751826" y="4959264"/>
            <a:ext cx="9043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Protocol remains secure </a:t>
            </a:r>
            <a:r>
              <a:rPr lang="en-US" sz="2800" b="1" dirty="0">
                <a:latin typeface="Chalk Board" panose="02000500000000000000" pitchFamily="2" charset="0"/>
              </a:rPr>
              <a:t>even when composed with arbitrary other protocols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An adversary can interleave many executions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The environment can interact during execution</a:t>
            </a:r>
          </a:p>
        </p:txBody>
      </p:sp>
    </p:spTree>
    <p:extLst>
      <p:ext uri="{BB962C8B-B14F-4D97-AF65-F5344CB8AC3E}">
        <p14:creationId xmlns:p14="http://schemas.microsoft.com/office/powerpoint/2010/main" val="39281097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/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9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9600" b="0" i="0" smtClean="0">
                          <a:latin typeface="Chalk Board" panose="02000500000000000000" pitchFamily="2" charset="0"/>
                        </a:rPr>
                        <m:t>⋄ </m:t>
                      </m:r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G</m:t>
                          </m:r>
                        </m:sub>
                      </m:sSub>
                      <m:sSup>
                        <m:sSup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Env</m:t>
                          </m:r>
                        </m:sup>
                      </m:sSup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9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blipFill>
                <a:blip r:embed="rId2"/>
                <a:stretch>
                  <a:fillRect l="-3142" t="-5732" r="-2957" b="-35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BD4F165-659F-4B3B-B5ED-C34A294A9455}"/>
              </a:ext>
            </a:extLst>
          </p:cNvPr>
          <p:cNvSpPr txBox="1"/>
          <p:nvPr/>
        </p:nvSpPr>
        <p:spPr>
          <a:xfrm>
            <a:off x="579321" y="4772037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41D9E-B075-F534-2CED-B76E7041CE9F}"/>
              </a:ext>
            </a:extLst>
          </p:cNvPr>
          <p:cNvSpPr txBox="1"/>
          <p:nvPr/>
        </p:nvSpPr>
        <p:spPr>
          <a:xfrm>
            <a:off x="3465210" y="4766049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DB10F-A2ED-2215-EC38-B6CF580C611A}"/>
              </a:ext>
            </a:extLst>
          </p:cNvPr>
          <p:cNvSpPr txBox="1"/>
          <p:nvPr/>
        </p:nvSpPr>
        <p:spPr>
          <a:xfrm>
            <a:off x="7190794" y="4766049"/>
            <a:ext cx="27430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Ideal Functionality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446214-A89F-18A9-2BBD-C15E267EDE9F}"/>
              </a:ext>
            </a:extLst>
          </p:cNvPr>
          <p:cNvCxnSpPr/>
          <p:nvPr/>
        </p:nvCxnSpPr>
        <p:spPr>
          <a:xfrm flipH="1">
            <a:off x="1270376" y="3865096"/>
            <a:ext cx="691055" cy="90095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799C73-39F4-A3E9-AB82-EE156E5F102A}"/>
              </a:ext>
            </a:extLst>
          </p:cNvPr>
          <p:cNvCxnSpPr>
            <a:cxnSpLocks/>
          </p:cNvCxnSpPr>
          <p:nvPr/>
        </p:nvCxnSpPr>
        <p:spPr>
          <a:xfrm flipH="1">
            <a:off x="4008338" y="3755353"/>
            <a:ext cx="142679" cy="112043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E5968B-1DC0-C786-4CFD-6CB61E673B48}"/>
              </a:ext>
            </a:extLst>
          </p:cNvPr>
          <p:cNvCxnSpPr>
            <a:cxnSpLocks/>
          </p:cNvCxnSpPr>
          <p:nvPr/>
        </p:nvCxnSpPr>
        <p:spPr>
          <a:xfrm>
            <a:off x="8183664" y="3535870"/>
            <a:ext cx="641466" cy="1230179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8696DA-B7BD-EFE4-AE86-EE5CB652C653}"/>
              </a:ext>
            </a:extLst>
          </p:cNvPr>
          <p:cNvCxnSpPr>
            <a:cxnSpLocks/>
          </p:cNvCxnSpPr>
          <p:nvPr/>
        </p:nvCxnSpPr>
        <p:spPr>
          <a:xfrm flipV="1">
            <a:off x="6413135" y="1384065"/>
            <a:ext cx="1036536" cy="7271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8ECBCC-A4BA-1354-E785-025F43529494}"/>
              </a:ext>
            </a:extLst>
          </p:cNvPr>
          <p:cNvSpPr txBox="1"/>
          <p:nvPr/>
        </p:nvSpPr>
        <p:spPr>
          <a:xfrm>
            <a:off x="7190794" y="73530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secure as!</a:t>
            </a:r>
          </a:p>
        </p:txBody>
      </p:sp>
    </p:spTree>
    <p:extLst>
      <p:ext uri="{BB962C8B-B14F-4D97-AF65-F5344CB8AC3E}">
        <p14:creationId xmlns:p14="http://schemas.microsoft.com/office/powerpoint/2010/main" val="200214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9E44B-06A2-0459-FFBA-796FABD1A381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6879F-F20F-2919-1DB6-67DED7CCBC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650D30-AF9A-F413-600B-14ADB24BDF6D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B463-E456-9A5E-E139-0E054FE62C48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C56F415C-260E-373D-C36F-91D35D34659A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4051F-2991-EF76-DB89-CD1006C0DF5C}"/>
              </a:ext>
            </a:extLst>
          </p:cNvPr>
          <p:cNvCxnSpPr/>
          <p:nvPr/>
        </p:nvCxnSpPr>
        <p:spPr>
          <a:xfrm>
            <a:off x="2030506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211C25-8F9D-0432-6778-844B40DE723E}"/>
              </a:ext>
            </a:extLst>
          </p:cNvPr>
          <p:cNvCxnSpPr/>
          <p:nvPr/>
        </p:nvCxnSpPr>
        <p:spPr>
          <a:xfrm>
            <a:off x="8812306" y="461684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553CFB-B912-BE16-723C-3422CCFEED85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FA8C30E-6A72-5956-0DCD-5DF8444C934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4F6CB0-C113-DB61-5BCE-819ACC4CC69B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8531AD-07D4-F002-9BA5-CD8A64000447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166A14-B438-8E77-D558-7FCBAF167F5D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AFB4D-F9AD-BE0C-E076-7CFD69A10815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7FCA2-D7F9-DCDE-F80B-776AFC41377F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638B9F-80D7-054E-67EE-53E71EB33CBC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47CB44-6BC4-7104-6897-51E9CF05E4B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76149F-734C-FB1B-6383-F5852283BFCA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7037FE-967B-0D44-5D38-F46C5FFFF07E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408563C-EFE2-CEAF-7159-2DCA43CE8BEE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6B31D3-64AE-C182-0464-8E9A48B55C41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FE860AF-D166-9A36-A233-239B3B238571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07D6ED-BAED-7A97-70C9-43A5D4BCBF0D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F1FAC1-6805-DE65-7928-A9EE07A9A1F4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8396123-AECA-A298-07E0-F2D2B800917A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8B9809-CF14-B444-736F-C69CB16F0657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3F19E20-2DC0-5F17-D01E-A23B5A2F28D9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F41D235-A135-F643-0B44-A6C5AA94F8CD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8C2067-0E63-134E-132F-540A78B68478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DBB851-C6C9-A750-6701-6F916BCD3331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D5C0C92-E582-A096-7DD7-76AB4AC2DF2D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BD5DCD5-685B-F1D5-9105-CB55D7C8CEA8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043E65-4C01-9CD1-02A6-0805478EEA34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981E737-7906-8DBF-A3B9-EBDDBFEF93C0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9720A1-3A9E-1757-82A2-A6D872A3AB66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DC0B7-AEB0-2F93-0599-3F4181916C74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185DF4-3F1C-A0B5-6A17-576ACE2E72D3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D9405F2-C67D-600D-62E3-AD523B8DC92D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9740F42-68D5-9CA1-D63F-1D2971E221F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8F3FF7-7193-EB20-3443-C4981FC11A10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9722185-AAE2-662F-299B-2ED263AAEFD3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B991A71-7D19-D4FC-0F68-77C7C44308A6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38257CF-DB3D-455B-3F73-F175F333EC90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A9B92D4-1955-0CA0-2BE0-DFF40B625577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2D08384-81D2-6179-E940-E9F1763E2942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3C624FD-9A11-863B-ABB9-AFF9DDE36590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C7288EA-1AE7-2180-B8EE-39379E31909A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704A004-348E-B507-3C92-914D2EFEA5CF}"/>
              </a:ext>
            </a:extLst>
          </p:cNvPr>
          <p:cNvSpPr txBox="1"/>
          <p:nvPr/>
        </p:nvSpPr>
        <p:spPr>
          <a:xfrm>
            <a:off x="4583920" y="2425115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CEC997-32AD-EBF9-1FF4-9E21AE73821F}"/>
              </a:ext>
            </a:extLst>
          </p:cNvPr>
          <p:cNvSpPr txBox="1"/>
          <p:nvPr/>
        </p:nvSpPr>
        <p:spPr>
          <a:xfrm>
            <a:off x="4555139" y="3124534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AA07680-75AA-BEFF-0D33-AD020DE4FB79}"/>
              </a:ext>
            </a:extLst>
          </p:cNvPr>
          <p:cNvCxnSpPr>
            <a:cxnSpLocks/>
          </p:cNvCxnSpPr>
          <p:nvPr/>
        </p:nvCxnSpPr>
        <p:spPr>
          <a:xfrm flipH="1">
            <a:off x="5261502" y="2206384"/>
            <a:ext cx="20318" cy="371599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6B14B66-5C92-5502-6CA7-B340C4FA0983}"/>
              </a:ext>
            </a:extLst>
          </p:cNvPr>
          <p:cNvCxnSpPr>
            <a:cxnSpLocks/>
          </p:cNvCxnSpPr>
          <p:nvPr/>
        </p:nvCxnSpPr>
        <p:spPr>
          <a:xfrm flipH="1">
            <a:off x="5986183" y="2266874"/>
            <a:ext cx="877813" cy="1080614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C505A48-A1E2-4C66-5053-7BF9312DE21A}"/>
              </a:ext>
            </a:extLst>
          </p:cNvPr>
          <p:cNvCxnSpPr>
            <a:cxnSpLocks/>
          </p:cNvCxnSpPr>
          <p:nvPr/>
        </p:nvCxnSpPr>
        <p:spPr>
          <a:xfrm>
            <a:off x="3456788" y="2174940"/>
            <a:ext cx="1127132" cy="1142068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02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3BB19-76B4-B371-F352-D8378DFD2EA5}"/>
              </a:ext>
            </a:extLst>
          </p:cNvPr>
          <p:cNvSpPr txBox="1"/>
          <p:nvPr/>
        </p:nvSpPr>
        <p:spPr>
          <a:xfrm>
            <a:off x="79558" y="693260"/>
            <a:ext cx="496001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Protocols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BFABE-D022-0797-38F6-DF8C820AD9B4}"/>
              </a:ext>
            </a:extLst>
          </p:cNvPr>
          <p:cNvSpPr txBox="1"/>
          <p:nvPr/>
        </p:nvSpPr>
        <p:spPr>
          <a:xfrm>
            <a:off x="1882176" y="2554833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implements</a:t>
            </a:r>
            <a:endParaRPr lang="en-US" dirty="0">
              <a:latin typeface="Chalk Board" panose="02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84ED3-5305-31C5-F479-1CE68A9E73D8}"/>
              </a:ext>
            </a:extLst>
          </p:cNvPr>
          <p:cNvSpPr txBox="1"/>
          <p:nvPr/>
        </p:nvSpPr>
        <p:spPr>
          <a:xfrm>
            <a:off x="4301576" y="2554832"/>
            <a:ext cx="459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with computational security, then: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EEF99-D61A-16DD-B26F-0FD482D3C704}"/>
              </a:ext>
            </a:extLst>
          </p:cNvPr>
          <p:cNvSpPr txBox="1"/>
          <p:nvPr/>
        </p:nvSpPr>
        <p:spPr>
          <a:xfrm>
            <a:off x="5042914" y="3246566"/>
            <a:ext cx="3975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can be securely replaced by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69039A-DF8D-822C-27EA-E897F64C6AD2}"/>
              </a:ext>
            </a:extLst>
          </p:cNvPr>
          <p:cNvSpPr txBox="1"/>
          <p:nvPr/>
        </p:nvSpPr>
        <p:spPr>
          <a:xfrm>
            <a:off x="4449853" y="4047842"/>
            <a:ext cx="4294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in any polynomial-time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/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blipFill>
                <a:blip r:embed="rId2"/>
                <a:stretch>
                  <a:fillRect l="-5983" t="-2083" r="-5983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/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blipFill>
                <a:blip r:embed="rId3"/>
                <a:stretch>
                  <a:fillRect l="-19149" t="-2083" r="-17021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/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blipFill>
                <a:blip r:embed="rId4"/>
                <a:stretch>
                  <a:fillRect l="-6838" t="-2083" r="-5128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/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blipFill>
                <a:blip r:embed="rId5"/>
                <a:stretch>
                  <a:fillRect l="-19149" t="-4167" r="-14894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0387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D19E6E-40AE-C12E-8C77-76793E6E5145}"/>
              </a:ext>
            </a:extLst>
          </p:cNvPr>
          <p:cNvSpPr/>
          <p:nvPr/>
        </p:nvSpPr>
        <p:spPr>
          <a:xfrm>
            <a:off x="3203089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4BCFD-68F1-F1A6-DC18-F3A7E155EC94}"/>
              </a:ext>
            </a:extLst>
          </p:cNvPr>
          <p:cNvSpPr/>
          <p:nvPr/>
        </p:nvSpPr>
        <p:spPr>
          <a:xfrm>
            <a:off x="5065955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American Typewriter" panose="02090604020004020304" pitchFamily="18" charset="77"/>
              </a:rPr>
              <a:t>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3D298-1AFF-7490-1E23-79D4C6744F2B}"/>
              </a:ext>
            </a:extLst>
          </p:cNvPr>
          <p:cNvSpPr/>
          <p:nvPr/>
        </p:nvSpPr>
        <p:spPr>
          <a:xfrm>
            <a:off x="6928821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CAEA4-648A-07BE-F425-E62633C1B6A3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601501-CC19-5D52-0950-398C6DDD72D6}"/>
              </a:ext>
            </a:extLst>
          </p:cNvPr>
          <p:cNvCxnSpPr>
            <a:cxnSpLocks/>
          </p:cNvCxnSpPr>
          <p:nvPr/>
        </p:nvCxnSpPr>
        <p:spPr>
          <a:xfrm>
            <a:off x="4319196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323B5-16F4-BEA0-1DE1-14E1E745E398}"/>
              </a:ext>
            </a:extLst>
          </p:cNvPr>
          <p:cNvCxnSpPr>
            <a:cxnSpLocks/>
          </p:cNvCxnSpPr>
          <p:nvPr/>
        </p:nvCxnSpPr>
        <p:spPr>
          <a:xfrm flipH="1">
            <a:off x="4283336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241EB2-86ED-202C-0F11-6FA1015D9E57}"/>
              </a:ext>
            </a:extLst>
          </p:cNvPr>
          <p:cNvCxnSpPr>
            <a:cxnSpLocks/>
          </p:cNvCxnSpPr>
          <p:nvPr/>
        </p:nvCxnSpPr>
        <p:spPr>
          <a:xfrm>
            <a:off x="6182062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E6582E7-E673-098D-9A0D-D72514ADA6D5}"/>
              </a:ext>
            </a:extLst>
          </p:cNvPr>
          <p:cNvCxnSpPr>
            <a:cxnSpLocks/>
          </p:cNvCxnSpPr>
          <p:nvPr/>
        </p:nvCxnSpPr>
        <p:spPr>
          <a:xfrm flipH="1">
            <a:off x="6146202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079C13-F3F0-3E05-80CF-94BC7B003BD3}"/>
              </a:ext>
            </a:extLst>
          </p:cNvPr>
          <p:cNvCxnSpPr>
            <a:cxnSpLocks/>
          </p:cNvCxnSpPr>
          <p:nvPr/>
        </p:nvCxnSpPr>
        <p:spPr>
          <a:xfrm>
            <a:off x="237564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72AD6A-0B9C-D815-88BD-F667941D6AFC}"/>
              </a:ext>
            </a:extLst>
          </p:cNvPr>
          <p:cNvCxnSpPr>
            <a:cxnSpLocks/>
          </p:cNvCxnSpPr>
          <p:nvPr/>
        </p:nvCxnSpPr>
        <p:spPr>
          <a:xfrm flipH="1">
            <a:off x="237564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9BEFD7-A860-5BD1-4129-C7E4518723E4}"/>
              </a:ext>
            </a:extLst>
          </p:cNvPr>
          <p:cNvCxnSpPr>
            <a:cxnSpLocks/>
          </p:cNvCxnSpPr>
          <p:nvPr/>
        </p:nvCxnSpPr>
        <p:spPr>
          <a:xfrm>
            <a:off x="804492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FF65BF9-048D-6C40-316C-3E348CB37C36}"/>
              </a:ext>
            </a:extLst>
          </p:cNvPr>
          <p:cNvCxnSpPr>
            <a:cxnSpLocks/>
          </p:cNvCxnSpPr>
          <p:nvPr/>
        </p:nvCxnSpPr>
        <p:spPr>
          <a:xfrm flipH="1">
            <a:off x="804492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8AB14C-85F7-8D7D-AA55-4921C4D16C12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09D7AA-14C3-2A78-75A5-5C6222A7DB1C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1669DFA-2BC5-F714-0521-D28EBFE9A508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70777F2-699C-F5F5-5212-455EB1A6C67A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BFC5674-F40B-3B43-5C2F-B8EFE1315AC2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E68A6-474B-69E4-A105-829071298B03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BF60E5-1903-EA39-E36E-C94ADA87365E}"/>
              </a:ext>
            </a:extLst>
          </p:cNvPr>
          <p:cNvCxnSpPr>
            <a:cxnSpLocks/>
          </p:cNvCxnSpPr>
          <p:nvPr/>
        </p:nvCxnSpPr>
        <p:spPr>
          <a:xfrm>
            <a:off x="3965987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C034816-0CCC-6E46-CB3C-53AC65806D1B}"/>
              </a:ext>
            </a:extLst>
          </p:cNvPr>
          <p:cNvCxnSpPr>
            <a:cxnSpLocks/>
          </p:cNvCxnSpPr>
          <p:nvPr/>
        </p:nvCxnSpPr>
        <p:spPr>
          <a:xfrm flipV="1">
            <a:off x="3518647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6B3F211-D73C-0016-A60D-22D934A4259F}"/>
              </a:ext>
            </a:extLst>
          </p:cNvPr>
          <p:cNvCxnSpPr>
            <a:cxnSpLocks/>
          </p:cNvCxnSpPr>
          <p:nvPr/>
        </p:nvCxnSpPr>
        <p:spPr>
          <a:xfrm>
            <a:off x="5888915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569C89-66A5-0A5F-0677-3C71C7E319FC}"/>
              </a:ext>
            </a:extLst>
          </p:cNvPr>
          <p:cNvCxnSpPr>
            <a:cxnSpLocks/>
          </p:cNvCxnSpPr>
          <p:nvPr/>
        </p:nvCxnSpPr>
        <p:spPr>
          <a:xfrm flipV="1">
            <a:off x="5441575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82A9F4-A260-BEB2-8D6F-5CF688C310F6}"/>
              </a:ext>
            </a:extLst>
          </p:cNvPr>
          <p:cNvCxnSpPr>
            <a:cxnSpLocks/>
          </p:cNvCxnSpPr>
          <p:nvPr/>
        </p:nvCxnSpPr>
        <p:spPr>
          <a:xfrm>
            <a:off x="7731162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89120D1-390D-98D7-0C3F-91CBA1CD402C}"/>
              </a:ext>
            </a:extLst>
          </p:cNvPr>
          <p:cNvCxnSpPr>
            <a:cxnSpLocks/>
          </p:cNvCxnSpPr>
          <p:nvPr/>
        </p:nvCxnSpPr>
        <p:spPr>
          <a:xfrm flipV="1">
            <a:off x="7283822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/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blipFill>
                <a:blip r:embed="rId2"/>
                <a:stretch>
                  <a:fillRect t="-19444" b="-2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73B3DDAF-9962-2E35-4850-CD50F6ECD58A}"/>
              </a:ext>
            </a:extLst>
          </p:cNvPr>
          <p:cNvSpPr txBox="1"/>
          <p:nvPr/>
        </p:nvSpPr>
        <p:spPr>
          <a:xfrm>
            <a:off x="3613353" y="157779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113775-D25B-55E8-8E99-0FE107359755}"/>
              </a:ext>
            </a:extLst>
          </p:cNvPr>
          <p:cNvSpPr txBox="1"/>
          <p:nvPr/>
        </p:nvSpPr>
        <p:spPr>
          <a:xfrm>
            <a:off x="6804212" y="2002729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D03953-9B36-90DE-C418-935E2EC3C568}"/>
              </a:ext>
            </a:extLst>
          </p:cNvPr>
          <p:cNvSpPr txBox="1"/>
          <p:nvPr/>
        </p:nvSpPr>
        <p:spPr>
          <a:xfrm>
            <a:off x="6817187" y="1561203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7BA02E-6249-E923-08EC-24ED9AA4F15E}"/>
              </a:ext>
            </a:extLst>
          </p:cNvPr>
          <p:cNvSpPr txBox="1"/>
          <p:nvPr/>
        </p:nvSpPr>
        <p:spPr>
          <a:xfrm>
            <a:off x="3595615" y="194245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BC1AFF-DCE7-CA79-376C-5289C96E3560}"/>
              </a:ext>
            </a:extLst>
          </p:cNvPr>
          <p:cNvSpPr txBox="1"/>
          <p:nvPr/>
        </p:nvSpPr>
        <p:spPr>
          <a:xfrm>
            <a:off x="5963300" y="750353"/>
            <a:ext cx="809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N.infl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82766B-AD91-FBE4-81E6-384FACE05BA1}"/>
              </a:ext>
            </a:extLst>
          </p:cNvPr>
          <p:cNvSpPr txBox="1"/>
          <p:nvPr/>
        </p:nvSpPr>
        <p:spPr>
          <a:xfrm>
            <a:off x="4809990" y="520625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N.leak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FB0B7E-A060-2C44-D41E-02D2A832653B}"/>
              </a:ext>
            </a:extLst>
          </p:cNvPr>
          <p:cNvSpPr txBox="1"/>
          <p:nvPr/>
        </p:nvSpPr>
        <p:spPr>
          <a:xfrm>
            <a:off x="1530042" y="469682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78204B-8756-7436-9549-623151DB55C6}"/>
              </a:ext>
            </a:extLst>
          </p:cNvPr>
          <p:cNvSpPr txBox="1"/>
          <p:nvPr/>
        </p:nvSpPr>
        <p:spPr>
          <a:xfrm>
            <a:off x="1512304" y="506148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EB6317-FADC-CE36-8884-8B93B399D0F5}"/>
              </a:ext>
            </a:extLst>
          </p:cNvPr>
          <p:cNvSpPr txBox="1"/>
          <p:nvPr/>
        </p:nvSpPr>
        <p:spPr>
          <a:xfrm>
            <a:off x="8913522" y="5065514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16F0A5-0578-06A9-F4EE-693EC764429E}"/>
              </a:ext>
            </a:extLst>
          </p:cNvPr>
          <p:cNvSpPr txBox="1"/>
          <p:nvPr/>
        </p:nvSpPr>
        <p:spPr>
          <a:xfrm>
            <a:off x="8926497" y="4623988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11D601-372D-4A63-231E-14640CBAE0F0}"/>
              </a:ext>
            </a:extLst>
          </p:cNvPr>
          <p:cNvSpPr txBox="1"/>
          <p:nvPr/>
        </p:nvSpPr>
        <p:spPr>
          <a:xfrm>
            <a:off x="6213512" y="4963259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1B0E70C-3FA2-D5F1-85E5-AFFBC282F08E}"/>
              </a:ext>
            </a:extLst>
          </p:cNvPr>
          <p:cNvSpPr txBox="1"/>
          <p:nvPr/>
        </p:nvSpPr>
        <p:spPr>
          <a:xfrm>
            <a:off x="6213512" y="4533448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0562526-D2E2-4B6C-77C7-69EA548D6C80}"/>
              </a:ext>
            </a:extLst>
          </p:cNvPr>
          <p:cNvSpPr txBox="1"/>
          <p:nvPr/>
        </p:nvSpPr>
        <p:spPr>
          <a:xfrm>
            <a:off x="4389194" y="4988136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AF3E0F-42FD-B609-446E-99F1CC4D1735}"/>
              </a:ext>
            </a:extLst>
          </p:cNvPr>
          <p:cNvSpPr txBox="1"/>
          <p:nvPr/>
        </p:nvSpPr>
        <p:spPr>
          <a:xfrm>
            <a:off x="4389194" y="4558325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309A15-7EA6-BCB2-7490-233CFA4C1077}"/>
              </a:ext>
            </a:extLst>
          </p:cNvPr>
          <p:cNvSpPr txBox="1"/>
          <p:nvPr/>
        </p:nvSpPr>
        <p:spPr>
          <a:xfrm>
            <a:off x="5861595" y="3650730"/>
            <a:ext cx="7427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0B1C014-7890-334D-D88B-62F90D7490B0}"/>
              </a:ext>
            </a:extLst>
          </p:cNvPr>
          <p:cNvSpPr txBox="1"/>
          <p:nvPr/>
        </p:nvSpPr>
        <p:spPr>
          <a:xfrm>
            <a:off x="4993661" y="3465306"/>
            <a:ext cx="804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8726ABF-19A7-4F54-E172-8BECEFD56045}"/>
              </a:ext>
            </a:extLst>
          </p:cNvPr>
          <p:cNvSpPr txBox="1"/>
          <p:nvPr/>
        </p:nvSpPr>
        <p:spPr>
          <a:xfrm>
            <a:off x="7785101" y="3638182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8660F5-3CD2-B5BF-6AC4-9B169833E1D5}"/>
              </a:ext>
            </a:extLst>
          </p:cNvPr>
          <p:cNvSpPr txBox="1"/>
          <p:nvPr/>
        </p:nvSpPr>
        <p:spPr>
          <a:xfrm>
            <a:off x="6917167" y="3452758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ABF0E6B-ECAB-49B2-441F-0D43584E2BA0}"/>
              </a:ext>
            </a:extLst>
          </p:cNvPr>
          <p:cNvSpPr txBox="1"/>
          <p:nvPr/>
        </p:nvSpPr>
        <p:spPr>
          <a:xfrm>
            <a:off x="3905535" y="3552990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66DB1E-75F1-50E9-918F-6EA9C7E059F6}"/>
              </a:ext>
            </a:extLst>
          </p:cNvPr>
          <p:cNvSpPr txBox="1"/>
          <p:nvPr/>
        </p:nvSpPr>
        <p:spPr>
          <a:xfrm>
            <a:off x="3037601" y="336756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</p:spTree>
    <p:extLst>
      <p:ext uri="{BB962C8B-B14F-4D97-AF65-F5344CB8AC3E}">
        <p14:creationId xmlns:p14="http://schemas.microsoft.com/office/powerpoint/2010/main" val="111384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9-2B10-DB36-E461-067F7CCD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AB99491-E6AC-EDC4-CD8C-86651A6BE7F3}"/>
              </a:ext>
            </a:extLst>
          </p:cNvPr>
          <p:cNvSpPr/>
          <p:nvPr/>
        </p:nvSpPr>
        <p:spPr>
          <a:xfrm>
            <a:off x="6598027" y="3429000"/>
            <a:ext cx="3917568" cy="1666539"/>
          </a:xfrm>
          <a:custGeom>
            <a:avLst/>
            <a:gdLst>
              <a:gd name="connsiteX0" fmla="*/ 0 w 3917568"/>
              <a:gd name="connsiteY0" fmla="*/ 277762 h 1666539"/>
              <a:gd name="connsiteX1" fmla="*/ 277762 w 3917568"/>
              <a:gd name="connsiteY1" fmla="*/ 0 h 1666539"/>
              <a:gd name="connsiteX2" fmla="*/ 871723 w 3917568"/>
              <a:gd name="connsiteY2" fmla="*/ 0 h 1666539"/>
              <a:gd name="connsiteX3" fmla="*/ 1331202 w 3917568"/>
              <a:gd name="connsiteY3" fmla="*/ 0 h 1666539"/>
              <a:gd name="connsiteX4" fmla="*/ 1891543 w 3917568"/>
              <a:gd name="connsiteY4" fmla="*/ 0 h 1666539"/>
              <a:gd name="connsiteX5" fmla="*/ 2384643 w 3917568"/>
              <a:gd name="connsiteY5" fmla="*/ 0 h 1666539"/>
              <a:gd name="connsiteX6" fmla="*/ 2978604 w 3917568"/>
              <a:gd name="connsiteY6" fmla="*/ 0 h 1666539"/>
              <a:gd name="connsiteX7" fmla="*/ 3639806 w 3917568"/>
              <a:gd name="connsiteY7" fmla="*/ 0 h 1666539"/>
              <a:gd name="connsiteX8" fmla="*/ 3917568 w 3917568"/>
              <a:gd name="connsiteY8" fmla="*/ 277762 h 1666539"/>
              <a:gd name="connsiteX9" fmla="*/ 3917568 w 3917568"/>
              <a:gd name="connsiteY9" fmla="*/ 833270 h 1666539"/>
              <a:gd name="connsiteX10" fmla="*/ 3917568 w 3917568"/>
              <a:gd name="connsiteY10" fmla="*/ 1388777 h 1666539"/>
              <a:gd name="connsiteX11" fmla="*/ 3639806 w 3917568"/>
              <a:gd name="connsiteY11" fmla="*/ 1666539 h 1666539"/>
              <a:gd name="connsiteX12" fmla="*/ 3012224 w 3917568"/>
              <a:gd name="connsiteY12" fmla="*/ 1666539 h 1666539"/>
              <a:gd name="connsiteX13" fmla="*/ 2519125 w 3917568"/>
              <a:gd name="connsiteY13" fmla="*/ 1666539 h 1666539"/>
              <a:gd name="connsiteX14" fmla="*/ 2059645 w 3917568"/>
              <a:gd name="connsiteY14" fmla="*/ 1666539 h 1666539"/>
              <a:gd name="connsiteX15" fmla="*/ 1566546 w 3917568"/>
              <a:gd name="connsiteY15" fmla="*/ 1666539 h 1666539"/>
              <a:gd name="connsiteX16" fmla="*/ 1039825 w 3917568"/>
              <a:gd name="connsiteY16" fmla="*/ 1666539 h 1666539"/>
              <a:gd name="connsiteX17" fmla="*/ 277762 w 3917568"/>
              <a:gd name="connsiteY17" fmla="*/ 1666539 h 1666539"/>
              <a:gd name="connsiteX18" fmla="*/ 0 w 3917568"/>
              <a:gd name="connsiteY18" fmla="*/ 1388777 h 1666539"/>
              <a:gd name="connsiteX19" fmla="*/ 0 w 3917568"/>
              <a:gd name="connsiteY19" fmla="*/ 811049 h 1666539"/>
              <a:gd name="connsiteX20" fmla="*/ 0 w 3917568"/>
              <a:gd name="connsiteY20" fmla="*/ 277762 h 1666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17568" h="1666539" fill="none" extrusionOk="0">
                <a:moveTo>
                  <a:pt x="0" y="277762"/>
                </a:moveTo>
                <a:cubicBezTo>
                  <a:pt x="19478" y="162924"/>
                  <a:pt x="101260" y="12181"/>
                  <a:pt x="277762" y="0"/>
                </a:cubicBezTo>
                <a:cubicBezTo>
                  <a:pt x="449486" y="-69805"/>
                  <a:pt x="610733" y="41663"/>
                  <a:pt x="871723" y="0"/>
                </a:cubicBezTo>
                <a:cubicBezTo>
                  <a:pt x="1132713" y="-41663"/>
                  <a:pt x="1200822" y="54664"/>
                  <a:pt x="1331202" y="0"/>
                </a:cubicBezTo>
                <a:cubicBezTo>
                  <a:pt x="1461582" y="-54664"/>
                  <a:pt x="1622081" y="39015"/>
                  <a:pt x="1891543" y="0"/>
                </a:cubicBezTo>
                <a:cubicBezTo>
                  <a:pt x="2161005" y="-39015"/>
                  <a:pt x="2222138" y="769"/>
                  <a:pt x="2384643" y="0"/>
                </a:cubicBezTo>
                <a:cubicBezTo>
                  <a:pt x="2547148" y="-769"/>
                  <a:pt x="2782072" y="5788"/>
                  <a:pt x="2978604" y="0"/>
                </a:cubicBezTo>
                <a:cubicBezTo>
                  <a:pt x="3175136" y="-5788"/>
                  <a:pt x="3355606" y="38022"/>
                  <a:pt x="3639806" y="0"/>
                </a:cubicBezTo>
                <a:cubicBezTo>
                  <a:pt x="3780792" y="38715"/>
                  <a:pt x="3910336" y="101584"/>
                  <a:pt x="3917568" y="277762"/>
                </a:cubicBezTo>
                <a:cubicBezTo>
                  <a:pt x="3943154" y="518582"/>
                  <a:pt x="3863862" y="678253"/>
                  <a:pt x="3917568" y="833270"/>
                </a:cubicBezTo>
                <a:cubicBezTo>
                  <a:pt x="3971274" y="988287"/>
                  <a:pt x="3911435" y="1139903"/>
                  <a:pt x="3917568" y="1388777"/>
                </a:cubicBezTo>
                <a:cubicBezTo>
                  <a:pt x="3891823" y="1556617"/>
                  <a:pt x="3805981" y="1701142"/>
                  <a:pt x="3639806" y="1666539"/>
                </a:cubicBezTo>
                <a:cubicBezTo>
                  <a:pt x="3459159" y="1715186"/>
                  <a:pt x="3191012" y="1598071"/>
                  <a:pt x="3012224" y="1666539"/>
                </a:cubicBezTo>
                <a:cubicBezTo>
                  <a:pt x="2833436" y="1735007"/>
                  <a:pt x="2679565" y="1646501"/>
                  <a:pt x="2519125" y="1666539"/>
                </a:cubicBezTo>
                <a:cubicBezTo>
                  <a:pt x="2358685" y="1686577"/>
                  <a:pt x="2186978" y="1615238"/>
                  <a:pt x="2059645" y="1666539"/>
                </a:cubicBezTo>
                <a:cubicBezTo>
                  <a:pt x="1932312" y="1717840"/>
                  <a:pt x="1776011" y="1619560"/>
                  <a:pt x="1566546" y="1666539"/>
                </a:cubicBezTo>
                <a:cubicBezTo>
                  <a:pt x="1357081" y="1713518"/>
                  <a:pt x="1288356" y="1641922"/>
                  <a:pt x="1039825" y="1666539"/>
                </a:cubicBezTo>
                <a:cubicBezTo>
                  <a:pt x="791294" y="1691156"/>
                  <a:pt x="549345" y="1647281"/>
                  <a:pt x="277762" y="1666539"/>
                </a:cubicBezTo>
                <a:cubicBezTo>
                  <a:pt x="99689" y="1691028"/>
                  <a:pt x="12023" y="1544879"/>
                  <a:pt x="0" y="1388777"/>
                </a:cubicBezTo>
                <a:cubicBezTo>
                  <a:pt x="-1737" y="1170103"/>
                  <a:pt x="1518" y="970025"/>
                  <a:pt x="0" y="811049"/>
                </a:cubicBezTo>
                <a:cubicBezTo>
                  <a:pt x="-1518" y="652073"/>
                  <a:pt x="25518" y="393788"/>
                  <a:pt x="0" y="277762"/>
                </a:cubicBezTo>
                <a:close/>
              </a:path>
              <a:path w="3917568" h="1666539" stroke="0" extrusionOk="0">
                <a:moveTo>
                  <a:pt x="0" y="277762"/>
                </a:moveTo>
                <a:cubicBezTo>
                  <a:pt x="-21918" y="110838"/>
                  <a:pt x="101432" y="8605"/>
                  <a:pt x="277762" y="0"/>
                </a:cubicBezTo>
                <a:cubicBezTo>
                  <a:pt x="466306" y="-30587"/>
                  <a:pt x="622716" y="49696"/>
                  <a:pt x="905344" y="0"/>
                </a:cubicBezTo>
                <a:cubicBezTo>
                  <a:pt x="1187972" y="-49696"/>
                  <a:pt x="1291897" y="10844"/>
                  <a:pt x="1432064" y="0"/>
                </a:cubicBezTo>
                <a:cubicBezTo>
                  <a:pt x="1572231" y="-10844"/>
                  <a:pt x="1717395" y="8072"/>
                  <a:pt x="1925164" y="0"/>
                </a:cubicBezTo>
                <a:cubicBezTo>
                  <a:pt x="2132933" y="-8072"/>
                  <a:pt x="2229679" y="49669"/>
                  <a:pt x="2519125" y="0"/>
                </a:cubicBezTo>
                <a:cubicBezTo>
                  <a:pt x="2808571" y="-49669"/>
                  <a:pt x="2914734" y="40634"/>
                  <a:pt x="3045845" y="0"/>
                </a:cubicBezTo>
                <a:cubicBezTo>
                  <a:pt x="3176956" y="-40634"/>
                  <a:pt x="3452075" y="30868"/>
                  <a:pt x="3639806" y="0"/>
                </a:cubicBezTo>
                <a:cubicBezTo>
                  <a:pt x="3789621" y="-34223"/>
                  <a:pt x="3910179" y="134627"/>
                  <a:pt x="3917568" y="277762"/>
                </a:cubicBezTo>
                <a:cubicBezTo>
                  <a:pt x="3975477" y="447519"/>
                  <a:pt x="3890565" y="631549"/>
                  <a:pt x="3917568" y="811049"/>
                </a:cubicBezTo>
                <a:cubicBezTo>
                  <a:pt x="3944571" y="990549"/>
                  <a:pt x="3899437" y="1217217"/>
                  <a:pt x="3917568" y="1388777"/>
                </a:cubicBezTo>
                <a:cubicBezTo>
                  <a:pt x="3928223" y="1558042"/>
                  <a:pt x="3795482" y="1690072"/>
                  <a:pt x="3639806" y="1666539"/>
                </a:cubicBezTo>
                <a:cubicBezTo>
                  <a:pt x="3438437" y="1714174"/>
                  <a:pt x="3409224" y="1646808"/>
                  <a:pt x="3180327" y="1666539"/>
                </a:cubicBezTo>
                <a:cubicBezTo>
                  <a:pt x="2951430" y="1686270"/>
                  <a:pt x="2747323" y="1617566"/>
                  <a:pt x="2552745" y="1666539"/>
                </a:cubicBezTo>
                <a:cubicBezTo>
                  <a:pt x="2358167" y="1715512"/>
                  <a:pt x="2295879" y="1609000"/>
                  <a:pt x="2059645" y="1666539"/>
                </a:cubicBezTo>
                <a:cubicBezTo>
                  <a:pt x="1823411" y="1724078"/>
                  <a:pt x="1769435" y="1602317"/>
                  <a:pt x="1499305" y="1666539"/>
                </a:cubicBezTo>
                <a:cubicBezTo>
                  <a:pt x="1229175" y="1730761"/>
                  <a:pt x="1082412" y="1639821"/>
                  <a:pt x="871723" y="1666539"/>
                </a:cubicBezTo>
                <a:cubicBezTo>
                  <a:pt x="661034" y="1693257"/>
                  <a:pt x="565229" y="1603770"/>
                  <a:pt x="277762" y="1666539"/>
                </a:cubicBezTo>
                <a:cubicBezTo>
                  <a:pt x="113155" y="1686570"/>
                  <a:pt x="19990" y="1557035"/>
                  <a:pt x="0" y="1388777"/>
                </a:cubicBezTo>
                <a:cubicBezTo>
                  <a:pt x="-1039" y="1156647"/>
                  <a:pt x="13077" y="1014643"/>
                  <a:pt x="0" y="855490"/>
                </a:cubicBezTo>
                <a:cubicBezTo>
                  <a:pt x="-13077" y="696337"/>
                  <a:pt x="654" y="528819"/>
                  <a:pt x="0" y="277762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156DA7FD-34EF-AFF8-3581-BDA0F39C00F7}"/>
              </a:ext>
            </a:extLst>
          </p:cNvPr>
          <p:cNvSpPr/>
          <p:nvPr/>
        </p:nvSpPr>
        <p:spPr>
          <a:xfrm>
            <a:off x="729732" y="3288257"/>
            <a:ext cx="4012598" cy="1734667"/>
          </a:xfrm>
          <a:custGeom>
            <a:avLst/>
            <a:gdLst>
              <a:gd name="connsiteX0" fmla="*/ 0 w 4012598"/>
              <a:gd name="connsiteY0" fmla="*/ 289117 h 1734667"/>
              <a:gd name="connsiteX1" fmla="*/ 289117 w 4012598"/>
              <a:gd name="connsiteY1" fmla="*/ 0 h 1734667"/>
              <a:gd name="connsiteX2" fmla="*/ 895855 w 4012598"/>
              <a:gd name="connsiteY2" fmla="*/ 0 h 1734667"/>
              <a:gd name="connsiteX3" fmla="*/ 1365218 w 4012598"/>
              <a:gd name="connsiteY3" fmla="*/ 0 h 1734667"/>
              <a:gd name="connsiteX4" fmla="*/ 1937612 w 4012598"/>
              <a:gd name="connsiteY4" fmla="*/ 0 h 1734667"/>
              <a:gd name="connsiteX5" fmla="*/ 2441318 w 4012598"/>
              <a:gd name="connsiteY5" fmla="*/ 0 h 1734667"/>
              <a:gd name="connsiteX6" fmla="*/ 3048056 w 4012598"/>
              <a:gd name="connsiteY6" fmla="*/ 0 h 1734667"/>
              <a:gd name="connsiteX7" fmla="*/ 3723481 w 4012598"/>
              <a:gd name="connsiteY7" fmla="*/ 0 h 1734667"/>
              <a:gd name="connsiteX8" fmla="*/ 4012598 w 4012598"/>
              <a:gd name="connsiteY8" fmla="*/ 289117 h 1734667"/>
              <a:gd name="connsiteX9" fmla="*/ 4012598 w 4012598"/>
              <a:gd name="connsiteY9" fmla="*/ 867334 h 1734667"/>
              <a:gd name="connsiteX10" fmla="*/ 4012598 w 4012598"/>
              <a:gd name="connsiteY10" fmla="*/ 1445550 h 1734667"/>
              <a:gd name="connsiteX11" fmla="*/ 3723481 w 4012598"/>
              <a:gd name="connsiteY11" fmla="*/ 1734667 h 1734667"/>
              <a:gd name="connsiteX12" fmla="*/ 3082400 w 4012598"/>
              <a:gd name="connsiteY12" fmla="*/ 1734667 h 1734667"/>
              <a:gd name="connsiteX13" fmla="*/ 2578693 w 4012598"/>
              <a:gd name="connsiteY13" fmla="*/ 1734667 h 1734667"/>
              <a:gd name="connsiteX14" fmla="*/ 2109330 w 4012598"/>
              <a:gd name="connsiteY14" fmla="*/ 1734667 h 1734667"/>
              <a:gd name="connsiteX15" fmla="*/ 1605623 w 4012598"/>
              <a:gd name="connsiteY15" fmla="*/ 1734667 h 1734667"/>
              <a:gd name="connsiteX16" fmla="*/ 1067573 w 4012598"/>
              <a:gd name="connsiteY16" fmla="*/ 1734667 h 1734667"/>
              <a:gd name="connsiteX17" fmla="*/ 289117 w 4012598"/>
              <a:gd name="connsiteY17" fmla="*/ 1734667 h 1734667"/>
              <a:gd name="connsiteX18" fmla="*/ 0 w 4012598"/>
              <a:gd name="connsiteY18" fmla="*/ 1445550 h 1734667"/>
              <a:gd name="connsiteX19" fmla="*/ 0 w 4012598"/>
              <a:gd name="connsiteY19" fmla="*/ 844205 h 1734667"/>
              <a:gd name="connsiteX20" fmla="*/ 0 w 4012598"/>
              <a:gd name="connsiteY20" fmla="*/ 289117 h 1734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12598" h="1734667" fill="none" extrusionOk="0">
                <a:moveTo>
                  <a:pt x="0" y="289117"/>
                </a:moveTo>
                <a:cubicBezTo>
                  <a:pt x="2932" y="135247"/>
                  <a:pt x="120476" y="4728"/>
                  <a:pt x="289117" y="0"/>
                </a:cubicBezTo>
                <a:cubicBezTo>
                  <a:pt x="464782" y="-63906"/>
                  <a:pt x="764380" y="28257"/>
                  <a:pt x="895855" y="0"/>
                </a:cubicBezTo>
                <a:cubicBezTo>
                  <a:pt x="1027330" y="-28257"/>
                  <a:pt x="1136854" y="1027"/>
                  <a:pt x="1365218" y="0"/>
                </a:cubicBezTo>
                <a:cubicBezTo>
                  <a:pt x="1593582" y="-1027"/>
                  <a:pt x="1780305" y="48665"/>
                  <a:pt x="1937612" y="0"/>
                </a:cubicBezTo>
                <a:cubicBezTo>
                  <a:pt x="2094919" y="-48665"/>
                  <a:pt x="2190110" y="43835"/>
                  <a:pt x="2441318" y="0"/>
                </a:cubicBezTo>
                <a:cubicBezTo>
                  <a:pt x="2692526" y="-43835"/>
                  <a:pt x="2811579" y="50019"/>
                  <a:pt x="3048056" y="0"/>
                </a:cubicBezTo>
                <a:cubicBezTo>
                  <a:pt x="3284533" y="-50019"/>
                  <a:pt x="3503998" y="24434"/>
                  <a:pt x="3723481" y="0"/>
                </a:cubicBezTo>
                <a:cubicBezTo>
                  <a:pt x="3878700" y="13892"/>
                  <a:pt x="4003495" y="100774"/>
                  <a:pt x="4012598" y="289117"/>
                </a:cubicBezTo>
                <a:cubicBezTo>
                  <a:pt x="4028962" y="422626"/>
                  <a:pt x="3995843" y="704319"/>
                  <a:pt x="4012598" y="867334"/>
                </a:cubicBezTo>
                <a:cubicBezTo>
                  <a:pt x="4029353" y="1030349"/>
                  <a:pt x="3968506" y="1300163"/>
                  <a:pt x="4012598" y="1445550"/>
                </a:cubicBezTo>
                <a:cubicBezTo>
                  <a:pt x="4001669" y="1611353"/>
                  <a:pt x="3893627" y="1763037"/>
                  <a:pt x="3723481" y="1734667"/>
                </a:cubicBezTo>
                <a:cubicBezTo>
                  <a:pt x="3433257" y="1790577"/>
                  <a:pt x="3268930" y="1672531"/>
                  <a:pt x="3082400" y="1734667"/>
                </a:cubicBezTo>
                <a:cubicBezTo>
                  <a:pt x="2895870" y="1796803"/>
                  <a:pt x="2692979" y="1728786"/>
                  <a:pt x="2578693" y="1734667"/>
                </a:cubicBezTo>
                <a:cubicBezTo>
                  <a:pt x="2464407" y="1740548"/>
                  <a:pt x="2292016" y="1719437"/>
                  <a:pt x="2109330" y="1734667"/>
                </a:cubicBezTo>
                <a:cubicBezTo>
                  <a:pt x="1926644" y="1749897"/>
                  <a:pt x="1711442" y="1714275"/>
                  <a:pt x="1605623" y="1734667"/>
                </a:cubicBezTo>
                <a:cubicBezTo>
                  <a:pt x="1499804" y="1755059"/>
                  <a:pt x="1228338" y="1684767"/>
                  <a:pt x="1067573" y="1734667"/>
                </a:cubicBezTo>
                <a:cubicBezTo>
                  <a:pt x="906808" y="1784567"/>
                  <a:pt x="663211" y="1728956"/>
                  <a:pt x="289117" y="1734667"/>
                </a:cubicBezTo>
                <a:cubicBezTo>
                  <a:pt x="119984" y="1744056"/>
                  <a:pt x="33592" y="1612764"/>
                  <a:pt x="0" y="1445550"/>
                </a:cubicBezTo>
                <a:cubicBezTo>
                  <a:pt x="-14899" y="1257601"/>
                  <a:pt x="33852" y="1051229"/>
                  <a:pt x="0" y="844205"/>
                </a:cubicBezTo>
                <a:cubicBezTo>
                  <a:pt x="-33852" y="637181"/>
                  <a:pt x="36229" y="452114"/>
                  <a:pt x="0" y="289117"/>
                </a:cubicBezTo>
                <a:close/>
              </a:path>
              <a:path w="4012598" h="1734667" stroke="0" extrusionOk="0">
                <a:moveTo>
                  <a:pt x="0" y="289117"/>
                </a:moveTo>
                <a:cubicBezTo>
                  <a:pt x="-14843" y="120287"/>
                  <a:pt x="104327" y="9426"/>
                  <a:pt x="289117" y="0"/>
                </a:cubicBezTo>
                <a:cubicBezTo>
                  <a:pt x="520737" y="-28247"/>
                  <a:pt x="639424" y="65363"/>
                  <a:pt x="930198" y="0"/>
                </a:cubicBezTo>
                <a:cubicBezTo>
                  <a:pt x="1220972" y="-65363"/>
                  <a:pt x="1252023" y="61820"/>
                  <a:pt x="1468249" y="0"/>
                </a:cubicBezTo>
                <a:cubicBezTo>
                  <a:pt x="1684475" y="-61820"/>
                  <a:pt x="1832019" y="34034"/>
                  <a:pt x="1971955" y="0"/>
                </a:cubicBezTo>
                <a:cubicBezTo>
                  <a:pt x="2111891" y="-34034"/>
                  <a:pt x="2428195" y="50745"/>
                  <a:pt x="2578693" y="0"/>
                </a:cubicBezTo>
                <a:cubicBezTo>
                  <a:pt x="2729191" y="-50745"/>
                  <a:pt x="2962333" y="24955"/>
                  <a:pt x="3116743" y="0"/>
                </a:cubicBezTo>
                <a:cubicBezTo>
                  <a:pt x="3271153" y="-24955"/>
                  <a:pt x="3426555" y="52208"/>
                  <a:pt x="3723481" y="0"/>
                </a:cubicBezTo>
                <a:cubicBezTo>
                  <a:pt x="3878239" y="-46892"/>
                  <a:pt x="4006518" y="137891"/>
                  <a:pt x="4012598" y="289117"/>
                </a:cubicBezTo>
                <a:cubicBezTo>
                  <a:pt x="4032892" y="442466"/>
                  <a:pt x="3953324" y="719789"/>
                  <a:pt x="4012598" y="844205"/>
                </a:cubicBezTo>
                <a:cubicBezTo>
                  <a:pt x="4071872" y="968621"/>
                  <a:pt x="3945128" y="1319157"/>
                  <a:pt x="4012598" y="1445550"/>
                </a:cubicBezTo>
                <a:cubicBezTo>
                  <a:pt x="4016297" y="1610732"/>
                  <a:pt x="3884778" y="1751468"/>
                  <a:pt x="3723481" y="1734667"/>
                </a:cubicBezTo>
                <a:cubicBezTo>
                  <a:pt x="3606734" y="1762921"/>
                  <a:pt x="3483554" y="1734476"/>
                  <a:pt x="3254118" y="1734667"/>
                </a:cubicBezTo>
                <a:cubicBezTo>
                  <a:pt x="3024682" y="1734858"/>
                  <a:pt x="2765735" y="1692916"/>
                  <a:pt x="2613037" y="1734667"/>
                </a:cubicBezTo>
                <a:cubicBezTo>
                  <a:pt x="2460339" y="1776418"/>
                  <a:pt x="2230077" y="1693268"/>
                  <a:pt x="2109330" y="1734667"/>
                </a:cubicBezTo>
                <a:cubicBezTo>
                  <a:pt x="1988583" y="1776066"/>
                  <a:pt x="1664713" y="1729451"/>
                  <a:pt x="1536936" y="1734667"/>
                </a:cubicBezTo>
                <a:cubicBezTo>
                  <a:pt x="1409159" y="1739883"/>
                  <a:pt x="1057227" y="1733753"/>
                  <a:pt x="895855" y="1734667"/>
                </a:cubicBezTo>
                <a:cubicBezTo>
                  <a:pt x="734483" y="1735581"/>
                  <a:pt x="422203" y="1710646"/>
                  <a:pt x="289117" y="1734667"/>
                </a:cubicBezTo>
                <a:cubicBezTo>
                  <a:pt x="113603" y="1762987"/>
                  <a:pt x="21828" y="1621445"/>
                  <a:pt x="0" y="1445550"/>
                </a:cubicBezTo>
                <a:cubicBezTo>
                  <a:pt x="-27577" y="1271109"/>
                  <a:pt x="27574" y="1032907"/>
                  <a:pt x="0" y="890462"/>
                </a:cubicBezTo>
                <a:cubicBezTo>
                  <a:pt x="-27574" y="748017"/>
                  <a:pt x="11024" y="438790"/>
                  <a:pt x="0" y="289117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D347A-A99E-9268-75DA-C38FE9AC2A6B}"/>
              </a:ext>
            </a:extLst>
          </p:cNvPr>
          <p:cNvSpPr/>
          <p:nvPr/>
        </p:nvSpPr>
        <p:spPr>
          <a:xfrm>
            <a:off x="1226372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36276-C655-3FB1-D4AD-781A420E238E}"/>
              </a:ext>
            </a:extLst>
          </p:cNvPr>
          <p:cNvSpPr/>
          <p:nvPr/>
        </p:nvSpPr>
        <p:spPr>
          <a:xfrm>
            <a:off x="8830237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A28EC-1E93-3328-3DE3-3866D06C278D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716A19-1EF9-09B7-7664-08C5E6EEAFE4}"/>
              </a:ext>
            </a:extLst>
          </p:cNvPr>
          <p:cNvCxnSpPr>
            <a:cxnSpLocks/>
          </p:cNvCxnSpPr>
          <p:nvPr/>
        </p:nvCxnSpPr>
        <p:spPr>
          <a:xfrm>
            <a:off x="398931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718885-CB07-8675-92E4-345FC7046ABC}"/>
              </a:ext>
            </a:extLst>
          </p:cNvPr>
          <p:cNvCxnSpPr>
            <a:cxnSpLocks/>
          </p:cNvCxnSpPr>
          <p:nvPr/>
        </p:nvCxnSpPr>
        <p:spPr>
          <a:xfrm flipH="1">
            <a:off x="398931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8BF4BC-F620-7C79-64E6-F56880D330D5}"/>
              </a:ext>
            </a:extLst>
          </p:cNvPr>
          <p:cNvCxnSpPr>
            <a:cxnSpLocks/>
          </p:cNvCxnSpPr>
          <p:nvPr/>
        </p:nvCxnSpPr>
        <p:spPr>
          <a:xfrm>
            <a:off x="9946344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2588DF-C027-113E-0245-79695D5F2BDE}"/>
              </a:ext>
            </a:extLst>
          </p:cNvPr>
          <p:cNvCxnSpPr>
            <a:cxnSpLocks/>
          </p:cNvCxnSpPr>
          <p:nvPr/>
        </p:nvCxnSpPr>
        <p:spPr>
          <a:xfrm flipH="1">
            <a:off x="9946344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44F4B0A-9677-E3B3-AC1F-03A354E35A27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8FF0F6E-81E8-3F6E-9074-C12DAFB26C7A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87DBE5-DBE3-B642-6C33-A40B9DF7A8C3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F05C2A-D959-30D9-8425-7D5C02088690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39624E-9B9E-B466-2FF7-F96DAA6CB695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0B8CAC-26A1-4817-07B7-E9644435C7CC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D3DE86-52B4-FA98-980D-A10A162E3552}"/>
              </a:ext>
            </a:extLst>
          </p:cNvPr>
          <p:cNvCxnSpPr>
            <a:cxnSpLocks/>
          </p:cNvCxnSpPr>
          <p:nvPr/>
        </p:nvCxnSpPr>
        <p:spPr>
          <a:xfrm>
            <a:off x="1989270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E41DD79-87B9-1995-DE2F-9CD509926171}"/>
              </a:ext>
            </a:extLst>
          </p:cNvPr>
          <p:cNvCxnSpPr>
            <a:cxnSpLocks/>
          </p:cNvCxnSpPr>
          <p:nvPr/>
        </p:nvCxnSpPr>
        <p:spPr>
          <a:xfrm flipV="1">
            <a:off x="1541930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B10CA8-ADE3-8FDF-882A-4C9A50322929}"/>
              </a:ext>
            </a:extLst>
          </p:cNvPr>
          <p:cNvCxnSpPr>
            <a:cxnSpLocks/>
          </p:cNvCxnSpPr>
          <p:nvPr/>
        </p:nvCxnSpPr>
        <p:spPr>
          <a:xfrm>
            <a:off x="9632578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5855AF8-6E62-3C7A-CD6E-6125BFC4A01F}"/>
              </a:ext>
            </a:extLst>
          </p:cNvPr>
          <p:cNvCxnSpPr>
            <a:cxnSpLocks/>
          </p:cNvCxnSpPr>
          <p:nvPr/>
        </p:nvCxnSpPr>
        <p:spPr>
          <a:xfrm flipV="1">
            <a:off x="9185238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A270048-0E6B-E49A-77D6-989FAE4D4A6C}"/>
              </a:ext>
            </a:extLst>
          </p:cNvPr>
          <p:cNvGrpSpPr/>
          <p:nvPr/>
        </p:nvGrpSpPr>
        <p:grpSpPr>
          <a:xfrm>
            <a:off x="2286003" y="3060106"/>
            <a:ext cx="6641950" cy="1788458"/>
            <a:chOff x="2380132" y="3859755"/>
            <a:chExt cx="6641950" cy="1788458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990C020-0983-DCAF-5D48-0C213CF5B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0132" y="5246146"/>
              <a:ext cx="9009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1A96D8-4687-17E5-7A07-3AA95028AABB}"/>
                </a:ext>
              </a:extLst>
            </p:cNvPr>
            <p:cNvCxnSpPr>
              <a:cxnSpLocks/>
            </p:cNvCxnSpPr>
            <p:nvPr/>
          </p:nvCxnSpPr>
          <p:spPr>
            <a:xfrm>
              <a:off x="8177607" y="4851699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9B705F-313E-4D0E-CC9D-0337FBC909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41747" y="5246146"/>
              <a:ext cx="782619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5AB933-5649-1F9C-8B21-DAEB300FC7A8}"/>
                </a:ext>
              </a:extLst>
            </p:cNvPr>
            <p:cNvSpPr/>
            <p:nvPr/>
          </p:nvSpPr>
          <p:spPr>
            <a:xfrm>
              <a:off x="3287358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P1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87911C-D83B-117B-6DE7-08420196F14B}"/>
                </a:ext>
              </a:extLst>
            </p:cNvPr>
            <p:cNvSpPr/>
            <p:nvPr/>
          </p:nvSpPr>
          <p:spPr>
            <a:xfrm>
              <a:off x="5150224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AT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428BABA-5964-932E-3290-1B189D199598}"/>
                </a:ext>
              </a:extLst>
            </p:cNvPr>
            <p:cNvSpPr/>
            <p:nvPr/>
          </p:nvSpPr>
          <p:spPr>
            <a:xfrm>
              <a:off x="7013090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Q2</a:t>
              </a:r>
              <a:endParaRPr lang="en-US" sz="4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55D809E-1FFE-29F9-D4DE-F7AFE23E0E59}"/>
                </a:ext>
              </a:extLst>
            </p:cNvPr>
            <p:cNvCxnSpPr>
              <a:cxnSpLocks/>
            </p:cNvCxnSpPr>
            <p:nvPr/>
          </p:nvCxnSpPr>
          <p:spPr>
            <a:xfrm>
              <a:off x="4403465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570DD3C-B813-8111-6CDE-88D1E0360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3465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62077C-8AB5-4046-0782-F8E108C5E3E4}"/>
                </a:ext>
              </a:extLst>
            </p:cNvPr>
            <p:cNvCxnSpPr>
              <a:cxnSpLocks/>
            </p:cNvCxnSpPr>
            <p:nvPr/>
          </p:nvCxnSpPr>
          <p:spPr>
            <a:xfrm>
              <a:off x="6266331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A442179-76F7-BD17-974D-81E1899DD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66331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C734F48-3919-6DB0-9785-D9155F781D48}"/>
                </a:ext>
              </a:extLst>
            </p:cNvPr>
            <p:cNvCxnSpPr>
              <a:cxnSpLocks/>
            </p:cNvCxnSpPr>
            <p:nvPr/>
          </p:nvCxnSpPr>
          <p:spPr>
            <a:xfrm>
              <a:off x="4110318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113115A-F0C6-7A0C-9069-80CD2BD65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2978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459B629-86B1-0C88-87B8-323CF57FA248}"/>
                </a:ext>
              </a:extLst>
            </p:cNvPr>
            <p:cNvCxnSpPr>
              <a:cxnSpLocks/>
            </p:cNvCxnSpPr>
            <p:nvPr/>
          </p:nvCxnSpPr>
          <p:spPr>
            <a:xfrm>
              <a:off x="5924774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A157412-7FD4-D837-AC8D-D0DAD98BD3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7434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7CE33A7-316E-27F8-B46C-4A7D83097707}"/>
                </a:ext>
              </a:extLst>
            </p:cNvPr>
            <p:cNvCxnSpPr>
              <a:cxnSpLocks/>
            </p:cNvCxnSpPr>
            <p:nvPr/>
          </p:nvCxnSpPr>
          <p:spPr>
            <a:xfrm>
              <a:off x="7808260" y="3985262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FD8764D-953C-8EEF-93F3-19634E8F35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0920" y="3985262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7063232-6607-6873-C04C-0F0C10742255}"/>
                </a:ext>
              </a:extLst>
            </p:cNvPr>
            <p:cNvCxnSpPr>
              <a:cxnSpLocks/>
            </p:cNvCxnSpPr>
            <p:nvPr/>
          </p:nvCxnSpPr>
          <p:spPr>
            <a:xfrm>
              <a:off x="2436608" y="4851699"/>
              <a:ext cx="9520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/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(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)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4865" r="-3014" b="-25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/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)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blipFill>
                <a:blip r:embed="rId3"/>
                <a:stretch>
                  <a:fillRect l="-3552" t="-16438" r="-2732" b="-27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3E4069BA-D9AC-0426-2E7D-E96BC5CA8BFC}"/>
              </a:ext>
            </a:extLst>
          </p:cNvPr>
          <p:cNvSpPr txBox="1"/>
          <p:nvPr/>
        </p:nvSpPr>
        <p:spPr>
          <a:xfrm>
            <a:off x="5075368" y="5481468"/>
            <a:ext cx="641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KG Ten Thousand Reasons" panose="02000000000000000000" pitchFamily="2" charset="77"/>
              </a:rPr>
              <a:t>=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FE8A27-A7E8-8FFD-265E-F86AC13F49DA}"/>
              </a:ext>
            </a:extLst>
          </p:cNvPr>
          <p:cNvSpPr/>
          <p:nvPr/>
        </p:nvSpPr>
        <p:spPr>
          <a:xfrm>
            <a:off x="6190131" y="5291872"/>
            <a:ext cx="2859740" cy="1492624"/>
          </a:xfrm>
          <a:custGeom>
            <a:avLst/>
            <a:gdLst>
              <a:gd name="connsiteX0" fmla="*/ 0 w 2859740"/>
              <a:gd name="connsiteY0" fmla="*/ 746312 h 1492624"/>
              <a:gd name="connsiteX1" fmla="*/ 1429870 w 2859740"/>
              <a:gd name="connsiteY1" fmla="*/ 0 h 1492624"/>
              <a:gd name="connsiteX2" fmla="*/ 2859740 w 2859740"/>
              <a:gd name="connsiteY2" fmla="*/ 746312 h 1492624"/>
              <a:gd name="connsiteX3" fmla="*/ 1429870 w 2859740"/>
              <a:gd name="connsiteY3" fmla="*/ 1492624 h 1492624"/>
              <a:gd name="connsiteX4" fmla="*/ 0 w 2859740"/>
              <a:gd name="connsiteY4" fmla="*/ 746312 h 1492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9740" h="1492624" extrusionOk="0">
                <a:moveTo>
                  <a:pt x="0" y="746312"/>
                </a:moveTo>
                <a:cubicBezTo>
                  <a:pt x="-120024" y="260101"/>
                  <a:pt x="585385" y="20564"/>
                  <a:pt x="1429870" y="0"/>
                </a:cubicBezTo>
                <a:cubicBezTo>
                  <a:pt x="2289320" y="14685"/>
                  <a:pt x="2850590" y="334426"/>
                  <a:pt x="2859740" y="746312"/>
                </a:cubicBezTo>
                <a:cubicBezTo>
                  <a:pt x="2749563" y="1266083"/>
                  <a:pt x="2197601" y="1614028"/>
                  <a:pt x="1429870" y="1492624"/>
                </a:cubicBezTo>
                <a:cubicBezTo>
                  <a:pt x="593927" y="1467321"/>
                  <a:pt x="38870" y="1177061"/>
                  <a:pt x="0" y="746312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F88F4D2-5D3B-628C-12A0-3F0478A2BAB9}"/>
              </a:ext>
            </a:extLst>
          </p:cNvPr>
          <p:cNvCxnSpPr>
            <a:cxnSpLocks/>
          </p:cNvCxnSpPr>
          <p:nvPr/>
        </p:nvCxnSpPr>
        <p:spPr>
          <a:xfrm>
            <a:off x="8884922" y="6474338"/>
            <a:ext cx="1938167" cy="138914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16B83AA-088A-8887-0E6A-75FBDF2057B0}"/>
              </a:ext>
            </a:extLst>
          </p:cNvPr>
          <p:cNvSpPr txBox="1"/>
          <p:nvPr/>
        </p:nvSpPr>
        <p:spPr>
          <a:xfrm>
            <a:off x="10823089" y="6176479"/>
            <a:ext cx="13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Protocol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04D40F-61B3-01EE-058C-797A71B3B16E}"/>
              </a:ext>
            </a:extLst>
          </p:cNvPr>
          <p:cNvCxnSpPr>
            <a:cxnSpLocks/>
          </p:cNvCxnSpPr>
          <p:nvPr/>
        </p:nvCxnSpPr>
        <p:spPr>
          <a:xfrm flipV="1">
            <a:off x="1110503" y="1881241"/>
            <a:ext cx="247876" cy="140701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8AC15B0-2873-6035-1742-FD702126BC29}"/>
              </a:ext>
            </a:extLst>
          </p:cNvPr>
          <p:cNvSpPr txBox="1"/>
          <p:nvPr/>
        </p:nvSpPr>
        <p:spPr>
          <a:xfrm>
            <a:off x="623528" y="1561203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341EC8-9F85-8F64-D677-554887CA5A1B}"/>
              </a:ext>
            </a:extLst>
          </p:cNvPr>
          <p:cNvCxnSpPr>
            <a:cxnSpLocks/>
          </p:cNvCxnSpPr>
          <p:nvPr/>
        </p:nvCxnSpPr>
        <p:spPr>
          <a:xfrm flipH="1" flipV="1">
            <a:off x="9914551" y="1984243"/>
            <a:ext cx="278800" cy="136577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D0AC28E-CC74-4AD1-673D-F873C6523156}"/>
              </a:ext>
            </a:extLst>
          </p:cNvPr>
          <p:cNvSpPr txBox="1"/>
          <p:nvPr/>
        </p:nvSpPr>
        <p:spPr>
          <a:xfrm>
            <a:off x="8720451" y="1589797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</p:spTree>
    <p:extLst>
      <p:ext uri="{BB962C8B-B14F-4D97-AF65-F5344CB8AC3E}">
        <p14:creationId xmlns:p14="http://schemas.microsoft.com/office/powerpoint/2010/main" val="3408449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rapezoid 15">
            <a:extLst>
              <a:ext uri="{FF2B5EF4-FFF2-40B4-BE49-F238E27FC236}">
                <a16:creationId xmlns:a16="http://schemas.microsoft.com/office/drawing/2014/main" id="{4BD79E70-DA5B-1E9A-D39A-7C9A56B13208}"/>
              </a:ext>
            </a:extLst>
          </p:cNvPr>
          <p:cNvSpPr/>
          <p:nvPr/>
        </p:nvSpPr>
        <p:spPr>
          <a:xfrm>
            <a:off x="519996" y="2008051"/>
            <a:ext cx="5766092" cy="1219243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dirty="0">
              <a:latin typeface="Bradley Hand" pitchFamily="2" charset="77"/>
              <a:cs typeface="Calibri" panose="020F050202020403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CFAEF7-B058-D7FE-4433-9DC09BB107EE}"/>
              </a:ext>
            </a:extLst>
          </p:cNvPr>
          <p:cNvCxnSpPr>
            <a:cxnSpLocks/>
          </p:cNvCxnSpPr>
          <p:nvPr/>
        </p:nvCxnSpPr>
        <p:spPr>
          <a:xfrm>
            <a:off x="3948991" y="3227295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7D73A4-493D-C7E3-5F54-B8D9237496C3}"/>
              </a:ext>
            </a:extLst>
          </p:cNvPr>
          <p:cNvCxnSpPr>
            <a:cxnSpLocks/>
          </p:cNvCxnSpPr>
          <p:nvPr/>
        </p:nvCxnSpPr>
        <p:spPr>
          <a:xfrm flipV="1">
            <a:off x="3447861" y="306413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CD2F17-057C-DFC9-05BB-5B014380B626}"/>
              </a:ext>
            </a:extLst>
          </p:cNvPr>
          <p:cNvCxnSpPr>
            <a:cxnSpLocks/>
          </p:cNvCxnSpPr>
          <p:nvPr/>
        </p:nvCxnSpPr>
        <p:spPr>
          <a:xfrm>
            <a:off x="1461284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20A6AC-83F0-FB35-0F42-43AE89726BE1}"/>
              </a:ext>
            </a:extLst>
          </p:cNvPr>
          <p:cNvCxnSpPr>
            <a:cxnSpLocks/>
          </p:cNvCxnSpPr>
          <p:nvPr/>
        </p:nvCxnSpPr>
        <p:spPr>
          <a:xfrm flipV="1">
            <a:off x="1081179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11066C-84EF-0BA3-6131-0CE5EE5293C5}"/>
              </a:ext>
            </a:extLst>
          </p:cNvPr>
          <p:cNvCxnSpPr>
            <a:cxnSpLocks/>
          </p:cNvCxnSpPr>
          <p:nvPr/>
        </p:nvCxnSpPr>
        <p:spPr>
          <a:xfrm>
            <a:off x="2604283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EE7D52-C803-89C3-04F4-40763B952CAA}"/>
              </a:ext>
            </a:extLst>
          </p:cNvPr>
          <p:cNvCxnSpPr>
            <a:cxnSpLocks/>
          </p:cNvCxnSpPr>
          <p:nvPr/>
        </p:nvCxnSpPr>
        <p:spPr>
          <a:xfrm flipV="1">
            <a:off x="2170390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1894AE-CD9B-BE15-8E1A-63D4DADD2DA8}"/>
              </a:ext>
            </a:extLst>
          </p:cNvPr>
          <p:cNvCxnSpPr>
            <a:cxnSpLocks/>
          </p:cNvCxnSpPr>
          <p:nvPr/>
        </p:nvCxnSpPr>
        <p:spPr>
          <a:xfrm>
            <a:off x="3626260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5F0DE0-9CB0-B5A1-CE44-8199C89F6CDE}"/>
              </a:ext>
            </a:extLst>
          </p:cNvPr>
          <p:cNvCxnSpPr>
            <a:cxnSpLocks/>
          </p:cNvCxnSpPr>
          <p:nvPr/>
        </p:nvCxnSpPr>
        <p:spPr>
          <a:xfrm flipV="1">
            <a:off x="3219261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08F7DB-F33A-CFF6-ED52-265384718BBC}"/>
              </a:ext>
            </a:extLst>
          </p:cNvPr>
          <p:cNvCxnSpPr>
            <a:cxnSpLocks/>
          </p:cNvCxnSpPr>
          <p:nvPr/>
        </p:nvCxnSpPr>
        <p:spPr>
          <a:xfrm>
            <a:off x="4661684" y="1523998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01E95F-CADA-F3CC-01EE-461F714DEEEB}"/>
              </a:ext>
            </a:extLst>
          </p:cNvPr>
          <p:cNvCxnSpPr>
            <a:cxnSpLocks/>
          </p:cNvCxnSpPr>
          <p:nvPr/>
        </p:nvCxnSpPr>
        <p:spPr>
          <a:xfrm flipV="1">
            <a:off x="4295026" y="129988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20868E-8A89-6DB3-3F6E-83B40A9F703E}"/>
              </a:ext>
            </a:extLst>
          </p:cNvPr>
          <p:cNvCxnSpPr>
            <a:cxnSpLocks/>
          </p:cNvCxnSpPr>
          <p:nvPr/>
        </p:nvCxnSpPr>
        <p:spPr>
          <a:xfrm>
            <a:off x="5602976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0B60CE-1D89-25E3-A882-BEF2184240B4}"/>
              </a:ext>
            </a:extLst>
          </p:cNvPr>
          <p:cNvCxnSpPr>
            <a:cxnSpLocks/>
          </p:cNvCxnSpPr>
          <p:nvPr/>
        </p:nvCxnSpPr>
        <p:spPr>
          <a:xfrm flipV="1">
            <a:off x="5236320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/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8919" b="-22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FD8E44D-753E-56E5-0B2B-A18C25C44A1E}"/>
              </a:ext>
            </a:extLst>
          </p:cNvPr>
          <p:cNvSpPr txBox="1"/>
          <p:nvPr/>
        </p:nvSpPr>
        <p:spPr>
          <a:xfrm>
            <a:off x="2937233" y="3789722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58DE7-9645-898B-E804-EB147A8A2209}"/>
              </a:ext>
            </a:extLst>
          </p:cNvPr>
          <p:cNvSpPr txBox="1"/>
          <p:nvPr/>
        </p:nvSpPr>
        <p:spPr>
          <a:xfrm>
            <a:off x="3793750" y="3916431"/>
            <a:ext cx="6728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D77E1-B208-37B8-E29D-BF86209EC5B3}"/>
              </a:ext>
            </a:extLst>
          </p:cNvPr>
          <p:cNvSpPr txBox="1"/>
          <p:nvPr/>
        </p:nvSpPr>
        <p:spPr>
          <a:xfrm>
            <a:off x="346683" y="1041410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D0874-98BD-EFEF-B665-953DA8C62800}"/>
              </a:ext>
            </a:extLst>
          </p:cNvPr>
          <p:cNvSpPr txBox="1"/>
          <p:nvPr/>
        </p:nvSpPr>
        <p:spPr>
          <a:xfrm>
            <a:off x="1100315" y="1154957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DC9C34-E0BB-6FF9-7C66-3F51F919A4AB}"/>
              </a:ext>
            </a:extLst>
          </p:cNvPr>
          <p:cNvSpPr txBox="1"/>
          <p:nvPr/>
        </p:nvSpPr>
        <p:spPr>
          <a:xfrm>
            <a:off x="4887306" y="103244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3E5A5-B33E-228D-07F1-6A00740BCC0F}"/>
              </a:ext>
            </a:extLst>
          </p:cNvPr>
          <p:cNvSpPr txBox="1"/>
          <p:nvPr/>
        </p:nvSpPr>
        <p:spPr>
          <a:xfrm>
            <a:off x="5640938" y="1145993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025497-755D-181F-73AF-E548398F8393}"/>
              </a:ext>
            </a:extLst>
          </p:cNvPr>
          <p:cNvSpPr txBox="1"/>
          <p:nvPr/>
        </p:nvSpPr>
        <p:spPr>
          <a:xfrm>
            <a:off x="1823098" y="976010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5FC54-E7D1-FD4F-F053-DA1A5936EC4B}"/>
              </a:ext>
            </a:extLst>
          </p:cNvPr>
          <p:cNvSpPr txBox="1"/>
          <p:nvPr/>
        </p:nvSpPr>
        <p:spPr>
          <a:xfrm>
            <a:off x="2214917" y="1233365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8C00C-D7AA-06EB-39BD-8E957F71491E}"/>
              </a:ext>
            </a:extLst>
          </p:cNvPr>
          <p:cNvSpPr txBox="1"/>
          <p:nvPr/>
        </p:nvSpPr>
        <p:spPr>
          <a:xfrm>
            <a:off x="2943125" y="1001221"/>
            <a:ext cx="82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B0C0B1-99F2-EBD7-9490-EBA5CB0FE875}"/>
              </a:ext>
            </a:extLst>
          </p:cNvPr>
          <p:cNvSpPr txBox="1"/>
          <p:nvPr/>
        </p:nvSpPr>
        <p:spPr>
          <a:xfrm>
            <a:off x="3334944" y="1258576"/>
            <a:ext cx="764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97B2A-8A60-F67F-A76D-C5B769802CDB}"/>
              </a:ext>
            </a:extLst>
          </p:cNvPr>
          <p:cNvSpPr txBox="1"/>
          <p:nvPr/>
        </p:nvSpPr>
        <p:spPr>
          <a:xfrm>
            <a:off x="3940967" y="995195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B29B7-7EC3-A7D3-4B46-34A9A7AF45C0}"/>
              </a:ext>
            </a:extLst>
          </p:cNvPr>
          <p:cNvSpPr txBox="1"/>
          <p:nvPr/>
        </p:nvSpPr>
        <p:spPr>
          <a:xfrm>
            <a:off x="4332786" y="1252550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D90515-6381-13D2-08D0-E5A961AE7CC1}"/>
              </a:ext>
            </a:extLst>
          </p:cNvPr>
          <p:cNvSpPr txBox="1"/>
          <p:nvPr/>
        </p:nvSpPr>
        <p:spPr>
          <a:xfrm>
            <a:off x="98884" y="4984911"/>
            <a:ext cx="6514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Chalk Board" panose="02000500000000000000" pitchFamily="2" charset="0"/>
              </a:rPr>
              <a:t>Security of Composed Protocols: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A55B7-1428-C10A-20AF-B6A21DDE4027}"/>
              </a:ext>
            </a:extLst>
          </p:cNvPr>
          <p:cNvSpPr txBox="1"/>
          <p:nvPr/>
        </p:nvSpPr>
        <p:spPr>
          <a:xfrm>
            <a:off x="4593447" y="5687295"/>
            <a:ext cx="35189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Existence of a simulator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BF3BEF-7C07-81D5-1C68-B72EC72189D7}"/>
              </a:ext>
            </a:extLst>
          </p:cNvPr>
          <p:cNvSpPr txBox="1"/>
          <p:nvPr/>
        </p:nvSpPr>
        <p:spPr>
          <a:xfrm>
            <a:off x="7980181" y="5267371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417437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F3171E-E30F-78C8-49A5-F23314DB732A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49CFA-6E40-4B49-7209-DEF0E727179B}"/>
              </a:ext>
            </a:extLst>
          </p:cNvPr>
          <p:cNvSpPr txBox="1"/>
          <p:nvPr/>
        </p:nvSpPr>
        <p:spPr>
          <a:xfrm>
            <a:off x="640529" y="1428243"/>
            <a:ext cx="8185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5195" r="-2841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blipFill>
                <a:blip r:embed="rId3"/>
                <a:stretch>
                  <a:fillRect l="-509" t="-5195" r="-2545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blipFill>
                <a:blip r:embed="rId4"/>
                <a:stretch>
                  <a:fillRect l="-222" t="-5195" r="-2217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27BDFABD-EE8D-192F-09AF-BD4B3F3ADA65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C7EE4443-08A8-DDF6-8034-8A0EC869701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34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9A24-DC0C-12A8-928A-DC15E43C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02080E-83C9-FB35-9FC4-7285EFA7129C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D30E4-FA4E-9B82-91C5-23D1AD798017}"/>
              </a:ext>
            </a:extLst>
          </p:cNvPr>
          <p:cNvSpPr txBox="1"/>
          <p:nvPr/>
        </p:nvSpPr>
        <p:spPr>
          <a:xfrm>
            <a:off x="640529" y="1428243"/>
            <a:ext cx="102659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 (INTUITION)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blipFill>
                <a:blip r:embed="rId2"/>
                <a:stretch>
                  <a:fillRect l="-283" t="-5195" r="-2833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blipFill>
                <a:blip r:embed="rId3"/>
                <a:stretch>
                  <a:fillRect l="-508" t="-5195" r="-2792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blipFill>
                <a:blip r:embed="rId4"/>
                <a:stretch>
                  <a:fillRect l="-204" t="-5195" r="-1840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5DF7874E-501A-389B-31B5-2EC572AF4A62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04AC5B1A-3851-2B79-BFDF-B1CEC0D4629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28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1551A-764E-ABFF-3DE8-5D56747E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AF8A09-A508-79FF-3A10-520B9550E777}"/>
              </a:ext>
            </a:extLst>
          </p:cNvPr>
          <p:cNvSpPr/>
          <p:nvPr/>
        </p:nvSpPr>
        <p:spPr>
          <a:xfrm>
            <a:off x="3325904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E5481D-3374-910A-745A-58862CAEB680}"/>
              </a:ext>
            </a:extLst>
          </p:cNvPr>
          <p:cNvSpPr/>
          <p:nvPr/>
        </p:nvSpPr>
        <p:spPr>
          <a:xfrm>
            <a:off x="5188770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21B9DF-2A8F-DC55-4568-700CCF3BB358}"/>
              </a:ext>
            </a:extLst>
          </p:cNvPr>
          <p:cNvSpPr/>
          <p:nvPr/>
        </p:nvSpPr>
        <p:spPr>
          <a:xfrm>
            <a:off x="7051636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2555DF-98EB-E464-376A-DE7523070D4A}"/>
              </a:ext>
            </a:extLst>
          </p:cNvPr>
          <p:cNvSpPr/>
          <p:nvPr/>
        </p:nvSpPr>
        <p:spPr>
          <a:xfrm>
            <a:off x="3701751" y="540795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8E7202-73A8-F736-BE8E-EF83AA4966FF}"/>
              </a:ext>
            </a:extLst>
          </p:cNvPr>
          <p:cNvCxnSpPr>
            <a:cxnSpLocks/>
          </p:cNvCxnSpPr>
          <p:nvPr/>
        </p:nvCxnSpPr>
        <p:spPr>
          <a:xfrm>
            <a:off x="4442011" y="1512793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1DDFDC57-9BDE-CAD7-435B-4B33B411FFE7}"/>
              </a:ext>
            </a:extLst>
          </p:cNvPr>
          <p:cNvSpPr/>
          <p:nvPr/>
        </p:nvSpPr>
        <p:spPr>
          <a:xfrm>
            <a:off x="2625089" y="3545096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FEAB16-BB7D-80B1-1659-36B4BF8CC54C}"/>
              </a:ext>
            </a:extLst>
          </p:cNvPr>
          <p:cNvCxnSpPr>
            <a:cxnSpLocks/>
          </p:cNvCxnSpPr>
          <p:nvPr/>
        </p:nvCxnSpPr>
        <p:spPr>
          <a:xfrm>
            <a:off x="2867584" y="5717244"/>
            <a:ext cx="96012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B2F2A4-A9B5-BC0E-85C3-E0EC232DE0B3}"/>
              </a:ext>
            </a:extLst>
          </p:cNvPr>
          <p:cNvCxnSpPr>
            <a:cxnSpLocks/>
          </p:cNvCxnSpPr>
          <p:nvPr/>
        </p:nvCxnSpPr>
        <p:spPr>
          <a:xfrm>
            <a:off x="4721485" y="5748621"/>
            <a:ext cx="98298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1D5A06-EC09-A560-F048-61E5EE4F2FE4}"/>
              </a:ext>
            </a:extLst>
          </p:cNvPr>
          <p:cNvCxnSpPr>
            <a:cxnSpLocks/>
          </p:cNvCxnSpPr>
          <p:nvPr/>
        </p:nvCxnSpPr>
        <p:spPr>
          <a:xfrm flipH="1">
            <a:off x="2803936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B8BF5-45C0-BFEC-34F8-45DD49DD27F2}"/>
              </a:ext>
            </a:extLst>
          </p:cNvPr>
          <p:cNvCxnSpPr>
            <a:cxnSpLocks/>
          </p:cNvCxnSpPr>
          <p:nvPr/>
        </p:nvCxnSpPr>
        <p:spPr>
          <a:xfrm flipH="1">
            <a:off x="4680698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ECA5F5-B814-83E8-D36F-AE43C90D7895}"/>
              </a:ext>
            </a:extLst>
          </p:cNvPr>
          <p:cNvCxnSpPr>
            <a:cxnSpLocks/>
          </p:cNvCxnSpPr>
          <p:nvPr/>
        </p:nvCxnSpPr>
        <p:spPr>
          <a:xfrm>
            <a:off x="6312049" y="1490382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0E601C-C880-9348-7626-3DBB815AC590}"/>
              </a:ext>
            </a:extLst>
          </p:cNvPr>
          <p:cNvCxnSpPr>
            <a:cxnSpLocks/>
          </p:cNvCxnSpPr>
          <p:nvPr/>
        </p:nvCxnSpPr>
        <p:spPr>
          <a:xfrm>
            <a:off x="8011756" y="1450042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9EFDE6-4329-97BE-17AB-153A436F3B21}"/>
              </a:ext>
            </a:extLst>
          </p:cNvPr>
          <p:cNvCxnSpPr>
            <a:cxnSpLocks/>
          </p:cNvCxnSpPr>
          <p:nvPr/>
        </p:nvCxnSpPr>
        <p:spPr>
          <a:xfrm>
            <a:off x="2695685" y="1450042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323ABE-540E-E7B3-3F0A-760D0EBD5314}"/>
              </a:ext>
            </a:extLst>
          </p:cNvPr>
          <p:cNvCxnSpPr>
            <a:cxnSpLocks/>
          </p:cNvCxnSpPr>
          <p:nvPr/>
        </p:nvCxnSpPr>
        <p:spPr>
          <a:xfrm flipV="1">
            <a:off x="3063014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9989FA-64FB-23CF-A32F-3C315E9D8C17}"/>
              </a:ext>
            </a:extLst>
          </p:cNvPr>
          <p:cNvCxnSpPr>
            <a:cxnSpLocks/>
          </p:cNvCxnSpPr>
          <p:nvPr/>
        </p:nvCxnSpPr>
        <p:spPr>
          <a:xfrm>
            <a:off x="3468219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EF7632-2DBD-2450-87AB-59D2C153CC28}"/>
              </a:ext>
            </a:extLst>
          </p:cNvPr>
          <p:cNvCxnSpPr>
            <a:cxnSpLocks/>
          </p:cNvCxnSpPr>
          <p:nvPr/>
        </p:nvCxnSpPr>
        <p:spPr>
          <a:xfrm flipV="1">
            <a:off x="3887767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C36D29-12BA-BA66-CB25-60BADA75F055}"/>
              </a:ext>
            </a:extLst>
          </p:cNvPr>
          <p:cNvCxnSpPr>
            <a:cxnSpLocks/>
          </p:cNvCxnSpPr>
          <p:nvPr/>
        </p:nvCxnSpPr>
        <p:spPr>
          <a:xfrm>
            <a:off x="4292972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87D4C63-23C0-2F24-0A0F-A2FD878CD0A6}"/>
              </a:ext>
            </a:extLst>
          </p:cNvPr>
          <p:cNvCxnSpPr>
            <a:cxnSpLocks/>
          </p:cNvCxnSpPr>
          <p:nvPr/>
        </p:nvCxnSpPr>
        <p:spPr>
          <a:xfrm flipV="1">
            <a:off x="4721485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E18F8A-9E5E-BD12-64E0-D79489E2D8B5}"/>
              </a:ext>
            </a:extLst>
          </p:cNvPr>
          <p:cNvCxnSpPr>
            <a:cxnSpLocks/>
          </p:cNvCxnSpPr>
          <p:nvPr/>
        </p:nvCxnSpPr>
        <p:spPr>
          <a:xfrm>
            <a:off x="5126690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294691-96B0-BD8D-19F9-6E139B007F8F}"/>
              </a:ext>
            </a:extLst>
          </p:cNvPr>
          <p:cNvCxnSpPr>
            <a:cxnSpLocks/>
          </p:cNvCxnSpPr>
          <p:nvPr/>
        </p:nvCxnSpPr>
        <p:spPr>
          <a:xfrm flipV="1">
            <a:off x="370824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5FC011E-9FC7-FEB3-3C2E-0685B7C6E159}"/>
              </a:ext>
            </a:extLst>
          </p:cNvPr>
          <p:cNvCxnSpPr>
            <a:cxnSpLocks/>
          </p:cNvCxnSpPr>
          <p:nvPr/>
        </p:nvCxnSpPr>
        <p:spPr>
          <a:xfrm>
            <a:off x="411345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68E112-125F-F2D5-3A3F-AEF2C9D5E333}"/>
              </a:ext>
            </a:extLst>
          </p:cNvPr>
          <p:cNvCxnSpPr>
            <a:cxnSpLocks/>
          </p:cNvCxnSpPr>
          <p:nvPr/>
        </p:nvCxnSpPr>
        <p:spPr>
          <a:xfrm flipV="1">
            <a:off x="5528082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0FA98C2-4D56-9D4F-0255-4FDE70A06521}"/>
              </a:ext>
            </a:extLst>
          </p:cNvPr>
          <p:cNvCxnSpPr>
            <a:cxnSpLocks/>
          </p:cNvCxnSpPr>
          <p:nvPr/>
        </p:nvCxnSpPr>
        <p:spPr>
          <a:xfrm>
            <a:off x="5933287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46BCC8-E0C6-1D01-EC1E-2E5D4981BF46}"/>
              </a:ext>
            </a:extLst>
          </p:cNvPr>
          <p:cNvCxnSpPr>
            <a:cxnSpLocks/>
          </p:cNvCxnSpPr>
          <p:nvPr/>
        </p:nvCxnSpPr>
        <p:spPr>
          <a:xfrm flipV="1">
            <a:off x="738377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156E46-4FB2-8919-F87B-F99B1B94DDA1}"/>
              </a:ext>
            </a:extLst>
          </p:cNvPr>
          <p:cNvCxnSpPr>
            <a:cxnSpLocks/>
          </p:cNvCxnSpPr>
          <p:nvPr/>
        </p:nvCxnSpPr>
        <p:spPr>
          <a:xfrm>
            <a:off x="778898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B34FB-BBC3-81F6-7FC7-AD1EA18FE413}"/>
              </a:ext>
            </a:extLst>
          </p:cNvPr>
          <p:cNvCxnSpPr>
            <a:cxnSpLocks/>
          </p:cNvCxnSpPr>
          <p:nvPr/>
        </p:nvCxnSpPr>
        <p:spPr>
          <a:xfrm flipH="1" flipV="1">
            <a:off x="2625089" y="1974476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4C19477-A397-1D39-53DB-FE57D3D9B5C8}"/>
              </a:ext>
            </a:extLst>
          </p:cNvPr>
          <p:cNvCxnSpPr>
            <a:cxnSpLocks/>
          </p:cNvCxnSpPr>
          <p:nvPr/>
        </p:nvCxnSpPr>
        <p:spPr>
          <a:xfrm flipH="1">
            <a:off x="4280200" y="1913963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3DF372-F00C-601B-D1F3-E04E053CF797}"/>
              </a:ext>
            </a:extLst>
          </p:cNvPr>
          <p:cNvCxnSpPr>
            <a:cxnSpLocks/>
          </p:cNvCxnSpPr>
          <p:nvPr/>
        </p:nvCxnSpPr>
        <p:spPr>
          <a:xfrm flipH="1">
            <a:off x="6215676" y="1885501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9CBC6FB-80B0-8BF1-AF55-603FB35445D0}"/>
              </a:ext>
            </a:extLst>
          </p:cNvPr>
          <p:cNvCxnSpPr>
            <a:cxnSpLocks/>
          </p:cNvCxnSpPr>
          <p:nvPr/>
        </p:nvCxnSpPr>
        <p:spPr>
          <a:xfrm flipH="1">
            <a:off x="8011756" y="1845162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F0A7BF-6C66-D4EA-A0E2-65B260376BFD}"/>
              </a:ext>
            </a:extLst>
          </p:cNvPr>
          <p:cNvCxnSpPr>
            <a:cxnSpLocks/>
          </p:cNvCxnSpPr>
          <p:nvPr/>
        </p:nvCxnSpPr>
        <p:spPr>
          <a:xfrm flipV="1">
            <a:off x="3990412" y="4507006"/>
            <a:ext cx="0" cy="900952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2F4DDC-2AFB-74BE-2B3C-9AD080BC1121}"/>
              </a:ext>
            </a:extLst>
          </p:cNvPr>
          <p:cNvCxnSpPr>
            <a:cxnSpLocks/>
          </p:cNvCxnSpPr>
          <p:nvPr/>
        </p:nvCxnSpPr>
        <p:spPr>
          <a:xfrm>
            <a:off x="4452546" y="4634308"/>
            <a:ext cx="0" cy="935015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/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blipFill>
                <a:blip r:embed="rId2"/>
                <a:stretch>
                  <a:fillRect t="-3846" b="-43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EDE41110-0BE2-5D85-9364-DC01859B3C04}"/>
              </a:ext>
            </a:extLst>
          </p:cNvPr>
          <p:cNvGrpSpPr/>
          <p:nvPr/>
        </p:nvGrpSpPr>
        <p:grpSpPr>
          <a:xfrm>
            <a:off x="577322" y="1118345"/>
            <a:ext cx="10397271" cy="1105348"/>
            <a:chOff x="577322" y="1118345"/>
            <a:chExt cx="10397271" cy="1105348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54B79F-BEBB-4953-8819-9DF8451B4F18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6586E33F-DAA1-E7A5-1176-CB220924D6A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E13F986-BA66-21BA-A116-F29DD114A1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80000B1-40D2-B031-F53A-BFCB36094CE8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0E84EC2-F176-1D2A-E2EC-ED436A32BF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EDE090B-66E9-2C30-7574-47F1D804A28E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F99F4CC-EE4D-E25A-FD64-2EA851BB793F}"/>
              </a:ext>
            </a:extLst>
          </p:cNvPr>
          <p:cNvGrpSpPr/>
          <p:nvPr/>
        </p:nvGrpSpPr>
        <p:grpSpPr>
          <a:xfrm>
            <a:off x="794941" y="5407958"/>
            <a:ext cx="6929729" cy="1117009"/>
            <a:chOff x="794941" y="5407958"/>
            <a:chExt cx="6929729" cy="1117009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D1260-B45C-A531-A8ED-242E3FE1F1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941" y="5739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2F7A538-02C6-B66F-0C24-CED7818B9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4941" y="6134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A657E8-13F6-7322-A213-D9825B2542A2}"/>
                </a:ext>
              </a:extLst>
            </p:cNvPr>
            <p:cNvSpPr/>
            <p:nvPr/>
          </p:nvSpPr>
          <p:spPr>
            <a:xfrm>
              <a:off x="1718305" y="5407958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378A7AA-9BE4-FF39-078C-8448EA9C04DF}"/>
                </a:ext>
              </a:extLst>
            </p:cNvPr>
            <p:cNvSpPr/>
            <p:nvPr/>
          </p:nvSpPr>
          <p:spPr>
            <a:xfrm>
              <a:off x="5685197" y="5419619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7EFBB50-5E53-F5AD-8393-9D7B8F82D94D}"/>
                </a:ext>
              </a:extLst>
            </p:cNvPr>
            <p:cNvCxnSpPr>
              <a:cxnSpLocks/>
            </p:cNvCxnSpPr>
            <p:nvPr/>
          </p:nvCxnSpPr>
          <p:spPr>
            <a:xfrm>
              <a:off x="6801304" y="5791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5294E075-EB68-C4E6-CC33-D35FAFB06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1304" y="6186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2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EAF9-B316-CFA1-F43F-5A62D758C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/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3846" r="-2841" b="-42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65CE7DF7-F532-69E8-6A0B-A0305E1F4929}"/>
              </a:ext>
            </a:extLst>
          </p:cNvPr>
          <p:cNvSpPr/>
          <p:nvPr/>
        </p:nvSpPr>
        <p:spPr>
          <a:xfrm>
            <a:off x="1101423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F2CEE3-4F1D-B2D1-4DB0-38F9AD7897AF}"/>
              </a:ext>
            </a:extLst>
          </p:cNvPr>
          <p:cNvSpPr/>
          <p:nvPr/>
        </p:nvSpPr>
        <p:spPr>
          <a:xfrm>
            <a:off x="2964289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138500-D129-5174-5D80-605DC2DA3F87}"/>
              </a:ext>
            </a:extLst>
          </p:cNvPr>
          <p:cNvSpPr/>
          <p:nvPr/>
        </p:nvSpPr>
        <p:spPr>
          <a:xfrm>
            <a:off x="4827155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960C5-BD29-5310-C789-002A470AA624}"/>
              </a:ext>
            </a:extLst>
          </p:cNvPr>
          <p:cNvSpPr/>
          <p:nvPr/>
        </p:nvSpPr>
        <p:spPr>
          <a:xfrm>
            <a:off x="9188268" y="5301710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6ED1BE-7FF7-CDF6-37FB-8D3B5E7957D4}"/>
              </a:ext>
            </a:extLst>
          </p:cNvPr>
          <p:cNvCxnSpPr>
            <a:cxnSpLocks/>
          </p:cNvCxnSpPr>
          <p:nvPr/>
        </p:nvCxnSpPr>
        <p:spPr>
          <a:xfrm>
            <a:off x="2194668" y="4044571"/>
            <a:ext cx="83954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6CD78A15-8573-115D-00A2-71638B8AFC12}"/>
              </a:ext>
            </a:extLst>
          </p:cNvPr>
          <p:cNvSpPr/>
          <p:nvPr/>
        </p:nvSpPr>
        <p:spPr>
          <a:xfrm>
            <a:off x="8111606" y="3438848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85909B-0BD6-50E3-F6A9-39726CC982ED}"/>
              </a:ext>
            </a:extLst>
          </p:cNvPr>
          <p:cNvCxnSpPr>
            <a:cxnSpLocks/>
          </p:cNvCxnSpPr>
          <p:nvPr/>
        </p:nvCxnSpPr>
        <p:spPr>
          <a:xfrm>
            <a:off x="8290453" y="5585588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B1AC37-32F3-C1F6-0256-DB122BCB6403}"/>
              </a:ext>
            </a:extLst>
          </p:cNvPr>
          <p:cNvCxnSpPr>
            <a:cxnSpLocks/>
          </p:cNvCxnSpPr>
          <p:nvPr/>
        </p:nvCxnSpPr>
        <p:spPr>
          <a:xfrm>
            <a:off x="10319507" y="5633407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0CFD14-376B-8737-CA6F-17157E903A30}"/>
              </a:ext>
            </a:extLst>
          </p:cNvPr>
          <p:cNvCxnSpPr>
            <a:cxnSpLocks/>
          </p:cNvCxnSpPr>
          <p:nvPr/>
        </p:nvCxnSpPr>
        <p:spPr>
          <a:xfrm flipH="1">
            <a:off x="8290453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CC9B30-B378-18B9-10DC-ACC59A4B0AD4}"/>
              </a:ext>
            </a:extLst>
          </p:cNvPr>
          <p:cNvCxnSpPr>
            <a:cxnSpLocks/>
          </p:cNvCxnSpPr>
          <p:nvPr/>
        </p:nvCxnSpPr>
        <p:spPr>
          <a:xfrm flipH="1">
            <a:off x="10167215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964EF-6F35-3906-0E95-D47B5C4E9B98}"/>
              </a:ext>
            </a:extLst>
          </p:cNvPr>
          <p:cNvCxnSpPr>
            <a:cxnSpLocks/>
          </p:cNvCxnSpPr>
          <p:nvPr/>
        </p:nvCxnSpPr>
        <p:spPr>
          <a:xfrm>
            <a:off x="4075573" y="4102843"/>
            <a:ext cx="84660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25A887-CA21-85BA-B152-2A75D21D5F06}"/>
              </a:ext>
            </a:extLst>
          </p:cNvPr>
          <p:cNvCxnSpPr>
            <a:cxnSpLocks/>
          </p:cNvCxnSpPr>
          <p:nvPr/>
        </p:nvCxnSpPr>
        <p:spPr>
          <a:xfrm>
            <a:off x="5787275" y="4044571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683695F-89AF-1538-8732-399E20F0F550}"/>
              </a:ext>
            </a:extLst>
          </p:cNvPr>
          <p:cNvCxnSpPr>
            <a:cxnSpLocks/>
          </p:cNvCxnSpPr>
          <p:nvPr/>
        </p:nvCxnSpPr>
        <p:spPr>
          <a:xfrm>
            <a:off x="471204" y="4044571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1B995-CCB4-D9C2-BD2A-487EAC1FA3D5}"/>
              </a:ext>
            </a:extLst>
          </p:cNvPr>
          <p:cNvCxnSpPr>
            <a:cxnSpLocks/>
          </p:cNvCxnSpPr>
          <p:nvPr/>
        </p:nvCxnSpPr>
        <p:spPr>
          <a:xfrm flipV="1">
            <a:off x="8549531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C6916-8C30-D407-33EB-C762636B327C}"/>
              </a:ext>
            </a:extLst>
          </p:cNvPr>
          <p:cNvCxnSpPr>
            <a:cxnSpLocks/>
          </p:cNvCxnSpPr>
          <p:nvPr/>
        </p:nvCxnSpPr>
        <p:spPr>
          <a:xfrm>
            <a:off x="8954736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BDA428-A172-2ED2-B310-C8F0013B5231}"/>
              </a:ext>
            </a:extLst>
          </p:cNvPr>
          <p:cNvCxnSpPr>
            <a:cxnSpLocks/>
          </p:cNvCxnSpPr>
          <p:nvPr/>
        </p:nvCxnSpPr>
        <p:spPr>
          <a:xfrm flipV="1">
            <a:off x="9374284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5E20F0-74CD-70C7-564B-5D16C54CB2C6}"/>
              </a:ext>
            </a:extLst>
          </p:cNvPr>
          <p:cNvCxnSpPr>
            <a:cxnSpLocks/>
          </p:cNvCxnSpPr>
          <p:nvPr/>
        </p:nvCxnSpPr>
        <p:spPr>
          <a:xfrm>
            <a:off x="9779489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296A3-3CB4-8FC6-D8FF-070DF3EC026D}"/>
              </a:ext>
            </a:extLst>
          </p:cNvPr>
          <p:cNvCxnSpPr>
            <a:cxnSpLocks/>
          </p:cNvCxnSpPr>
          <p:nvPr/>
        </p:nvCxnSpPr>
        <p:spPr>
          <a:xfrm flipV="1">
            <a:off x="10208002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3579AE-B926-0496-EDA6-3574CCEFB08E}"/>
              </a:ext>
            </a:extLst>
          </p:cNvPr>
          <p:cNvCxnSpPr>
            <a:cxnSpLocks/>
          </p:cNvCxnSpPr>
          <p:nvPr/>
        </p:nvCxnSpPr>
        <p:spPr>
          <a:xfrm>
            <a:off x="10613207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60777C-B557-034B-8EC8-D970830C1786}"/>
              </a:ext>
            </a:extLst>
          </p:cNvPr>
          <p:cNvCxnSpPr>
            <a:cxnSpLocks/>
          </p:cNvCxnSpPr>
          <p:nvPr/>
        </p:nvCxnSpPr>
        <p:spPr>
          <a:xfrm flipV="1">
            <a:off x="148376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FE5CEC-5798-A4E9-382F-875C7D1901A2}"/>
              </a:ext>
            </a:extLst>
          </p:cNvPr>
          <p:cNvCxnSpPr>
            <a:cxnSpLocks/>
          </p:cNvCxnSpPr>
          <p:nvPr/>
        </p:nvCxnSpPr>
        <p:spPr>
          <a:xfrm>
            <a:off x="188897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A93F39D-509C-D325-0B4B-B24B6B83E7A3}"/>
              </a:ext>
            </a:extLst>
          </p:cNvPr>
          <p:cNvCxnSpPr>
            <a:cxnSpLocks/>
          </p:cNvCxnSpPr>
          <p:nvPr/>
        </p:nvCxnSpPr>
        <p:spPr>
          <a:xfrm flipV="1">
            <a:off x="3303601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784EC2-57FC-E2C1-0964-3FABCB0D6C8B}"/>
              </a:ext>
            </a:extLst>
          </p:cNvPr>
          <p:cNvCxnSpPr>
            <a:cxnSpLocks/>
          </p:cNvCxnSpPr>
          <p:nvPr/>
        </p:nvCxnSpPr>
        <p:spPr>
          <a:xfrm>
            <a:off x="3708806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EC7C53D-E9D8-B198-7A81-B9DD51CED5DC}"/>
              </a:ext>
            </a:extLst>
          </p:cNvPr>
          <p:cNvCxnSpPr>
            <a:cxnSpLocks/>
          </p:cNvCxnSpPr>
          <p:nvPr/>
        </p:nvCxnSpPr>
        <p:spPr>
          <a:xfrm flipV="1">
            <a:off x="515929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200F61-2BCF-8D9B-4A46-A10D8C5E637F}"/>
              </a:ext>
            </a:extLst>
          </p:cNvPr>
          <p:cNvCxnSpPr>
            <a:cxnSpLocks/>
          </p:cNvCxnSpPr>
          <p:nvPr/>
        </p:nvCxnSpPr>
        <p:spPr>
          <a:xfrm>
            <a:off x="556450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CD8AA0-595E-52CF-020C-44DAF8006F6A}"/>
              </a:ext>
            </a:extLst>
          </p:cNvPr>
          <p:cNvCxnSpPr>
            <a:cxnSpLocks/>
          </p:cNvCxnSpPr>
          <p:nvPr/>
        </p:nvCxnSpPr>
        <p:spPr>
          <a:xfrm flipH="1" flipV="1">
            <a:off x="400608" y="4569005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6C6C67-20E4-0DAA-D7A9-440A12475DC1}"/>
              </a:ext>
            </a:extLst>
          </p:cNvPr>
          <p:cNvCxnSpPr>
            <a:cxnSpLocks/>
          </p:cNvCxnSpPr>
          <p:nvPr/>
        </p:nvCxnSpPr>
        <p:spPr>
          <a:xfrm flipH="1" flipV="1">
            <a:off x="2072408" y="457572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20ADE84-3968-5F17-FCB2-A1AD464E5C9B}"/>
              </a:ext>
            </a:extLst>
          </p:cNvPr>
          <p:cNvCxnSpPr>
            <a:cxnSpLocks/>
          </p:cNvCxnSpPr>
          <p:nvPr/>
        </p:nvCxnSpPr>
        <p:spPr>
          <a:xfrm flipH="1" flipV="1">
            <a:off x="4004081" y="4528060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F455D50-89EE-F508-AB9E-148CC6B07048}"/>
              </a:ext>
            </a:extLst>
          </p:cNvPr>
          <p:cNvCxnSpPr>
            <a:cxnSpLocks/>
          </p:cNvCxnSpPr>
          <p:nvPr/>
        </p:nvCxnSpPr>
        <p:spPr>
          <a:xfrm flipH="1" flipV="1">
            <a:off x="5816410" y="4534782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1567B39-BDDC-7ACB-D7ED-550AE4563936}"/>
              </a:ext>
            </a:extLst>
          </p:cNvPr>
          <p:cNvCxnSpPr>
            <a:cxnSpLocks/>
          </p:cNvCxnSpPr>
          <p:nvPr/>
        </p:nvCxnSpPr>
        <p:spPr>
          <a:xfrm flipV="1">
            <a:off x="9525897" y="4387916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D75E17A-0CFB-3D1E-E668-1677E91E2B82}"/>
              </a:ext>
            </a:extLst>
          </p:cNvPr>
          <p:cNvCxnSpPr>
            <a:cxnSpLocks/>
          </p:cNvCxnSpPr>
          <p:nvPr/>
        </p:nvCxnSpPr>
        <p:spPr>
          <a:xfrm>
            <a:off x="9931102" y="4528059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02593BC-7F65-CD25-4B5E-32F14BFD045B}"/>
              </a:ext>
            </a:extLst>
          </p:cNvPr>
          <p:cNvGrpSpPr/>
          <p:nvPr/>
        </p:nvGrpSpPr>
        <p:grpSpPr>
          <a:xfrm>
            <a:off x="1922480" y="790669"/>
            <a:ext cx="9268503" cy="1963286"/>
            <a:chOff x="1922480" y="790669"/>
            <a:chExt cx="9268503" cy="1963286"/>
          </a:xfrm>
        </p:grpSpPr>
        <p:sp>
          <p:nvSpPr>
            <p:cNvPr id="48" name="Trapezoid 47">
              <a:extLst>
                <a:ext uri="{FF2B5EF4-FFF2-40B4-BE49-F238E27FC236}">
                  <a16:creationId xmlns:a16="http://schemas.microsoft.com/office/drawing/2014/main" id="{EE4CF0D6-3BD4-65FB-BD8B-E2C4FECAAAA8}"/>
                </a:ext>
              </a:extLst>
            </p:cNvPr>
            <p:cNvSpPr/>
            <p:nvPr/>
          </p:nvSpPr>
          <p:spPr>
            <a:xfrm>
              <a:off x="1922480" y="1664743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89B63C-D8A5-5905-1605-A01B42D25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0405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08D8CBE-0253-B420-96F2-D6213E3BD779}"/>
                </a:ext>
              </a:extLst>
            </p:cNvPr>
            <p:cNvCxnSpPr>
              <a:cxnSpLocks/>
            </p:cNvCxnSpPr>
            <p:nvPr/>
          </p:nvCxnSpPr>
          <p:spPr>
            <a:xfrm>
              <a:off x="2765610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F1E0B68-4C3D-64B0-6304-AA478920E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5158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3292EDF-604E-6F87-630D-5740D976C8DD}"/>
                </a:ext>
              </a:extLst>
            </p:cNvPr>
            <p:cNvCxnSpPr>
              <a:cxnSpLocks/>
            </p:cNvCxnSpPr>
            <p:nvPr/>
          </p:nvCxnSpPr>
          <p:spPr>
            <a:xfrm>
              <a:off x="3590363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43254AE6-AB9F-9A77-B20E-D77E3B25F8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8876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C7A5447-9DA3-BD7B-5855-2786D83E753D}"/>
                </a:ext>
              </a:extLst>
            </p:cNvPr>
            <p:cNvCxnSpPr>
              <a:cxnSpLocks/>
            </p:cNvCxnSpPr>
            <p:nvPr/>
          </p:nvCxnSpPr>
          <p:spPr>
            <a:xfrm>
              <a:off x="4424081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rapezoid 61">
              <a:extLst>
                <a:ext uri="{FF2B5EF4-FFF2-40B4-BE49-F238E27FC236}">
                  <a16:creationId xmlns:a16="http://schemas.microsoft.com/office/drawing/2014/main" id="{2F12B288-8380-2C17-3471-CCC1CC9B3A78}"/>
                </a:ext>
              </a:extLst>
            </p:cNvPr>
            <p:cNvSpPr/>
            <p:nvPr/>
          </p:nvSpPr>
          <p:spPr>
            <a:xfrm>
              <a:off x="8111606" y="1307936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7B48C5D-1A29-5394-3002-3C5BCBFD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531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B27AE6FB-8785-5800-84C6-499905A8BCA4}"/>
                </a:ext>
              </a:extLst>
            </p:cNvPr>
            <p:cNvCxnSpPr>
              <a:cxnSpLocks/>
            </p:cNvCxnSpPr>
            <p:nvPr/>
          </p:nvCxnSpPr>
          <p:spPr>
            <a:xfrm>
              <a:off x="8954736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7236628-58D9-701F-DE72-B2A7DE8734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74284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98A420-1308-E057-07A1-165C4732368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489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AD08B89-A926-280C-6D96-A9B27ADF30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8002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07C09AB-FC1A-5549-DCF4-E54A5C9C96F5}"/>
                </a:ext>
              </a:extLst>
            </p:cNvPr>
            <p:cNvCxnSpPr>
              <a:cxnSpLocks/>
            </p:cNvCxnSpPr>
            <p:nvPr/>
          </p:nvCxnSpPr>
          <p:spPr>
            <a:xfrm>
              <a:off x="10613207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548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068BE1-5281-0C0B-C608-9D0C6C563023}"/>
              </a:ext>
            </a:extLst>
          </p:cNvPr>
          <p:cNvSpPr txBox="1"/>
          <p:nvPr/>
        </p:nvSpPr>
        <p:spPr>
          <a:xfrm>
            <a:off x="749674" y="2568388"/>
            <a:ext cx="16226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From the transitivity property, we have: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461A5-402C-2B3F-5BEB-3AF050150D1B}"/>
              </a:ext>
            </a:extLst>
          </p:cNvPr>
          <p:cNvSpPr txBox="1"/>
          <p:nvPr/>
        </p:nvSpPr>
        <p:spPr>
          <a:xfrm>
            <a:off x="3868270" y="3659053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IS2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4F7563-D3FD-5AF4-966D-3F050EE02091}"/>
              </a:ext>
            </a:extLst>
          </p:cNvPr>
          <p:cNvSpPr txBox="1"/>
          <p:nvPr/>
        </p:nvSpPr>
        <p:spPr>
          <a:xfrm>
            <a:off x="763121" y="1584982"/>
            <a:ext cx="74209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IS1 cannot be told apart from IS2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F13A9F-118C-122A-5994-23776096D78A}"/>
              </a:ext>
            </a:extLst>
          </p:cNvPr>
          <p:cNvSpPr txBox="1"/>
          <p:nvPr/>
        </p:nvSpPr>
        <p:spPr>
          <a:xfrm>
            <a:off x="763121" y="1060085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IS1</a:t>
            </a:r>
          </a:p>
        </p:txBody>
      </p:sp>
    </p:spTree>
    <p:extLst>
      <p:ext uri="{BB962C8B-B14F-4D97-AF65-F5344CB8AC3E}">
        <p14:creationId xmlns:p14="http://schemas.microsoft.com/office/powerpoint/2010/main" val="3167234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96D1FE-B8EF-2B22-039C-6611A817CF65}"/>
              </a:ext>
            </a:extLst>
          </p:cNvPr>
          <p:cNvSpPr/>
          <p:nvPr/>
        </p:nvSpPr>
        <p:spPr>
          <a:xfrm>
            <a:off x="3529524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9262F-8820-D3DC-8768-FC82E8CAD9EC}"/>
              </a:ext>
            </a:extLst>
          </p:cNvPr>
          <p:cNvSpPr/>
          <p:nvPr/>
        </p:nvSpPr>
        <p:spPr>
          <a:xfrm>
            <a:off x="5392390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43EC9-91A1-6197-FEC4-8959D901CE8F}"/>
              </a:ext>
            </a:extLst>
          </p:cNvPr>
          <p:cNvSpPr/>
          <p:nvPr/>
        </p:nvSpPr>
        <p:spPr>
          <a:xfrm>
            <a:off x="7255256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C51C3F-477E-074F-EEB3-1CFF040669FC}"/>
              </a:ext>
            </a:extLst>
          </p:cNvPr>
          <p:cNvCxnSpPr>
            <a:cxnSpLocks/>
          </p:cNvCxnSpPr>
          <p:nvPr/>
        </p:nvCxnSpPr>
        <p:spPr>
          <a:xfrm>
            <a:off x="4645631" y="599734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A6EE4D6-B38B-8BF2-B32B-6E8D03D346E2}"/>
              </a:ext>
            </a:extLst>
          </p:cNvPr>
          <p:cNvCxnSpPr>
            <a:cxnSpLocks/>
          </p:cNvCxnSpPr>
          <p:nvPr/>
        </p:nvCxnSpPr>
        <p:spPr>
          <a:xfrm>
            <a:off x="6515669" y="577323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7E79F5-24F2-1DB3-44DB-445C38257C40}"/>
              </a:ext>
            </a:extLst>
          </p:cNvPr>
          <p:cNvCxnSpPr>
            <a:cxnSpLocks/>
          </p:cNvCxnSpPr>
          <p:nvPr/>
        </p:nvCxnSpPr>
        <p:spPr>
          <a:xfrm>
            <a:off x="8215376" y="536983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0B84B72-4AD6-7F6C-B8EF-F4430E96B54B}"/>
              </a:ext>
            </a:extLst>
          </p:cNvPr>
          <p:cNvCxnSpPr>
            <a:cxnSpLocks/>
          </p:cNvCxnSpPr>
          <p:nvPr/>
        </p:nvCxnSpPr>
        <p:spPr>
          <a:xfrm>
            <a:off x="2899305" y="536983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3864F0-85EF-74CB-753E-41E9F46EE846}"/>
              </a:ext>
            </a:extLst>
          </p:cNvPr>
          <p:cNvCxnSpPr>
            <a:cxnSpLocks/>
          </p:cNvCxnSpPr>
          <p:nvPr/>
        </p:nvCxnSpPr>
        <p:spPr>
          <a:xfrm flipH="1" flipV="1">
            <a:off x="2828709" y="106141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54C93D-27A7-1C3D-4311-6C6455DBAD31}"/>
              </a:ext>
            </a:extLst>
          </p:cNvPr>
          <p:cNvCxnSpPr>
            <a:cxnSpLocks/>
          </p:cNvCxnSpPr>
          <p:nvPr/>
        </p:nvCxnSpPr>
        <p:spPr>
          <a:xfrm flipH="1">
            <a:off x="4483820" y="1000904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FB2548-C3E6-1521-B0C9-2B717147FA65}"/>
              </a:ext>
            </a:extLst>
          </p:cNvPr>
          <p:cNvCxnSpPr>
            <a:cxnSpLocks/>
          </p:cNvCxnSpPr>
          <p:nvPr/>
        </p:nvCxnSpPr>
        <p:spPr>
          <a:xfrm flipH="1">
            <a:off x="6419296" y="972442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B58453-C9CE-8032-A033-738A02396DB5}"/>
              </a:ext>
            </a:extLst>
          </p:cNvPr>
          <p:cNvCxnSpPr>
            <a:cxnSpLocks/>
          </p:cNvCxnSpPr>
          <p:nvPr/>
        </p:nvCxnSpPr>
        <p:spPr>
          <a:xfrm flipH="1">
            <a:off x="8215376" y="932103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CF6C9E-5762-252A-05B5-9248A593D936}"/>
              </a:ext>
            </a:extLst>
          </p:cNvPr>
          <p:cNvGrpSpPr/>
          <p:nvPr/>
        </p:nvGrpSpPr>
        <p:grpSpPr>
          <a:xfrm>
            <a:off x="780942" y="205286"/>
            <a:ext cx="10397271" cy="1105348"/>
            <a:chOff x="577322" y="1118345"/>
            <a:chExt cx="10397271" cy="110534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51F85-FEE8-A428-EB5C-E4F3BF9486C2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D06581-9C37-8996-1951-6F6239F2C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826909-77AC-D47F-BB50-5859FB7AB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390FF81-6FB8-0984-F89A-CA653BDF56F6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5FE706-D399-731A-4C8D-273366E13C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6B2D99-28C7-1FD1-CCE4-B0CBF9483C14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D1C5ABF-2ACA-D2FF-C68B-68375E231A98}"/>
              </a:ext>
            </a:extLst>
          </p:cNvPr>
          <p:cNvSpPr/>
          <p:nvPr/>
        </p:nvSpPr>
        <p:spPr>
          <a:xfrm>
            <a:off x="5537946" y="5583723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3A690520-A54D-9099-9E24-D057C6363687}"/>
              </a:ext>
            </a:extLst>
          </p:cNvPr>
          <p:cNvSpPr/>
          <p:nvPr/>
        </p:nvSpPr>
        <p:spPr>
          <a:xfrm>
            <a:off x="4461284" y="3720861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ABED6E5-ACDF-99F7-A574-8486BE0CEA4B}"/>
              </a:ext>
            </a:extLst>
          </p:cNvPr>
          <p:cNvCxnSpPr>
            <a:cxnSpLocks/>
          </p:cNvCxnSpPr>
          <p:nvPr/>
        </p:nvCxnSpPr>
        <p:spPr>
          <a:xfrm>
            <a:off x="4640131" y="5867601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F7B9CF4-BFD0-3C0D-4B2C-BA0172ED5C36}"/>
              </a:ext>
            </a:extLst>
          </p:cNvPr>
          <p:cNvCxnSpPr>
            <a:cxnSpLocks/>
          </p:cNvCxnSpPr>
          <p:nvPr/>
        </p:nvCxnSpPr>
        <p:spPr>
          <a:xfrm>
            <a:off x="6669185" y="5915420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5C6211-E4F4-18F4-CAB6-ED3BCAD0C0CC}"/>
              </a:ext>
            </a:extLst>
          </p:cNvPr>
          <p:cNvCxnSpPr>
            <a:cxnSpLocks/>
          </p:cNvCxnSpPr>
          <p:nvPr/>
        </p:nvCxnSpPr>
        <p:spPr>
          <a:xfrm flipH="1">
            <a:off x="4640131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B9ECE0-F8EA-295F-35BC-3F0E8630584C}"/>
              </a:ext>
            </a:extLst>
          </p:cNvPr>
          <p:cNvCxnSpPr>
            <a:cxnSpLocks/>
          </p:cNvCxnSpPr>
          <p:nvPr/>
        </p:nvCxnSpPr>
        <p:spPr>
          <a:xfrm flipH="1">
            <a:off x="6516893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19AA79-856C-BA72-DB42-11AC0DC8F324}"/>
              </a:ext>
            </a:extLst>
          </p:cNvPr>
          <p:cNvCxnSpPr>
            <a:cxnSpLocks/>
          </p:cNvCxnSpPr>
          <p:nvPr/>
        </p:nvCxnSpPr>
        <p:spPr>
          <a:xfrm flipV="1">
            <a:off x="4899209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52AC88F-4D53-DC34-8202-5C3E15DDE923}"/>
              </a:ext>
            </a:extLst>
          </p:cNvPr>
          <p:cNvCxnSpPr>
            <a:cxnSpLocks/>
          </p:cNvCxnSpPr>
          <p:nvPr/>
        </p:nvCxnSpPr>
        <p:spPr>
          <a:xfrm>
            <a:off x="5304414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7081F89-96DF-3D04-3BCB-88CEA7BAF40F}"/>
              </a:ext>
            </a:extLst>
          </p:cNvPr>
          <p:cNvCxnSpPr>
            <a:cxnSpLocks/>
          </p:cNvCxnSpPr>
          <p:nvPr/>
        </p:nvCxnSpPr>
        <p:spPr>
          <a:xfrm flipV="1">
            <a:off x="5723962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B31DE4-EE19-9217-B6FF-4F18FD8902C6}"/>
              </a:ext>
            </a:extLst>
          </p:cNvPr>
          <p:cNvCxnSpPr>
            <a:cxnSpLocks/>
          </p:cNvCxnSpPr>
          <p:nvPr/>
        </p:nvCxnSpPr>
        <p:spPr>
          <a:xfrm>
            <a:off x="6129167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6616B9-FE81-EE2C-1D77-AD2CF0134BCB}"/>
              </a:ext>
            </a:extLst>
          </p:cNvPr>
          <p:cNvCxnSpPr>
            <a:cxnSpLocks/>
          </p:cNvCxnSpPr>
          <p:nvPr/>
        </p:nvCxnSpPr>
        <p:spPr>
          <a:xfrm flipV="1">
            <a:off x="6557680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C2613-49C5-6877-C6ED-7C715701E6E8}"/>
              </a:ext>
            </a:extLst>
          </p:cNvPr>
          <p:cNvCxnSpPr>
            <a:cxnSpLocks/>
          </p:cNvCxnSpPr>
          <p:nvPr/>
        </p:nvCxnSpPr>
        <p:spPr>
          <a:xfrm>
            <a:off x="6962885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FCACF21-5D2A-E770-97AC-9F10C1C8B3FF}"/>
              </a:ext>
            </a:extLst>
          </p:cNvPr>
          <p:cNvCxnSpPr>
            <a:cxnSpLocks/>
          </p:cNvCxnSpPr>
          <p:nvPr/>
        </p:nvCxnSpPr>
        <p:spPr>
          <a:xfrm flipV="1">
            <a:off x="5875575" y="4669929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9E26D5-D9A1-2D2F-AF43-D3E708E24048}"/>
              </a:ext>
            </a:extLst>
          </p:cNvPr>
          <p:cNvCxnSpPr>
            <a:cxnSpLocks/>
          </p:cNvCxnSpPr>
          <p:nvPr/>
        </p:nvCxnSpPr>
        <p:spPr>
          <a:xfrm>
            <a:off x="6280780" y="4810072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804F07E-3B09-276D-BDC7-649380F6EEF2}"/>
              </a:ext>
            </a:extLst>
          </p:cNvPr>
          <p:cNvGrpSpPr/>
          <p:nvPr/>
        </p:nvGrpSpPr>
        <p:grpSpPr>
          <a:xfrm>
            <a:off x="4532107" y="1711803"/>
            <a:ext cx="2968886" cy="1160841"/>
            <a:chOff x="8138500" y="1242050"/>
            <a:chExt cx="3079377" cy="1606479"/>
          </a:xfrm>
        </p:grpSpPr>
        <p:sp>
          <p:nvSpPr>
            <p:cNvPr id="42" name="Trapezoid 41">
              <a:extLst>
                <a:ext uri="{FF2B5EF4-FFF2-40B4-BE49-F238E27FC236}">
                  <a16:creationId xmlns:a16="http://schemas.microsoft.com/office/drawing/2014/main" id="{B62E7C18-09C9-1ACB-2147-C2C5011AA195}"/>
                </a:ext>
              </a:extLst>
            </p:cNvPr>
            <p:cNvSpPr/>
            <p:nvPr/>
          </p:nvSpPr>
          <p:spPr>
            <a:xfrm>
              <a:off x="8138500" y="1759317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25F548D-AF54-8C70-F95F-F53289B50E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425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4191DAE-14DF-BB6F-C912-8C0534C94E2A}"/>
                </a:ext>
              </a:extLst>
            </p:cNvPr>
            <p:cNvCxnSpPr>
              <a:cxnSpLocks/>
            </p:cNvCxnSpPr>
            <p:nvPr/>
          </p:nvCxnSpPr>
          <p:spPr>
            <a:xfrm>
              <a:off x="8981630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2D256F5-533D-7BD7-8F25-DBF33092A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1178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522C49D-A6B7-CC43-2882-C7B84096EE44}"/>
                </a:ext>
              </a:extLst>
            </p:cNvPr>
            <p:cNvCxnSpPr>
              <a:cxnSpLocks/>
            </p:cNvCxnSpPr>
            <p:nvPr/>
          </p:nvCxnSpPr>
          <p:spPr>
            <a:xfrm>
              <a:off x="9806383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DC951B0-CBB2-7F16-9C94-0DD18814E3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4896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8835B69-42BA-FEFF-3B62-A3BBA251C7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40101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Double Brace 51">
            <a:extLst>
              <a:ext uri="{FF2B5EF4-FFF2-40B4-BE49-F238E27FC236}">
                <a16:creationId xmlns:a16="http://schemas.microsoft.com/office/drawing/2014/main" id="{047448C8-FE96-E1E5-F217-A932E49CCC6B}"/>
              </a:ext>
            </a:extLst>
          </p:cNvPr>
          <p:cNvSpPr/>
          <p:nvPr/>
        </p:nvSpPr>
        <p:spPr>
          <a:xfrm>
            <a:off x="3859992" y="1711779"/>
            <a:ext cx="4372191" cy="3401267"/>
          </a:xfrm>
          <a:prstGeom prst="bracePair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82E21B-DFD0-CE41-DD82-7682A7CB0391}"/>
              </a:ext>
            </a:extLst>
          </p:cNvPr>
          <p:cNvSpPr txBox="1"/>
          <p:nvPr/>
        </p:nvSpPr>
        <p:spPr>
          <a:xfrm>
            <a:off x="8904298" y="2655965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B0EADC6-1159-188A-302A-627BA531C9A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7840739" y="2634410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/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blipFill>
                <a:blip r:embed="rId2"/>
                <a:stretch>
                  <a:fillRect r="-4696" b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87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E643E2-9FA5-9381-6562-E22F85231D94}"/>
              </a:ext>
            </a:extLst>
          </p:cNvPr>
          <p:cNvSpPr txBox="1"/>
          <p:nvPr/>
        </p:nvSpPr>
        <p:spPr>
          <a:xfrm>
            <a:off x="242045" y="1100888"/>
            <a:ext cx="106097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C00000"/>
                </a:solidFill>
                <a:latin typeface="Christmas Chalk" panose="02000500000000000000" pitchFamily="2" charset="0"/>
              </a:rPr>
              <a:t>Is there any problem with the proof that we presented?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D70E6-38A2-6C23-C307-9A1433E35441}"/>
              </a:ext>
            </a:extLst>
          </p:cNvPr>
          <p:cNvSpPr txBox="1"/>
          <p:nvPr/>
        </p:nvSpPr>
        <p:spPr>
          <a:xfrm>
            <a:off x="623770" y="3429000"/>
            <a:ext cx="339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We are assuming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/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Z</m:t>
                      </m:r>
                    </m:oMath>
                  </m:oMathPara>
                </a14:m>
                <a:endParaRPr lang="en-US" sz="4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blipFill>
                <a:blip r:embed="rId2"/>
                <a:stretch>
                  <a:fillRect l="-8621" r="-9483" b="-23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86FDF9-CB0C-022D-A0BB-FA69C68D8EE8}"/>
              </a:ext>
            </a:extLst>
          </p:cNvPr>
          <p:cNvSpPr txBox="1"/>
          <p:nvPr/>
        </p:nvSpPr>
        <p:spPr>
          <a:xfrm>
            <a:off x="5681863" y="3368947"/>
            <a:ext cx="2523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is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38265950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63DA14-5255-5A85-14CB-ACCE29200D22}"/>
              </a:ext>
            </a:extLst>
          </p:cNvPr>
          <p:cNvSpPr txBox="1"/>
          <p:nvPr/>
        </p:nvSpPr>
        <p:spPr>
          <a:xfrm>
            <a:off x="206188" y="1102658"/>
            <a:ext cx="117796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We let </a:t>
            </a:r>
            <a:r>
              <a:rPr lang="en-US" sz="3200" b="1" dirty="0">
                <a:solidFill>
                  <a:srgbClr val="FF0000"/>
                </a:solidFill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Pro</a:t>
            </a:r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 be the set of simple and composed protocols in which all simple parties follow the rules for clocked entities and are recursive in polytime.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/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32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blipFill>
                <a:blip r:embed="rId2"/>
                <a:stretch>
                  <a:fillRect l="-671" t="-24528" r="-6711" b="-30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/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blipFill>
                <a:blip r:embed="rId3"/>
                <a:stretch>
                  <a:fillRect l="-763" t="-26087" r="-610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/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blipFill>
                <a:blip r:embed="rId4"/>
                <a:stretch>
                  <a:fillRect l="-526" t="-23913" r="-473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/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 ⊥</m:t>
                      </m:r>
                    </m:oMath>
                  </m:oMathPara>
                </a14:m>
                <a:endParaRPr lang="en-US" sz="4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blipFill>
                <a:blip r:embed="rId5"/>
                <a:stretch>
                  <a:fillRect l="-645" t="-29545" r="-2581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4ED067-780C-DDC5-6265-0EA948FB6314}"/>
              </a:ext>
            </a:extLst>
          </p:cNvPr>
          <p:cNvSpPr txBox="1"/>
          <p:nvPr/>
        </p:nvSpPr>
        <p:spPr>
          <a:xfrm>
            <a:off x="206188" y="3429000"/>
            <a:ext cx="360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If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2B6C2-EB63-3E54-D7BE-EFC88604AFB1}"/>
              </a:ext>
            </a:extLst>
          </p:cNvPr>
          <p:cNvSpPr txBox="1"/>
          <p:nvPr/>
        </p:nvSpPr>
        <p:spPr>
          <a:xfrm>
            <a:off x="2408802" y="3408593"/>
            <a:ext cx="9783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the name F and resource name R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7BDB4-9D6E-624D-8771-1D9052825504}"/>
              </a:ext>
            </a:extLst>
          </p:cNvPr>
          <p:cNvSpPr txBox="1"/>
          <p:nvPr/>
        </p:nvSpPr>
        <p:spPr>
          <a:xfrm>
            <a:off x="206188" y="4091794"/>
            <a:ext cx="10246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And  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496-0993-3A09-C6F7-326A839C202E}"/>
              </a:ext>
            </a:extLst>
          </p:cNvPr>
          <p:cNvSpPr txBox="1"/>
          <p:nvPr/>
        </p:nvSpPr>
        <p:spPr>
          <a:xfrm>
            <a:off x="2693927" y="4028782"/>
            <a:ext cx="7391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protocol name R and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98881-9D09-C419-5718-86A5B0146096}"/>
              </a:ext>
            </a:extLst>
          </p:cNvPr>
          <p:cNvSpPr txBox="1"/>
          <p:nvPr/>
        </p:nvSpPr>
        <p:spPr>
          <a:xfrm>
            <a:off x="7898102" y="4756089"/>
            <a:ext cx="1529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ristmas Chalk" panose="02000500000000000000" pitchFamily="2" charset="0"/>
              </a:rPr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3044629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49DB2-7CED-8500-8446-87BA455F3E41}"/>
              </a:ext>
            </a:extLst>
          </p:cNvPr>
          <p:cNvSpPr txBox="1"/>
          <p:nvPr/>
        </p:nvSpPr>
        <p:spPr>
          <a:xfrm>
            <a:off x="419664" y="5800313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 T has two open special ports that connect it to the ideal functionality ports of S and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/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/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>
                    <a:latin typeface="Christmas Chalk" panose="02000500000000000000" pitchFamily="2" charset="0"/>
                  </a:rPr>
                  <a:t>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∈ </m:t>
                    </m:r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Sim</m:t>
                    </m:r>
                  </m:oMath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blipFill>
                <a:blip r:embed="rId3"/>
                <a:stretch>
                  <a:fillRect l="-4444"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/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≠⊥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blipFill>
                <a:blip r:embed="rId4"/>
                <a:stretch>
                  <a:fillRect l="-10169" t="-16667" r="-508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/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blipFill>
                <a:blip r:embed="rId5"/>
                <a:stretch>
                  <a:fillRect l="-6818" t="-43478" r="-6818" b="-5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1C4FD4E-F671-9DCA-1AB4-F3BC7B64A0A4}"/>
              </a:ext>
            </a:extLst>
          </p:cNvPr>
          <p:cNvSpPr txBox="1"/>
          <p:nvPr/>
        </p:nvSpPr>
        <p:spPr>
          <a:xfrm>
            <a:off x="105489" y="538215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17B9F-FF2F-8A18-774F-081C863C535A}"/>
              </a:ext>
            </a:extLst>
          </p:cNvPr>
          <p:cNvSpPr txBox="1"/>
          <p:nvPr/>
        </p:nvSpPr>
        <p:spPr>
          <a:xfrm>
            <a:off x="1416002" y="5371637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7B9E3C-E544-A282-936A-5AD25C720CA1}"/>
              </a:ext>
            </a:extLst>
          </p:cNvPr>
          <p:cNvSpPr txBox="1"/>
          <p:nvPr/>
        </p:nvSpPr>
        <p:spPr>
          <a:xfrm>
            <a:off x="9604006" y="6392300"/>
            <a:ext cx="8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then: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250467-B47B-A570-F0CA-4EA55F712B1D}"/>
              </a:ext>
            </a:extLst>
          </p:cNvPr>
          <p:cNvSpPr txBox="1"/>
          <p:nvPr/>
        </p:nvSpPr>
        <p:spPr>
          <a:xfrm>
            <a:off x="183478" y="1248069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let SIM be the set of interactive systems S that are a simulator for some protocol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79EEF-1EE0-D6DA-AEF7-A6CBABDF868F}"/>
              </a:ext>
            </a:extLst>
          </p:cNvPr>
          <p:cNvSpPr txBox="1"/>
          <p:nvPr/>
        </p:nvSpPr>
        <p:spPr>
          <a:xfrm>
            <a:off x="372794" y="3560649"/>
            <a:ext cx="3041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clock preserving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E650F-C8D3-EB36-5F57-347BBE9B3ADE}"/>
              </a:ext>
            </a:extLst>
          </p:cNvPr>
          <p:cNvSpPr txBox="1"/>
          <p:nvPr/>
        </p:nvSpPr>
        <p:spPr>
          <a:xfrm>
            <a:off x="372794" y="3126194"/>
            <a:ext cx="3472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corruption preserving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24DA1-7A88-CDFA-032A-9ECFEC888816}"/>
              </a:ext>
            </a:extLst>
          </p:cNvPr>
          <p:cNvSpPr txBox="1"/>
          <p:nvPr/>
        </p:nvSpPr>
        <p:spPr>
          <a:xfrm>
            <a:off x="372793" y="2708034"/>
            <a:ext cx="8931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follows the rules for clocked entities and is recursive polytime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57DEA-3A43-0524-4504-ECFB765AAFA6}"/>
              </a:ext>
            </a:extLst>
          </p:cNvPr>
          <p:cNvSpPr txBox="1"/>
          <p:nvPr/>
        </p:nvSpPr>
        <p:spPr>
          <a:xfrm>
            <a:off x="372793" y="1848152"/>
            <a:ext cx="304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There exists a protocol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/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681EF82-75A4-57A6-49E5-2174DC1BC0A8}"/>
              </a:ext>
            </a:extLst>
          </p:cNvPr>
          <p:cNvSpPr txBox="1"/>
          <p:nvPr/>
        </p:nvSpPr>
        <p:spPr>
          <a:xfrm>
            <a:off x="3615270" y="1874984"/>
            <a:ext cx="8501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(composed or simple) with protocol name F and an ideal functionality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/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blipFill>
                <a:blip r:embed="rId7"/>
                <a:stretch>
                  <a:fillRect t="-4545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/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729B33F-4066-CC78-5397-E8F71CABC131}"/>
              </a:ext>
            </a:extLst>
          </p:cNvPr>
          <p:cNvSpPr txBox="1"/>
          <p:nvPr/>
        </p:nvSpPr>
        <p:spPr>
          <a:xfrm>
            <a:off x="8444753" y="230129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have the same special ports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62A3F1-E0AF-48ED-C0AE-649723BE8BBD}"/>
              </a:ext>
            </a:extLst>
          </p:cNvPr>
          <p:cNvSpPr txBox="1"/>
          <p:nvPr/>
        </p:nvSpPr>
        <p:spPr>
          <a:xfrm>
            <a:off x="4492166" y="229245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With the name F such that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CE052B-B50B-FAF7-D1A2-CDCBA6A0D3E5}"/>
              </a:ext>
            </a:extLst>
          </p:cNvPr>
          <p:cNvSpPr/>
          <p:nvPr/>
        </p:nvSpPr>
        <p:spPr>
          <a:xfrm>
            <a:off x="183478" y="900953"/>
            <a:ext cx="12008522" cy="33886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ACFDE0D-DBF0-F781-3A2E-3428711BD196}"/>
              </a:ext>
            </a:extLst>
          </p:cNvPr>
          <p:cNvSpPr/>
          <p:nvPr/>
        </p:nvSpPr>
        <p:spPr>
          <a:xfrm>
            <a:off x="91739" y="5176133"/>
            <a:ext cx="12008522" cy="15618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124F40-0FC0-E2C4-770D-C2A14AB70E41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49044F-DF6E-A830-A7D2-A103A20C70A6}"/>
              </a:ext>
            </a:extLst>
          </p:cNvPr>
          <p:cNvSpPr txBox="1"/>
          <p:nvPr/>
        </p:nvSpPr>
        <p:spPr>
          <a:xfrm rot="20179600">
            <a:off x="4441137" y="4832132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7623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869-6A69-CD90-0357-CA63004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B40659B-92BF-22D8-2A88-CFC55FA66B40}"/>
              </a:ext>
            </a:extLst>
          </p:cNvPr>
          <p:cNvSpPr txBox="1"/>
          <p:nvPr/>
        </p:nvSpPr>
        <p:spPr>
          <a:xfrm>
            <a:off x="370895" y="1426835"/>
            <a:ext cx="822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say that ENV is an environment class if the following hold true: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9E321-C3EA-799F-A0B6-9D7FB41DFA8D}"/>
              </a:ext>
            </a:extLst>
          </p:cNvPr>
          <p:cNvSpPr txBox="1"/>
          <p:nvPr/>
        </p:nvSpPr>
        <p:spPr>
          <a:xfrm>
            <a:off x="702958" y="2120541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Each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CEC4C-5D61-10FB-E831-88648719608F}"/>
              </a:ext>
            </a:extLst>
          </p:cNvPr>
          <p:cNvSpPr txBox="1"/>
          <p:nvPr/>
        </p:nvSpPr>
        <p:spPr>
          <a:xfrm>
            <a:off x="2396684" y="2129312"/>
            <a:ext cx="8999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has the open port structure of the environment for some simple or complex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/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blipFill>
                <a:blip r:embed="rId2"/>
                <a:stretch>
                  <a:fillRect l="-8642" t="-25714" r="-12346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75FF864-324B-9D1E-88AB-CDB10BE9794D}"/>
              </a:ext>
            </a:extLst>
          </p:cNvPr>
          <p:cNvSpPr txBox="1"/>
          <p:nvPr/>
        </p:nvSpPr>
        <p:spPr>
          <a:xfrm>
            <a:off x="702958" y="2975450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/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blipFill>
                <a:blip r:embed="rId3"/>
                <a:stretch>
                  <a:fillRect l="-8000" t="-25714" r="-13333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1C64B85-1B2E-ADE9-981C-C877F5022D13}"/>
              </a:ext>
            </a:extLst>
          </p:cNvPr>
          <p:cNvSpPr txBox="1"/>
          <p:nvPr/>
        </p:nvSpPr>
        <p:spPr>
          <a:xfrm>
            <a:off x="2396685" y="2975450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/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Pro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blipFill>
                <a:blip r:embed="rId4"/>
                <a:stretch>
                  <a:fillRect l="-7500" t="-29412" r="-13750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/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blipFill>
                <a:blip r:embed="rId5"/>
                <a:stretch>
                  <a:fillRect l="-7000" t="-25714" r="-11000" b="-4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881BEC2-E1B3-E1DC-21DD-F6FA056991A6}"/>
              </a:ext>
            </a:extLst>
          </p:cNvPr>
          <p:cNvSpPr txBox="1"/>
          <p:nvPr/>
        </p:nvSpPr>
        <p:spPr>
          <a:xfrm>
            <a:off x="6136342" y="2964574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protocol ports of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75113-4C71-C674-A5AC-4A229E5DDD1A}"/>
              </a:ext>
            </a:extLst>
          </p:cNvPr>
          <p:cNvSpPr txBox="1"/>
          <p:nvPr/>
        </p:nvSpPr>
        <p:spPr>
          <a:xfrm>
            <a:off x="7564510" y="3407793"/>
            <a:ext cx="3950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protocol ports of  Z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C0A25-F914-0C0E-560D-1D6EF0F3B8D3}"/>
              </a:ext>
            </a:extLst>
          </p:cNvPr>
          <p:cNvSpPr txBox="1"/>
          <p:nvPr/>
        </p:nvSpPr>
        <p:spPr>
          <a:xfrm>
            <a:off x="7612992" y="3883399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/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blipFill>
                <a:blip r:embed="rId6"/>
                <a:stretch>
                  <a:fillRect l="-5660" t="-25714" r="-9434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BB05E8BF-5C62-C73F-F0A0-A4606175213D}"/>
              </a:ext>
            </a:extLst>
          </p:cNvPr>
          <p:cNvSpPr txBox="1"/>
          <p:nvPr/>
        </p:nvSpPr>
        <p:spPr>
          <a:xfrm>
            <a:off x="4193890" y="2966613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/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blipFill>
                <a:blip r:embed="rId7"/>
                <a:stretch>
                  <a:fillRect l="-22222" t="-2857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F79F286-31AE-6046-6E3C-8B5CDFB3DBC6}"/>
              </a:ext>
            </a:extLst>
          </p:cNvPr>
          <p:cNvSpPr txBox="1"/>
          <p:nvPr/>
        </p:nvSpPr>
        <p:spPr>
          <a:xfrm>
            <a:off x="885592" y="4672939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/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blipFill>
                <a:blip r:embed="rId8"/>
                <a:stretch>
                  <a:fillRect l="-9459" t="-26471" r="-13514" b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ADE156C-CBFE-7137-D0E2-0C2C1B7E8DE5}"/>
              </a:ext>
            </a:extLst>
          </p:cNvPr>
          <p:cNvSpPr txBox="1"/>
          <p:nvPr/>
        </p:nvSpPr>
        <p:spPr>
          <a:xfrm>
            <a:off x="2579319" y="4672939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/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Sim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blipFill>
                <a:blip r:embed="rId9"/>
                <a:stretch>
                  <a:fillRect l="-9859" t="-25714" r="-14085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/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blipFill>
                <a:blip r:embed="rId10"/>
                <a:stretch>
                  <a:fillRect l="-7527" t="-29412" r="-10753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EF8212-3808-0B7F-1E7B-C05816BAC376}"/>
              </a:ext>
            </a:extLst>
          </p:cNvPr>
          <p:cNvSpPr txBox="1"/>
          <p:nvPr/>
        </p:nvSpPr>
        <p:spPr>
          <a:xfrm>
            <a:off x="6318976" y="4662063"/>
            <a:ext cx="3241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simulation ports of 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2D24A4-D9C4-7EB9-A9D8-F3EF8DE2DEC5}"/>
              </a:ext>
            </a:extLst>
          </p:cNvPr>
          <p:cNvSpPr txBox="1"/>
          <p:nvPr/>
        </p:nvSpPr>
        <p:spPr>
          <a:xfrm>
            <a:off x="7747144" y="5105282"/>
            <a:ext cx="3810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special ports of  Z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20061C-2433-0552-E461-9373E94460F3}"/>
              </a:ext>
            </a:extLst>
          </p:cNvPr>
          <p:cNvSpPr txBox="1"/>
          <p:nvPr/>
        </p:nvSpPr>
        <p:spPr>
          <a:xfrm>
            <a:off x="7795626" y="5580888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/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blipFill>
                <a:blip r:embed="rId11"/>
                <a:stretch>
                  <a:fillRect l="-7216" t="-25714" r="-10309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2692E089-A5F4-331F-AD8F-B55D3E1372E7}"/>
              </a:ext>
            </a:extLst>
          </p:cNvPr>
          <p:cNvSpPr txBox="1"/>
          <p:nvPr/>
        </p:nvSpPr>
        <p:spPr>
          <a:xfrm>
            <a:off x="4376524" y="4664102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01C84-85AB-1DA3-B201-87AF17B11047}"/>
              </a:ext>
            </a:extLst>
          </p:cNvPr>
          <p:cNvSpPr txBox="1"/>
          <p:nvPr/>
        </p:nvSpPr>
        <p:spPr>
          <a:xfrm>
            <a:off x="9262228" y="4684109"/>
            <a:ext cx="8976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B9CA098-8150-C784-B8E4-CFCE2E500B6C}"/>
              </a:ext>
            </a:extLst>
          </p:cNvPr>
          <p:cNvSpPr/>
          <p:nvPr/>
        </p:nvSpPr>
        <p:spPr>
          <a:xfrm>
            <a:off x="188260" y="682603"/>
            <a:ext cx="11658599" cy="588981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E120FB-765A-DD34-9481-B187C36C7B92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36145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22786D-B580-C810-FDD4-A20FFD951FCC}"/>
              </a:ext>
            </a:extLst>
          </p:cNvPr>
          <p:cNvSpPr txBox="1"/>
          <p:nvPr/>
        </p:nvSpPr>
        <p:spPr>
          <a:xfrm>
            <a:off x="640529" y="192993"/>
            <a:ext cx="594585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 (on Board)</a:t>
            </a:r>
          </a:p>
        </p:txBody>
      </p:sp>
    </p:spTree>
    <p:extLst>
      <p:ext uri="{BB962C8B-B14F-4D97-AF65-F5344CB8AC3E}">
        <p14:creationId xmlns:p14="http://schemas.microsoft.com/office/powerpoint/2010/main" val="29947319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5B8EF7-77D9-D892-D9B4-4447D6BF4F95}"/>
              </a:ext>
            </a:extLst>
          </p:cNvPr>
          <p:cNvSpPr txBox="1"/>
          <p:nvPr/>
        </p:nvSpPr>
        <p:spPr>
          <a:xfrm>
            <a:off x="512616" y="1690254"/>
            <a:ext cx="1075112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Revision of Chapter 4 on Saturday, 10:30 AM, KD 101</a:t>
            </a:r>
          </a:p>
          <a:p>
            <a:r>
              <a:rPr lang="en-US" sz="3600" dirty="0"/>
              <a:t>(This is optional; no new material)</a:t>
            </a:r>
          </a:p>
          <a:p>
            <a:endParaRPr lang="en-US" sz="3600" dirty="0"/>
          </a:p>
          <a:p>
            <a:r>
              <a:rPr lang="en-US" sz="3600" dirty="0"/>
              <a:t>Quiz 2 will be on Tuesday, 7-April-2026, Syllabus: Chapter 4</a:t>
            </a:r>
          </a:p>
        </p:txBody>
      </p:sp>
    </p:spTree>
    <p:extLst>
      <p:ext uri="{BB962C8B-B14F-4D97-AF65-F5344CB8AC3E}">
        <p14:creationId xmlns:p14="http://schemas.microsoft.com/office/powerpoint/2010/main" val="2698153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61F60-2EE3-4C42-CDA1-05195F9EE69D}"/>
              </a:ext>
            </a:extLst>
          </p:cNvPr>
          <p:cNvSpPr txBox="1"/>
          <p:nvPr/>
        </p:nvSpPr>
        <p:spPr>
          <a:xfrm>
            <a:off x="632012" y="692757"/>
            <a:ext cx="83551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Adversaries and Their Powers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90CA7-0BF7-0264-8E4B-33B3D0EE739D}"/>
              </a:ext>
            </a:extLst>
          </p:cNvPr>
          <p:cNvSpPr txBox="1"/>
          <p:nvPr/>
        </p:nvSpPr>
        <p:spPr>
          <a:xfrm>
            <a:off x="1580763" y="2354751"/>
            <a:ext cx="34275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3D0BD-F1C9-61C4-BD64-585C2BEBDD42}"/>
              </a:ext>
            </a:extLst>
          </p:cNvPr>
          <p:cNvSpPr txBox="1"/>
          <p:nvPr/>
        </p:nvSpPr>
        <p:spPr>
          <a:xfrm>
            <a:off x="1493598" y="3185748"/>
            <a:ext cx="6649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A8135-F9BA-A115-E6F8-9A229F7A5884}"/>
              </a:ext>
            </a:extLst>
          </p:cNvPr>
          <p:cNvSpPr txBox="1"/>
          <p:nvPr/>
        </p:nvSpPr>
        <p:spPr>
          <a:xfrm>
            <a:off x="1493598" y="3928729"/>
            <a:ext cx="65053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Active Security vs. Passive Security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C1EF-25EB-81CE-246B-5DF39771CC37}"/>
              </a:ext>
            </a:extLst>
          </p:cNvPr>
          <p:cNvSpPr txBox="1"/>
          <p:nvPr/>
        </p:nvSpPr>
        <p:spPr>
          <a:xfrm>
            <a:off x="1493598" y="4775542"/>
            <a:ext cx="87863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Unconditional Security vs. Computational Security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00CA46-E8DC-0FA4-A2C4-062DCF79BC57}"/>
              </a:ext>
            </a:extLst>
          </p:cNvPr>
          <p:cNvSpPr txBox="1"/>
          <p:nvPr/>
        </p:nvSpPr>
        <p:spPr>
          <a:xfrm>
            <a:off x="1493598" y="5639592"/>
            <a:ext cx="5718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Synchronous vs.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368844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9D1F0-BA02-E570-EE2E-0ED9ED3C3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8610DD-5FA9-8B47-0E34-9190BB926E35}"/>
              </a:ext>
            </a:extLst>
          </p:cNvPr>
          <p:cNvSpPr txBox="1"/>
          <p:nvPr/>
        </p:nvSpPr>
        <p:spPr>
          <a:xfrm>
            <a:off x="383974" y="1373116"/>
            <a:ext cx="61302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F190B-6BBB-BBCD-030E-20BC5D567FC5}"/>
              </a:ext>
            </a:extLst>
          </p:cNvPr>
          <p:cNvSpPr txBox="1"/>
          <p:nvPr/>
        </p:nvSpPr>
        <p:spPr>
          <a:xfrm>
            <a:off x="383974" y="2948562"/>
            <a:ext cx="3677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Remember the CEPS Protocol: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A6B74F-98D4-600B-8A13-8A54DFD79733}"/>
              </a:ext>
            </a:extLst>
          </p:cNvPr>
          <p:cNvSpPr txBox="1"/>
          <p:nvPr/>
        </p:nvSpPr>
        <p:spPr>
          <a:xfrm>
            <a:off x="871264" y="3825806"/>
            <a:ext cx="37305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6102D-4D4A-4851-F5F0-6C2FFFA19F80}"/>
              </a:ext>
            </a:extLst>
          </p:cNvPr>
          <p:cNvSpPr txBox="1"/>
          <p:nvPr/>
        </p:nvSpPr>
        <p:spPr>
          <a:xfrm>
            <a:off x="5926598" y="3805425"/>
            <a:ext cx="2300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parties.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93E9A-D9B4-48DC-6327-E4CAFE08A314}"/>
              </a:ext>
            </a:extLst>
          </p:cNvPr>
          <p:cNvSpPr txBox="1"/>
          <p:nvPr/>
        </p:nvSpPr>
        <p:spPr>
          <a:xfrm>
            <a:off x="4706179" y="3825806"/>
            <a:ext cx="1116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Chalk Board" panose="02000500000000000000" pitchFamily="2" charset="0"/>
              </a:rPr>
              <a:t>t &lt; n/2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28216-21F3-2066-F6E4-FE1C535A0912}"/>
              </a:ext>
            </a:extLst>
          </p:cNvPr>
          <p:cNvSpPr txBox="1"/>
          <p:nvPr/>
        </p:nvSpPr>
        <p:spPr>
          <a:xfrm>
            <a:off x="871264" y="4539313"/>
            <a:ext cx="39629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This is called Threshold Security!</a:t>
            </a:r>
          </a:p>
        </p:txBody>
      </p:sp>
    </p:spTree>
    <p:extLst>
      <p:ext uri="{BB962C8B-B14F-4D97-AF65-F5344CB8AC3E}">
        <p14:creationId xmlns:p14="http://schemas.microsoft.com/office/powerpoint/2010/main" val="20773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D152-B16C-485C-47BA-4DA6E884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DED98E-2A39-2D1D-7EE5-F8FD2F6C6A3F}"/>
              </a:ext>
            </a:extLst>
          </p:cNvPr>
          <p:cNvSpPr txBox="1"/>
          <p:nvPr/>
        </p:nvSpPr>
        <p:spPr>
          <a:xfrm>
            <a:off x="579198" y="953536"/>
            <a:ext cx="98796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380BC1-D9E5-129B-AC44-EE8965895EB6}"/>
              </a:ext>
            </a:extLst>
          </p:cNvPr>
          <p:cNvSpPr txBox="1"/>
          <p:nvPr/>
        </p:nvSpPr>
        <p:spPr>
          <a:xfrm>
            <a:off x="712694" y="2339788"/>
            <a:ext cx="45854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whenever they desire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09E0B-AE5B-16AE-A5B7-63BB048346FC}"/>
              </a:ext>
            </a:extLst>
          </p:cNvPr>
          <p:cNvSpPr txBox="1"/>
          <p:nvPr/>
        </p:nvSpPr>
        <p:spPr>
          <a:xfrm>
            <a:off x="6217023" y="2339787"/>
            <a:ext cx="4585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before the protocol begins</a:t>
            </a:r>
          </a:p>
        </p:txBody>
      </p:sp>
    </p:spTree>
    <p:extLst>
      <p:ext uri="{BB962C8B-B14F-4D97-AF65-F5344CB8AC3E}">
        <p14:creationId xmlns:p14="http://schemas.microsoft.com/office/powerpoint/2010/main" val="161705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0620FA-E9F6-024E-5414-02EB302F4C8D}"/>
              </a:ext>
            </a:extLst>
          </p:cNvPr>
          <p:cNvSpPr txBox="1"/>
          <p:nvPr/>
        </p:nvSpPr>
        <p:spPr>
          <a:xfrm>
            <a:off x="464457" y="899886"/>
            <a:ext cx="42755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Regular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/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8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blipFill>
                <a:blip r:embed="rId2"/>
                <a:stretch>
                  <a:fillRect l="-1914" t="-10458" r="-5981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F3EEB5A-6654-7C84-2A6E-BCCB1EBDC9BA}"/>
              </a:ext>
            </a:extLst>
          </p:cNvPr>
          <p:cNvSpPr txBox="1"/>
          <p:nvPr/>
        </p:nvSpPr>
        <p:spPr>
          <a:xfrm>
            <a:off x="1607457" y="4063224"/>
            <a:ext cx="76787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C00000"/>
                </a:solidFill>
                <a:latin typeface="Chalk Board" panose="02000500000000000000" pitchFamily="2" charset="0"/>
              </a:rPr>
              <a:t>c</a:t>
            </a:r>
            <a:r>
              <a:rPr lang="en-US" sz="6000" dirty="0">
                <a:latin typeface="Chalk Board" panose="02000500000000000000" pitchFamily="2" charset="0"/>
              </a:rPr>
              <a:t> is bound to a unique message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70385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BDB45-7F22-9C69-18BB-EF7378C3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/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blipFill>
                <a:blip r:embed="rId2"/>
                <a:stretch>
                  <a:fillRect l="-2236" t="-10435" r="-6070" b="-3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C08A41-6284-4387-2E7F-E86AEEC77217}"/>
              </a:ext>
            </a:extLst>
          </p:cNvPr>
          <p:cNvSpPr txBox="1"/>
          <p:nvPr/>
        </p:nvSpPr>
        <p:spPr>
          <a:xfrm>
            <a:off x="261906" y="2254371"/>
            <a:ext cx="49922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fake public key pk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A5D47-C4B2-7245-0C84-EBD7EB82041F}"/>
              </a:ext>
            </a:extLst>
          </p:cNvPr>
          <p:cNvSpPr txBox="1"/>
          <p:nvPr/>
        </p:nvSpPr>
        <p:spPr>
          <a:xfrm>
            <a:off x="306199" y="3188416"/>
            <a:ext cx="84168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ciphertext c </a:t>
            </a:r>
            <a:r>
              <a:rPr lang="en-US" sz="4000" i="1" dirty="0">
                <a:latin typeface="Chalk Board" panose="02000500000000000000" pitchFamily="2" charset="0"/>
              </a:rPr>
              <a:t>without knowing the message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1B1D9E-6E0E-FB36-2974-34B16457C4C7}"/>
              </a:ext>
            </a:extLst>
          </p:cNvPr>
          <p:cNvSpPr txBox="1"/>
          <p:nvPr/>
        </p:nvSpPr>
        <p:spPr>
          <a:xfrm>
            <a:off x="306199" y="4122461"/>
            <a:ext cx="110570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Later, when given any message m, produce randomness r such that: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32C9F9-C5CA-C36C-B66F-DA2E7869DF6A}"/>
              </a:ext>
            </a:extLst>
          </p:cNvPr>
          <p:cNvSpPr txBox="1"/>
          <p:nvPr/>
        </p:nvSpPr>
        <p:spPr>
          <a:xfrm>
            <a:off x="464457" y="899886"/>
            <a:ext cx="6006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Non-Committing Encryption</a:t>
            </a:r>
          </a:p>
        </p:txBody>
      </p:sp>
    </p:spTree>
    <p:extLst>
      <p:ext uri="{BB962C8B-B14F-4D97-AF65-F5344CB8AC3E}">
        <p14:creationId xmlns:p14="http://schemas.microsoft.com/office/powerpoint/2010/main" val="1759131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25F206-CB6E-DBF6-B49D-F6AC36895DB4}"/>
              </a:ext>
            </a:extLst>
          </p:cNvPr>
          <p:cNvSpPr/>
          <p:nvPr/>
        </p:nvSpPr>
        <p:spPr>
          <a:xfrm>
            <a:off x="5247060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34A3D-CA5E-CD7F-E3FA-224BCB07956A}"/>
              </a:ext>
            </a:extLst>
          </p:cNvPr>
          <p:cNvSpPr/>
          <p:nvPr/>
        </p:nvSpPr>
        <p:spPr>
          <a:xfrm>
            <a:off x="3543766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06410E-5D4B-19CC-856F-9C80F9471E53}"/>
              </a:ext>
            </a:extLst>
          </p:cNvPr>
          <p:cNvSpPr/>
          <p:nvPr/>
        </p:nvSpPr>
        <p:spPr>
          <a:xfrm>
            <a:off x="6950354" y="1340425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949836-ABE0-1F85-276F-4673B7A16D12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0C1F325C-E657-D34E-80F2-CE992F33FB9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C85E4-7BF6-E4A1-D750-0C59D25666D7}"/>
              </a:ext>
            </a:extLst>
          </p:cNvPr>
          <p:cNvCxnSpPr/>
          <p:nvPr/>
        </p:nvCxnSpPr>
        <p:spPr>
          <a:xfrm>
            <a:off x="2533769" y="5815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B9B6AD-00B6-A049-B9A5-8A7370CE8A95}"/>
              </a:ext>
            </a:extLst>
          </p:cNvPr>
          <p:cNvCxnSpPr/>
          <p:nvPr/>
        </p:nvCxnSpPr>
        <p:spPr>
          <a:xfrm>
            <a:off x="9288675" y="572582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85F328-378D-4167-05EF-73C4F63B2BCC}"/>
              </a:ext>
            </a:extLst>
          </p:cNvPr>
          <p:cNvCxnSpPr>
            <a:cxnSpLocks/>
          </p:cNvCxnSpPr>
          <p:nvPr/>
        </p:nvCxnSpPr>
        <p:spPr>
          <a:xfrm flipH="1">
            <a:off x="2661514" y="729466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E80844-ABDD-8EAF-6EAA-494B8015446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1E02FD-4731-AE22-B0A0-6E55382C1331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011BB1-6B92-157C-25FF-84838EBA314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5730DEB-FDA4-D977-7A18-F31996B0E822}"/>
              </a:ext>
            </a:extLst>
          </p:cNvPr>
          <p:cNvSpPr txBox="1"/>
          <p:nvPr/>
        </p:nvSpPr>
        <p:spPr>
          <a:xfrm>
            <a:off x="5444296" y="1536012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FFFFEC-5B46-CAA5-8E74-0ED9CAB7A832}"/>
              </a:ext>
            </a:extLst>
          </p:cNvPr>
          <p:cNvSpPr txBox="1"/>
          <p:nvPr/>
        </p:nvSpPr>
        <p:spPr>
          <a:xfrm>
            <a:off x="3790668" y="161295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0BFB52-492F-A36A-1F7B-6AFA544F0A45}"/>
              </a:ext>
            </a:extLst>
          </p:cNvPr>
          <p:cNvSpPr txBox="1"/>
          <p:nvPr/>
        </p:nvSpPr>
        <p:spPr>
          <a:xfrm>
            <a:off x="7220592" y="16389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002903-BEF9-12F5-B115-C008C7FF2E72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CD586-E9DA-0FB5-4D9E-D2C04D58C853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E7B144-AFF5-7F4E-B028-024F6058A66F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6CCD56-FB89-C679-641B-6F1F8F513211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E72B96-0D47-F877-80C4-63711C7AC2ED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9DDF61-F053-DFB8-FC54-D269EFBE9923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B76FD4-B2AE-1C06-6BAB-BC40FEFE9CCA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D06E1D-0420-66F2-BD19-D216DB83359F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E50E305-89FE-D818-4A19-94849F55BB56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89ED56-E046-868B-5A00-C0166D86611E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9206417-E0D7-E571-B48C-70BBF88EE23A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E12A22-07B5-B49C-1E26-0ABF197387D3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56D545D-AD40-36A0-2147-BE1577CA4D2E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048BEDA-3CEF-4A6D-63AD-5AF4FAE28861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C26AD9-501C-AE43-0FAB-5BA0AE468FF6}"/>
              </a:ext>
            </a:extLst>
          </p:cNvPr>
          <p:cNvCxnSpPr>
            <a:cxnSpLocks/>
          </p:cNvCxnSpPr>
          <p:nvPr/>
        </p:nvCxnSpPr>
        <p:spPr>
          <a:xfrm flipV="1">
            <a:off x="3863573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42C4221-E50B-2047-FAFD-9BD64DB52A47}"/>
              </a:ext>
            </a:extLst>
          </p:cNvPr>
          <p:cNvCxnSpPr>
            <a:cxnSpLocks/>
          </p:cNvCxnSpPr>
          <p:nvPr/>
        </p:nvCxnSpPr>
        <p:spPr>
          <a:xfrm>
            <a:off x="4150444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1EE3C7-913E-B1FD-E78B-76DF16CAAD58}"/>
              </a:ext>
            </a:extLst>
          </p:cNvPr>
          <p:cNvCxnSpPr>
            <a:cxnSpLocks/>
          </p:cNvCxnSpPr>
          <p:nvPr/>
        </p:nvCxnSpPr>
        <p:spPr>
          <a:xfrm flipV="1">
            <a:off x="5621002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E13A5A-54C7-371A-B3D5-A85AA1510884}"/>
              </a:ext>
            </a:extLst>
          </p:cNvPr>
          <p:cNvCxnSpPr>
            <a:cxnSpLocks/>
          </p:cNvCxnSpPr>
          <p:nvPr/>
        </p:nvCxnSpPr>
        <p:spPr>
          <a:xfrm>
            <a:off x="5907873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36A160-B4D2-7AA9-8B74-9F0F631EA1F4}"/>
              </a:ext>
            </a:extLst>
          </p:cNvPr>
          <p:cNvCxnSpPr>
            <a:cxnSpLocks/>
          </p:cNvCxnSpPr>
          <p:nvPr/>
        </p:nvCxnSpPr>
        <p:spPr>
          <a:xfrm flipV="1">
            <a:off x="7340365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F93DC3E-0945-DB20-9C28-73F9E385AED9}"/>
              </a:ext>
            </a:extLst>
          </p:cNvPr>
          <p:cNvCxnSpPr>
            <a:cxnSpLocks/>
          </p:cNvCxnSpPr>
          <p:nvPr/>
        </p:nvCxnSpPr>
        <p:spPr>
          <a:xfrm>
            <a:off x="7627236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30AE4D-9DCE-EFF0-A205-4F77F84599AF}"/>
              </a:ext>
            </a:extLst>
          </p:cNvPr>
          <p:cNvCxnSpPr>
            <a:cxnSpLocks/>
          </p:cNvCxnSpPr>
          <p:nvPr/>
        </p:nvCxnSpPr>
        <p:spPr>
          <a:xfrm>
            <a:off x="2669461" y="1660418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D76D6E-25A8-343E-09FA-CCCD42DDD383}"/>
              </a:ext>
            </a:extLst>
          </p:cNvPr>
          <p:cNvCxnSpPr>
            <a:cxnSpLocks/>
          </p:cNvCxnSpPr>
          <p:nvPr/>
        </p:nvCxnSpPr>
        <p:spPr>
          <a:xfrm flipH="1" flipV="1">
            <a:off x="2632281" y="2019334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825AE4-9B4A-EA3B-9CA8-787E73CD9BFB}"/>
              </a:ext>
            </a:extLst>
          </p:cNvPr>
          <p:cNvCxnSpPr>
            <a:cxnSpLocks/>
          </p:cNvCxnSpPr>
          <p:nvPr/>
        </p:nvCxnSpPr>
        <p:spPr>
          <a:xfrm>
            <a:off x="4381607" y="162337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135281-D03C-DFDC-6800-B437BB284482}"/>
              </a:ext>
            </a:extLst>
          </p:cNvPr>
          <p:cNvCxnSpPr>
            <a:cxnSpLocks/>
          </p:cNvCxnSpPr>
          <p:nvPr/>
        </p:nvCxnSpPr>
        <p:spPr>
          <a:xfrm flipH="1" flipV="1">
            <a:off x="4344427" y="198228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2E9697-0CCD-F73A-D7BB-92F510BDF88E}"/>
              </a:ext>
            </a:extLst>
          </p:cNvPr>
          <p:cNvCxnSpPr>
            <a:cxnSpLocks/>
          </p:cNvCxnSpPr>
          <p:nvPr/>
        </p:nvCxnSpPr>
        <p:spPr>
          <a:xfrm>
            <a:off x="6082380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D400E0-0E51-7CD9-E708-0461536D0ED0}"/>
              </a:ext>
            </a:extLst>
          </p:cNvPr>
          <p:cNvCxnSpPr>
            <a:cxnSpLocks/>
          </p:cNvCxnSpPr>
          <p:nvPr/>
        </p:nvCxnSpPr>
        <p:spPr>
          <a:xfrm flipH="1" flipV="1">
            <a:off x="6045200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C0A5E5B-880A-2FF1-1CDE-4D13E62EF29A}"/>
              </a:ext>
            </a:extLst>
          </p:cNvPr>
          <p:cNvCxnSpPr>
            <a:cxnSpLocks/>
          </p:cNvCxnSpPr>
          <p:nvPr/>
        </p:nvCxnSpPr>
        <p:spPr>
          <a:xfrm>
            <a:off x="7955699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0E86E11-083F-AEE7-8A7E-A5AD6902D8D0}"/>
              </a:ext>
            </a:extLst>
          </p:cNvPr>
          <p:cNvCxnSpPr>
            <a:cxnSpLocks/>
          </p:cNvCxnSpPr>
          <p:nvPr/>
        </p:nvCxnSpPr>
        <p:spPr>
          <a:xfrm flipH="1" flipV="1">
            <a:off x="7918519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4645CC6-164D-EC31-AB20-60CA508754AD}"/>
              </a:ext>
            </a:extLst>
          </p:cNvPr>
          <p:cNvSpPr txBox="1"/>
          <p:nvPr/>
        </p:nvSpPr>
        <p:spPr>
          <a:xfrm>
            <a:off x="10564004" y="1234009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B5CCBF-8EA0-416F-10E2-B6EC2C572BE3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9500445" y="1212454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23BAD3-9F56-3DAF-5AC1-3719E6ADDE0E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68EEC82-AE3D-83C7-6204-219676C9587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222C1AE-46B1-576E-576F-BC04F1582249}"/>
              </a:ext>
            </a:extLst>
          </p:cNvPr>
          <p:cNvSpPr txBox="1"/>
          <p:nvPr/>
        </p:nvSpPr>
        <p:spPr>
          <a:xfrm rot="20463174">
            <a:off x="673839" y="412248"/>
            <a:ext cx="203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305379A-AECB-9A06-377A-F54D02904020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2657994" y="265822"/>
            <a:ext cx="1435831" cy="79420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4DF2FFE-5E71-B184-B6D4-78CFF5232F02}"/>
              </a:ext>
            </a:extLst>
          </p:cNvPr>
          <p:cNvSpPr txBox="1"/>
          <p:nvPr/>
        </p:nvSpPr>
        <p:spPr>
          <a:xfrm>
            <a:off x="7203587" y="6029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5C7E0D-10EE-08CA-DF0C-9E4C706DDDBC}"/>
              </a:ext>
            </a:extLst>
          </p:cNvPr>
          <p:cNvCxnSpPr>
            <a:cxnSpLocks/>
          </p:cNvCxnSpPr>
          <p:nvPr/>
        </p:nvCxnSpPr>
        <p:spPr>
          <a:xfrm flipH="1">
            <a:off x="5913035" y="346658"/>
            <a:ext cx="1815585" cy="78622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DC412D-BD37-9F96-8C9E-A5530861ABF6}"/>
              </a:ext>
            </a:extLst>
          </p:cNvPr>
          <p:cNvCxnSpPr>
            <a:cxnSpLocks/>
          </p:cNvCxnSpPr>
          <p:nvPr/>
        </p:nvCxnSpPr>
        <p:spPr>
          <a:xfrm flipH="1">
            <a:off x="5726682" y="3580714"/>
            <a:ext cx="1779805" cy="176157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ABE3010-C1F8-E72E-CD7E-C7886DBF0610}"/>
              </a:ext>
            </a:extLst>
          </p:cNvPr>
          <p:cNvSpPr txBox="1"/>
          <p:nvPr/>
        </p:nvSpPr>
        <p:spPr>
          <a:xfrm>
            <a:off x="6324281" y="3200593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</p:spTree>
    <p:extLst>
      <p:ext uri="{BB962C8B-B14F-4D97-AF65-F5344CB8AC3E}">
        <p14:creationId xmlns:p14="http://schemas.microsoft.com/office/powerpoint/2010/main" val="423736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5" grpId="0"/>
      <p:bldP spid="6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1750F-621B-0CA5-4EAB-69CB7183FED4}"/>
              </a:ext>
            </a:extLst>
          </p:cNvPr>
          <p:cNvSpPr txBox="1"/>
          <p:nvPr/>
        </p:nvSpPr>
        <p:spPr>
          <a:xfrm>
            <a:off x="348463" y="1117672"/>
            <a:ext cx="3517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 is now allowed to send: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9B549-2C93-65E0-8693-FB5971A548C8}"/>
              </a:ext>
            </a:extLst>
          </p:cNvPr>
          <p:cNvSpPr txBox="1"/>
          <p:nvPr/>
        </p:nvSpPr>
        <p:spPr>
          <a:xfrm>
            <a:off x="3755701" y="1176453"/>
            <a:ext cx="2607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(send, 1, 2, mid, m')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482E0-BDFB-4253-DA79-4EAD68B9D665}"/>
              </a:ext>
            </a:extLst>
          </p:cNvPr>
          <p:cNvSpPr txBox="1"/>
          <p:nvPr/>
        </p:nvSpPr>
        <p:spPr>
          <a:xfrm>
            <a:off x="6363531" y="1080249"/>
            <a:ext cx="3090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3600" dirty="0">
                <a:latin typeface="American Typewriter" panose="02090604020004020304" pitchFamily="18" charset="77"/>
              </a:rPr>
              <a:t> </a:t>
            </a:r>
            <a:r>
              <a:rPr lang="en-US" sz="3600" dirty="0">
                <a:latin typeface="Chalk Board" panose="02000500000000000000" pitchFamily="2" charset="0"/>
              </a:rPr>
              <a:t>at any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FE2F1B-7EA1-B2E4-0814-A96675D08F2D}"/>
              </a:ext>
            </a:extLst>
          </p:cNvPr>
          <p:cNvSpPr txBox="1"/>
          <p:nvPr/>
        </p:nvSpPr>
        <p:spPr>
          <a:xfrm>
            <a:off x="348463" y="2113180"/>
            <a:ext cx="1840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In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/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blipFill>
                <a:blip r:embed="rId2"/>
                <a:stretch>
                  <a:fillRect l="-25532" r="-212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55198B5-BC90-1AC8-71C9-CE7350CAF425}"/>
              </a:ext>
            </a:extLst>
          </p:cNvPr>
          <p:cNvSpPr txBox="1"/>
          <p:nvPr/>
        </p:nvSpPr>
        <p:spPr>
          <a:xfrm>
            <a:off x="3124476" y="2168129"/>
            <a:ext cx="1218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stores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B3DF2-4C74-FE9B-5416-1067B1D82524}"/>
              </a:ext>
            </a:extLst>
          </p:cNvPr>
          <p:cNvSpPr txBox="1"/>
          <p:nvPr/>
        </p:nvSpPr>
        <p:spPr>
          <a:xfrm>
            <a:off x="4251149" y="2274763"/>
            <a:ext cx="1661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(mid, 1, 2 m')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CE54-357A-2529-1FE1-34420353CE69}"/>
              </a:ext>
            </a:extLst>
          </p:cNvPr>
          <p:cNvSpPr txBox="1"/>
          <p:nvPr/>
        </p:nvSpPr>
        <p:spPr>
          <a:xfrm>
            <a:off x="6055612" y="2151039"/>
            <a:ext cx="38781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if it came from </a:t>
            </a:r>
            <a:r>
              <a:rPr lang="en-US" sz="2000" dirty="0">
                <a:latin typeface="American Typewriter" panose="02090604020004020304" pitchFamily="18" charset="77"/>
              </a:rPr>
              <a:t>ST.in1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6DBED-3474-8CB1-09AA-40E5566CE54C}"/>
              </a:ext>
            </a:extLst>
          </p:cNvPr>
          <p:cNvSpPr txBox="1"/>
          <p:nvPr/>
        </p:nvSpPr>
        <p:spPr>
          <a:xfrm>
            <a:off x="348463" y="2902434"/>
            <a:ext cx="6495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Then, S can send </a:t>
            </a:r>
            <a:r>
              <a:rPr lang="en-US" sz="2000" dirty="0">
                <a:latin typeface="American Typewriter" panose="02090604020004020304" pitchFamily="18" charset="77"/>
              </a:rPr>
              <a:t>(deliver, mid, 1, 2)</a:t>
            </a:r>
            <a:r>
              <a:rPr lang="en-US" sz="4000" dirty="0">
                <a:latin typeface="Chalk Board" panose="02000500000000000000" pitchFamily="2" charset="0"/>
              </a:rPr>
              <a:t> 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2000" dirty="0">
                <a:latin typeface="American Typewriter" panose="02090604020004020304" pitchFamily="18" charset="77"/>
              </a:rPr>
              <a:t>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AB7C9-95FA-2975-E611-B99087567439}"/>
              </a:ext>
            </a:extLst>
          </p:cNvPr>
          <p:cNvGrpSpPr/>
          <p:nvPr/>
        </p:nvGrpSpPr>
        <p:grpSpPr>
          <a:xfrm>
            <a:off x="430376" y="3817030"/>
            <a:ext cx="2568860" cy="707886"/>
            <a:chOff x="430376" y="3817030"/>
            <a:chExt cx="2568860" cy="70788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D95850-E819-FFFB-E4D0-1CDC0440CEC2}"/>
                </a:ext>
              </a:extLst>
            </p:cNvPr>
            <p:cNvSpPr txBox="1"/>
            <p:nvPr/>
          </p:nvSpPr>
          <p:spPr>
            <a:xfrm>
              <a:off x="430376" y="3817030"/>
              <a:ext cx="184056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Chalk Board" panose="02000500000000000000" pitchFamily="2" charset="0"/>
                </a:rPr>
                <a:t>In response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/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3256" r="-20930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788D99C-9BE6-DC5C-516A-91E277023F54}"/>
              </a:ext>
            </a:extLst>
          </p:cNvPr>
          <p:cNvSpPr txBox="1"/>
          <p:nvPr/>
        </p:nvSpPr>
        <p:spPr>
          <a:xfrm>
            <a:off x="3206389" y="3839261"/>
            <a:ext cx="422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outputs </a:t>
            </a:r>
            <a:r>
              <a:rPr lang="en-US" sz="2000" dirty="0">
                <a:latin typeface="American Typewriter" panose="02090604020004020304" pitchFamily="18" charset="77"/>
              </a:rPr>
              <a:t>(mid, 1, m’) </a:t>
            </a:r>
            <a:r>
              <a:rPr lang="en-US" sz="4000" dirty="0">
                <a:latin typeface="Chalk Board" panose="02000500000000000000" pitchFamily="2" charset="0"/>
              </a:rPr>
              <a:t>on </a:t>
            </a:r>
            <a:r>
              <a:rPr lang="en-US" sz="2000" dirty="0">
                <a:latin typeface="American Typewriter" panose="02090604020004020304" pitchFamily="18" charset="77"/>
              </a:rPr>
              <a:t>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0C4761-64CA-02EB-B8DE-81682A2D5390}"/>
              </a:ext>
            </a:extLst>
          </p:cNvPr>
          <p:cNvSpPr txBox="1"/>
          <p:nvPr/>
        </p:nvSpPr>
        <p:spPr>
          <a:xfrm>
            <a:off x="348463" y="4786174"/>
            <a:ext cx="941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Thus, S can output any message of his choice on </a:t>
            </a:r>
            <a:r>
              <a:rPr lang="en-US" sz="2000" dirty="0">
                <a:latin typeface="American Typewriter" panose="02090604020004020304" pitchFamily="18" charset="77"/>
              </a:rPr>
              <a:t>ST.out1/ST.out2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828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1" grpId="0"/>
      <p:bldP spid="14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8EA2B8-4692-1F04-1E91-16F655A9241C}"/>
              </a:ext>
            </a:extLst>
          </p:cNvPr>
          <p:cNvSpPr txBox="1"/>
          <p:nvPr/>
        </p:nvSpPr>
        <p:spPr>
          <a:xfrm>
            <a:off x="348463" y="1117672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So, how will the Simulation work?</a:t>
            </a:r>
          </a:p>
        </p:txBody>
      </p:sp>
    </p:spTree>
    <p:extLst>
      <p:ext uri="{BB962C8B-B14F-4D97-AF65-F5344CB8AC3E}">
        <p14:creationId xmlns:p14="http://schemas.microsoft.com/office/powerpoint/2010/main" val="4099387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0745AB-0EE7-FDC2-EB58-283F5C6B03A7}"/>
              </a:ext>
            </a:extLst>
          </p:cNvPr>
          <p:cNvSpPr txBox="1"/>
          <p:nvPr/>
        </p:nvSpPr>
        <p:spPr>
          <a:xfrm>
            <a:off x="348463" y="1117672"/>
            <a:ext cx="3581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if P2 is corrupted?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094C7E-68E8-AFC9-4032-9C98124E7EB8}"/>
              </a:ext>
            </a:extLst>
          </p:cNvPr>
          <p:cNvGrpSpPr/>
          <p:nvPr/>
        </p:nvGrpSpPr>
        <p:grpSpPr>
          <a:xfrm>
            <a:off x="348463" y="2144131"/>
            <a:ext cx="10793752" cy="1284869"/>
            <a:chOff x="348463" y="2144131"/>
            <a:chExt cx="10793752" cy="128486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6B172D-902D-212E-B383-D5E3B1ADE481}"/>
                </a:ext>
              </a:extLst>
            </p:cNvPr>
            <p:cNvSpPr txBox="1"/>
            <p:nvPr/>
          </p:nvSpPr>
          <p:spPr>
            <a:xfrm>
              <a:off x="348463" y="2144131"/>
              <a:ext cx="84770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Whenever S is activated, it checks whether it received some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AA12EA3-F353-813E-3BC5-5F7DA2578947}"/>
                </a:ext>
              </a:extLst>
            </p:cNvPr>
            <p:cNvSpPr txBox="1"/>
            <p:nvPr/>
          </p:nvSpPr>
          <p:spPr>
            <a:xfrm>
              <a:off x="8650431" y="2144131"/>
              <a:ext cx="21028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merican Typewriter" panose="02090604020004020304" pitchFamily="18" charset="77"/>
                </a:rPr>
                <a:t>(mid, 1, 2, |m|)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D6320A-2AB8-1E58-B628-DF6F7E00CACE}"/>
                </a:ext>
              </a:extLst>
            </p:cNvPr>
            <p:cNvSpPr txBox="1"/>
            <p:nvPr/>
          </p:nvSpPr>
          <p:spPr>
            <a:xfrm>
              <a:off x="9537288" y="2782669"/>
              <a:ext cx="16049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5C44F19-9BA7-F2B2-2CED-DB7F25841980}"/>
              </a:ext>
            </a:extLst>
          </p:cNvPr>
          <p:cNvSpPr txBox="1"/>
          <p:nvPr/>
        </p:nvSpPr>
        <p:spPr>
          <a:xfrm>
            <a:off x="348463" y="3744373"/>
            <a:ext cx="5679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If yes: It inputs (deliver, mid, 1,2) on </a:t>
            </a:r>
            <a:r>
              <a:rPr lang="en-US" sz="3600" dirty="0" err="1">
                <a:latin typeface="Chalk Board" panose="02000500000000000000" pitchFamily="2" charset="0"/>
              </a:rPr>
              <a:t>ST.infl</a:t>
            </a:r>
            <a:r>
              <a:rPr lang="en-US" sz="3600" dirty="0">
                <a:latin typeface="Chalk Board" panose="02000500000000000000" pitchFamily="2" charset="0"/>
              </a:rPr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C4D6BD-B1C4-56ED-F21C-5EBF112B674B}"/>
              </a:ext>
            </a:extLst>
          </p:cNvPr>
          <p:cNvGrpSpPr/>
          <p:nvPr/>
        </p:nvGrpSpPr>
        <p:grpSpPr>
          <a:xfrm>
            <a:off x="348462" y="4596020"/>
            <a:ext cx="6993632" cy="646331"/>
            <a:chOff x="348462" y="4596020"/>
            <a:chExt cx="6993632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6D831CF-4B06-9BD8-DB27-AFE2CA8DD7A3}"/>
                </a:ext>
              </a:extLst>
            </p:cNvPr>
            <p:cNvSpPr txBox="1"/>
            <p:nvPr/>
          </p:nvSpPr>
          <p:spPr>
            <a:xfrm>
              <a:off x="348462" y="4596020"/>
              <a:ext cx="17907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In response,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/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blipFill>
                  <a:blip r:embed="rId2"/>
                  <a:stretch>
                    <a:fillRect l="-26190" r="-21429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C1C862-A130-CA97-8FCE-F1BEEB301967}"/>
                </a:ext>
              </a:extLst>
            </p:cNvPr>
            <p:cNvSpPr txBox="1"/>
            <p:nvPr/>
          </p:nvSpPr>
          <p:spPr>
            <a:xfrm>
              <a:off x="2796248" y="4596020"/>
              <a:ext cx="45458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outputs (mid, 1, m) 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! 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5BDE739-D01F-D787-4879-29E5B35D833E}"/>
              </a:ext>
            </a:extLst>
          </p:cNvPr>
          <p:cNvSpPr txBox="1"/>
          <p:nvPr/>
        </p:nvSpPr>
        <p:spPr>
          <a:xfrm>
            <a:off x="3728157" y="5485134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8373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3ACF1F-C231-02CE-92D0-356A91CE6850}"/>
              </a:ext>
            </a:extLst>
          </p:cNvPr>
          <p:cNvSpPr txBox="1"/>
          <p:nvPr/>
        </p:nvSpPr>
        <p:spPr>
          <a:xfrm>
            <a:off x="258754" y="874467"/>
            <a:ext cx="106863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argument here was straightforward because we considered only two parties.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1B993-C078-D181-5F15-BF33B2BAC8BA}"/>
              </a:ext>
            </a:extLst>
          </p:cNvPr>
          <p:cNvSpPr txBox="1"/>
          <p:nvPr/>
        </p:nvSpPr>
        <p:spPr>
          <a:xfrm>
            <a:off x="258754" y="2767280"/>
            <a:ext cx="7638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What can go wrong in a three-party setting?</a:t>
            </a:r>
          </a:p>
        </p:txBody>
      </p:sp>
    </p:spTree>
    <p:extLst>
      <p:ext uri="{BB962C8B-B14F-4D97-AF65-F5344CB8AC3E}">
        <p14:creationId xmlns:p14="http://schemas.microsoft.com/office/powerpoint/2010/main" val="3387908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A2F3EA-0E64-AD65-7155-9D9029D849C1}"/>
              </a:ext>
            </a:extLst>
          </p:cNvPr>
          <p:cNvSpPr txBox="1"/>
          <p:nvPr/>
        </p:nvSpPr>
        <p:spPr>
          <a:xfrm>
            <a:off x="955961" y="163730"/>
            <a:ext cx="112360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Setting: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P1​: Sender</a:t>
            </a: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P2​: Receiver (corrupted/controlled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by adversary Z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P3​: Honest party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7E14A-E994-56FA-AD61-A1FC90025BAA}"/>
              </a:ext>
            </a:extLst>
          </p:cNvPr>
          <p:cNvSpPr txBox="1"/>
          <p:nvPr/>
        </p:nvSpPr>
        <p:spPr>
          <a:xfrm>
            <a:off x="831269" y="2890391"/>
            <a:ext cx="1123603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Adversary’s Goal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The environment Z tries to create a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 execution history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.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It makes P2 output: (mid,3,m′)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Interpreted as: “P2P received message m′ from P3​”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4661E-0EE8-E22C-DE38-3DCC4C8DE587}"/>
              </a:ext>
            </a:extLst>
          </p:cNvPr>
          <p:cNvSpPr txBox="1"/>
          <p:nvPr/>
        </p:nvSpPr>
        <p:spPr>
          <a:xfrm>
            <a:off x="831269" y="5124610"/>
            <a:ext cx="1123603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in Reality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P3​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never sent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any such message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No corresponding input:(mid,2,m′) on ST.in3(mid,2,m′) on ST.in3​</a:t>
            </a:r>
          </a:p>
        </p:txBody>
      </p:sp>
    </p:spTree>
    <p:extLst>
      <p:ext uri="{BB962C8B-B14F-4D97-AF65-F5344CB8AC3E}">
        <p14:creationId xmlns:p14="http://schemas.microsoft.com/office/powerpoint/2010/main" val="179240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E4E928-4C63-FA22-8940-DF9822BD581D}"/>
              </a:ext>
            </a:extLst>
          </p:cNvPr>
          <p:cNvSpPr txBox="1"/>
          <p:nvPr/>
        </p:nvSpPr>
        <p:spPr>
          <a:xfrm>
            <a:off x="678872" y="4671859"/>
            <a:ext cx="90104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Conclusion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Real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Fake message appears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Such a message cannot be generated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0227-AC64-CEFA-08DB-FD54EC83AFF6}"/>
              </a:ext>
            </a:extLst>
          </p:cNvPr>
          <p:cNvSpPr txBox="1"/>
          <p:nvPr/>
        </p:nvSpPr>
        <p:spPr>
          <a:xfrm>
            <a:off x="678872" y="279599"/>
            <a:ext cx="102800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Why This Breaks Simulation</a:t>
            </a:r>
          </a:p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functionality FST​ enforces: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message from P3​ can be delivered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only if P3​ actually sent it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8E92E-5879-2F9F-4C36-74F6F78DAEAA}"/>
              </a:ext>
            </a:extLst>
          </p:cNvPr>
          <p:cNvSpPr txBox="1"/>
          <p:nvPr/>
        </p:nvSpPr>
        <p:spPr>
          <a:xfrm>
            <a:off x="554181" y="2475729"/>
            <a:ext cx="148671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Simulator’s Problem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To match the real-world view, the simulator must make: FST→(mid,3,m)</a:t>
            </a:r>
            <a:endParaRPr lang="en-US" sz="3200" dirty="0">
              <a:solidFill>
                <a:srgbClr val="000000"/>
              </a:solidFill>
              <a:latin typeface="Chalk Board" panose="02000500000000000000" pitchFamily="2" charset="0"/>
            </a:endParaRP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this is impossible because FST​ never received input from P3P3​</a:t>
            </a:r>
          </a:p>
        </p:txBody>
      </p:sp>
    </p:spTree>
    <p:extLst>
      <p:ext uri="{BB962C8B-B14F-4D97-AF65-F5344CB8AC3E}">
        <p14:creationId xmlns:p14="http://schemas.microsoft.com/office/powerpoint/2010/main" val="11320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1CF9F6-25AF-4F47-6BC4-C57D7EAA4AD0}"/>
              </a:ext>
            </a:extLst>
          </p:cNvPr>
          <p:cNvSpPr txBox="1"/>
          <p:nvPr/>
        </p:nvSpPr>
        <p:spPr>
          <a:xfrm>
            <a:off x="1094509" y="3407935"/>
            <a:ext cx="79940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Authenticated communication</a:t>
            </a:r>
            <a:b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</a:br>
            <a: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(i.e., messages cannot be forged as coming from another party)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95ABA-C4CE-015B-DCFA-A1EF3075058E}"/>
              </a:ext>
            </a:extLst>
          </p:cNvPr>
          <p:cNvSpPr txBox="1"/>
          <p:nvPr/>
        </p:nvSpPr>
        <p:spPr>
          <a:xfrm>
            <a:off x="1094509" y="1789653"/>
            <a:ext cx="76061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800" b="1" i="0" u="none" strike="noStrike" dirty="0">
                <a:solidFill>
                  <a:srgbClr val="C00000"/>
                </a:solidFill>
                <a:effectLst/>
                <a:latin typeface="Chalk Board" panose="02000500000000000000" pitchFamily="2" charset="0"/>
              </a:rPr>
              <a:t>How is this attack prevented?</a:t>
            </a:r>
            <a:endParaRPr lang="en-US" sz="4800" b="0" i="0" u="none" strike="noStrike" dirty="0">
              <a:solidFill>
                <a:srgbClr val="C00000"/>
              </a:solidFill>
              <a:effectLst/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65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DB4584-5C7D-D4FA-FF3B-1765B4DE0A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36D1A-99FB-BF5A-B7A9-0E4597C0EB84}"/>
              </a:ext>
            </a:extLst>
          </p:cNvPr>
          <p:cNvSpPr txBox="1"/>
          <p:nvPr/>
        </p:nvSpPr>
        <p:spPr>
          <a:xfrm>
            <a:off x="677957" y="1723714"/>
            <a:ext cx="93759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Two parties P1, P2, using an encryption scheme like RSA​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/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0CD4F81-1BC0-A3FE-2D89-C5086B166612}"/>
              </a:ext>
            </a:extLst>
          </p:cNvPr>
          <p:cNvSpPr txBox="1"/>
          <p:nvPr/>
        </p:nvSpPr>
        <p:spPr>
          <a:xfrm>
            <a:off x="758641" y="3136612"/>
            <a:ext cx="22086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P1 encrypts: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486DB4-1BC9-B934-0DA9-003735DF8406}"/>
              </a:ext>
            </a:extLst>
          </p:cNvPr>
          <p:cNvSpPr txBox="1"/>
          <p:nvPr/>
        </p:nvSpPr>
        <p:spPr>
          <a:xfrm>
            <a:off x="758641" y="2370045"/>
            <a:ext cx="5794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Environment Z sends a random message</a:t>
            </a:r>
            <a:r>
              <a:rPr lang="en-US" sz="1600" dirty="0"/>
              <a:t>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/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blipFill>
                <a:blip r:embed="rId3"/>
                <a:stretch>
                  <a:fillRect l="-2174" r="-725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3532957-D1F3-C45C-EFF3-B22664ABBF07}"/>
              </a:ext>
            </a:extLst>
          </p:cNvPr>
          <p:cNvSpPr txBox="1"/>
          <p:nvPr/>
        </p:nvSpPr>
        <p:spPr>
          <a:xfrm>
            <a:off x="677957" y="4487956"/>
            <a:ext cx="98241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Chalk Board" panose="02000500000000000000" pitchFamily="2" charset="0"/>
              </a:rPr>
              <a:t>After seeing the ciphertext, the adversary adaptively corrupts P1</a:t>
            </a:r>
          </a:p>
        </p:txBody>
      </p:sp>
    </p:spTree>
    <p:extLst>
      <p:ext uri="{BB962C8B-B14F-4D97-AF65-F5344CB8AC3E}">
        <p14:creationId xmlns:p14="http://schemas.microsoft.com/office/powerpoint/2010/main" val="20134779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BF89F-7888-126E-1367-B17BE4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A9070-70BD-4FC0-76C9-E76CFBC2E5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CCBDD-8DEF-B3E9-3C40-D46F338E5562}"/>
              </a:ext>
            </a:extLst>
          </p:cNvPr>
          <p:cNvSpPr txBox="1"/>
          <p:nvPr/>
        </p:nvSpPr>
        <p:spPr>
          <a:xfrm>
            <a:off x="698090" y="2093554"/>
            <a:ext cx="47546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Now consider the simulation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7C3E1-0433-9817-0FAF-33DEC4B065E4}"/>
              </a:ext>
            </a:extLst>
          </p:cNvPr>
          <p:cNvSpPr txBox="1"/>
          <p:nvPr/>
        </p:nvSpPr>
        <p:spPr>
          <a:xfrm>
            <a:off x="778773" y="2687733"/>
            <a:ext cx="75315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Before corruption, S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does NOT know m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244779-66B5-0487-5D5F-ED5F491BC4B3}"/>
              </a:ext>
            </a:extLst>
          </p:cNvPr>
          <p:cNvSpPr txBox="1"/>
          <p:nvPr/>
        </p:nvSpPr>
        <p:spPr>
          <a:xfrm>
            <a:off x="2484344" y="3341925"/>
            <a:ext cx="45540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(because P1 is still honest)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BA9034-F1E3-8A09-C946-FD65EB9757AF}"/>
              </a:ext>
            </a:extLst>
          </p:cNvPr>
          <p:cNvSpPr txBox="1"/>
          <p:nvPr/>
        </p:nvSpPr>
        <p:spPr>
          <a:xfrm>
            <a:off x="611263" y="4065200"/>
            <a:ext cx="773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Produce a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 pk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and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fake ciphertext c</a:t>
            </a:r>
            <a:endParaRPr lang="en-US" sz="40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33C0D0-2839-5C77-6EEC-F6CFB9A080DB}"/>
              </a:ext>
            </a:extLst>
          </p:cNvPr>
          <p:cNvSpPr txBox="1"/>
          <p:nvPr/>
        </p:nvSpPr>
        <p:spPr>
          <a:xfrm>
            <a:off x="778773" y="5049744"/>
            <a:ext cx="6098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 commits to some (</a:t>
            </a:r>
            <a:r>
              <a:rPr lang="en-US" sz="4000" b="0" i="0" u="none" strike="noStrike" dirty="0" err="1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pk,c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  <a:endParaRPr lang="en-US" sz="4000" dirty="0"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6023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78600-6A4F-814D-BA7B-EE3990DD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4BDFEBA-6558-0AB0-8613-6B2F23E9C490}"/>
              </a:ext>
            </a:extLst>
          </p:cNvPr>
          <p:cNvSpPr txBox="1"/>
          <p:nvPr/>
        </p:nvSpPr>
        <p:spPr>
          <a:xfrm>
            <a:off x="685800" y="753656"/>
            <a:ext cx="18119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Later: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F13D3-A347-303C-E99E-02DCBFEE67B7}"/>
              </a:ext>
            </a:extLst>
          </p:cNvPr>
          <p:cNvSpPr txBox="1"/>
          <p:nvPr/>
        </p:nvSpPr>
        <p:spPr>
          <a:xfrm>
            <a:off x="1046211" y="2001383"/>
            <a:ext cx="37805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 corrupts P1​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AC7A6D-9DE8-E6C7-6539-65167720F981}"/>
              </a:ext>
            </a:extLst>
          </p:cNvPr>
          <p:cNvSpPr txBox="1"/>
          <p:nvPr/>
        </p:nvSpPr>
        <p:spPr>
          <a:xfrm>
            <a:off x="1046211" y="2839084"/>
            <a:ext cx="53545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 S learns the real m from: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7CAB5-A578-5483-3ACA-4F5268DD4335}"/>
              </a:ext>
            </a:extLst>
          </p:cNvPr>
          <p:cNvSpPr txBox="1"/>
          <p:nvPr/>
        </p:nvSpPr>
        <p:spPr>
          <a:xfrm>
            <a:off x="1046211" y="3676785"/>
            <a:ext cx="9361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 the problem: S must produce randomness r such that:</a:t>
            </a:r>
            <a:endParaRPr lang="en-US" sz="4000" dirty="0">
              <a:latin typeface="Chalk Board" panose="02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/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/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blipFill>
                <a:blip r:embed="rId3"/>
                <a:stretch>
                  <a:fillRect l="-25532" r="-2340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914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E1A4-C8BE-E57D-8AB5-4BA24A24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767A09-36C7-36CC-79BC-05D9463F935F}"/>
              </a:ext>
            </a:extLst>
          </p:cNvPr>
          <p:cNvSpPr txBox="1"/>
          <p:nvPr/>
        </p:nvSpPr>
        <p:spPr>
          <a:xfrm>
            <a:off x="833717" y="1627715"/>
            <a:ext cx="933225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What is the solution then?</a:t>
            </a:r>
          </a:p>
        </p:txBody>
      </p:sp>
    </p:spTree>
    <p:extLst>
      <p:ext uri="{BB962C8B-B14F-4D97-AF65-F5344CB8AC3E}">
        <p14:creationId xmlns:p14="http://schemas.microsoft.com/office/powerpoint/2010/main" val="1578415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80351-2E6E-5EEC-7A3A-0C2EACB3D1A9}"/>
              </a:ext>
            </a:extLst>
          </p:cNvPr>
          <p:cNvSpPr txBox="1"/>
          <p:nvPr/>
        </p:nvSpPr>
        <p:spPr>
          <a:xfrm>
            <a:off x="479193" y="1496427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Active Security    vs  Passive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7A48-BF42-87D6-31D3-AE0C3B2BDAED}"/>
              </a:ext>
            </a:extLst>
          </p:cNvPr>
          <p:cNvSpPr txBox="1"/>
          <p:nvPr/>
        </p:nvSpPr>
        <p:spPr>
          <a:xfrm>
            <a:off x="196443" y="2782669"/>
            <a:ext cx="5485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 environment takes complete control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6D44C3-E934-590F-C857-4B1C1B83AF61}"/>
              </a:ext>
            </a:extLst>
          </p:cNvPr>
          <p:cNvSpPr txBox="1"/>
          <p:nvPr/>
        </p:nvSpPr>
        <p:spPr>
          <a:xfrm>
            <a:off x="6816878" y="2795244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Also called semi-honest setting</a:t>
            </a:r>
          </a:p>
        </p:txBody>
      </p:sp>
    </p:spTree>
    <p:extLst>
      <p:ext uri="{BB962C8B-B14F-4D97-AF65-F5344CB8AC3E}">
        <p14:creationId xmlns:p14="http://schemas.microsoft.com/office/powerpoint/2010/main" val="22631133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BE22-A5E8-5A1D-841B-92FC85AC2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387DCA-98F3-3806-EC4E-137B47193961}"/>
              </a:ext>
            </a:extLst>
          </p:cNvPr>
          <p:cNvSpPr txBox="1"/>
          <p:nvPr/>
        </p:nvSpPr>
        <p:spPr>
          <a:xfrm>
            <a:off x="290934" y="1456086"/>
            <a:ext cx="10406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Unconditional Security vs Passive Security</a:t>
            </a:r>
          </a:p>
        </p:txBody>
      </p:sp>
    </p:spTree>
    <p:extLst>
      <p:ext uri="{BB962C8B-B14F-4D97-AF65-F5344CB8AC3E}">
        <p14:creationId xmlns:p14="http://schemas.microsoft.com/office/powerpoint/2010/main" val="40035989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AC0E7-ACDC-883D-0DEE-F14E2EDC6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8544D-1586-9DF3-8EEC-32F28AA708CC}"/>
              </a:ext>
            </a:extLst>
          </p:cNvPr>
          <p:cNvSpPr txBox="1"/>
          <p:nvPr/>
        </p:nvSpPr>
        <p:spPr>
          <a:xfrm>
            <a:off x="0" y="676156"/>
            <a:ext cx="119140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Consensus Broadcast vs Point-to-Point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2FBE1-F3AA-2EA3-9E82-BAC32B99978D}"/>
              </a:ext>
            </a:extLst>
          </p:cNvPr>
          <p:cNvSpPr txBox="1"/>
          <p:nvPr/>
        </p:nvSpPr>
        <p:spPr>
          <a:xfrm>
            <a:off x="833718" y="2366682"/>
            <a:ext cx="9389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a protocol requires a player broadcast a message to all the players.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0EED6-7C12-0CD6-73EF-12FA61A538BE}"/>
              </a:ext>
            </a:extLst>
          </p:cNvPr>
          <p:cNvSpPr txBox="1"/>
          <p:nvPr/>
        </p:nvSpPr>
        <p:spPr>
          <a:xfrm>
            <a:off x="833718" y="3041545"/>
            <a:ext cx="9987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It is not just enough to ask the player to send the same message to all the players.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71792-3763-8A0A-5413-BF11EC2E4D3F}"/>
              </a:ext>
            </a:extLst>
          </p:cNvPr>
          <p:cNvSpPr txBox="1"/>
          <p:nvPr/>
        </p:nvSpPr>
        <p:spPr>
          <a:xfrm>
            <a:off x="927847" y="3777533"/>
            <a:ext cx="9252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47443-2BFC-043F-771C-C3EDF59B923E}"/>
              </a:ext>
            </a:extLst>
          </p:cNvPr>
          <p:cNvSpPr txBox="1"/>
          <p:nvPr/>
        </p:nvSpPr>
        <p:spPr>
          <a:xfrm>
            <a:off x="833718" y="4683658"/>
            <a:ext cx="7013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need a consensus agreement (Byzantine Agreement)</a:t>
            </a:r>
          </a:p>
        </p:txBody>
      </p:sp>
    </p:spTree>
    <p:extLst>
      <p:ext uri="{BB962C8B-B14F-4D97-AF65-F5344CB8AC3E}">
        <p14:creationId xmlns:p14="http://schemas.microsoft.com/office/powerpoint/2010/main" val="7806661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E2BE7-9F12-E60B-AABD-C2272C25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D929F-0AF6-21F5-F865-B0112C21B4DF}"/>
              </a:ext>
            </a:extLst>
          </p:cNvPr>
          <p:cNvSpPr txBox="1"/>
          <p:nvPr/>
        </p:nvSpPr>
        <p:spPr>
          <a:xfrm>
            <a:off x="290934" y="1456086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vs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758607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1766-7562-CD31-0DE1-D89D99737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6600B6-0415-E903-32F5-BC5CCF0EDB7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2EE2E-BBEA-1C9B-3C1C-0D22039211C5}"/>
              </a:ext>
            </a:extLst>
          </p:cNvPr>
          <p:cNvSpPr txBox="1"/>
          <p:nvPr/>
        </p:nvSpPr>
        <p:spPr>
          <a:xfrm>
            <a:off x="290935" y="2377440"/>
            <a:ext cx="26741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Inward Clocking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FFEE3-0AF1-B0D7-5502-90AF7AD872E0}"/>
              </a:ext>
            </a:extLst>
          </p:cNvPr>
          <p:cNvSpPr txBox="1"/>
          <p:nvPr/>
        </p:nvSpPr>
        <p:spPr>
          <a:xfrm>
            <a:off x="553087" y="3026247"/>
            <a:ext cx="102162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send the messages to the ideal functionality in that 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6BC0E-D37D-1A00-D4E5-CC0C91992231}"/>
              </a:ext>
            </a:extLst>
          </p:cNvPr>
          <p:cNvSpPr txBox="1"/>
          <p:nvPr/>
        </p:nvSpPr>
        <p:spPr>
          <a:xfrm>
            <a:off x="140252" y="3952193"/>
            <a:ext cx="2975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Outward Clocking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BAAAD3-7885-B241-B1B2-2AF6EC7C572E}"/>
              </a:ext>
            </a:extLst>
          </p:cNvPr>
          <p:cNvSpPr txBox="1"/>
          <p:nvPr/>
        </p:nvSpPr>
        <p:spPr>
          <a:xfrm>
            <a:off x="553087" y="4608764"/>
            <a:ext cx="1100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receive the messages from the ideal functionality in that round</a:t>
            </a:r>
          </a:p>
        </p:txBody>
      </p:sp>
    </p:spTree>
    <p:extLst>
      <p:ext uri="{BB962C8B-B14F-4D97-AF65-F5344CB8AC3E}">
        <p14:creationId xmlns:p14="http://schemas.microsoft.com/office/powerpoint/2010/main" val="122771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0D455A-8B5D-9D34-56A0-1DCFCD6EFD36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38D455-52E9-2AB3-7A05-4F3AF072B93F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4371D2-5D9C-25CB-29C4-4C9DBB8A3533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BB8388-0399-FA77-3B29-15D3B697EB70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8004-9F66-AA15-AB5E-3FE9B7A4AC9D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B7A1C85-6856-E76A-F6C5-CD7E841EB736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109FEE-1033-9B8C-117B-B7A8F5A6E06E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C85CCA8-917A-70EC-7B21-74D68D6B1FB3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E952A9-3817-770B-0FBC-950A0C290F81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01C37D-B82E-14AD-0561-60E9A5F126E6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7D1A58-7AFD-C2A6-0944-0641E86F437A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8CD57B-9608-4100-4E18-63D5864ACDB5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218D35-92AB-9946-5A4A-81BAD4B6C0D7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D27D199-359B-D272-54D5-90BBCD0B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CCC4C9-ADD8-C453-49DB-80FD3C3281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3075611-E4AD-5699-0F57-398746582017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807CD46-009F-3575-7C51-83B5495C8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4D9458-937B-E476-EFBE-9E7F192F0359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027CB0E-A4FF-D0D8-E398-6F964076B7F5}"/>
              </a:ext>
            </a:extLst>
          </p:cNvPr>
          <p:cNvSpPr txBox="1"/>
          <p:nvPr/>
        </p:nvSpPr>
        <p:spPr>
          <a:xfrm>
            <a:off x="437201" y="1999659"/>
            <a:ext cx="9726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say that Z is a synchronous environment if it proceeds in rounds, where in each round it behaves as follows:                                                        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42ACA8-2418-AB33-68A3-F411A0564FA6}"/>
              </a:ext>
            </a:extLst>
          </p:cNvPr>
          <p:cNvSpPr txBox="1"/>
          <p:nvPr/>
        </p:nvSpPr>
        <p:spPr>
          <a:xfrm>
            <a:off x="604315" y="3076877"/>
            <a:ext cx="972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First, it does an inward clocking of all the parties that are not actively corrupted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05A146-6F0B-F7FC-180E-74D33F841FB7}"/>
              </a:ext>
            </a:extLst>
          </p:cNvPr>
          <p:cNvSpPr txBox="1"/>
          <p:nvPr/>
        </p:nvSpPr>
        <p:spPr>
          <a:xfrm>
            <a:off x="604315" y="3791936"/>
            <a:ext cx="82287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 in interacts with: Authenticated Transfer (Ideal Functionality)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7A266-8DC2-123A-9BEF-E05BBC080E6D}"/>
              </a:ext>
            </a:extLst>
          </p:cNvPr>
          <p:cNvSpPr txBox="1"/>
          <p:nvPr/>
        </p:nvSpPr>
        <p:spPr>
          <a:xfrm>
            <a:off x="689502" y="4478110"/>
            <a:ext cx="82287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Then, it does an outward clocking of all the parties that are not actively corrupted</a:t>
            </a:r>
          </a:p>
        </p:txBody>
      </p:sp>
    </p:spTree>
    <p:extLst>
      <p:ext uri="{BB962C8B-B14F-4D97-AF65-F5344CB8AC3E}">
        <p14:creationId xmlns:p14="http://schemas.microsoft.com/office/powerpoint/2010/main" val="69632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8921-8C76-0A47-C2FD-31A4858EA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0209BA5-55FD-19CE-B88B-91D8980E2117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66618D-FDDB-2E80-59C1-B59D557E1EF9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31A2DF-C156-2C1C-3AA5-1CE5E8BBBCB4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3A3270-5565-2A04-B2F9-D53DC5772AC8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68E3C21-EE67-3522-559D-C4218C3AE19F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D54AA5-5016-0CF0-CFB3-20D91D6DE95D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17CAF9-D108-C228-D12C-87392DA1C621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A3CDC24-7551-87B2-9560-60CE63115CC2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06CCCC-159D-E4C0-C253-37ADB37663E8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A4D1BD-B936-FE80-BADC-B04A7FA512DB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313000-3D05-D418-BA71-8865BECC9E81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7CF2F7-F7AC-2A1A-9FC6-71FA25D739F7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007445-B8AE-B48D-CBF5-E62B6F5AD5B4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DCC215F-0BBF-E406-A986-C7623D4EE225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3ECCF6C-5790-C98C-2D6F-C966197C12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A37CFC8-CB85-C71D-2825-28FE3A4BDDFE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4DA18B4-75A3-2AAB-4A62-91F64CDFA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AB0A0C4-88DC-494B-0F49-F7173CA36DCA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AB9005-39F2-08FB-2C0A-B23267EFC5B6}"/>
              </a:ext>
            </a:extLst>
          </p:cNvPr>
          <p:cNvSpPr txBox="1"/>
          <p:nvPr/>
        </p:nvSpPr>
        <p:spPr>
          <a:xfrm>
            <a:off x="404037" y="2211572"/>
            <a:ext cx="5797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inward clocked when: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E0BD9A-6AAE-ADA7-7F99-6B1D04506228}"/>
              </a:ext>
            </a:extLst>
          </p:cNvPr>
          <p:cNvSpPr txBox="1"/>
          <p:nvPr/>
        </p:nvSpPr>
        <p:spPr>
          <a:xfrm>
            <a:off x="761355" y="2722988"/>
            <a:ext cx="7585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clocks Q1, then P1, then Z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/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blipFill>
                <a:blip r:embed="rId2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A3A2F02-6126-83C0-8221-70025FA17B77}"/>
              </a:ext>
            </a:extLst>
          </p:cNvPr>
          <p:cNvSpPr txBox="1"/>
          <p:nvPr/>
        </p:nvSpPr>
        <p:spPr>
          <a:xfrm>
            <a:off x="404037" y="3579484"/>
            <a:ext cx="5947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outward clocked when: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A8D2-0AF7-BE7C-23F5-DF218CEF91C9}"/>
              </a:ext>
            </a:extLst>
          </p:cNvPr>
          <p:cNvSpPr txBox="1"/>
          <p:nvPr/>
        </p:nvSpPr>
        <p:spPr>
          <a:xfrm>
            <a:off x="761355" y="4090900"/>
            <a:ext cx="533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/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10769" r="-7692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2EEB96F-49A1-3B9D-4BCD-899E76F8CFC5}"/>
              </a:ext>
            </a:extLst>
          </p:cNvPr>
          <p:cNvSpPr txBox="1"/>
          <p:nvPr/>
        </p:nvSpPr>
        <p:spPr>
          <a:xfrm>
            <a:off x="6557265" y="4090900"/>
            <a:ext cx="3048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then clocks P1 and then Q1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074F7A-D0BD-6FDB-A2ED-E378F8CA80E6}"/>
              </a:ext>
            </a:extLst>
          </p:cNvPr>
          <p:cNvSpPr txBox="1"/>
          <p:nvPr/>
        </p:nvSpPr>
        <p:spPr>
          <a:xfrm>
            <a:off x="1411192" y="4602316"/>
            <a:ext cx="139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allows</a:t>
            </a:r>
            <a:endParaRPr lang="en-US" dirty="0">
              <a:latin typeface="American Typewriter" panose="02090604020004020304" pitchFamily="18" charset="7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/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9091" r="-7576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4BEDD5C6-9D5C-B988-AF19-96B89C3F670C}"/>
              </a:ext>
            </a:extLst>
          </p:cNvPr>
          <p:cNvSpPr txBox="1"/>
          <p:nvPr/>
        </p:nvSpPr>
        <p:spPr>
          <a:xfrm>
            <a:off x="3426898" y="4678273"/>
            <a:ext cx="5834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to send messages to the composed parties.</a:t>
            </a:r>
          </a:p>
        </p:txBody>
      </p:sp>
    </p:spTree>
    <p:extLst>
      <p:ext uri="{BB962C8B-B14F-4D97-AF65-F5344CB8AC3E}">
        <p14:creationId xmlns:p14="http://schemas.microsoft.com/office/powerpoint/2010/main" val="121806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637A-8DE1-C5E3-A020-FACCFE16883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C73F3-2C6A-0FB4-9962-27C3233DC701}"/>
              </a:ext>
            </a:extLst>
          </p:cNvPr>
          <p:cNvSpPr txBox="1"/>
          <p:nvPr/>
        </p:nvSpPr>
        <p:spPr>
          <a:xfrm>
            <a:off x="633878" y="2319653"/>
            <a:ext cx="1289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dirty="0"/>
              <a:t> parties,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/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blipFill>
                <a:blip r:embed="rId2"/>
                <a:stretch>
                  <a:fillRect l="-425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7F68DF2-ABAA-A292-BBDC-F75D2ECD4BB7}"/>
              </a:ext>
            </a:extLst>
          </p:cNvPr>
          <p:cNvSpPr txBox="1"/>
          <p:nvPr/>
        </p:nvSpPr>
        <p:spPr>
          <a:xfrm>
            <a:off x="3104939" y="2319652"/>
            <a:ext cx="10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are using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/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35898BB-618C-A2E2-860F-9F3FA029FD93}"/>
              </a:ext>
            </a:extLst>
          </p:cNvPr>
          <p:cNvSpPr txBox="1"/>
          <p:nvPr/>
        </p:nvSpPr>
        <p:spPr>
          <a:xfrm>
            <a:off x="5111193" y="2319651"/>
            <a:ext cx="314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a communication resource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B13647-2BFC-C516-5CC2-5224C5A60F4E}"/>
              </a:ext>
            </a:extLst>
          </p:cNvPr>
          <p:cNvSpPr txBox="1"/>
          <p:nvPr/>
        </p:nvSpPr>
        <p:spPr>
          <a:xfrm>
            <a:off x="1669789" y="2820787"/>
            <a:ext cx="755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Then, even though the parties are synchronized, the communication is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90E66-7EF9-EDEA-71B3-3C2F350BE0EA}"/>
              </a:ext>
            </a:extLst>
          </p:cNvPr>
          <p:cNvSpPr txBox="1"/>
          <p:nvPr/>
        </p:nvSpPr>
        <p:spPr>
          <a:xfrm>
            <a:off x="485551" y="3252382"/>
            <a:ext cx="12907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/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8955" r="-597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32EBEB5-6FFD-4878-0D23-10E943D3B1BD}"/>
              </a:ext>
            </a:extLst>
          </p:cNvPr>
          <p:cNvSpPr txBox="1"/>
          <p:nvPr/>
        </p:nvSpPr>
        <p:spPr>
          <a:xfrm>
            <a:off x="1521461" y="4049198"/>
            <a:ext cx="4426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modeled as a synchronous resource.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0294C-388F-5613-AE3F-159382D54670}"/>
              </a:ext>
            </a:extLst>
          </p:cNvPr>
          <p:cNvSpPr txBox="1"/>
          <p:nvPr/>
        </p:nvSpPr>
        <p:spPr>
          <a:xfrm>
            <a:off x="633878" y="4866888"/>
            <a:ext cx="1775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 we turn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/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blipFill>
                <a:blip r:embed="rId5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E5E3A31-4C6A-62D1-EB29-19486529A8A5}"/>
              </a:ext>
            </a:extLst>
          </p:cNvPr>
          <p:cNvSpPr txBox="1"/>
          <p:nvPr/>
        </p:nvSpPr>
        <p:spPr>
          <a:xfrm>
            <a:off x="3233436" y="4908277"/>
            <a:ext cx="3215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a synchronous resource?  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1777C4-9C40-CFD7-D11D-CF2425FF1EA3}"/>
              </a:ext>
            </a:extLst>
          </p:cNvPr>
          <p:cNvSpPr txBox="1"/>
          <p:nvPr/>
        </p:nvSpPr>
        <p:spPr>
          <a:xfrm>
            <a:off x="633878" y="554130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BB1E98-1C1D-2106-6695-074F762C8996}"/>
              </a:ext>
            </a:extLst>
          </p:cNvPr>
          <p:cNvSpPr txBox="1"/>
          <p:nvPr/>
        </p:nvSpPr>
        <p:spPr>
          <a:xfrm>
            <a:off x="2308598" y="5541301"/>
            <a:ext cx="2676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 all messages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/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blipFill>
                <a:blip r:embed="rId6"/>
                <a:stretch>
                  <a:fillRect l="-7018" r="-350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/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blipFill>
                <a:blip r:embed="rId7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6A98AD46-AF0A-FA30-BA3D-6AECD1879BD4}"/>
              </a:ext>
            </a:extLst>
          </p:cNvPr>
          <p:cNvSpPr txBox="1"/>
          <p:nvPr/>
        </p:nvSpPr>
        <p:spPr>
          <a:xfrm>
            <a:off x="5605845" y="5541301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CFB48B-0856-EE48-AF5C-90E2CB934C10}"/>
              </a:ext>
            </a:extLst>
          </p:cNvPr>
          <p:cNvSpPr txBox="1"/>
          <p:nvPr/>
        </p:nvSpPr>
        <p:spPr>
          <a:xfrm>
            <a:off x="6865251" y="553652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71418-1D7C-EFDA-A7A0-C5656E445FBF}"/>
              </a:ext>
            </a:extLst>
          </p:cNvPr>
          <p:cNvSpPr txBox="1"/>
          <p:nvPr/>
        </p:nvSpPr>
        <p:spPr>
          <a:xfrm>
            <a:off x="1013606" y="5514501"/>
            <a:ext cx="1379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EDC90-8080-9F61-791D-826E52551F2C}"/>
              </a:ext>
            </a:extLst>
          </p:cNvPr>
          <p:cNvSpPr txBox="1"/>
          <p:nvPr/>
        </p:nvSpPr>
        <p:spPr>
          <a:xfrm>
            <a:off x="614493" y="599341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80A3A2-C61B-121D-A378-F0CD90DB01FA}"/>
              </a:ext>
            </a:extLst>
          </p:cNvPr>
          <p:cNvSpPr txBox="1"/>
          <p:nvPr/>
        </p:nvSpPr>
        <p:spPr>
          <a:xfrm>
            <a:off x="2289213" y="5993411"/>
            <a:ext cx="2214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for  all stored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/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blipFill>
                <a:blip r:embed="rId8"/>
                <a:stretch>
                  <a:fillRect l="-5882" t="-4348" r="-588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/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blipFill>
                <a:blip r:embed="rId9"/>
                <a:stretch>
                  <a:fillRect l="-5660" r="-283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1FDC09-2DF5-6166-AFDF-7BA8FD269552}"/>
              </a:ext>
            </a:extLst>
          </p:cNvPr>
          <p:cNvSpPr txBox="1"/>
          <p:nvPr/>
        </p:nvSpPr>
        <p:spPr>
          <a:xfrm>
            <a:off x="5780666" y="5987252"/>
            <a:ext cx="81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delete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72A66-FB8A-329B-1262-18EEC68DBC1F}"/>
              </a:ext>
            </a:extLst>
          </p:cNvPr>
          <p:cNvSpPr txBox="1"/>
          <p:nvPr/>
        </p:nvSpPr>
        <p:spPr>
          <a:xfrm>
            <a:off x="7764003" y="5966611"/>
            <a:ext cx="1386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outputs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7A3967-5030-F266-06D1-65208D5EFB57}"/>
              </a:ext>
            </a:extLst>
          </p:cNvPr>
          <p:cNvSpPr txBox="1"/>
          <p:nvPr/>
        </p:nvSpPr>
        <p:spPr>
          <a:xfrm>
            <a:off x="994221" y="5966611"/>
            <a:ext cx="152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/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blipFill>
                <a:blip r:embed="rId10"/>
                <a:stretch>
                  <a:fillRect l="-6931" r="-5941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/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blipFill>
                <a:blip r:embed="rId11"/>
                <a:stretch>
                  <a:fillRect l="-6818" t="-4545" r="-7955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5716793E-3FCE-2539-803E-5C660CA9D969}"/>
              </a:ext>
            </a:extLst>
          </p:cNvPr>
          <p:cNvSpPr txBox="1"/>
          <p:nvPr/>
        </p:nvSpPr>
        <p:spPr>
          <a:xfrm>
            <a:off x="10220402" y="59819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424810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1" grpId="0"/>
      <p:bldP spid="3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7E673-7946-A02C-8AA0-67819BF2B21C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Complete Breakdown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751EE6-01F7-B26D-5E64-CF1FFAAD519D}"/>
              </a:ext>
            </a:extLst>
          </p:cNvPr>
          <p:cNvSpPr txBox="1"/>
          <p:nvPr/>
        </p:nvSpPr>
        <p:spPr>
          <a:xfrm>
            <a:off x="457200" y="2349795"/>
            <a:ext cx="353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ideal functionality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/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blipFill>
                <a:blip r:embed="rId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30F297A-23EA-AFBB-B1AB-AAC3FB3199C5}"/>
              </a:ext>
            </a:extLst>
          </p:cNvPr>
          <p:cNvSpPr txBox="1"/>
          <p:nvPr/>
        </p:nvSpPr>
        <p:spPr>
          <a:xfrm>
            <a:off x="1541963" y="2824763"/>
            <a:ext cx="100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 a complete breakdown, we mean that it starts behaving as if all parties are actively corrupted.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7C5982-AA1C-05D1-F62F-73D5A4B5C5E2}"/>
              </a:ext>
            </a:extLst>
          </p:cNvPr>
          <p:cNvSpPr txBox="1"/>
          <p:nvPr/>
        </p:nvSpPr>
        <p:spPr>
          <a:xfrm>
            <a:off x="290935" y="3669063"/>
            <a:ext cx="50188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Models worst-case failure (all parties corrupted)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A581CC-95AB-CEE3-D322-C7360C64AC05}"/>
              </a:ext>
            </a:extLst>
          </p:cNvPr>
          <p:cNvSpPr txBox="1"/>
          <p:nvPr/>
        </p:nvSpPr>
        <p:spPr>
          <a:xfrm>
            <a:off x="290935" y="4144031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Functionality stops enforcing security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8DA2C2-AE30-0837-452F-FF6022CA0D76}"/>
              </a:ext>
            </a:extLst>
          </p:cNvPr>
          <p:cNvSpPr txBox="1"/>
          <p:nvPr/>
        </p:nvSpPr>
        <p:spPr>
          <a:xfrm>
            <a:off x="290935" y="4971635"/>
            <a:ext cx="3564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Leaks full internal state on </a:t>
            </a:r>
            <a:r>
              <a:rPr lang="en-US" dirty="0" err="1"/>
              <a:t>F.leak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AEC7AD-B05A-5132-D9D6-B39A1C59F0E1}"/>
              </a:ext>
            </a:extLst>
          </p:cNvPr>
          <p:cNvSpPr txBox="1"/>
          <p:nvPr/>
        </p:nvSpPr>
        <p:spPr>
          <a:xfrm>
            <a:off x="290935" y="5402820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(send, </a:t>
            </a:r>
            <a:r>
              <a:rPr lang="en-US" dirty="0" err="1"/>
              <a:t>i</a:t>
            </a:r>
            <a:r>
              <a:rPr lang="en-US" dirty="0"/>
              <a:t>, m): outputs m to party 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28D38-35B3-0A91-1945-4AD23A6303E4}"/>
              </a:ext>
            </a:extLst>
          </p:cNvPr>
          <p:cNvSpPr txBox="1"/>
          <p:nvPr/>
        </p:nvSpPr>
        <p:spPr>
          <a:xfrm>
            <a:off x="290935" y="5772152"/>
            <a:ext cx="332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m from Pi: leaks (</a:t>
            </a:r>
            <a:r>
              <a:rPr lang="en-US" dirty="0" err="1"/>
              <a:t>i</a:t>
            </a:r>
            <a:r>
              <a:rPr lang="en-US" dirty="0"/>
              <a:t>, m)</a:t>
            </a:r>
          </a:p>
        </p:txBody>
      </p:sp>
    </p:spTree>
    <p:extLst>
      <p:ext uri="{BB962C8B-B14F-4D97-AF65-F5344CB8AC3E}">
        <p14:creationId xmlns:p14="http://schemas.microsoft.com/office/powerpoint/2010/main" val="36538723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44EAF0-CCAA-67EB-4DA4-FBB965D9DDFB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CC0C2-9E04-15F2-A39F-AA4A8499998C}"/>
              </a:ext>
            </a:extLst>
          </p:cNvPr>
          <p:cNvSpPr txBox="1"/>
          <p:nvPr/>
        </p:nvSpPr>
        <p:spPr>
          <a:xfrm>
            <a:off x="549118" y="1876653"/>
            <a:ext cx="6912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Ideal Functionality keeps track of three sets: A,  P, and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90007-D671-B3F5-6D82-D05C02F04357}"/>
              </a:ext>
            </a:extLst>
          </p:cNvPr>
          <p:cNvSpPr txBox="1"/>
          <p:nvPr/>
        </p:nvSpPr>
        <p:spPr>
          <a:xfrm>
            <a:off x="1388295" y="2601209"/>
            <a:ext cx="203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Actively Corrupted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A3565-5232-A80F-A352-40902AD9AC23}"/>
              </a:ext>
            </a:extLst>
          </p:cNvPr>
          <p:cNvSpPr txBox="1"/>
          <p:nvPr/>
        </p:nvSpPr>
        <p:spPr>
          <a:xfrm>
            <a:off x="1248577" y="3114090"/>
            <a:ext cx="2170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Passively Corrupted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93B507-FC29-E83A-C253-A8F4D4958E32}"/>
              </a:ext>
            </a:extLst>
          </p:cNvPr>
          <p:cNvSpPr txBox="1"/>
          <p:nvPr/>
        </p:nvSpPr>
        <p:spPr>
          <a:xfrm>
            <a:off x="2209994" y="3619436"/>
            <a:ext cx="1209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Corrupted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EA2BB-6285-5B7D-F67F-91C5A6FDEA2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419428" y="2785875"/>
            <a:ext cx="25879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8C0973-850E-0636-CF0C-2762398FEC8F}"/>
              </a:ext>
            </a:extLst>
          </p:cNvPr>
          <p:cNvCxnSpPr>
            <a:cxnSpLocks/>
          </p:cNvCxnSpPr>
          <p:nvPr/>
        </p:nvCxnSpPr>
        <p:spPr>
          <a:xfrm>
            <a:off x="3419428" y="3298756"/>
            <a:ext cx="29813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CBC638-CCF8-C3CE-8CA7-1BE177F475E4}"/>
              </a:ext>
            </a:extLst>
          </p:cNvPr>
          <p:cNvCxnSpPr>
            <a:cxnSpLocks/>
          </p:cNvCxnSpPr>
          <p:nvPr/>
        </p:nvCxnSpPr>
        <p:spPr>
          <a:xfrm>
            <a:off x="3419428" y="3799919"/>
            <a:ext cx="3842610" cy="1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AEFD011-AA51-ED7C-B6C8-E35057A13D9E}"/>
              </a:ext>
            </a:extLst>
          </p:cNvPr>
          <p:cNvCxnSpPr>
            <a:cxnSpLocks/>
          </p:cNvCxnSpPr>
          <p:nvPr/>
        </p:nvCxnSpPr>
        <p:spPr>
          <a:xfrm flipV="1">
            <a:off x="6007396" y="2339307"/>
            <a:ext cx="0" cy="44656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993022-CC0B-CB28-59BE-2F1259E7FA0A}"/>
              </a:ext>
            </a:extLst>
          </p:cNvPr>
          <p:cNvCxnSpPr>
            <a:cxnSpLocks/>
          </p:cNvCxnSpPr>
          <p:nvPr/>
        </p:nvCxnSpPr>
        <p:spPr>
          <a:xfrm flipV="1">
            <a:off x="6404344" y="2305628"/>
            <a:ext cx="0" cy="99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A65D2B2-F1E4-66C7-4D38-0BD213A20CA6}"/>
              </a:ext>
            </a:extLst>
          </p:cNvPr>
          <p:cNvCxnSpPr>
            <a:cxnSpLocks/>
          </p:cNvCxnSpPr>
          <p:nvPr/>
        </p:nvCxnSpPr>
        <p:spPr>
          <a:xfrm flipV="1">
            <a:off x="7262038" y="2339307"/>
            <a:ext cx="0" cy="14560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AF6340B-E31B-AF2F-1EA9-8A85856D386F}"/>
              </a:ext>
            </a:extLst>
          </p:cNvPr>
          <p:cNvSpPr txBox="1"/>
          <p:nvPr/>
        </p:nvSpPr>
        <p:spPr>
          <a:xfrm>
            <a:off x="467601" y="4671410"/>
            <a:ext cx="1723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Honest Inputs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/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blipFill>
                <a:blip r:embed="rId2"/>
                <a:stretch>
                  <a:fillRect l="-1575" r="-78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/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blipFill>
                <a:blip r:embed="rId3"/>
                <a:stretch>
                  <a:fillRect l="-5797" r="-8696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01B2D2-30D7-9A40-9B66-5AC6F1B9763C}"/>
              </a:ext>
            </a:extLst>
          </p:cNvPr>
          <p:cNvCxnSpPr>
            <a:cxnSpLocks/>
          </p:cNvCxnSpPr>
          <p:nvPr/>
        </p:nvCxnSpPr>
        <p:spPr>
          <a:xfrm flipV="1">
            <a:off x="2756038" y="5455778"/>
            <a:ext cx="855921" cy="69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/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blipFill>
                <a:blip r:embed="rId4"/>
                <a:stretch>
                  <a:fillRect l="-9804" r="-5882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D59DD8-8027-ED3C-EA72-8EAB78CFF5F2}"/>
              </a:ext>
            </a:extLst>
          </p:cNvPr>
          <p:cNvCxnSpPr>
            <a:cxnSpLocks/>
          </p:cNvCxnSpPr>
          <p:nvPr/>
        </p:nvCxnSpPr>
        <p:spPr>
          <a:xfrm flipV="1">
            <a:off x="2756038" y="6231019"/>
            <a:ext cx="855921" cy="1142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4066A54-39D7-D004-6EA6-CB64FB26600B}"/>
              </a:ext>
            </a:extLst>
          </p:cNvPr>
          <p:cNvSpPr txBox="1"/>
          <p:nvPr/>
        </p:nvSpPr>
        <p:spPr>
          <a:xfrm>
            <a:off x="3700440" y="6046353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/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5777DA5B-65E0-AEFE-1C12-6E34B154A7F7}"/>
              </a:ext>
            </a:extLst>
          </p:cNvPr>
          <p:cNvSpPr txBox="1"/>
          <p:nvPr/>
        </p:nvSpPr>
        <p:spPr>
          <a:xfrm>
            <a:off x="5354501" y="6046353"/>
            <a:ext cx="1704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broadcasting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B0B0A7-7790-63EE-DA71-468642C2D14D}"/>
              </a:ext>
            </a:extLst>
          </p:cNvPr>
          <p:cNvSpPr txBox="1"/>
          <p:nvPr/>
        </p:nvSpPr>
        <p:spPr>
          <a:xfrm>
            <a:off x="3700440" y="5294115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/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D6D941B3-BAB4-0165-AE8D-012F6D072506}"/>
              </a:ext>
            </a:extLst>
          </p:cNvPr>
          <p:cNvSpPr txBox="1"/>
          <p:nvPr/>
        </p:nvSpPr>
        <p:spPr>
          <a:xfrm>
            <a:off x="5354501" y="5294115"/>
            <a:ext cx="113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send 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/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blipFill>
                <a:blip r:embed="rId7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52C7E3C3-0614-6F80-0F85-CFB4C1E88733}"/>
              </a:ext>
            </a:extLst>
          </p:cNvPr>
          <p:cNvSpPr txBox="1"/>
          <p:nvPr/>
        </p:nvSpPr>
        <p:spPr>
          <a:xfrm>
            <a:off x="7723428" y="4302078"/>
            <a:ext cx="3705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will be the output on </a:t>
            </a:r>
            <a:r>
              <a:rPr lang="en-US" dirty="0" err="1"/>
              <a:t>SC.leak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/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blipFill>
                <a:blip r:embed="rId8"/>
                <a:stretch>
                  <a:fillRect l="-7071" t="-8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5C3CCFD-89B2-C3A5-498D-1B2FD5C3FBA7}"/>
              </a:ext>
            </a:extLst>
          </p:cNvPr>
          <p:cNvSpPr txBox="1"/>
          <p:nvPr/>
        </p:nvSpPr>
        <p:spPr>
          <a:xfrm>
            <a:off x="2209994" y="4619082"/>
            <a:ext cx="2357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Parse the message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/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blipFill>
                <a:blip r:embed="rId9"/>
                <a:stretch>
                  <a:fillRect l="-6667" r="-3333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9198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29" grpId="0"/>
      <p:bldP spid="30" grpId="0"/>
      <p:bldP spid="34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5" grpId="0"/>
      <p:bldP spid="46" grpId="0"/>
      <p:bldP spid="47" grpId="0"/>
      <p:bldP spid="48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99BD-E558-0EEB-45C3-63145495C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EB5AB-738F-75BF-8DA6-73D8208575B4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0605DF-7D0D-C10E-28AC-B3C0196ED0F7}"/>
              </a:ext>
            </a:extLst>
          </p:cNvPr>
          <p:cNvSpPr txBox="1"/>
          <p:nvPr/>
        </p:nvSpPr>
        <p:spPr>
          <a:xfrm>
            <a:off x="450733" y="2276697"/>
            <a:ext cx="20938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Inputs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/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change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i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blipFill>
                <a:blip r:embed="rId2"/>
                <a:stretch>
                  <a:fillRect l="-3371" t="-18519" r="-3371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43D0D28-E576-2141-DB87-01331382B5DE}"/>
              </a:ext>
            </a:extLst>
          </p:cNvPr>
          <p:cNvSpPr txBox="1"/>
          <p:nvPr/>
        </p:nvSpPr>
        <p:spPr>
          <a:xfrm>
            <a:off x="509291" y="4764638"/>
            <a:ext cx="1098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Delivery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7BDFA-D864-F1E9-81F8-FEFC28F60D9E}"/>
              </a:ext>
            </a:extLst>
          </p:cNvPr>
          <p:cNvSpPr txBox="1"/>
          <p:nvPr/>
        </p:nvSpPr>
        <p:spPr>
          <a:xfrm>
            <a:off x="2084813" y="4880569"/>
            <a:ext cx="3259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</a:t>
            </a:r>
            <a:r>
              <a:rPr lang="en-US" dirty="0" err="1"/>
              <a:t>clockout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) on </a:t>
            </a:r>
            <a:r>
              <a:rPr lang="en-US" dirty="0" err="1"/>
              <a:t>SC.infl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C2B555-1C89-DE49-D1B3-6E674CF31E1B}"/>
              </a:ext>
            </a:extLst>
          </p:cNvPr>
          <p:cNvSpPr txBox="1"/>
          <p:nvPr/>
        </p:nvSpPr>
        <p:spPr>
          <a:xfrm>
            <a:off x="2080483" y="5349413"/>
            <a:ext cx="305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there is any party for which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/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blipFill>
                <a:blip r:embed="rId3"/>
                <a:stretch>
                  <a:fillRect l="-1575" r="-78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A47AB44-9F16-DA67-3148-68DEA0EE212A}"/>
              </a:ext>
            </a:extLst>
          </p:cNvPr>
          <p:cNvSpPr txBox="1"/>
          <p:nvPr/>
        </p:nvSpPr>
        <p:spPr>
          <a:xfrm>
            <a:off x="6704883" y="5349413"/>
            <a:ext cx="2585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stored, then store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/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blipFill>
                <a:blip r:embed="rId4"/>
                <a:stretch>
                  <a:fillRect l="-1005" r="-100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/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Then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: (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blipFill>
                <a:blip r:embed="rId5"/>
                <a:stretch>
                  <a:fillRect l="-1045" t="-14815" r="-174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F4F00A6-C9A1-1F1F-6730-FCED4A02DDCC}"/>
              </a:ext>
            </a:extLst>
          </p:cNvPr>
          <p:cNvSpPr txBox="1"/>
          <p:nvPr/>
        </p:nvSpPr>
        <p:spPr>
          <a:xfrm>
            <a:off x="3078573" y="2665267"/>
            <a:ext cx="90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/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blipFill>
                <a:blip r:embed="rId6"/>
                <a:stretch>
                  <a:fillRect l="-11111" r="-1111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FD457E1-5163-8753-92E6-5DB7C24F3D5B}"/>
              </a:ext>
            </a:extLst>
          </p:cNvPr>
          <p:cNvSpPr txBox="1"/>
          <p:nvPr/>
        </p:nvSpPr>
        <p:spPr>
          <a:xfrm>
            <a:off x="4424904" y="2676806"/>
            <a:ext cx="6141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at a point before which the clock-out phase has started,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/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blipFill>
                <a:blip r:embed="rId7"/>
                <a:stretch>
                  <a:fillRect l="-4865" t="-22222" r="-270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5251E67-FCA2-D04F-A3CC-D620875FDB73}"/>
              </a:ext>
            </a:extLst>
          </p:cNvPr>
          <p:cNvSpPr txBox="1"/>
          <p:nvPr/>
        </p:nvSpPr>
        <p:spPr>
          <a:xfrm>
            <a:off x="3033856" y="3099396"/>
            <a:ext cx="7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83A364-006B-5A00-EACC-156F89ABC548}"/>
              </a:ext>
            </a:extLst>
          </p:cNvPr>
          <p:cNvSpPr txBox="1"/>
          <p:nvPr/>
        </p:nvSpPr>
        <p:spPr>
          <a:xfrm>
            <a:off x="3033855" y="3379735"/>
            <a:ext cx="776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input from the corrupted party </a:t>
            </a:r>
            <a:r>
              <a:rPr lang="en-US" dirty="0" err="1"/>
              <a:t>i</a:t>
            </a:r>
            <a:r>
              <a:rPr lang="en-US" dirty="0"/>
              <a:t> in this round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5D5B5-803A-03BB-54A5-70F6ADBEBB8E}"/>
              </a:ext>
            </a:extLst>
          </p:cNvPr>
          <p:cNvSpPr txBox="1"/>
          <p:nvPr/>
        </p:nvSpPr>
        <p:spPr>
          <a:xfrm>
            <a:off x="3036139" y="3829217"/>
            <a:ext cx="7856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halk Board" panose="02000500000000000000" pitchFamily="2" charset="0"/>
              </a:rPr>
              <a:t>(As long as any passively corrupted or honest party has received outputs, actively corrupted parties can change their outputs)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/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SC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ou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blipFill>
                <a:blip r:embed="rId8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AD8B4BEB-6258-D25A-9385-981EAE107975}"/>
              </a:ext>
            </a:extLst>
          </p:cNvPr>
          <p:cNvSpPr txBox="1"/>
          <p:nvPr/>
        </p:nvSpPr>
        <p:spPr>
          <a:xfrm>
            <a:off x="5811983" y="63130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350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" grpId="0"/>
      <p:bldP spid="9" grpId="0"/>
      <p:bldP spid="11" grpId="0"/>
      <p:bldP spid="12" grpId="0"/>
      <p:bldP spid="14" grpId="0"/>
      <p:bldP spid="16" grpId="0"/>
      <p:bldP spid="18" grpId="0"/>
      <p:bldP spid="20" grpId="0"/>
      <p:bldP spid="22" grpId="0"/>
      <p:bldP spid="24" grpId="0"/>
      <p:bldP spid="26" grpId="0"/>
      <p:bldP spid="27" grpId="0"/>
      <p:bldP spid="28" grpId="0"/>
      <p:bldP spid="31" grpId="0"/>
      <p:bldP spid="3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7CBDC-CBD0-A37D-4673-5D2F786E6EC2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F561F6-E512-9F19-DAAB-F4652DF636A5}"/>
              </a:ext>
            </a:extLst>
          </p:cNvPr>
          <p:cNvSpPr txBox="1"/>
          <p:nvPr/>
        </p:nvSpPr>
        <p:spPr>
          <a:xfrm>
            <a:off x="473101" y="2205978"/>
            <a:ext cx="15722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Initialize: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FB6D1-98A1-4542-BE5A-87689DC65BBE}"/>
              </a:ext>
            </a:extLst>
          </p:cNvPr>
          <p:cNvSpPr txBox="1"/>
          <p:nvPr/>
        </p:nvSpPr>
        <p:spPr>
          <a:xfrm>
            <a:off x="206592" y="3487844"/>
            <a:ext cx="1652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Honest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D04E6-9CBD-11C4-E12C-5E07AAD34B7C}"/>
              </a:ext>
            </a:extLst>
          </p:cNvPr>
          <p:cNvSpPr txBox="1"/>
          <p:nvPr/>
        </p:nvSpPr>
        <p:spPr>
          <a:xfrm>
            <a:off x="618350" y="2785334"/>
            <a:ext cx="1843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8AEC8-5F0A-69F5-2388-DCDD15D21F01}"/>
              </a:ext>
            </a:extLst>
          </p:cNvPr>
          <p:cNvSpPr txBox="1"/>
          <p:nvPr/>
        </p:nvSpPr>
        <p:spPr>
          <a:xfrm>
            <a:off x="2461483" y="2785334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evaluated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4602FA-9C0F-5FA5-80A7-B9C3343153EB}"/>
              </a:ext>
            </a:extLst>
          </p:cNvPr>
          <p:cNvSpPr txBox="1"/>
          <p:nvPr/>
        </p:nvSpPr>
        <p:spPr>
          <a:xfrm>
            <a:off x="3808580" y="2759812"/>
            <a:ext cx="1598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inputs-ready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/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0,1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}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blipFill>
                <a:blip r:embed="rId2"/>
                <a:stretch>
                  <a:fillRect l="-1603" t="-16667" r="-16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/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clockin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blipFill>
                <a:blip r:embed="rId3"/>
                <a:stretch>
                  <a:fillRect l="-3738" t="-18182" r="-3738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F0B1502-2296-6877-C013-E0B408777991}"/>
              </a:ext>
            </a:extLst>
          </p:cNvPr>
          <p:cNvSpPr txBox="1"/>
          <p:nvPr/>
        </p:nvSpPr>
        <p:spPr>
          <a:xfrm>
            <a:off x="3587080" y="3473152"/>
            <a:ext cx="2654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>
                <a:latin typeface="American Typewriter" panose="02090604020004020304" pitchFamily="18" charset="77"/>
              </a:rPr>
              <a:t>. (Trigger!)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/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honest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blipFill>
                <a:blip r:embed="rId4"/>
                <a:stretch>
                  <a:fillRect l="-3448" t="-17391" r="-517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5DB55F1-8231-F31A-E34A-90FFC209B089}"/>
              </a:ext>
            </a:extLst>
          </p:cNvPr>
          <p:cNvSpPr txBox="1"/>
          <p:nvPr/>
        </p:nvSpPr>
        <p:spPr>
          <a:xfrm>
            <a:off x="2665602" y="4262237"/>
            <a:ext cx="773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2F0D7-BFE3-E627-3D73-022A473AEE3C}"/>
              </a:ext>
            </a:extLst>
          </p:cNvPr>
          <p:cNvSpPr txBox="1"/>
          <p:nvPr/>
        </p:nvSpPr>
        <p:spPr>
          <a:xfrm>
            <a:off x="3550697" y="4272973"/>
            <a:ext cx="12715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received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/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/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blipFill>
                <a:blip r:embed="rId6"/>
                <a:stretch>
                  <a:fillRect l="-3704" r="-2222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/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blipFill>
                <a:blip r:embed="rId7"/>
                <a:stretch>
                  <a:fillRect l="-3333" r="-2000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/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blipFill>
                <a:blip r:embed="rId8"/>
                <a:stretch>
                  <a:fillRect l="-2913" t="-16667" r="-582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C89FB31-BBA3-E446-053B-7BC1C3010629}"/>
              </a:ext>
            </a:extLst>
          </p:cNvPr>
          <p:cNvSpPr txBox="1"/>
          <p:nvPr/>
        </p:nvSpPr>
        <p:spPr>
          <a:xfrm>
            <a:off x="2673519" y="5890416"/>
            <a:ext cx="1981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Leak (input,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134CA9-5F30-958B-53B0-872A5D318276}"/>
              </a:ext>
            </a:extLst>
          </p:cNvPr>
          <p:cNvSpPr/>
          <p:nvPr/>
        </p:nvSpPr>
        <p:spPr>
          <a:xfrm>
            <a:off x="2587336" y="3959165"/>
            <a:ext cx="2234863" cy="994237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C3E465-5EB9-02CC-2B11-78CAE766388A}"/>
              </a:ext>
            </a:extLst>
          </p:cNvPr>
          <p:cNvSpPr/>
          <p:nvPr/>
        </p:nvSpPr>
        <p:spPr>
          <a:xfrm>
            <a:off x="2587335" y="5185408"/>
            <a:ext cx="2234863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61C8F0-7207-2709-1BA0-F9E053BEE84C}"/>
              </a:ext>
            </a:extLst>
          </p:cNvPr>
          <p:cNvSpPr txBox="1"/>
          <p:nvPr/>
        </p:nvSpPr>
        <p:spPr>
          <a:xfrm>
            <a:off x="2045326" y="424568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212B2A-394C-37CE-CD7F-F7F3FC7207DF}"/>
              </a:ext>
            </a:extLst>
          </p:cNvPr>
          <p:cNvSpPr txBox="1"/>
          <p:nvPr/>
        </p:nvSpPr>
        <p:spPr>
          <a:xfrm>
            <a:off x="1695644" y="5468689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CE3EDC-F55C-2F29-1A99-09E27D73CBCE}"/>
              </a:ext>
            </a:extLst>
          </p:cNvPr>
          <p:cNvSpPr/>
          <p:nvPr/>
        </p:nvSpPr>
        <p:spPr>
          <a:xfrm>
            <a:off x="484572" y="2673801"/>
            <a:ext cx="10183091" cy="629402"/>
          </a:xfrm>
          <a:prstGeom prst="ellipse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32D8D7-45CE-EC3C-D975-B41C17852AF1}"/>
              </a:ext>
            </a:extLst>
          </p:cNvPr>
          <p:cNvSpPr txBox="1"/>
          <p:nvPr/>
        </p:nvSpPr>
        <p:spPr>
          <a:xfrm rot="1084097">
            <a:off x="9331036" y="1998391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 to 0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7D52ABD-1DAB-A516-2E15-60311E5B3B11}"/>
              </a:ext>
            </a:extLst>
          </p:cNvPr>
          <p:cNvCxnSpPr>
            <a:cxnSpLocks/>
          </p:cNvCxnSpPr>
          <p:nvPr/>
        </p:nvCxnSpPr>
        <p:spPr>
          <a:xfrm flipV="1">
            <a:off x="7720445" y="2281259"/>
            <a:ext cx="1922319" cy="5183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111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5781F-93A8-DA46-E55F-CB8ED39E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FED59-F625-B390-5E64-FDBA3C168A98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8E34B-8B37-57A1-3426-9008BA450C35}"/>
              </a:ext>
            </a:extLst>
          </p:cNvPr>
          <p:cNvSpPr txBox="1"/>
          <p:nvPr/>
        </p:nvSpPr>
        <p:spPr>
          <a:xfrm>
            <a:off x="191008" y="4043829"/>
            <a:ext cx="2551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F9CB1A-75B2-36DA-A021-E0843F3E4CC2}"/>
              </a:ext>
            </a:extLst>
          </p:cNvPr>
          <p:cNvSpPr txBox="1"/>
          <p:nvPr/>
        </p:nvSpPr>
        <p:spPr>
          <a:xfrm>
            <a:off x="3138064" y="4069702"/>
            <a:ext cx="729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holds in some round, then after the clock-in phase ends, there exists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/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blipFill>
                <a:blip r:embed="rId3"/>
                <a:stretch>
                  <a:fillRect l="-6897" r="-6897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1F1E826-8E8E-5D72-1E11-30085B71C844}"/>
              </a:ext>
            </a:extLst>
          </p:cNvPr>
          <p:cNvSpPr txBox="1"/>
          <p:nvPr/>
        </p:nvSpPr>
        <p:spPr>
          <a:xfrm>
            <a:off x="8501672" y="4461233"/>
            <a:ext cx="1184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such that: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/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blipFill>
                <a:blip r:embed="rId4"/>
                <a:stretch>
                  <a:fillRect l="-3597" r="-215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/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blipFill>
                <a:blip r:embed="rId5"/>
                <a:stretch>
                  <a:fillRect l="-3597" r="-2158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4D5DAC4-9747-38B6-0462-0AB7C809015A}"/>
              </a:ext>
            </a:extLst>
          </p:cNvPr>
          <p:cNvSpPr txBox="1"/>
          <p:nvPr/>
        </p:nvSpPr>
        <p:spPr>
          <a:xfrm>
            <a:off x="8361228" y="5055171"/>
            <a:ext cx="3292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do a complete breakdown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220B55-25AF-4B60-0065-EF92339C1977}"/>
              </a:ext>
            </a:extLst>
          </p:cNvPr>
          <p:cNvSpPr txBox="1"/>
          <p:nvPr/>
        </p:nvSpPr>
        <p:spPr>
          <a:xfrm>
            <a:off x="3223743" y="5384849"/>
            <a:ext cx="622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happens in some round that after the </a:t>
            </a:r>
            <a:r>
              <a:rPr lang="en-US" dirty="0" err="1"/>
              <a:t>clockin</a:t>
            </a:r>
            <a:r>
              <a:rPr lang="en-US" dirty="0"/>
              <a:t> phase ends,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/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blipFill>
                <a:blip r:embed="rId6"/>
                <a:stretch>
                  <a:fillRect l="-3623" r="-289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/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blipFill>
                <a:blip r:embed="rId7"/>
                <a:stretch>
                  <a:fillRect l="-8889" r="-8889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/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nputs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blipFill>
                <a:blip r:embed="rId8"/>
                <a:stretch>
                  <a:fillRect l="-1974" r="-197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9248DDE0-EA2A-C839-90CB-FB1AEE8E5349}"/>
              </a:ext>
            </a:extLst>
          </p:cNvPr>
          <p:cNvSpPr txBox="1"/>
          <p:nvPr/>
        </p:nvSpPr>
        <p:spPr>
          <a:xfrm>
            <a:off x="152712" y="2024352"/>
            <a:ext cx="2154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Corrupted Inputs: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/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change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corrupted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blipFill>
                <a:blip r:embed="rId9"/>
                <a:stretch>
                  <a:fillRect l="-1212" t="-16667" r="-151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37FAB39D-1672-0155-BE2E-7C81BC5CD9CB}"/>
              </a:ext>
            </a:extLst>
          </p:cNvPr>
          <p:cNvSpPr txBox="1"/>
          <p:nvPr/>
        </p:nvSpPr>
        <p:spPr>
          <a:xfrm>
            <a:off x="2501064" y="2449918"/>
            <a:ext cx="220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If (evaluated ==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/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blipFill>
                <a:blip r:embed="rId10"/>
                <a:stretch>
                  <a:fillRect l="-1829" t="-17391" r="-1829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/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blipFill>
                <a:blip r:embed="rId11"/>
                <a:stretch>
                  <a:fillRect l="-2941" t="-14286" r="-4902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EFE7D356-E07B-3A58-A1A8-E89A460C9284}"/>
              </a:ext>
            </a:extLst>
          </p:cNvPr>
          <p:cNvSpPr txBox="1"/>
          <p:nvPr/>
        </p:nvSpPr>
        <p:spPr>
          <a:xfrm>
            <a:off x="4070448" y="3343223"/>
            <a:ext cx="4496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 for party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41344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36482-FC37-C40A-6E0B-34E3F551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A4541C-01C3-AFAA-3480-650CB0DA472A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5EFD62-2276-08ED-9223-A9367881A844}"/>
              </a:ext>
            </a:extLst>
          </p:cNvPr>
          <p:cNvSpPr txBox="1"/>
          <p:nvPr/>
        </p:nvSpPr>
        <p:spPr>
          <a:xfrm>
            <a:off x="152712" y="1924455"/>
            <a:ext cx="2037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Evaluate Function: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2FC860-7714-A14E-2D04-9826E2FDBBFF}"/>
              </a:ext>
            </a:extLst>
          </p:cNvPr>
          <p:cNvSpPr txBox="1"/>
          <p:nvPr/>
        </p:nvSpPr>
        <p:spPr>
          <a:xfrm>
            <a:off x="2190706" y="1947560"/>
            <a:ext cx="6203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(evaluate)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BC951B-4F14-CC3C-DA96-AFADBAECF8ED}"/>
              </a:ext>
            </a:extLst>
          </p:cNvPr>
          <p:cNvSpPr txBox="1"/>
          <p:nvPr/>
        </p:nvSpPr>
        <p:spPr>
          <a:xfrm>
            <a:off x="2933109" y="314157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(evaluated ==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/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: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evaluated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/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blipFill>
                <a:blip r:embed="rId4"/>
                <a:stretch>
                  <a:fillRect l="-3093" t="-4545" r="-3093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330429-9E8A-7619-DEDF-765ACB443835}"/>
              </a:ext>
            </a:extLst>
          </p:cNvPr>
          <p:cNvSpPr txBox="1"/>
          <p:nvPr/>
        </p:nvSpPr>
        <p:spPr>
          <a:xfrm>
            <a:off x="3019757" y="4473801"/>
            <a:ext cx="1188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CB08D7-0F83-8E62-E61C-54AF57C9708E}"/>
              </a:ext>
            </a:extLst>
          </p:cNvPr>
          <p:cNvSpPr txBox="1"/>
          <p:nvPr/>
        </p:nvSpPr>
        <p:spPr>
          <a:xfrm>
            <a:off x="3019757" y="4829555"/>
            <a:ext cx="4124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 outputs for parties in 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CF4D65-BFBF-54CA-5553-F9BBCED1148E}"/>
              </a:ext>
            </a:extLst>
          </p:cNvPr>
          <p:cNvSpPr txBox="1"/>
          <p:nvPr/>
        </p:nvSpPr>
        <p:spPr>
          <a:xfrm>
            <a:off x="2933109" y="286586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inputs-ready =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1ECA8-5FD8-CDBD-CF12-C230B5262FFC}"/>
              </a:ext>
            </a:extLst>
          </p:cNvPr>
          <p:cNvSpPr txBox="1"/>
          <p:nvPr/>
        </p:nvSpPr>
        <p:spPr>
          <a:xfrm>
            <a:off x="2162724" y="2981846"/>
            <a:ext cx="449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84A266E-3738-365C-AA8F-5C7C1E4B0949}"/>
              </a:ext>
            </a:extLst>
          </p:cNvPr>
          <p:cNvSpPr/>
          <p:nvPr/>
        </p:nvSpPr>
        <p:spPr>
          <a:xfrm>
            <a:off x="2847430" y="2839942"/>
            <a:ext cx="2234863" cy="670970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535CAD8-AABC-1C3E-1CE9-8E18E4CFF3B7}"/>
              </a:ext>
            </a:extLst>
          </p:cNvPr>
          <p:cNvSpPr/>
          <p:nvPr/>
        </p:nvSpPr>
        <p:spPr>
          <a:xfrm>
            <a:off x="2847430" y="4086900"/>
            <a:ext cx="3788418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4CD0A9-E219-B6FA-E1DB-5D97BC4C99D6}"/>
              </a:ext>
            </a:extLst>
          </p:cNvPr>
          <p:cNvSpPr txBox="1"/>
          <p:nvPr/>
        </p:nvSpPr>
        <p:spPr>
          <a:xfrm>
            <a:off x="1955739" y="4370181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16729289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2DCEC-3CEE-6981-5F58-21D9D242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B482D6-0796-7C83-B38A-5C6B1A0DAF21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19468F-4A45-7823-F7E5-B305DCB55E45}"/>
              </a:ext>
            </a:extLst>
          </p:cNvPr>
          <p:cNvSpPr txBox="1"/>
          <p:nvPr/>
        </p:nvSpPr>
        <p:spPr>
          <a:xfrm>
            <a:off x="321404" y="3786154"/>
            <a:ext cx="105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Delivery: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BACCB-A402-3CE3-BF7B-54AF512E3189}"/>
              </a:ext>
            </a:extLst>
          </p:cNvPr>
          <p:cNvSpPr txBox="1"/>
          <p:nvPr/>
        </p:nvSpPr>
        <p:spPr>
          <a:xfrm>
            <a:off x="57226" y="2040848"/>
            <a:ext cx="2633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C184B-6C48-B2D5-9B88-5188CCA88C4F}"/>
              </a:ext>
            </a:extLst>
          </p:cNvPr>
          <p:cNvSpPr txBox="1"/>
          <p:nvPr/>
        </p:nvSpPr>
        <p:spPr>
          <a:xfrm>
            <a:off x="2597933" y="2068203"/>
            <a:ext cx="78938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delivery-round 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/>
              <a:t>, where:</a:t>
            </a:r>
          </a:p>
          <a:p>
            <a:r>
              <a:rPr lang="en-US" dirty="0"/>
              <a:t> </a:t>
            </a:r>
            <a:r>
              <a:rPr lang="en-US" dirty="0">
                <a:latin typeface="American Typewriter" panose="02090604020004020304" pitchFamily="18" charset="77"/>
              </a:rPr>
              <a:t>evaluated = 1 </a:t>
            </a:r>
            <a:r>
              <a:rPr lang="en-US" dirty="0"/>
              <a:t>and </a:t>
            </a:r>
            <a:r>
              <a:rPr lang="en-US" dirty="0">
                <a:latin typeface="American Typewriter" panose="02090604020004020304" pitchFamily="18" charset="77"/>
              </a:rPr>
              <a:t>delivery-round=0</a:t>
            </a:r>
            <a:r>
              <a:rPr lang="en-US" dirty="0"/>
              <a:t>,</a:t>
            </a:r>
          </a:p>
          <a:p>
            <a:r>
              <a:rPr lang="en-US" dirty="0"/>
              <a:t> Proceed as follows: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A02B3-3E39-73A6-6407-BA67A36AC930}"/>
              </a:ext>
            </a:extLst>
          </p:cNvPr>
          <p:cNvSpPr txBox="1"/>
          <p:nvPr/>
        </p:nvSpPr>
        <p:spPr>
          <a:xfrm>
            <a:off x="2529253" y="3150705"/>
            <a:ext cx="3566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are at a point where no party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/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blipFill>
                <a:blip r:embed="rId2"/>
                <a:stretch>
                  <a:fillRect l="-8108" r="-8108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4279FDA-74F3-CFCF-3FE1-BCEC78F84DAF}"/>
              </a:ext>
            </a:extLst>
          </p:cNvPr>
          <p:cNvSpPr txBox="1"/>
          <p:nvPr/>
        </p:nvSpPr>
        <p:spPr>
          <a:xfrm>
            <a:off x="6544841" y="3139823"/>
            <a:ext cx="3154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was </a:t>
            </a:r>
            <a:r>
              <a:rPr lang="en-US" i="1" dirty="0"/>
              <a:t>clocked-out</a:t>
            </a:r>
            <a:r>
              <a:rPr lang="en-US" dirty="0"/>
              <a:t> yet, then set: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/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delivery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round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blipFill>
                <a:blip r:embed="rId3"/>
                <a:stretch>
                  <a:fillRect l="-3185" r="-1911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7DD19DE3-324E-FF6C-2F7F-283EE0A86505}"/>
              </a:ext>
            </a:extLst>
          </p:cNvPr>
          <p:cNvSpPr txBox="1"/>
          <p:nvPr/>
        </p:nvSpPr>
        <p:spPr>
          <a:xfrm>
            <a:off x="1430014" y="3774093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clockout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BBC938-3001-AB00-1604-640E2B52B9D7}"/>
              </a:ext>
            </a:extLst>
          </p:cNvPr>
          <p:cNvSpPr/>
          <p:nvPr/>
        </p:nvSpPr>
        <p:spPr>
          <a:xfrm>
            <a:off x="2123351" y="4229784"/>
            <a:ext cx="2580560" cy="369331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1C7468-84B5-CA63-9726-15EE33E7B011}"/>
              </a:ext>
            </a:extLst>
          </p:cNvPr>
          <p:cNvSpPr/>
          <p:nvPr/>
        </p:nvSpPr>
        <p:spPr>
          <a:xfrm>
            <a:off x="2114579" y="4739947"/>
            <a:ext cx="3788418" cy="372777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04916E-E99C-2B44-B9B4-5664EC3E432A}"/>
              </a:ext>
            </a:extLst>
          </p:cNvPr>
          <p:cNvSpPr txBox="1"/>
          <p:nvPr/>
        </p:nvSpPr>
        <p:spPr>
          <a:xfrm>
            <a:off x="2141660" y="4263835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 =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F6E533-18C9-907D-17F8-034BAE047378}"/>
              </a:ext>
            </a:extLst>
          </p:cNvPr>
          <p:cNvSpPr txBox="1"/>
          <p:nvPr/>
        </p:nvSpPr>
        <p:spPr>
          <a:xfrm>
            <a:off x="2141660" y="4729478"/>
            <a:ext cx="3706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Output </a:t>
            </a:r>
            <a:r>
              <a:rPr lang="en-US" dirty="0" err="1">
                <a:latin typeface="American Typewriter" panose="02090604020004020304" pitchFamily="18" charset="77"/>
              </a:rPr>
              <a:t>yi</a:t>
            </a:r>
            <a:r>
              <a:rPr lang="en-US" dirty="0">
                <a:latin typeface="American Typewriter" panose="02090604020004020304" pitchFamily="18" charset="77"/>
              </a:rPr>
              <a:t>​ to party 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756F1B-EE5F-8D8B-D5EE-9C378F8BE696}"/>
              </a:ext>
            </a:extLst>
          </p:cNvPr>
          <p:cNvSpPr txBox="1"/>
          <p:nvPr/>
        </p:nvSpPr>
        <p:spPr>
          <a:xfrm>
            <a:off x="1458426" y="4263835"/>
            <a:ext cx="51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453B2F-29F6-8EF5-225B-4BA46100F216}"/>
              </a:ext>
            </a:extLst>
          </p:cNvPr>
          <p:cNvSpPr txBox="1"/>
          <p:nvPr/>
        </p:nvSpPr>
        <p:spPr>
          <a:xfrm>
            <a:off x="1433783" y="4713470"/>
            <a:ext cx="826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Then: </a:t>
            </a:r>
          </a:p>
        </p:txBody>
      </p:sp>
    </p:spTree>
    <p:extLst>
      <p:ext uri="{BB962C8B-B14F-4D97-AF65-F5344CB8AC3E}">
        <p14:creationId xmlns:p14="http://schemas.microsoft.com/office/powerpoint/2010/main" val="7809715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0D23DC-E021-B51E-89FD-D68015EFDE6B}"/>
              </a:ext>
            </a:extLst>
          </p:cNvPr>
          <p:cNvSpPr txBox="1"/>
          <p:nvPr/>
        </p:nvSpPr>
        <p:spPr>
          <a:xfrm>
            <a:off x="543697" y="576649"/>
            <a:ext cx="5660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Revisiting Adaptive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98DC9-034D-7539-C164-FA972A9BC874}"/>
              </a:ext>
            </a:extLst>
          </p:cNvPr>
          <p:cNvSpPr txBox="1"/>
          <p:nvPr/>
        </p:nvSpPr>
        <p:spPr>
          <a:xfrm>
            <a:off x="387179" y="1581719"/>
            <a:ext cx="764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What is the difference between Static and Adaptive Security?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FD8FD-06FB-C284-E3DD-959FF1381E98}"/>
                  </a:ext>
                </a:extLst>
              </p:cNvPr>
              <p:cNvSpPr txBox="1"/>
              <p:nvPr/>
            </p:nvSpPr>
            <p:spPr>
              <a:xfrm>
                <a:off x="410583" y="2287973"/>
                <a:ext cx="8840560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Consider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for an ideal functionality F. What do we mean when we say it has static security?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FD8FD-06FB-C284-E3DD-959FF1381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83" y="2287973"/>
                <a:ext cx="8840560" cy="1077218"/>
              </a:xfrm>
              <a:prstGeom prst="rect">
                <a:avLst/>
              </a:prstGeom>
              <a:blipFill>
                <a:blip r:embed="rId2"/>
                <a:stretch>
                  <a:fillRect l="-1722" t="-4706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A72B1C9-6149-1574-F3B7-5CC6C9A6C7AE}"/>
                  </a:ext>
                </a:extLst>
              </p:cNvPr>
              <p:cNvSpPr txBox="1"/>
              <p:nvPr/>
            </p:nvSpPr>
            <p:spPr>
              <a:xfrm>
                <a:off x="363774" y="4417368"/>
                <a:ext cx="105042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Consider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for an ideal functionality F. What do we mean when we say it has static security?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A72B1C9-6149-1574-F3B7-5CC6C9A6C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74" y="4417368"/>
                <a:ext cx="10504299" cy="1077218"/>
              </a:xfrm>
              <a:prstGeom prst="rect">
                <a:avLst/>
              </a:prstGeom>
              <a:blipFill>
                <a:blip r:embed="rId3"/>
                <a:stretch>
                  <a:fillRect l="-1449" t="-5882" r="-12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E8D5C88-F2C0-3248-0CDB-2FF28624C665}"/>
              </a:ext>
            </a:extLst>
          </p:cNvPr>
          <p:cNvSpPr txBox="1"/>
          <p:nvPr/>
        </p:nvSpPr>
        <p:spPr>
          <a:xfrm>
            <a:off x="363774" y="3598892"/>
            <a:ext cx="97289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Formally, how do we establish the fact that we are dealing with static security?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46F85-4212-25B4-003B-C83AAB58C0B4}"/>
              </a:ext>
            </a:extLst>
          </p:cNvPr>
          <p:cNvSpPr txBox="1"/>
          <p:nvPr/>
        </p:nvSpPr>
        <p:spPr>
          <a:xfrm>
            <a:off x="363774" y="5778732"/>
            <a:ext cx="88873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Will the simulator for a static environment for an adaptive environment?</a:t>
            </a:r>
          </a:p>
        </p:txBody>
      </p:sp>
    </p:spTree>
    <p:extLst>
      <p:ext uri="{BB962C8B-B14F-4D97-AF65-F5344CB8AC3E}">
        <p14:creationId xmlns:p14="http://schemas.microsoft.com/office/powerpoint/2010/main" val="53378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7BF24D-445D-B76A-A6A3-6BB53DD49D44}"/>
              </a:ext>
            </a:extLst>
          </p:cNvPr>
          <p:cNvSpPr txBox="1"/>
          <p:nvPr/>
        </p:nvSpPr>
        <p:spPr>
          <a:xfrm>
            <a:off x="215492" y="745413"/>
            <a:ext cx="101641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What makes the simulator S, which works for a static environment, not work for an adaptive environment?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13B19-32F6-9D85-6F40-7833865E2EF6}"/>
              </a:ext>
            </a:extLst>
          </p:cNvPr>
          <p:cNvSpPr txBox="1"/>
          <p:nvPr/>
        </p:nvSpPr>
        <p:spPr>
          <a:xfrm>
            <a:off x="215492" y="2844225"/>
            <a:ext cx="4389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Can we somehow make it work?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F7F35-0380-EAF9-9F39-1462DDB046B9}"/>
              </a:ext>
            </a:extLst>
          </p:cNvPr>
          <p:cNvSpPr txBox="1"/>
          <p:nvPr/>
        </p:nvSpPr>
        <p:spPr>
          <a:xfrm>
            <a:off x="321275" y="4310550"/>
            <a:ext cx="820488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There exists a class of protocols and functionalities for which this strategy will work. </a:t>
            </a:r>
          </a:p>
        </p:txBody>
      </p:sp>
    </p:spTree>
    <p:extLst>
      <p:ext uri="{BB962C8B-B14F-4D97-AF65-F5344CB8AC3E}">
        <p14:creationId xmlns:p14="http://schemas.microsoft.com/office/powerpoint/2010/main" val="111895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F3A02C-3B39-C6EC-5C34-B302D6BB252C}"/>
              </a:ext>
            </a:extLst>
          </p:cNvPr>
          <p:cNvSpPr txBox="1"/>
          <p:nvPr/>
        </p:nvSpPr>
        <p:spPr>
          <a:xfrm>
            <a:off x="313036" y="551935"/>
            <a:ext cx="56902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Adaptive Security vs. Static Security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E191A1-09AE-D37A-FB14-0F2A9929A758}"/>
                  </a:ext>
                </a:extLst>
              </p:cNvPr>
              <p:cNvSpPr txBox="1"/>
              <p:nvPr/>
            </p:nvSpPr>
            <p:spPr>
              <a:xfrm>
                <a:off x="313036" y="1972961"/>
                <a:ext cx="11294077" cy="3086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an agent A that is part of an interactive system IS, the view of A is a random variable written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and is defined to be the ordered concatenation of all messages exchanged on the ports of A and all the random choices of A.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dirty="0">
                    <a:latin typeface="Chalk Board" panose="02000500000000000000" pitchFamily="2" charset="0"/>
                  </a:rPr>
                  <a:t>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to denote the view conditioned on some event E occurring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𝐼𝑆</m:t>
                            </m:r>
                          </m:e>
                        </m:d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to denote the view truncated to include only the first j rounds.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E191A1-09AE-D37A-FB14-0F2A9929A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36" y="1972961"/>
                <a:ext cx="11294077" cy="3086551"/>
              </a:xfrm>
              <a:prstGeom prst="rect">
                <a:avLst/>
              </a:prstGeom>
              <a:blipFill>
                <a:blip r:embed="rId2"/>
                <a:stretch>
                  <a:fillRect l="-1348" t="-2459" b="-5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8176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08B1323-9D5F-74F2-3CEF-54682D5FE7E0}"/>
                  </a:ext>
                </a:extLst>
              </p:cNvPr>
              <p:cNvSpPr txBox="1"/>
              <p:nvPr/>
            </p:nvSpPr>
            <p:spPr>
              <a:xfrm>
                <a:off x="273614" y="826556"/>
                <a:ext cx="11260889" cy="2602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a player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in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running with a communication resource R and environment Z, the conversation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a random variable, written as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, and is defined as ordered concatenation of all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exchanged with honest players and R. The conversation of Z, written as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the ordered concatenation of all messages exchanged on the special ports of Z. 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08B1323-9D5F-74F2-3CEF-54682D5FE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614" y="826556"/>
                <a:ext cx="11260889" cy="2602444"/>
              </a:xfrm>
              <a:prstGeom prst="rect">
                <a:avLst/>
              </a:prstGeom>
              <a:blipFill>
                <a:blip r:embed="rId2"/>
                <a:stretch>
                  <a:fillRect l="-1351" t="-2427" r="-1802" b="-5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A5127B0-A535-9321-7F05-1F829F6BB5E3}"/>
              </a:ext>
            </a:extLst>
          </p:cNvPr>
          <p:cNvSpPr txBox="1"/>
          <p:nvPr/>
        </p:nvSpPr>
        <p:spPr>
          <a:xfrm>
            <a:off x="273614" y="4507391"/>
            <a:ext cx="79768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conversation of party is the substring of its view</a:t>
            </a:r>
          </a:p>
        </p:txBody>
      </p:sp>
    </p:spTree>
    <p:extLst>
      <p:ext uri="{BB962C8B-B14F-4D97-AF65-F5344CB8AC3E}">
        <p14:creationId xmlns:p14="http://schemas.microsoft.com/office/powerpoint/2010/main" val="12865544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8781C15-8E93-E0E9-DD60-D55BD0388641}"/>
                  </a:ext>
                </a:extLst>
              </p:cNvPr>
              <p:cNvSpPr txBox="1"/>
              <p:nvPr/>
            </p:nvSpPr>
            <p:spPr>
              <a:xfrm>
                <a:off x="494271" y="535460"/>
                <a:ext cx="10931611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The ideal functionality F is said to be input-based if the following are satisfied: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b="1" dirty="0">
                    <a:latin typeface="Chalk Board" panose="02000500000000000000" pitchFamily="2" charset="0"/>
                  </a:rPr>
                  <a:t>Honest Behavior Equivalence: </a:t>
                </a:r>
                <a:r>
                  <a:rPr lang="en-US" sz="3200" dirty="0">
                    <a:latin typeface="Chalk Board" panose="02000500000000000000" pitchFamily="2" charset="0"/>
                  </a:rPr>
                  <a:t>Consider executions of F where some set A is corrupted from the start and where  a fixed ordered set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given to F during the execution. In any such execution, the outputs produced by F; and its state at the end have the distribution. In particular, the outputs do not depend on the corruptions that occur during the execution.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b="1" dirty="0">
                    <a:latin typeface="Chalk Board" panose="02000500000000000000" pitchFamily="2" charset="0"/>
                  </a:rPr>
                  <a:t>Publicly known input output provision: </a:t>
                </a:r>
                <a:r>
                  <a:rPr lang="en-US" sz="3200" dirty="0">
                    <a:latin typeface="Chalk Board" panose="02000500000000000000" pitchFamily="2" charset="0"/>
                  </a:rPr>
                  <a:t>Each time F receives an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, </a:t>
                </a:r>
                <a:r>
                  <a:rPr lang="en-US" sz="3200" dirty="0">
                    <a:latin typeface="Chalk Board" panose="02000500000000000000" pitchFamily="2" charset="0"/>
                  </a:rPr>
                  <a:t>F sends a message on its leakage port that some message has been received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 </a:t>
                </a:r>
                <a:r>
                  <a:rPr lang="en-US" sz="3200" dirty="0">
                    <a:latin typeface="Chalk Board" panose="02000500000000000000" pitchFamily="2" charset="0"/>
                  </a:rPr>
                  <a:t>. Furthermore, each time F sends a private output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, </a:t>
                </a:r>
                <a:r>
                  <a:rPr lang="en-US" sz="3200" dirty="0">
                    <a:latin typeface="Chalk Board" panose="02000500000000000000" pitchFamily="2" charset="0"/>
                  </a:rPr>
                  <a:t>it leaks that an output was given but does not leak the value.</a:t>
                </a:r>
                <a:endParaRPr lang="en-US" sz="3200" b="1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8781C15-8E93-E0E9-DD60-D55BD0388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71" y="535460"/>
                <a:ext cx="10931611" cy="6001643"/>
              </a:xfrm>
              <a:prstGeom prst="rect">
                <a:avLst/>
              </a:prstGeom>
              <a:blipFill>
                <a:blip r:embed="rId2"/>
                <a:stretch>
                  <a:fillRect l="-1392" t="-1268" r="-232" b="-2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778222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CA7854-CEA7-E1DB-8DDE-BEFE507B1F95}"/>
              </a:ext>
            </a:extLst>
          </p:cNvPr>
          <p:cNvSpPr txBox="1"/>
          <p:nvPr/>
        </p:nvSpPr>
        <p:spPr>
          <a:xfrm>
            <a:off x="154049" y="798022"/>
            <a:ext cx="105609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that we are given an adaptive environment Z, and we want to show that the protocol is secure with respect to this environment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CC0E59-1070-71BB-CE9E-023A77AF7D5C}"/>
              </a:ext>
            </a:extLst>
          </p:cNvPr>
          <p:cNvSpPr txBox="1"/>
          <p:nvPr/>
        </p:nvSpPr>
        <p:spPr>
          <a:xfrm>
            <a:off x="154049" y="2110589"/>
            <a:ext cx="92947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How can we use the static simulator 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62176-012F-4598-0174-BA4A10E7384D}"/>
              </a:ext>
            </a:extLst>
          </p:cNvPr>
          <p:cNvSpPr txBox="1"/>
          <p:nvPr/>
        </p:nvSpPr>
        <p:spPr>
          <a:xfrm>
            <a:off x="154048" y="2981224"/>
            <a:ext cx="4390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Can we just use S against Z?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82AD4-9C1C-FA4E-CF3F-86FB327D24F8}"/>
              </a:ext>
            </a:extLst>
          </p:cNvPr>
          <p:cNvSpPr txBox="1"/>
          <p:nvPr/>
        </p:nvSpPr>
        <p:spPr>
          <a:xfrm>
            <a:off x="154048" y="3801348"/>
            <a:ext cx="77312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 does not know how to handle corruptions in the middle.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34D5F-039B-1A31-5E41-CCE9F5894709}"/>
              </a:ext>
            </a:extLst>
          </p:cNvPr>
          <p:cNvSpPr txBox="1"/>
          <p:nvPr/>
        </p:nvSpPr>
        <p:spPr>
          <a:xfrm>
            <a:off x="154048" y="4738471"/>
            <a:ext cx="77312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Construct a family of static environments from Z.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1B0DEC-2055-0B30-50CB-0376EE861D06}"/>
                  </a:ext>
                </a:extLst>
              </p:cNvPr>
              <p:cNvSpPr txBox="1"/>
              <p:nvPr/>
            </p:nvSpPr>
            <p:spPr>
              <a:xfrm>
                <a:off x="154048" y="5675594"/>
                <a:ext cx="1056090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each set A that Z may corrupt, we construct an environment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32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1B0DEC-2055-0B30-50CB-0376EE861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8" y="5675594"/>
                <a:ext cx="10560907" cy="584775"/>
              </a:xfrm>
              <a:prstGeom prst="rect">
                <a:avLst/>
              </a:prstGeom>
              <a:blipFill>
                <a:blip r:embed="rId2"/>
                <a:stretch>
                  <a:fillRect l="-1442" t="-8511" b="-36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9473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E4011D-3F09-A1CB-DB70-86AF5D8077B0}"/>
                  </a:ext>
                </a:extLst>
              </p:cNvPr>
              <p:cNvSpPr txBox="1"/>
              <p:nvPr/>
            </p:nvSpPr>
            <p:spPr>
              <a:xfrm>
                <a:off x="453081" y="626076"/>
                <a:ext cx="29341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latin typeface="Chalk Board" panose="02000500000000000000" pitchFamily="2" charset="0"/>
                  </a:rPr>
                  <a:t>The Environment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E4011D-3F09-A1CB-DB70-86AF5D807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081" y="626076"/>
                <a:ext cx="2934137" cy="646331"/>
              </a:xfrm>
              <a:prstGeom prst="rect">
                <a:avLst/>
              </a:prstGeom>
              <a:blipFill>
                <a:blip r:embed="rId2"/>
                <a:stretch>
                  <a:fillRect l="-6034" t="-11538" b="-36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2455A3-AC08-06B0-99FF-0806A041345D}"/>
                  </a:ext>
                </a:extLst>
              </p:cNvPr>
              <p:cNvSpPr txBox="1"/>
              <p:nvPr/>
            </p:nvSpPr>
            <p:spPr>
              <a:xfrm>
                <a:off x="181232" y="1859340"/>
                <a:ext cx="118295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first corrupts the set A, but initially it lets all the players in A play honestly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2455A3-AC08-06B0-99FF-0806A0413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32" y="1859340"/>
                <a:ext cx="11829535" cy="523220"/>
              </a:xfrm>
              <a:prstGeom prst="rect">
                <a:avLst/>
              </a:prstGeom>
              <a:blipFill>
                <a:blip r:embed="rId3"/>
                <a:stretch>
                  <a:fillRect l="-322" t="-7143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39F200B-7AB4-2EEC-BBC6-21DB5F6AE816}"/>
              </a:ext>
            </a:extLst>
          </p:cNvPr>
          <p:cNvSpPr txBox="1"/>
          <p:nvPr/>
        </p:nvSpPr>
        <p:spPr>
          <a:xfrm>
            <a:off x="214183" y="2644170"/>
            <a:ext cx="11829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runs a copy of Z internally and lets it interact with the protocol as usual.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571451-2B91-4BD2-A642-E36B9FCA07BA}"/>
                  </a:ext>
                </a:extLst>
              </p:cNvPr>
              <p:cNvSpPr txBox="1"/>
              <p:nvPr/>
            </p:nvSpPr>
            <p:spPr>
              <a:xfrm>
                <a:off x="1054442" y="3311090"/>
                <a:ext cx="93458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latin typeface="Chalk Board" panose="02000500000000000000" pitchFamily="2" charset="0"/>
                  </a:rPr>
                  <a:t>Players in A are run honestly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instead of themselves.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571451-2B91-4BD2-A642-E36B9FCA0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2" y="3311090"/>
                <a:ext cx="9345827" cy="523220"/>
              </a:xfrm>
              <a:prstGeom prst="rect">
                <a:avLst/>
              </a:prstGeom>
              <a:blipFill>
                <a:blip r:embed="rId4"/>
                <a:stretch>
                  <a:fillRect l="-1495" t="-7143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9F968BC-E333-E6B1-F618-EBD2BD49B119}"/>
              </a:ext>
            </a:extLst>
          </p:cNvPr>
          <p:cNvSpPr txBox="1"/>
          <p:nvPr/>
        </p:nvSpPr>
        <p:spPr>
          <a:xfrm>
            <a:off x="1054442" y="3978010"/>
            <a:ext cx="9345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When Z corrupts a player </a:t>
            </a:r>
            <a:r>
              <a:rPr lang="en-US" sz="2800" i="1" dirty="0">
                <a:latin typeface="Chalk Board" panose="02000500000000000000" pitchFamily="2" charset="0"/>
              </a:rPr>
              <a:t>in</a:t>
            </a:r>
            <a:r>
              <a:rPr lang="en-US" sz="2800" dirty="0">
                <a:latin typeface="Chalk Board" panose="02000500000000000000" pitchFamily="2" charset="0"/>
              </a:rPr>
              <a:t>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35CF70-A5E2-44D4-BC4D-63E63195E177}"/>
                  </a:ext>
                </a:extLst>
              </p:cNvPr>
              <p:cNvSpPr txBox="1"/>
              <p:nvPr/>
            </p:nvSpPr>
            <p:spPr>
              <a:xfrm>
                <a:off x="1791731" y="4644930"/>
                <a:ext cx="93458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gives control of the player to Z and continues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35CF70-A5E2-44D4-BC4D-63E63195E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1731" y="4644930"/>
                <a:ext cx="9345827" cy="523220"/>
              </a:xfrm>
              <a:prstGeom prst="rect">
                <a:avLst/>
              </a:prstGeom>
              <a:blipFill>
                <a:blip r:embed="rId5"/>
                <a:stretch>
                  <a:fillRect l="-408" t="-697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52AE931-A084-F3D1-361E-8EC2CD3A0905}"/>
              </a:ext>
            </a:extLst>
          </p:cNvPr>
          <p:cNvSpPr txBox="1"/>
          <p:nvPr/>
        </p:nvSpPr>
        <p:spPr>
          <a:xfrm>
            <a:off x="1054441" y="5303394"/>
            <a:ext cx="53957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When Z corrupts a player </a:t>
            </a:r>
            <a:r>
              <a:rPr lang="en-US" sz="2800" i="1" dirty="0">
                <a:latin typeface="Chalk Board" panose="02000500000000000000" pitchFamily="2" charset="0"/>
              </a:rPr>
              <a:t>not in </a:t>
            </a:r>
            <a:r>
              <a:rPr lang="en-US" sz="2800" dirty="0">
                <a:latin typeface="Chalk Board" panose="02000500000000000000" pitchFamily="2" charset="0"/>
              </a:rPr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9A8825-19E7-F3D8-8D6C-68A8CFC3A7AD}"/>
                  </a:ext>
                </a:extLst>
              </p:cNvPr>
              <p:cNvSpPr txBox="1"/>
              <p:nvPr/>
            </p:nvSpPr>
            <p:spPr>
              <a:xfrm>
                <a:off x="1791731" y="5826614"/>
                <a:ext cx="26525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</a:t>
                </a:r>
                <a:r>
                  <a:rPr lang="en-US" sz="2800" i="1" dirty="0">
                    <a:latin typeface="Chalk Board" panose="02000500000000000000" pitchFamily="2" charset="0"/>
                  </a:rPr>
                  <a:t>terminates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9A8825-19E7-F3D8-8D6C-68A8CFC3A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1731" y="5826614"/>
                <a:ext cx="2652583" cy="523220"/>
              </a:xfrm>
              <a:prstGeom prst="rect">
                <a:avLst/>
              </a:prstGeom>
              <a:blipFill>
                <a:blip r:embed="rId6"/>
                <a:stretch>
                  <a:fillRect l="-1435" t="-697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53335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FAFEC0-C568-2D26-35CE-B8E1329D6676}"/>
              </a:ext>
            </a:extLst>
          </p:cNvPr>
          <p:cNvSpPr txBox="1"/>
          <p:nvPr/>
        </p:nvSpPr>
        <p:spPr>
          <a:xfrm>
            <a:off x="317981" y="794127"/>
            <a:ext cx="71202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 </a:t>
            </a:r>
            <a:r>
              <a:rPr lang="en-US" sz="2800" b="1" dirty="0"/>
              <a:t>s</a:t>
            </a:r>
            <a:r>
              <a:rPr lang="en-US" sz="2800" dirty="0"/>
              <a:t> denote an ordered sequence of players.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BCDCFD-B015-FC04-3F15-8525A67BA692}"/>
                  </a:ext>
                </a:extLst>
              </p:cNvPr>
              <p:cNvSpPr txBox="1"/>
              <p:nvPr/>
            </p:nvSpPr>
            <p:spPr>
              <a:xfrm>
                <a:off x="317980" y="2357140"/>
                <a:ext cx="121092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800" dirty="0"/>
                  <a:t> will be the event that the first  |s| corruptions done are exactly the ones in s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BCDCFD-B015-FC04-3F15-8525A67BA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80" y="2357140"/>
                <a:ext cx="12109277" cy="523220"/>
              </a:xfrm>
              <a:prstGeom prst="rect">
                <a:avLst/>
              </a:prstGeom>
              <a:blipFill>
                <a:blip r:embed="rId2"/>
                <a:stretch>
                  <a:fillRect l="-209" t="-11628" r="-1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88B01B-3D7E-E353-8DF7-8E6AB7A9359D}"/>
                  </a:ext>
                </a:extLst>
              </p:cNvPr>
              <p:cNvSpPr txBox="1"/>
              <p:nvPr/>
            </p:nvSpPr>
            <p:spPr>
              <a:xfrm>
                <a:off x="397635" y="4711448"/>
                <a:ext cx="8034700" cy="575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𝐸𝑥𝑡𝑟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88B01B-3D7E-E353-8DF7-8E6AB7A93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" y="4711448"/>
                <a:ext cx="8034700" cy="575094"/>
              </a:xfrm>
              <a:prstGeom prst="rect">
                <a:avLst/>
              </a:prstGeom>
              <a:blipFill>
                <a:blip r:embed="rId3"/>
                <a:stretch>
                  <a:fillRect l="-1738" t="-15217" r="-221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51EF85-0622-3640-AD01-E301BA718089}"/>
                  </a:ext>
                </a:extLst>
              </p:cNvPr>
              <p:cNvSpPr txBox="1"/>
              <p:nvPr/>
            </p:nvSpPr>
            <p:spPr>
              <a:xfrm>
                <a:off x="397635" y="3334881"/>
                <a:ext cx="282776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)_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51EF85-0622-3640-AD01-E301BA718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" y="3334881"/>
                <a:ext cx="2827761" cy="430887"/>
              </a:xfrm>
              <a:prstGeom prst="rect">
                <a:avLst/>
              </a:prstGeom>
              <a:blipFill>
                <a:blip r:embed="rId4"/>
                <a:stretch>
                  <a:fillRect l="-2691" r="-134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2131CEE-F4DE-18D3-6EAB-D2F7BD852D22}"/>
              </a:ext>
            </a:extLst>
          </p:cNvPr>
          <p:cNvCxnSpPr>
            <a:cxnSpLocks/>
          </p:cNvCxnSpPr>
          <p:nvPr/>
        </p:nvCxnSpPr>
        <p:spPr>
          <a:xfrm>
            <a:off x="3225396" y="3550324"/>
            <a:ext cx="1532848" cy="227056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229F0D-A876-56EC-BF0D-DF69F843C949}"/>
              </a:ext>
            </a:extLst>
          </p:cNvPr>
          <p:cNvSpPr txBox="1"/>
          <p:nvPr/>
        </p:nvSpPr>
        <p:spPr>
          <a:xfrm>
            <a:off x="3775700" y="3826040"/>
            <a:ext cx="665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If a corruption outside s occurs, we truncate the view at that 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4C2E-3A67-4B91-03F7-53303BD61371}"/>
              </a:ext>
            </a:extLst>
          </p:cNvPr>
          <p:cNvSpPr txBox="1"/>
          <p:nvPr/>
        </p:nvSpPr>
        <p:spPr>
          <a:xfrm>
            <a:off x="317980" y="1518015"/>
            <a:ext cx="71999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 A(</a:t>
            </a:r>
            <a:r>
              <a:rPr lang="en-US" sz="2800" b="1" dirty="0"/>
              <a:t>s)</a:t>
            </a:r>
            <a:r>
              <a:rPr lang="en-US" sz="2800" dirty="0"/>
              <a:t> denote the set of players that are in </a:t>
            </a:r>
            <a:r>
              <a:rPr lang="en-US" sz="2800" b="1" dirty="0"/>
              <a:t>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5E13F81-0286-57F5-282C-2183C0336D78}"/>
              </a:ext>
            </a:extLst>
          </p:cNvPr>
          <p:cNvCxnSpPr>
            <a:cxnSpLocks/>
          </p:cNvCxnSpPr>
          <p:nvPr/>
        </p:nvCxnSpPr>
        <p:spPr>
          <a:xfrm>
            <a:off x="4205666" y="5286542"/>
            <a:ext cx="772734" cy="677378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F5EA21-CC80-61E1-9071-6946A024E0E9}"/>
              </a:ext>
            </a:extLst>
          </p:cNvPr>
          <p:cNvSpPr txBox="1"/>
          <p:nvPr/>
        </p:nvSpPr>
        <p:spPr>
          <a:xfrm>
            <a:off x="4403169" y="6035944"/>
            <a:ext cx="2541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 deterministic function</a:t>
            </a:r>
          </a:p>
        </p:txBody>
      </p:sp>
    </p:spTree>
    <p:extLst>
      <p:ext uri="{BB962C8B-B14F-4D97-AF65-F5344CB8AC3E}">
        <p14:creationId xmlns:p14="http://schemas.microsoft.com/office/powerpoint/2010/main" val="1201683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CF9D-E47C-1715-F84A-70EDF3A21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5603B-14BF-1D2A-4395-F412EE96F5A7}"/>
                  </a:ext>
                </a:extLst>
              </p:cNvPr>
              <p:cNvSpPr txBox="1"/>
              <p:nvPr/>
            </p:nvSpPr>
            <p:spPr>
              <a:xfrm>
                <a:off x="235075" y="576328"/>
                <a:ext cx="7839582" cy="575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𝐸𝑥𝑡𝑟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5603B-14BF-1D2A-4395-F412EE96F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5" y="576328"/>
                <a:ext cx="7839582" cy="575094"/>
              </a:xfrm>
              <a:prstGeom prst="rect">
                <a:avLst/>
              </a:prstGeom>
              <a:blipFill>
                <a:blip r:embed="rId2"/>
                <a:stretch>
                  <a:fillRect l="-1780" t="-15217" r="-210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371B0F-53E8-1473-BB72-CB9053B3A8D8}"/>
              </a:ext>
            </a:extLst>
          </p:cNvPr>
          <p:cNvCxnSpPr>
            <a:cxnSpLocks/>
          </p:cNvCxnSpPr>
          <p:nvPr/>
        </p:nvCxnSpPr>
        <p:spPr>
          <a:xfrm>
            <a:off x="4043106" y="1151422"/>
            <a:ext cx="772734" cy="677378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279A95B-EB32-36C8-5569-2552DB7F5208}"/>
              </a:ext>
            </a:extLst>
          </p:cNvPr>
          <p:cNvSpPr txBox="1"/>
          <p:nvPr/>
        </p:nvSpPr>
        <p:spPr>
          <a:xfrm>
            <a:off x="4240609" y="1900824"/>
            <a:ext cx="2541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 deterministic 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0E3C3-7E30-F099-7B1D-DD3579F9DECF}"/>
              </a:ext>
            </a:extLst>
          </p:cNvPr>
          <p:cNvSpPr txBox="1"/>
          <p:nvPr/>
        </p:nvSpPr>
        <p:spPr>
          <a:xfrm>
            <a:off x="235075" y="2854960"/>
            <a:ext cx="1846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3201427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E10B829-A05A-A11F-47C0-F9BAC8ADF562}"/>
              </a:ext>
            </a:extLst>
          </p:cNvPr>
          <p:cNvSpPr/>
          <p:nvPr/>
        </p:nvSpPr>
        <p:spPr>
          <a:xfrm>
            <a:off x="457199" y="1130644"/>
            <a:ext cx="8349049" cy="16228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EED044-928E-0EFA-4F70-0116926B83F5}"/>
                  </a:ext>
                </a:extLst>
              </p:cNvPr>
              <p:cNvSpPr txBox="1"/>
              <p:nvPr/>
            </p:nvSpPr>
            <p:spPr>
              <a:xfrm>
                <a:off x="457199" y="1482810"/>
                <a:ext cx="8226676" cy="6325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)≡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EED044-928E-0EFA-4F70-0116926B8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482810"/>
                <a:ext cx="8226676" cy="632545"/>
              </a:xfrm>
              <a:prstGeom prst="rect">
                <a:avLst/>
              </a:prstGeom>
              <a:blipFill>
                <a:blip r:embed="rId2"/>
                <a:stretch>
                  <a:fillRect l="-926" b="-2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37DAF4-7F58-2193-7B48-F6518F465F5B}"/>
              </a:ext>
            </a:extLst>
          </p:cNvPr>
          <p:cNvSpPr txBox="1"/>
          <p:nvPr/>
        </p:nvSpPr>
        <p:spPr>
          <a:xfrm rot="20179600">
            <a:off x="4053563" y="606123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95124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94F1A-74A1-6F87-C98B-1705971C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97A536A-58D1-5CE7-6E29-BDE283551359}"/>
              </a:ext>
            </a:extLst>
          </p:cNvPr>
          <p:cNvSpPr/>
          <p:nvPr/>
        </p:nvSpPr>
        <p:spPr>
          <a:xfrm>
            <a:off x="90614" y="1135949"/>
            <a:ext cx="9522943" cy="16228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6D8B56-B424-AED2-D838-FE0821178E85}"/>
                  </a:ext>
                </a:extLst>
              </p:cNvPr>
              <p:cNvSpPr txBox="1"/>
              <p:nvPr/>
            </p:nvSpPr>
            <p:spPr>
              <a:xfrm>
                <a:off x="90614" y="1688756"/>
                <a:ext cx="9422964" cy="6418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)≡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6D8B56-B424-AED2-D838-FE0821178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4" y="1688756"/>
                <a:ext cx="9422964" cy="641842"/>
              </a:xfrm>
              <a:prstGeom prst="rect">
                <a:avLst/>
              </a:prstGeom>
              <a:blipFill>
                <a:blip r:embed="rId2"/>
                <a:stretch>
                  <a:fillRect l="-538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24250B9-ED71-C9EC-015A-EEF657DBBC69}"/>
              </a:ext>
            </a:extLst>
          </p:cNvPr>
          <p:cNvSpPr txBox="1"/>
          <p:nvPr/>
        </p:nvSpPr>
        <p:spPr>
          <a:xfrm rot="20179600">
            <a:off x="6123576" y="782006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C105B3-716A-F37B-D261-6C5E9DBC759E}"/>
              </a:ext>
            </a:extLst>
          </p:cNvPr>
          <p:cNvCxnSpPr/>
          <p:nvPr/>
        </p:nvCxnSpPr>
        <p:spPr>
          <a:xfrm flipH="1">
            <a:off x="6911808" y="2297922"/>
            <a:ext cx="1767840" cy="287132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1AD0E62-4078-D5B8-3A47-0FBAABEC01C8}"/>
              </a:ext>
            </a:extLst>
          </p:cNvPr>
          <p:cNvSpPr txBox="1"/>
          <p:nvPr/>
        </p:nvSpPr>
        <p:spPr>
          <a:xfrm>
            <a:off x="5871298" y="5262880"/>
            <a:ext cx="2081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Appending </a:t>
            </a:r>
            <a:r>
              <a:rPr lang="en-US" b="1" i="1" dirty="0"/>
              <a:t> s </a:t>
            </a:r>
            <a:r>
              <a:rPr lang="en-US" i="1" dirty="0"/>
              <a:t> with </a:t>
            </a:r>
            <a:r>
              <a:rPr lang="en-US" b="1" i="1" dirty="0" err="1"/>
              <a:t>i</a:t>
            </a:r>
            <a:endParaRPr lang="en-US" b="1" i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0992D45-3CD3-6481-2784-12DC25C0F62F}"/>
              </a:ext>
            </a:extLst>
          </p:cNvPr>
          <p:cNvCxnSpPr>
            <a:cxnSpLocks/>
          </p:cNvCxnSpPr>
          <p:nvPr/>
        </p:nvCxnSpPr>
        <p:spPr>
          <a:xfrm>
            <a:off x="6319773" y="2297922"/>
            <a:ext cx="294387" cy="287132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109425D-98C5-B83A-C983-1CC54FCE786D}"/>
              </a:ext>
            </a:extLst>
          </p:cNvPr>
          <p:cNvCxnSpPr>
            <a:cxnSpLocks/>
          </p:cNvCxnSpPr>
          <p:nvPr/>
        </p:nvCxnSpPr>
        <p:spPr>
          <a:xfrm>
            <a:off x="3566413" y="2330598"/>
            <a:ext cx="2900553" cy="293228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95095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BC1BDF6-3794-7728-A5CC-F8ED42EFA23E}"/>
              </a:ext>
            </a:extLst>
          </p:cNvPr>
          <p:cNvSpPr/>
          <p:nvPr/>
        </p:nvSpPr>
        <p:spPr>
          <a:xfrm>
            <a:off x="179146" y="1210963"/>
            <a:ext cx="9251093" cy="36576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2C5E515-03CE-CB02-8C42-AD31253C145F}"/>
                  </a:ext>
                </a:extLst>
              </p:cNvPr>
              <p:cNvSpPr txBox="1"/>
              <p:nvPr/>
            </p:nvSpPr>
            <p:spPr>
              <a:xfrm>
                <a:off x="428368" y="1290724"/>
                <a:ext cx="8509686" cy="3577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Consider an execution of the system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 until 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has occurred.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Let:</a:t>
                </a:r>
              </a:p>
              <a:p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)_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000" dirty="0"/>
                  <a:t>  </a:t>
                </a:r>
                <a:r>
                  <a:rPr lang="en-US" sz="2000" i="1" dirty="0"/>
                  <a:t>and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Let: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be the string of inputs and outputs S has exchanged with F, and let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sz="2000" dirty="0"/>
                  <a:t> be the conversation of Z.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one can sample the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sz="2000" dirty="0"/>
                  <a:t> from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2C5E515-03CE-CB02-8C42-AD31253C1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68" y="1290724"/>
                <a:ext cx="8509686" cy="3577839"/>
              </a:xfrm>
              <a:prstGeom prst="rect">
                <a:avLst/>
              </a:prstGeom>
              <a:blipFill>
                <a:blip r:embed="rId3"/>
                <a:stretch>
                  <a:fillRect l="-745" t="-707" b="-1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576675-937D-8CF3-1EAE-1E85812739ED}"/>
              </a:ext>
            </a:extLst>
          </p:cNvPr>
          <p:cNvSpPr txBox="1"/>
          <p:nvPr/>
        </p:nvSpPr>
        <p:spPr>
          <a:xfrm rot="20179600">
            <a:off x="4910694" y="499029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845192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2D3D5B-52D5-B0FD-9186-34515496217D}"/>
              </a:ext>
            </a:extLst>
          </p:cNvPr>
          <p:cNvSpPr/>
          <p:nvPr/>
        </p:nvSpPr>
        <p:spPr>
          <a:xfrm>
            <a:off x="440174" y="1501892"/>
            <a:ext cx="10725321" cy="32704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BB3BA4-A829-835E-A729-8E154F4AA055}"/>
                  </a:ext>
                </a:extLst>
              </p:cNvPr>
              <p:cNvSpPr txBox="1"/>
              <p:nvPr/>
            </p:nvSpPr>
            <p:spPr>
              <a:xfrm>
                <a:off x="861779" y="2038565"/>
                <a:ext cx="9556990" cy="21970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Patch</a:t>
                </a:r>
                <a:r>
                  <a:rPr lang="en-US" sz="2400" dirty="0"/>
                  <a:t> is said to be a good sampling function if it satisfies the following: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It is polynomial-time computable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output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𝑃𝑎𝑡𝑐h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𝐶𝑜𝑛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is distributed according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eqArr>
                          <m:eqArr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𝐶𝑜𝑛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  <m:e/>
                        </m:eqAr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BB3BA4-A829-835E-A729-8E154F4AA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9" y="2038565"/>
                <a:ext cx="9556990" cy="2197076"/>
              </a:xfrm>
              <a:prstGeom prst="rect">
                <a:avLst/>
              </a:prstGeom>
              <a:blipFill>
                <a:blip r:embed="rId2"/>
                <a:stretch>
                  <a:fillRect l="-928" t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0B9FF80-9C1E-E402-FA28-9EC3A959E79D}"/>
              </a:ext>
            </a:extLst>
          </p:cNvPr>
          <p:cNvSpPr txBox="1"/>
          <p:nvPr/>
        </p:nvSpPr>
        <p:spPr>
          <a:xfrm rot="20179600">
            <a:off x="6749151" y="1077622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78511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7944</TotalTime>
  <Words>4341</Words>
  <Application>Microsoft Macintosh PowerPoint</Application>
  <PresentationFormat>Widescreen</PresentationFormat>
  <Paragraphs>730</Paragraphs>
  <Slides>83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5" baseType="lpstr">
      <vt:lpstr>Cambria Math</vt:lpstr>
      <vt:lpstr>American Typewriter</vt:lpstr>
      <vt:lpstr>Christmas Chalk</vt:lpstr>
      <vt:lpstr>Chalk Board</vt:lpstr>
      <vt:lpstr>Aptos Display</vt:lpstr>
      <vt:lpstr>Bradley Hand</vt:lpstr>
      <vt:lpstr>Aptos</vt:lpstr>
      <vt:lpstr>Arial</vt:lpstr>
      <vt:lpstr>Helvetica</vt:lpstr>
      <vt:lpstr>Apple Chancery</vt:lpstr>
      <vt:lpstr>KG Ten Thousand Reasons</vt:lpstr>
      <vt:lpstr>Office Theme</vt:lpstr>
      <vt:lpstr>UC Security Model</vt:lpstr>
      <vt:lpstr>Logistics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Adithya Vadapalli</dc:creator>
  <cp:keywords/>
  <dc:description/>
  <cp:lastModifiedBy>Adithya Vadapalli</cp:lastModifiedBy>
  <cp:revision>18</cp:revision>
  <dcterms:created xsi:type="dcterms:W3CDTF">2026-03-22T03:01:54Z</dcterms:created>
  <dcterms:modified xsi:type="dcterms:W3CDTF">2026-04-06T11:00:44Z</dcterms:modified>
  <cp:category/>
</cp:coreProperties>
</file>